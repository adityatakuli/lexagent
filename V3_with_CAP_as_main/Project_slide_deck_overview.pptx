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Signed cover for guide approval. Introduce the project title and the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Dahl et al. evidence: public LLMs hallucinate 58 to 88 percent on verifiable federal case questions. Then state the objective and the current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objectives, each tied to a research question. These stay open until controlled comparisons are complete.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25 reviewed papers fall into five families. Walk the rightmost column: each family leaves a specific gap for citation-grounded legal QA.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Structural comparison of the seven systems closest to LexAgent. No reviewed system has adversarial debate, an in-loop citation check and cross-session memory together. Mid-generation check means corpus matching during debate, not post-hoc scoring.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gap maps to a LexAgent design choice and to the validation still required. These are hypotheses, not proven gains.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End-to-end flow. A query first checks memory; on a miss, hybrid retrieval feeds the Prosecutor-Defense debate. Every citation goes through the verifier; Reflection and the controller either loop back for more evidence or terminate to the Judge, whose verdict is written back to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layers from data to control. The CAP corpus and case catalog feed hybrid retrieval; four agents share one quantized Mistral-7B; the verification layer scores every citation; LangGraph and the controller manage the loop and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loop: query and memory check, hybrid retrieval, Prosecutor, Defense with its own evidence, CVM, Reflection, then the controller either loops back to retrieval or terminates to the Judge.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 opinions are chunked with provenance kept, searched in parallel by BM25 and Legal-BERT, then merged with reciprocal rank fusion before reaching the agents.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roles share one Mistral-7B; diversity comes from prompts and evidence. The key change since Review-I: the Defense retrieves its own evidence so it cannot simply echo the Prosecutor.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multiplicative score means a real case cited for the wrong holding scores near zero. The five verdicts keep missing corpus coverage separate from fabrication.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Coverage-aware closed-world reasoning: a citation is only called fabricated when the corpus covers where the case would have to be. A real case outside the 27 volumes is unverifiable, not fake. Only SUPPORTED citations reach the Judge.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contributions, each an upgrade of a module already on the Review-II plan, so the timeline does not grow. Emphasise the conformal bound: no reviewed legal system gives a statistical guarantee on citation acceptance.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Review-II stands at 75 percent of planned work: this measures project maturity, not accuracy. The stack runs on a single Tesla T4.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25 constitutional-precedent cases completed. Stress the guardrail: the 19.4 percent HR includes authentic Supreme Court citations outside the 27-volume local preset, so it is not a fabrication 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Forty labelled citations fed straight to the verifier. Controls and fabrications behave well; semantic misattributions and CaseHOLD distractors all pass, which makes holding-support verification the next priority.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Removing adaptive memory raises HR by 33.9 percent relative. Note the cautions: A1's zero HR comes from removing the adversary, and confidence rises with HR, so confidence alone is not reliability. Causal claims need matched repeated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query traced through the three execution phases in the saved notebook. The disagreement with the separate benchmark run is why we pin versions and repeat trials.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remaining 25 percent is split across verifier repair, baselines and ablations, reproducibility and final delivery, scheduled over four weeks to Review-III on 28 October.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Summarise: the prototype is integrated and runs end to end; the stress test exposes a holding-support weakness; next we repair verification and test against a matched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Numbering follows the literature review; [26] is the base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Continued references, including the base paper [26] and DRAG [27].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6082538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933"/>
              </a:lnSpc>
              <a:buNone/>
            </a:pPr>
            <a:r>
              <a:rPr lang="en-US" sz="1950" b="1" spc="273" kern="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OF ELECTRONICS ENGINEERING (SENSE)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5262225" y="838200"/>
            <a:ext cx="2280603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933"/>
              </a:lnSpc>
              <a:buNone/>
            </a:pPr>
            <a:r>
              <a:rPr lang="en-US" sz="1950" b="1" spc="273" kern="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PROJECT-I (2026)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2600008"/>
            <a:ext cx="15716250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933"/>
              </a:lnSpc>
              <a:buNone/>
            </a:pPr>
            <a:r>
              <a:rPr lang="en-US" sz="1950" b="1" spc="273" kern="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REVIEW-II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52500" y="3212465"/>
            <a:ext cx="15716250" cy="148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821"/>
              </a:lnSpc>
              <a:buNone/>
            </a:pPr>
            <a:r>
              <a:rPr lang="en-US" sz="12000" b="1" spc="-240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LexAgent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952500" y="4888865"/>
            <a:ext cx="15716250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059"/>
              </a:lnSpc>
              <a:buNone/>
            </a:pPr>
            <a:r>
              <a:rPr lang="en-US" sz="420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Debate Framework for Hallucination Reduction in Legal AI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952500" y="6853555"/>
            <a:ext cx="45339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52500" y="7011035"/>
            <a:ext cx="498729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Name(s)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52500" y="7441565"/>
            <a:ext cx="498729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93"/>
              </a:lnSpc>
              <a:buNone/>
            </a:pPr>
            <a:r>
              <a:rPr lang="en-US" sz="22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________________________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52500" y="8189277"/>
            <a:ext cx="45339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52500" y="8346757"/>
            <a:ext cx="498729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52500" y="8777288"/>
            <a:ext cx="498729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93"/>
              </a:lnSpc>
              <a:buNone/>
            </a:pPr>
            <a:r>
              <a:rPr lang="en-US" sz="22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________________________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6096000" y="6853555"/>
            <a:ext cx="45339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096000" y="7011035"/>
            <a:ext cx="498729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 / School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096000" y="7441565"/>
            <a:ext cx="498729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93"/>
              </a:lnSpc>
              <a:buNone/>
            </a:pPr>
            <a:r>
              <a:rPr lang="en-US" sz="22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B.Tech, SENSE, VIT Chennai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6096000" y="8189277"/>
            <a:ext cx="45339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096000" y="8346757"/>
            <a:ext cx="498729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Date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096000" y="8777288"/>
            <a:ext cx="498729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93"/>
              </a:lnSpc>
              <a:buNone/>
            </a:pPr>
            <a:r>
              <a:rPr lang="en-US" sz="22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Review-II · 30.09.2026 (Wednesday)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11239500" y="6915467"/>
            <a:ext cx="6096000" cy="2304732"/>
          </a:xfrm>
          <a:prstGeom prst="rect">
            <a:avLst/>
          </a:prstGeom>
          <a:ln w="5080">
            <a:solidFill>
              <a:srgbClr val="1D1F20">
                <a:alpha val="16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549380" y="7225347"/>
            <a:ext cx="6023864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933"/>
              </a:lnSpc>
              <a:buNone/>
            </a:pPr>
            <a:r>
              <a:rPr lang="en-US" sz="1950" b="1" spc="195" kern="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GUIDE'S SIGNATURE WITH DATE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1549380" y="7875905"/>
            <a:ext cx="6023864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933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Signature: ____________________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1549380" y="8526463"/>
            <a:ext cx="6023864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933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Date: ________________________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933"/>
              </a:lnSpc>
              <a:buNone/>
            </a:pPr>
            <a:r>
              <a:rPr lang="en-US" sz="1950" b="1" spc="273" kern="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INTRODUCTION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17308"/>
            <a:ext cx="1802130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4800" b="1" spc="-72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and Objective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414588"/>
            <a:ext cx="6943725" cy="6805613"/>
          </a:xfrm>
          <a:prstGeom prst="rect">
            <a:avLst/>
          </a:prstGeom>
          <a:ln w="5080">
            <a:solidFill>
              <a:srgbClr val="1D1F20">
                <a:alpha val="16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90980" y="3953351"/>
            <a:ext cx="6453442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357"/>
              </a:lnSpc>
              <a:buNone/>
            </a:pPr>
            <a:r>
              <a:rPr lang="en-US" sz="15000" b="1" spc="-300" kern="0" dirty="0">
                <a:solidFill>
                  <a:srgbClr val="598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58–88%</a:t>
            </a:r>
            <a:endParaRPr lang="en-US" sz="15000" dirty="0"/>
          </a:p>
        </p:txBody>
      </p:sp>
      <p:sp>
        <p:nvSpPr>
          <p:cNvPr id="6" name="Text 4"/>
          <p:cNvSpPr/>
          <p:nvPr/>
        </p:nvSpPr>
        <p:spPr>
          <a:xfrm>
            <a:off x="1490980" y="5934551"/>
            <a:ext cx="6042768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536"/>
              </a:lnSpc>
              <a:buNone/>
            </a:pPr>
            <a:r>
              <a:rPr lang="en-US" sz="22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 rate of public LLMs on direct, verifiable questions about U.S. federal cases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490980" y="6972776"/>
            <a:ext cx="6042768" cy="746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 58% · GPT-3.5 69% · PaLM 2 72% · Llama 2 88% — Dahl et al., 2024 [12]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848725" y="3267075"/>
            <a:ext cx="8486775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848725" y="3462655"/>
            <a:ext cx="9335453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933"/>
              </a:lnSpc>
              <a:buNone/>
            </a:pPr>
            <a:r>
              <a:rPr lang="en-US" sz="1950" b="1" spc="195" kern="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8848725" y="3941762"/>
            <a:ext cx="8741378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536"/>
              </a:lnSpc>
              <a:buNone/>
            </a:pPr>
            <a:r>
              <a:rPr lang="en-US" sz="22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answers can contain invented cases, wrong citation identities and holdings that a real case does not support.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8848725" y="5094287"/>
            <a:ext cx="8486775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848725" y="5289868"/>
            <a:ext cx="9335453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933"/>
              </a:lnSpc>
              <a:buNone/>
            </a:pPr>
            <a:r>
              <a:rPr lang="en-US" sz="1950" b="1" spc="195" kern="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8848725" y="5768975"/>
            <a:ext cx="8741378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536"/>
              </a:lnSpc>
              <a:buNone/>
            </a:pPr>
            <a:r>
              <a:rPr lang="en-US" sz="22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legal retrieval, adversarial debate and citation verification to reduce unsupported legal answers.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8848725" y="6921500"/>
            <a:ext cx="8486775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848725" y="7117080"/>
            <a:ext cx="9335453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933"/>
              </a:lnSpc>
              <a:buNone/>
            </a:pPr>
            <a:r>
              <a:rPr lang="en-US" sz="1950" b="1" spc="195" kern="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SCOPE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8848725" y="7596187"/>
            <a:ext cx="8741378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536"/>
              </a:lnSpc>
              <a:buNone/>
            </a:pPr>
            <a:r>
              <a:rPr lang="en-US" sz="22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U.S. federal case law from Harvard CAP. Prosecutor, Defense, Reflection and Judge share one 4-bit Mistral-7B on a single T4 GPU.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933"/>
              </a:lnSpc>
              <a:buNone/>
            </a:pPr>
            <a:r>
              <a:rPr lang="en-US" sz="1950" b="1" spc="273" kern="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INTRODUCTION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17308"/>
            <a:ext cx="1802130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4800" b="1" spc="-72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 and Research Questions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840038"/>
            <a:ext cx="762000" cy="10160"/>
          </a:xfrm>
          <a:prstGeom prst="rect">
            <a:avLst/>
          </a:prstGeom>
          <a:solidFill>
            <a:srgbClr val="1D1F20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414588"/>
            <a:ext cx="60960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b="1" spc="144" kern="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714500" y="2840038"/>
            <a:ext cx="6096000" cy="10160"/>
          </a:xfrm>
          <a:prstGeom prst="rect">
            <a:avLst/>
          </a:prstGeom>
          <a:solidFill>
            <a:srgbClr val="1D1F20"/>
          </a:solidFill>
          <a:ln/>
        </p:spPr>
      </p:sp>
      <p:sp>
        <p:nvSpPr>
          <p:cNvPr id="7" name="Text 5"/>
          <p:cNvSpPr/>
          <p:nvPr/>
        </p:nvSpPr>
        <p:spPr>
          <a:xfrm>
            <a:off x="1714500" y="2414588"/>
            <a:ext cx="605028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b="1" spc="144" kern="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810500" y="2840038"/>
            <a:ext cx="9525000" cy="10160"/>
          </a:xfrm>
          <a:prstGeom prst="rect">
            <a:avLst/>
          </a:prstGeom>
          <a:solidFill>
            <a:srgbClr val="1D1F20"/>
          </a:solidFill>
          <a:ln/>
        </p:spPr>
      </p:sp>
      <p:sp>
        <p:nvSpPr>
          <p:cNvPr id="9" name="Text 7"/>
          <p:cNvSpPr/>
          <p:nvPr/>
        </p:nvSpPr>
        <p:spPr>
          <a:xfrm>
            <a:off x="7810500" y="2414588"/>
            <a:ext cx="95821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b="1" spc="144" kern="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52500" y="4052888"/>
            <a:ext cx="7620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52500" y="3078798"/>
            <a:ext cx="609600" cy="783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6071"/>
              </a:lnSpc>
              <a:buNone/>
            </a:pPr>
            <a:r>
              <a:rPr lang="en-US" sz="2250" b="1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O1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714500" y="4052888"/>
            <a:ext cx="60960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714500" y="3078798"/>
            <a:ext cx="6050280" cy="783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6071"/>
              </a:lnSpc>
              <a:buNone/>
            </a:pPr>
            <a:r>
              <a:rPr lang="en-US" sz="22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answers in legal sources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7810500" y="4052888"/>
            <a:ext cx="95250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810500" y="3078798"/>
            <a:ext cx="9582150" cy="783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6071"/>
              </a:lnSpc>
              <a:buNone/>
            </a:pPr>
            <a:r>
              <a:rPr lang="en-US" sz="22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hybrid retrieval recover the target authority and the passage supporting its holding?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52500" y="5258117"/>
            <a:ext cx="7620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52500" y="4286567"/>
            <a:ext cx="60960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6071"/>
              </a:lnSpc>
              <a:buNone/>
            </a:pPr>
            <a:r>
              <a:rPr lang="en-US" sz="2250" b="1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O2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1714500" y="5258117"/>
            <a:ext cx="60960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714500" y="4286567"/>
            <a:ext cx="605028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6071"/>
              </a:lnSpc>
              <a:buNone/>
            </a:pPr>
            <a:r>
              <a:rPr lang="en-US" sz="22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an evidence-diverse debate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7810500" y="5258117"/>
            <a:ext cx="95250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810500" y="4286567"/>
            <a:ext cx="958215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6071"/>
              </a:lnSpc>
              <a:buNone/>
            </a:pPr>
            <a:r>
              <a:rPr lang="en-US" sz="22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independent Defense retrieval reveal errors that shared-context debate misses?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952500" y="6463347"/>
            <a:ext cx="7620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952500" y="5491797"/>
            <a:ext cx="60960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6071"/>
              </a:lnSpc>
              <a:buNone/>
            </a:pPr>
            <a:r>
              <a:rPr lang="en-US" sz="2250" b="1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O3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1714500" y="6463347"/>
            <a:ext cx="60960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714500" y="5491797"/>
            <a:ext cx="605028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6071"/>
              </a:lnSpc>
              <a:buNone/>
            </a:pPr>
            <a:r>
              <a:rPr lang="en-US" sz="22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each cited proposition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7810500" y="6463347"/>
            <a:ext cx="95250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810500" y="5491797"/>
            <a:ext cx="958215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6071"/>
              </a:lnSpc>
              <a:buNone/>
            </a:pPr>
            <a:r>
              <a:rPr lang="en-US" sz="22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the verifier separate existence, support, fabrication and missing corpus coverage?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952500" y="7668577"/>
            <a:ext cx="7620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952500" y="6697027"/>
            <a:ext cx="60960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6071"/>
              </a:lnSpc>
              <a:buNone/>
            </a:pPr>
            <a:r>
              <a:rPr lang="en-US" sz="2250" b="1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O4</a:t>
            </a:r>
            <a:endParaRPr lang="en-US" sz="2250" dirty="0"/>
          </a:p>
        </p:txBody>
      </p:sp>
      <p:sp>
        <p:nvSpPr>
          <p:cNvPr id="30" name="Shape 28"/>
          <p:cNvSpPr/>
          <p:nvPr/>
        </p:nvSpPr>
        <p:spPr>
          <a:xfrm>
            <a:off x="1714500" y="7668577"/>
            <a:ext cx="60960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714500" y="6697027"/>
            <a:ext cx="605028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6071"/>
              </a:lnSpc>
              <a:buNone/>
            </a:pPr>
            <a:r>
              <a:rPr lang="en-US" sz="22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debate effort</a:t>
            </a:r>
            <a:endParaRPr lang="en-US" sz="2250" dirty="0"/>
          </a:p>
        </p:txBody>
      </p:sp>
      <p:sp>
        <p:nvSpPr>
          <p:cNvPr id="32" name="Shape 30"/>
          <p:cNvSpPr/>
          <p:nvPr/>
        </p:nvSpPr>
        <p:spPr>
          <a:xfrm>
            <a:off x="7810500" y="7668577"/>
            <a:ext cx="95250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7810500" y="6697027"/>
            <a:ext cx="958215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6071"/>
              </a:lnSpc>
              <a:buNone/>
            </a:pPr>
            <a:r>
              <a:rPr lang="en-US" sz="22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dynamic stopping improve quality per unit of latency over a fixed-round baseline?</a:t>
            </a:r>
            <a:endParaRPr lang="en-US" sz="2250" dirty="0"/>
          </a:p>
        </p:txBody>
      </p:sp>
      <p:sp>
        <p:nvSpPr>
          <p:cNvPr id="34" name="Shape 32"/>
          <p:cNvSpPr/>
          <p:nvPr/>
        </p:nvSpPr>
        <p:spPr>
          <a:xfrm>
            <a:off x="952500" y="8873807"/>
            <a:ext cx="7620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952500" y="7902257"/>
            <a:ext cx="60960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6071"/>
              </a:lnSpc>
              <a:buNone/>
            </a:pPr>
            <a:r>
              <a:rPr lang="en-US" sz="2250" b="1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O5</a:t>
            </a:r>
            <a:endParaRPr lang="en-US" sz="2250" dirty="0"/>
          </a:p>
        </p:txBody>
      </p:sp>
      <p:sp>
        <p:nvSpPr>
          <p:cNvPr id="36" name="Shape 34"/>
          <p:cNvSpPr/>
          <p:nvPr/>
        </p:nvSpPr>
        <p:spPr>
          <a:xfrm>
            <a:off x="1714500" y="8873807"/>
            <a:ext cx="60960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714500" y="7902257"/>
            <a:ext cx="605028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6071"/>
              </a:lnSpc>
              <a:buNone/>
            </a:pPr>
            <a:r>
              <a:rPr lang="en-US" sz="22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reproducibly</a:t>
            </a:r>
            <a:endParaRPr lang="en-US" sz="2250" dirty="0"/>
          </a:p>
        </p:txBody>
      </p:sp>
      <p:sp>
        <p:nvSpPr>
          <p:cNvPr id="38" name="Shape 36"/>
          <p:cNvSpPr/>
          <p:nvPr/>
        </p:nvSpPr>
        <p:spPr>
          <a:xfrm>
            <a:off x="7810500" y="8873807"/>
            <a:ext cx="95250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7810500" y="7902257"/>
            <a:ext cx="958215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6071"/>
              </a:lnSpc>
              <a:buNone/>
            </a:pPr>
            <a:r>
              <a:rPr lang="en-US" sz="22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gains persist on held-out cases with a fixed corpus, isolated memory and checked labels?</a:t>
            </a:r>
            <a:endParaRPr lang="en-US" sz="2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933"/>
              </a:lnSpc>
              <a:buNone/>
            </a:pPr>
            <a:r>
              <a:rPr lang="en-US" sz="1950" b="1" spc="273" kern="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LITERATURE REVIEW · 25 PAPERS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17308"/>
            <a:ext cx="1802130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4800" b="1" spc="-72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Landscape: Five Method Families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763838"/>
            <a:ext cx="2857500" cy="10160"/>
          </a:xfrm>
          <a:prstGeom prst="rect">
            <a:avLst/>
          </a:prstGeom>
          <a:solidFill>
            <a:srgbClr val="1D1F20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338388"/>
            <a:ext cx="2676525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b="1" spc="144" kern="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810000" y="2763838"/>
            <a:ext cx="4191000" cy="10160"/>
          </a:xfrm>
          <a:prstGeom prst="rect">
            <a:avLst/>
          </a:prstGeom>
          <a:solidFill>
            <a:srgbClr val="1D1F20"/>
          </a:solidFill>
          <a:ln/>
        </p:spPr>
      </p:sp>
      <p:sp>
        <p:nvSpPr>
          <p:cNvPr id="7" name="Text 5"/>
          <p:cNvSpPr/>
          <p:nvPr/>
        </p:nvSpPr>
        <p:spPr>
          <a:xfrm>
            <a:off x="3810000" y="2338388"/>
            <a:ext cx="405003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b="1" spc="144" kern="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001000" y="2763838"/>
            <a:ext cx="4906963" cy="10160"/>
          </a:xfrm>
          <a:prstGeom prst="rect">
            <a:avLst/>
          </a:prstGeom>
          <a:solidFill>
            <a:srgbClr val="1D1F20"/>
          </a:solidFill>
          <a:ln/>
        </p:spPr>
      </p:sp>
      <p:sp>
        <p:nvSpPr>
          <p:cNvPr id="9" name="Text 7"/>
          <p:cNvSpPr/>
          <p:nvPr/>
        </p:nvSpPr>
        <p:spPr>
          <a:xfrm>
            <a:off x="8001000" y="2338388"/>
            <a:ext cx="4787472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b="1" spc="144" kern="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907962" y="2763838"/>
            <a:ext cx="4427537" cy="10160"/>
          </a:xfrm>
          <a:prstGeom prst="rect">
            <a:avLst/>
          </a:prstGeom>
          <a:solidFill>
            <a:srgbClr val="1D1F20"/>
          </a:solidFill>
          <a:ln/>
        </p:spPr>
      </p:sp>
      <p:sp>
        <p:nvSpPr>
          <p:cNvPr id="11" name="Text 9"/>
          <p:cNvSpPr/>
          <p:nvPr/>
        </p:nvSpPr>
        <p:spPr>
          <a:xfrm>
            <a:off x="12907962" y="2338388"/>
            <a:ext cx="4560363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b="1" spc="144" kern="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FOR LEGAL QA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52500" y="3763327"/>
            <a:ext cx="28575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" y="2945448"/>
            <a:ext cx="2676525" cy="684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71"/>
              </a:lnSpc>
              <a:buNone/>
            </a:pPr>
            <a:r>
              <a:rPr lang="en-US" sz="225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legal LLMs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3810000" y="3763327"/>
            <a:ext cx="41910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810000" y="2945448"/>
            <a:ext cx="4050030" cy="684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Lawformer [1], DISC-LawLLM [8], LawGPT [16]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8001000" y="3763327"/>
            <a:ext cx="4906963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001000" y="2945448"/>
            <a:ext cx="4787472" cy="684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fluency; DISC-LawLLM adds retrieval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2907962" y="3763327"/>
            <a:ext cx="4427537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2907962" y="2945448"/>
            <a:ext cx="4560363" cy="684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generator; no independent citation veto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52500" y="4755197"/>
            <a:ext cx="28575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52500" y="3939857"/>
            <a:ext cx="2676525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71"/>
              </a:lnSpc>
              <a:buNone/>
            </a:pPr>
            <a:r>
              <a:rPr lang="en-US" sz="225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benchmarks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3810000" y="4755197"/>
            <a:ext cx="41910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810000" y="3939857"/>
            <a:ext cx="4050030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LegalBench [7], LawBench [17], LexGLUE [3], LegalAgentBench [18]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8001000" y="4755197"/>
            <a:ext cx="4906963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8001000" y="3939857"/>
            <a:ext cx="4787472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scoring of legal knowledge, reasoning and agents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2907962" y="4755197"/>
            <a:ext cx="4427537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2907962" y="3939857"/>
            <a:ext cx="4560363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measure of citation refusal or re-hallucination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52500" y="5747067"/>
            <a:ext cx="28575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952500" y="4931727"/>
            <a:ext cx="2676525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71"/>
              </a:lnSpc>
              <a:buNone/>
            </a:pPr>
            <a:r>
              <a:rPr lang="en-US" sz="225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and hybrid retrieval</a:t>
            </a:r>
            <a:endParaRPr lang="en-US" sz="2250" dirty="0"/>
          </a:p>
        </p:txBody>
      </p:sp>
      <p:sp>
        <p:nvSpPr>
          <p:cNvPr id="30" name="Shape 28"/>
          <p:cNvSpPr/>
          <p:nvPr/>
        </p:nvSpPr>
        <p:spPr>
          <a:xfrm>
            <a:off x="3810000" y="5747067"/>
            <a:ext cx="41910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810000" y="4931727"/>
            <a:ext cx="4050030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[2], CRAG [13], Self-RAG [10], LeAK-GraphRAG [20], AALawyer [21]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8001000" y="5747067"/>
            <a:ext cx="4906963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8001000" y="4931727"/>
            <a:ext cx="4787472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Grounds generation; corrects or constrains retrieval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12907962" y="5747067"/>
            <a:ext cx="4427537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2907962" y="4931727"/>
            <a:ext cx="4560363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evidence, but no adversarial check of the written claim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952500" y="7060883"/>
            <a:ext cx="28575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952500" y="5923598"/>
            <a:ext cx="2676525" cy="1003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71"/>
              </a:lnSpc>
              <a:buNone/>
            </a:pPr>
            <a:r>
              <a:rPr lang="en-US" sz="225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and graph checks</a:t>
            </a:r>
            <a:endParaRPr lang="en-US" sz="2250" dirty="0"/>
          </a:p>
        </p:txBody>
      </p:sp>
      <p:sp>
        <p:nvSpPr>
          <p:cNvPr id="38" name="Shape 36"/>
          <p:cNvSpPr/>
          <p:nvPr/>
        </p:nvSpPr>
        <p:spPr>
          <a:xfrm>
            <a:off x="3810000" y="7060883"/>
            <a:ext cx="41910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3810000" y="5923598"/>
            <a:ext cx="4050030" cy="1003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Self-consistency [4], CoVe [9], HalluDetect [19], HalluGraph [23], Falkor-IRAC [25]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8001000" y="7060883"/>
            <a:ext cx="4906963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8001000" y="5923598"/>
            <a:ext cx="4787472" cy="1003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and path checks beat embedding similarity</a:t>
            </a:r>
            <a:endParaRPr lang="en-US" sz="1950" dirty="0"/>
          </a:p>
        </p:txBody>
      </p:sp>
      <p:sp>
        <p:nvSpPr>
          <p:cNvPr id="42" name="Shape 40"/>
          <p:cNvSpPr/>
          <p:nvPr/>
        </p:nvSpPr>
        <p:spPr>
          <a:xfrm>
            <a:off x="12907962" y="7060883"/>
            <a:ext cx="4427537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12907962" y="5923598"/>
            <a:ext cx="4560363" cy="1003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Post-hoc audit; no memory of past fabrications</a:t>
            </a:r>
            <a:endParaRPr lang="en-US" sz="1950" dirty="0"/>
          </a:p>
        </p:txBody>
      </p:sp>
      <p:sp>
        <p:nvSpPr>
          <p:cNvPr id="44" name="Shape 42"/>
          <p:cNvSpPr/>
          <p:nvPr/>
        </p:nvSpPr>
        <p:spPr>
          <a:xfrm>
            <a:off x="952500" y="8374697"/>
            <a:ext cx="28575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952500" y="7237412"/>
            <a:ext cx="2676525" cy="1003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71"/>
              </a:lnSpc>
              <a:buNone/>
            </a:pPr>
            <a:r>
              <a:rPr lang="en-US" sz="225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debate</a:t>
            </a:r>
            <a:endParaRPr lang="en-US" sz="2250" dirty="0"/>
          </a:p>
        </p:txBody>
      </p:sp>
      <p:sp>
        <p:nvSpPr>
          <p:cNvPr id="46" name="Shape 44"/>
          <p:cNvSpPr/>
          <p:nvPr/>
        </p:nvSpPr>
        <p:spPr>
          <a:xfrm>
            <a:off x="3810000" y="8374697"/>
            <a:ext cx="41910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3810000" y="7237412"/>
            <a:ext cx="4050030" cy="1003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[5], MAD [6], Smit [11], Wang [14], Sun [15], ChatLaw [22], PROCLAIM [24]</a:t>
            </a:r>
            <a:endParaRPr lang="en-US" sz="1950" dirty="0"/>
          </a:p>
        </p:txBody>
      </p:sp>
      <p:sp>
        <p:nvSpPr>
          <p:cNvPr id="48" name="Shape 46"/>
          <p:cNvSpPr/>
          <p:nvPr/>
        </p:nvSpPr>
        <p:spPr>
          <a:xfrm>
            <a:off x="8001000" y="8374697"/>
            <a:ext cx="4906963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8001000" y="7237412"/>
            <a:ext cx="4787472" cy="1003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roles and progressive retrieval reduce false consensus</a:t>
            </a:r>
            <a:endParaRPr lang="en-US" sz="1950" dirty="0"/>
          </a:p>
        </p:txBody>
      </p:sp>
      <p:sp>
        <p:nvSpPr>
          <p:cNvPr id="50" name="Shape 48"/>
          <p:cNvSpPr/>
          <p:nvPr/>
        </p:nvSpPr>
        <p:spPr>
          <a:xfrm>
            <a:off x="12907962" y="8374697"/>
            <a:ext cx="4427537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12907962" y="7237412"/>
            <a:ext cx="4560363" cy="1003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Configuration-sensitive; no legal citation matcher</a:t>
            </a:r>
            <a:endParaRPr lang="en-US" sz="1950" dirty="0"/>
          </a:p>
        </p:txBody>
      </p:sp>
      <p:sp>
        <p:nvSpPr>
          <p:cNvPr id="52" name="Text 50"/>
          <p:cNvSpPr/>
          <p:nvPr/>
        </p:nvSpPr>
        <p:spPr>
          <a:xfrm>
            <a:off x="952500" y="9551670"/>
            <a:ext cx="17271285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paper [26] Meng et al., 2025: role-specialised human–AI legal workflow, which motivates LexAgent's role decomposition. Problem evidence: Dahl et al. [12].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933"/>
              </a:lnSpc>
              <a:buNone/>
            </a:pPr>
            <a:r>
              <a:rPr lang="en-US" sz="1950" b="1" spc="273" kern="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LITERATURE REVIEW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17308"/>
            <a:ext cx="1802130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4800" b="1" spc="-72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of the Closest Systems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843847"/>
            <a:ext cx="2857500" cy="10160"/>
          </a:xfrm>
          <a:prstGeom prst="rect">
            <a:avLst/>
          </a:prstGeom>
          <a:solidFill>
            <a:srgbClr val="1D1F20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185988"/>
            <a:ext cx="2752725" cy="581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b="1" spc="144" kern="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· DOMAIN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810000" y="2843847"/>
            <a:ext cx="3238500" cy="10160"/>
          </a:xfrm>
          <a:prstGeom prst="rect">
            <a:avLst/>
          </a:prstGeom>
          <a:solidFill>
            <a:srgbClr val="1D1F20"/>
          </a:solidFill>
          <a:ln/>
        </p:spPr>
      </p:sp>
      <p:sp>
        <p:nvSpPr>
          <p:cNvPr id="7" name="Text 5"/>
          <p:cNvSpPr/>
          <p:nvPr/>
        </p:nvSpPr>
        <p:spPr>
          <a:xfrm>
            <a:off x="3810000" y="2185988"/>
            <a:ext cx="3145155" cy="581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b="1" spc="144" kern="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048500" y="2843847"/>
            <a:ext cx="2149634" cy="10160"/>
          </a:xfrm>
          <a:prstGeom prst="rect">
            <a:avLst/>
          </a:prstGeom>
          <a:solidFill>
            <a:srgbClr val="1D1F20"/>
          </a:solidFill>
          <a:ln/>
        </p:spPr>
      </p:sp>
      <p:sp>
        <p:nvSpPr>
          <p:cNvPr id="9" name="Text 7"/>
          <p:cNvSpPr/>
          <p:nvPr/>
        </p:nvSpPr>
        <p:spPr>
          <a:xfrm>
            <a:off x="7048500" y="2185988"/>
            <a:ext cx="2035334" cy="581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b="1" spc="144" kern="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DEBATE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98134" y="2843847"/>
            <a:ext cx="2604453" cy="10160"/>
          </a:xfrm>
          <a:prstGeom prst="rect">
            <a:avLst/>
          </a:prstGeom>
          <a:solidFill>
            <a:srgbClr val="1D1F20"/>
          </a:solidFill>
          <a:ln/>
        </p:spPr>
      </p:sp>
      <p:sp>
        <p:nvSpPr>
          <p:cNvPr id="11" name="Text 9"/>
          <p:cNvSpPr/>
          <p:nvPr/>
        </p:nvSpPr>
        <p:spPr>
          <a:xfrm>
            <a:off x="9198134" y="2185988"/>
            <a:ext cx="2492086" cy="581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b="1" spc="144" kern="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IN-LOOP CITATION CHECK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802587" y="2843847"/>
            <a:ext cx="3112452" cy="10160"/>
          </a:xfrm>
          <a:prstGeom prst="rect">
            <a:avLst/>
          </a:prstGeom>
          <a:solidFill>
            <a:srgbClr val="1D1F20"/>
          </a:solidFill>
          <a:ln/>
        </p:spPr>
      </p:sp>
      <p:sp>
        <p:nvSpPr>
          <p:cNvPr id="13" name="Text 11"/>
          <p:cNvSpPr/>
          <p:nvPr/>
        </p:nvSpPr>
        <p:spPr>
          <a:xfrm>
            <a:off x="11802587" y="2185988"/>
            <a:ext cx="3015326" cy="581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b="1" spc="144" kern="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/ STRUCTURED RETRIEVAL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4915038" y="2843847"/>
            <a:ext cx="2420461" cy="10160"/>
          </a:xfrm>
          <a:prstGeom prst="rect">
            <a:avLst/>
          </a:prstGeom>
          <a:solidFill>
            <a:srgbClr val="1D1F20"/>
          </a:solidFill>
          <a:ln/>
        </p:spPr>
      </p:sp>
      <p:sp>
        <p:nvSpPr>
          <p:cNvPr id="15" name="Text 13"/>
          <p:cNvSpPr/>
          <p:nvPr/>
        </p:nvSpPr>
        <p:spPr>
          <a:xfrm>
            <a:off x="14915038" y="2185988"/>
            <a:ext cx="2496661" cy="581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b="1" spc="144" kern="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CROSS-SESSION MEMORY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52500" y="3580448"/>
            <a:ext cx="28575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52500" y="2925763"/>
            <a:ext cx="29337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464"/>
              </a:lnSpc>
              <a:buNone/>
            </a:pPr>
            <a:r>
              <a:rPr lang="en-US" sz="195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ChatLaw [22]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52500" y="3241993"/>
            <a:ext cx="2933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Chinese law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810000" y="3580448"/>
            <a:ext cx="32385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810000" y="2920682"/>
            <a:ext cx="3145155" cy="631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RA-MoE, cooperative SOP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048500" y="3580448"/>
            <a:ext cx="2149634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048500" y="3116263"/>
            <a:ext cx="209550" cy="209550"/>
          </a:xfrm>
          <a:prstGeom prst="rect">
            <a:avLst/>
          </a:prstGeom>
          <a:ln w="15240">
            <a:solidFill>
              <a:srgbClr val="98989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72350" y="3083877"/>
            <a:ext cx="35528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198134" y="3580448"/>
            <a:ext cx="2604453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9198134" y="3116263"/>
            <a:ext cx="209550" cy="209550"/>
          </a:xfrm>
          <a:prstGeom prst="rect">
            <a:avLst/>
          </a:prstGeom>
          <a:ln w="15240">
            <a:solidFill>
              <a:srgbClr val="98989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21984" y="3083877"/>
            <a:ext cx="193065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entropy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1802587" y="3580448"/>
            <a:ext cx="3112452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1802587" y="3116263"/>
            <a:ext cx="209550" cy="209550"/>
          </a:xfrm>
          <a:prstGeom prst="rect">
            <a:avLst/>
          </a:prstGeom>
          <a:solidFill>
            <a:srgbClr val="5980A6"/>
          </a:solidFill>
          <a:ln w="15240">
            <a:solidFill>
              <a:srgbClr val="5980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126437" y="3083877"/>
            <a:ext cx="149740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+ KG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4915038" y="3580448"/>
            <a:ext cx="2420461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4915038" y="3116263"/>
            <a:ext cx="209550" cy="209550"/>
          </a:xfrm>
          <a:prstGeom prst="rect">
            <a:avLst/>
          </a:prstGeom>
          <a:ln w="15240">
            <a:solidFill>
              <a:srgbClr val="98989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238888" y="3083877"/>
            <a:ext cx="35528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952500" y="4309428"/>
            <a:ext cx="28575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952500" y="3654743"/>
            <a:ext cx="29337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464"/>
              </a:lnSpc>
              <a:buNone/>
            </a:pPr>
            <a:r>
              <a:rPr lang="en-US" sz="195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HalluGraph [23]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952500" y="3970972"/>
            <a:ext cx="2933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RAG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3810000" y="4309428"/>
            <a:ext cx="32385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3810000" y="3652203"/>
            <a:ext cx="314515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Graph-alignment auditor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7048500" y="4309428"/>
            <a:ext cx="2149634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048500" y="3845243"/>
            <a:ext cx="209550" cy="209550"/>
          </a:xfrm>
          <a:prstGeom prst="rect">
            <a:avLst/>
          </a:prstGeom>
          <a:ln w="15240">
            <a:solidFill>
              <a:srgbClr val="98989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72350" y="3812857"/>
            <a:ext cx="35528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9198134" y="4309428"/>
            <a:ext cx="2604453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9198134" y="3845243"/>
            <a:ext cx="209550" cy="209550"/>
          </a:xfrm>
          <a:prstGeom prst="rect">
            <a:avLst/>
          </a:prstGeom>
          <a:ln w="15240">
            <a:solidFill>
              <a:srgbClr val="98989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521984" y="3812857"/>
            <a:ext cx="177209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Post-generation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11802587" y="4309428"/>
            <a:ext cx="3112452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1802587" y="3845243"/>
            <a:ext cx="209550" cy="209550"/>
          </a:xfrm>
          <a:prstGeom prst="rect">
            <a:avLst/>
          </a:prstGeom>
          <a:ln w="15240">
            <a:solidFill>
              <a:srgbClr val="98989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2126437" y="3812857"/>
            <a:ext cx="35528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14915038" y="4309428"/>
            <a:ext cx="2420461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4915038" y="3845243"/>
            <a:ext cx="209550" cy="209550"/>
          </a:xfrm>
          <a:prstGeom prst="rect">
            <a:avLst/>
          </a:prstGeom>
          <a:ln w="15240">
            <a:solidFill>
              <a:srgbClr val="98989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5238888" y="3812857"/>
            <a:ext cx="35528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952500" y="5038408"/>
            <a:ext cx="28575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952500" y="4383723"/>
            <a:ext cx="29337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464"/>
              </a:lnSpc>
              <a:buNone/>
            </a:pPr>
            <a:r>
              <a:rPr lang="en-US" sz="195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HalluDetect [19]</a:t>
            </a:r>
            <a:endParaRPr lang="en-US" sz="1950" dirty="0"/>
          </a:p>
        </p:txBody>
      </p:sp>
      <p:sp>
        <p:nvSpPr>
          <p:cNvPr id="52" name="Text 50"/>
          <p:cNvSpPr/>
          <p:nvPr/>
        </p:nvSpPr>
        <p:spPr>
          <a:xfrm>
            <a:off x="952500" y="4699953"/>
            <a:ext cx="2933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consumer law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3810000" y="5038408"/>
            <a:ext cx="32385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3810000" y="4381183"/>
            <a:ext cx="314515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Detector + cooperative agents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7048500" y="5038408"/>
            <a:ext cx="2149634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048500" y="4574223"/>
            <a:ext cx="209550" cy="209550"/>
          </a:xfrm>
          <a:prstGeom prst="rect">
            <a:avLst/>
          </a:prstGeom>
          <a:ln w="15240">
            <a:solidFill>
              <a:srgbClr val="98989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72350" y="4541837"/>
            <a:ext cx="35528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9198134" y="5038408"/>
            <a:ext cx="2604453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198134" y="4574223"/>
            <a:ext cx="209550" cy="209550"/>
          </a:xfrm>
          <a:prstGeom prst="rect">
            <a:avLst/>
          </a:prstGeom>
          <a:ln w="15240">
            <a:solidFill>
              <a:srgbClr val="98989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521984" y="4541837"/>
            <a:ext cx="177209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Post-generation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11802587" y="5038408"/>
            <a:ext cx="3112452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1802587" y="4574223"/>
            <a:ext cx="209550" cy="209550"/>
          </a:xfrm>
          <a:prstGeom prst="rect">
            <a:avLst/>
          </a:prstGeom>
          <a:gradFill rotWithShape="1">
            <a:gsLst>
              <a:gs pos="50000">
                <a:srgbClr val="5980A6">
                  <a:alpha val="100000"/>
                </a:srgbClr>
              </a:gs>
              <a:gs pos="50000">
                <a:srgbClr val="5980A6">
                  <a:alpha val="0"/>
                </a:srgbClr>
              </a:gs>
            </a:gsLst>
            <a:lin ang="0" scaled="0"/>
          </a:gradFill>
          <a:ln w="15240">
            <a:solidFill>
              <a:srgbClr val="5980A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2126437" y="4541837"/>
            <a:ext cx="148623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chatbots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4915038" y="5038408"/>
            <a:ext cx="2420461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4915038" y="4574223"/>
            <a:ext cx="209550" cy="209550"/>
          </a:xfrm>
          <a:prstGeom prst="rect">
            <a:avLst/>
          </a:prstGeom>
          <a:ln w="15240">
            <a:solidFill>
              <a:srgbClr val="98989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5238888" y="4541837"/>
            <a:ext cx="35528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952500" y="5767388"/>
            <a:ext cx="28575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952500" y="5112702"/>
            <a:ext cx="29337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464"/>
              </a:lnSpc>
              <a:buNone/>
            </a:pPr>
            <a:r>
              <a:rPr lang="en-US" sz="195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LeAK-GraphRAG [20]</a:t>
            </a:r>
            <a:endParaRPr lang="en-US" sz="1950" dirty="0"/>
          </a:p>
        </p:txBody>
      </p:sp>
      <p:sp>
        <p:nvSpPr>
          <p:cNvPr id="69" name="Text 67"/>
          <p:cNvSpPr/>
          <p:nvPr/>
        </p:nvSpPr>
        <p:spPr>
          <a:xfrm>
            <a:off x="952500" y="5428933"/>
            <a:ext cx="2933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Chinese legal papers</a:t>
            </a:r>
            <a:endParaRPr lang="en-US" sz="1800" dirty="0"/>
          </a:p>
        </p:txBody>
      </p:sp>
      <p:sp>
        <p:nvSpPr>
          <p:cNvPr id="70" name="Shape 68"/>
          <p:cNvSpPr/>
          <p:nvPr/>
        </p:nvSpPr>
        <p:spPr>
          <a:xfrm>
            <a:off x="3810000" y="5767388"/>
            <a:ext cx="32385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3810000" y="5110163"/>
            <a:ext cx="314515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GraphRAG</a:t>
            </a:r>
            <a:endParaRPr lang="en-US" sz="1800" dirty="0"/>
          </a:p>
        </p:txBody>
      </p:sp>
      <p:sp>
        <p:nvSpPr>
          <p:cNvPr id="72" name="Shape 70"/>
          <p:cNvSpPr/>
          <p:nvPr/>
        </p:nvSpPr>
        <p:spPr>
          <a:xfrm>
            <a:off x="7048500" y="5767388"/>
            <a:ext cx="2149634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7048500" y="5303202"/>
            <a:ext cx="209550" cy="209550"/>
          </a:xfrm>
          <a:prstGeom prst="rect">
            <a:avLst/>
          </a:prstGeom>
          <a:ln w="15240">
            <a:solidFill>
              <a:srgbClr val="98989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372350" y="5270818"/>
            <a:ext cx="35528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800" dirty="0"/>
          </a:p>
        </p:txBody>
      </p:sp>
      <p:sp>
        <p:nvSpPr>
          <p:cNvPr id="75" name="Shape 73"/>
          <p:cNvSpPr/>
          <p:nvPr/>
        </p:nvSpPr>
        <p:spPr>
          <a:xfrm>
            <a:off x="9198134" y="5767388"/>
            <a:ext cx="2604453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9198134" y="5303202"/>
            <a:ext cx="209550" cy="209550"/>
          </a:xfrm>
          <a:prstGeom prst="rect">
            <a:avLst/>
          </a:prstGeom>
          <a:ln w="15240">
            <a:solidFill>
              <a:srgbClr val="98989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521984" y="5270818"/>
            <a:ext cx="35528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800" dirty="0"/>
          </a:p>
        </p:txBody>
      </p:sp>
      <p:sp>
        <p:nvSpPr>
          <p:cNvPr id="78" name="Shape 76"/>
          <p:cNvSpPr/>
          <p:nvPr/>
        </p:nvSpPr>
        <p:spPr>
          <a:xfrm>
            <a:off x="11802587" y="5767388"/>
            <a:ext cx="3112452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11802587" y="5303202"/>
            <a:ext cx="209550" cy="209550"/>
          </a:xfrm>
          <a:prstGeom prst="rect">
            <a:avLst/>
          </a:prstGeom>
          <a:solidFill>
            <a:srgbClr val="5980A6"/>
          </a:solidFill>
          <a:ln w="15240">
            <a:solidFill>
              <a:srgbClr val="5980A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2126437" y="5270818"/>
            <a:ext cx="170992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+ Cypher</a:t>
            </a:r>
            <a:endParaRPr lang="en-US" sz="1800" dirty="0"/>
          </a:p>
        </p:txBody>
      </p:sp>
      <p:sp>
        <p:nvSpPr>
          <p:cNvPr id="81" name="Shape 79"/>
          <p:cNvSpPr/>
          <p:nvPr/>
        </p:nvSpPr>
        <p:spPr>
          <a:xfrm>
            <a:off x="14915038" y="5767388"/>
            <a:ext cx="2420461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14915038" y="5303202"/>
            <a:ext cx="209550" cy="209550"/>
          </a:xfrm>
          <a:prstGeom prst="rect">
            <a:avLst/>
          </a:prstGeom>
          <a:ln w="15240">
            <a:solidFill>
              <a:srgbClr val="98989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5238888" y="5270818"/>
            <a:ext cx="35528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800" dirty="0"/>
          </a:p>
        </p:txBody>
      </p:sp>
      <p:sp>
        <p:nvSpPr>
          <p:cNvPr id="84" name="Shape 82"/>
          <p:cNvSpPr/>
          <p:nvPr/>
        </p:nvSpPr>
        <p:spPr>
          <a:xfrm>
            <a:off x="952500" y="6496367"/>
            <a:ext cx="28575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85" name="Text 83"/>
          <p:cNvSpPr/>
          <p:nvPr/>
        </p:nvSpPr>
        <p:spPr>
          <a:xfrm>
            <a:off x="952500" y="5841682"/>
            <a:ext cx="29337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464"/>
              </a:lnSpc>
              <a:buNone/>
            </a:pPr>
            <a:r>
              <a:rPr lang="en-US" sz="195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AALawyer [21]</a:t>
            </a:r>
            <a:endParaRPr lang="en-US" sz="1950" dirty="0"/>
          </a:p>
        </p:txBody>
      </p:sp>
      <p:sp>
        <p:nvSpPr>
          <p:cNvPr id="86" name="Text 84"/>
          <p:cNvSpPr/>
          <p:nvPr/>
        </p:nvSpPr>
        <p:spPr>
          <a:xfrm>
            <a:off x="952500" y="6157913"/>
            <a:ext cx="2933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Chinese criminal law</a:t>
            </a:r>
            <a:endParaRPr lang="en-US" sz="1800" dirty="0"/>
          </a:p>
        </p:txBody>
      </p:sp>
      <p:sp>
        <p:nvSpPr>
          <p:cNvPr id="87" name="Shape 85"/>
          <p:cNvSpPr/>
          <p:nvPr/>
        </p:nvSpPr>
        <p:spPr>
          <a:xfrm>
            <a:off x="3810000" y="6496367"/>
            <a:ext cx="32385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88" name="Text 86"/>
          <p:cNvSpPr/>
          <p:nvPr/>
        </p:nvSpPr>
        <p:spPr>
          <a:xfrm>
            <a:off x="3810000" y="5839142"/>
            <a:ext cx="314515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RAG (SCR + APR)</a:t>
            </a:r>
            <a:endParaRPr lang="en-US" sz="1800" dirty="0"/>
          </a:p>
        </p:txBody>
      </p:sp>
      <p:sp>
        <p:nvSpPr>
          <p:cNvPr id="89" name="Shape 87"/>
          <p:cNvSpPr/>
          <p:nvPr/>
        </p:nvSpPr>
        <p:spPr>
          <a:xfrm>
            <a:off x="7048500" y="6496367"/>
            <a:ext cx="2149634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7048500" y="6032182"/>
            <a:ext cx="209550" cy="209550"/>
          </a:xfrm>
          <a:prstGeom prst="rect">
            <a:avLst/>
          </a:prstGeom>
          <a:ln w="15240">
            <a:solidFill>
              <a:srgbClr val="98989B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372350" y="5999798"/>
            <a:ext cx="35528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800" dirty="0"/>
          </a:p>
        </p:txBody>
      </p:sp>
      <p:sp>
        <p:nvSpPr>
          <p:cNvPr id="92" name="Shape 90"/>
          <p:cNvSpPr/>
          <p:nvPr/>
        </p:nvSpPr>
        <p:spPr>
          <a:xfrm>
            <a:off x="9198134" y="6496367"/>
            <a:ext cx="2604453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9198134" y="6032182"/>
            <a:ext cx="209550" cy="209550"/>
          </a:xfrm>
          <a:prstGeom prst="rect">
            <a:avLst/>
          </a:prstGeom>
          <a:ln w="15240">
            <a:solidFill>
              <a:srgbClr val="98989B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9521984" y="5999798"/>
            <a:ext cx="227955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Constrained retrieval</a:t>
            </a:r>
            <a:endParaRPr lang="en-US" sz="1800" dirty="0"/>
          </a:p>
        </p:txBody>
      </p:sp>
      <p:sp>
        <p:nvSpPr>
          <p:cNvPr id="95" name="Shape 93"/>
          <p:cNvSpPr/>
          <p:nvPr/>
        </p:nvSpPr>
        <p:spPr>
          <a:xfrm>
            <a:off x="11802587" y="6496367"/>
            <a:ext cx="3112452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96" name="Shape 94"/>
          <p:cNvSpPr/>
          <p:nvPr/>
        </p:nvSpPr>
        <p:spPr>
          <a:xfrm>
            <a:off x="11802587" y="6032182"/>
            <a:ext cx="209550" cy="209550"/>
          </a:xfrm>
          <a:prstGeom prst="rect">
            <a:avLst/>
          </a:prstGeom>
          <a:solidFill>
            <a:srgbClr val="5980A6"/>
          </a:solidFill>
          <a:ln w="15240">
            <a:solidFill>
              <a:srgbClr val="5980A6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2126437" y="5999798"/>
            <a:ext cx="232513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Symbolic + analogical</a:t>
            </a:r>
            <a:endParaRPr lang="en-US" sz="1800" dirty="0"/>
          </a:p>
        </p:txBody>
      </p:sp>
      <p:sp>
        <p:nvSpPr>
          <p:cNvPr id="98" name="Shape 96"/>
          <p:cNvSpPr/>
          <p:nvPr/>
        </p:nvSpPr>
        <p:spPr>
          <a:xfrm>
            <a:off x="14915038" y="6496367"/>
            <a:ext cx="2420461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99" name="Shape 97"/>
          <p:cNvSpPr/>
          <p:nvPr/>
        </p:nvSpPr>
        <p:spPr>
          <a:xfrm>
            <a:off x="14915038" y="6032182"/>
            <a:ext cx="209550" cy="209550"/>
          </a:xfrm>
          <a:prstGeom prst="rect">
            <a:avLst/>
          </a:prstGeom>
          <a:ln w="15240">
            <a:solidFill>
              <a:srgbClr val="98989B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5238888" y="5999798"/>
            <a:ext cx="35528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800" dirty="0"/>
          </a:p>
        </p:txBody>
      </p:sp>
      <p:sp>
        <p:nvSpPr>
          <p:cNvPr id="101" name="Shape 99"/>
          <p:cNvSpPr/>
          <p:nvPr/>
        </p:nvSpPr>
        <p:spPr>
          <a:xfrm>
            <a:off x="952500" y="7225347"/>
            <a:ext cx="28575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102" name="Text 100"/>
          <p:cNvSpPr/>
          <p:nvPr/>
        </p:nvSpPr>
        <p:spPr>
          <a:xfrm>
            <a:off x="952500" y="6570662"/>
            <a:ext cx="29337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464"/>
              </a:lnSpc>
              <a:buNone/>
            </a:pPr>
            <a:r>
              <a:rPr lang="en-US" sz="195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Falkor-IRAC [25]</a:t>
            </a:r>
            <a:endParaRPr lang="en-US" sz="1950" dirty="0"/>
          </a:p>
        </p:txBody>
      </p:sp>
      <p:sp>
        <p:nvSpPr>
          <p:cNvPr id="103" name="Text 101"/>
          <p:cNvSpPr/>
          <p:nvPr/>
        </p:nvSpPr>
        <p:spPr>
          <a:xfrm>
            <a:off x="952500" y="6886892"/>
            <a:ext cx="2933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judgments</a:t>
            </a:r>
            <a:endParaRPr lang="en-US" sz="1800" dirty="0"/>
          </a:p>
        </p:txBody>
      </p:sp>
      <p:sp>
        <p:nvSpPr>
          <p:cNvPr id="104" name="Shape 102"/>
          <p:cNvSpPr/>
          <p:nvPr/>
        </p:nvSpPr>
        <p:spPr>
          <a:xfrm>
            <a:off x="3810000" y="7225347"/>
            <a:ext cx="32385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105" name="Text 103"/>
          <p:cNvSpPr/>
          <p:nvPr/>
        </p:nvSpPr>
        <p:spPr>
          <a:xfrm>
            <a:off x="3810000" y="6568122"/>
            <a:ext cx="314515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IRAC graph + verifier veto</a:t>
            </a:r>
            <a:endParaRPr lang="en-US" sz="1800" dirty="0"/>
          </a:p>
        </p:txBody>
      </p:sp>
      <p:sp>
        <p:nvSpPr>
          <p:cNvPr id="106" name="Shape 104"/>
          <p:cNvSpPr/>
          <p:nvPr/>
        </p:nvSpPr>
        <p:spPr>
          <a:xfrm>
            <a:off x="7048500" y="7225347"/>
            <a:ext cx="2149634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107" name="Shape 105"/>
          <p:cNvSpPr/>
          <p:nvPr/>
        </p:nvSpPr>
        <p:spPr>
          <a:xfrm>
            <a:off x="7048500" y="6761162"/>
            <a:ext cx="209550" cy="209550"/>
          </a:xfrm>
          <a:prstGeom prst="rect">
            <a:avLst/>
          </a:prstGeom>
          <a:ln w="15240">
            <a:solidFill>
              <a:srgbClr val="98989B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7372350" y="6728778"/>
            <a:ext cx="179444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generator</a:t>
            </a:r>
            <a:endParaRPr lang="en-US" sz="1800" dirty="0"/>
          </a:p>
        </p:txBody>
      </p:sp>
      <p:sp>
        <p:nvSpPr>
          <p:cNvPr id="109" name="Shape 107"/>
          <p:cNvSpPr/>
          <p:nvPr/>
        </p:nvSpPr>
        <p:spPr>
          <a:xfrm>
            <a:off x="9198134" y="7225347"/>
            <a:ext cx="2604453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110" name="Shape 108"/>
          <p:cNvSpPr/>
          <p:nvPr/>
        </p:nvSpPr>
        <p:spPr>
          <a:xfrm>
            <a:off x="9198134" y="6761162"/>
            <a:ext cx="209550" cy="209550"/>
          </a:xfrm>
          <a:prstGeom prst="rect">
            <a:avLst/>
          </a:prstGeom>
          <a:gradFill rotWithShape="1">
            <a:gsLst>
              <a:gs pos="50000">
                <a:srgbClr val="5980A6">
                  <a:alpha val="100000"/>
                </a:srgbClr>
              </a:gs>
              <a:gs pos="50000">
                <a:srgbClr val="5980A6">
                  <a:alpha val="0"/>
                </a:srgbClr>
              </a:gs>
            </a:gsLst>
            <a:lin ang="0" scaled="0"/>
          </a:gradFill>
          <a:ln w="15240">
            <a:solidFill>
              <a:srgbClr val="5980A6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9521984" y="6728778"/>
            <a:ext cx="207175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Veto after proposal</a:t>
            </a:r>
            <a:endParaRPr lang="en-US" sz="1800" dirty="0"/>
          </a:p>
        </p:txBody>
      </p:sp>
      <p:sp>
        <p:nvSpPr>
          <p:cNvPr id="112" name="Shape 110"/>
          <p:cNvSpPr/>
          <p:nvPr/>
        </p:nvSpPr>
        <p:spPr>
          <a:xfrm>
            <a:off x="11802587" y="7225347"/>
            <a:ext cx="3112452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113" name="Shape 111"/>
          <p:cNvSpPr/>
          <p:nvPr/>
        </p:nvSpPr>
        <p:spPr>
          <a:xfrm>
            <a:off x="11802587" y="6761162"/>
            <a:ext cx="209550" cy="209550"/>
          </a:xfrm>
          <a:prstGeom prst="rect">
            <a:avLst/>
          </a:prstGeom>
          <a:gradFill rotWithShape="1">
            <a:gsLst>
              <a:gs pos="50000">
                <a:srgbClr val="5980A6">
                  <a:alpha val="100000"/>
                </a:srgbClr>
              </a:gs>
              <a:gs pos="50000">
                <a:srgbClr val="5980A6">
                  <a:alpha val="0"/>
                </a:srgbClr>
              </a:gs>
            </a:gsLst>
            <a:lin ang="0" scaled="0"/>
          </a:gradFill>
          <a:ln w="15240">
            <a:solidFill>
              <a:srgbClr val="5980A6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12126437" y="6728778"/>
            <a:ext cx="167395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Symbolic graph</a:t>
            </a:r>
            <a:endParaRPr lang="en-US" sz="1800" dirty="0"/>
          </a:p>
        </p:txBody>
      </p:sp>
      <p:sp>
        <p:nvSpPr>
          <p:cNvPr id="115" name="Shape 113"/>
          <p:cNvSpPr/>
          <p:nvPr/>
        </p:nvSpPr>
        <p:spPr>
          <a:xfrm>
            <a:off x="14915038" y="7225347"/>
            <a:ext cx="2420461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116" name="Shape 114"/>
          <p:cNvSpPr/>
          <p:nvPr/>
        </p:nvSpPr>
        <p:spPr>
          <a:xfrm>
            <a:off x="14915038" y="6761162"/>
            <a:ext cx="209550" cy="209550"/>
          </a:xfrm>
          <a:prstGeom prst="rect">
            <a:avLst/>
          </a:prstGeom>
          <a:ln w="15240">
            <a:solidFill>
              <a:srgbClr val="98989B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5238888" y="6728778"/>
            <a:ext cx="35528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800" dirty="0"/>
          </a:p>
        </p:txBody>
      </p:sp>
      <p:sp>
        <p:nvSpPr>
          <p:cNvPr id="118" name="Shape 116"/>
          <p:cNvSpPr/>
          <p:nvPr/>
        </p:nvSpPr>
        <p:spPr>
          <a:xfrm>
            <a:off x="952500" y="7951787"/>
            <a:ext cx="2857500" cy="10160"/>
          </a:xfrm>
          <a:prstGeom prst="rect">
            <a:avLst/>
          </a:prstGeom>
          <a:solidFill>
            <a:srgbClr val="1D1F20"/>
          </a:solidFill>
          <a:ln/>
        </p:spPr>
      </p:sp>
      <p:sp>
        <p:nvSpPr>
          <p:cNvPr id="119" name="Text 117"/>
          <p:cNvSpPr/>
          <p:nvPr/>
        </p:nvSpPr>
        <p:spPr>
          <a:xfrm>
            <a:off x="952500" y="7299643"/>
            <a:ext cx="29337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464"/>
              </a:lnSpc>
              <a:buNone/>
            </a:pPr>
            <a:r>
              <a:rPr lang="en-US" sz="195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PROCLAIM [24]</a:t>
            </a:r>
            <a:endParaRPr lang="en-US" sz="1950" dirty="0"/>
          </a:p>
        </p:txBody>
      </p:sp>
      <p:sp>
        <p:nvSpPr>
          <p:cNvPr id="120" name="Text 118"/>
          <p:cNvSpPr/>
          <p:nvPr/>
        </p:nvSpPr>
        <p:spPr>
          <a:xfrm>
            <a:off x="952500" y="7615872"/>
            <a:ext cx="2933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Biomedical claims</a:t>
            </a:r>
            <a:endParaRPr lang="en-US" sz="1800" dirty="0"/>
          </a:p>
        </p:txBody>
      </p:sp>
      <p:sp>
        <p:nvSpPr>
          <p:cNvPr id="121" name="Shape 119"/>
          <p:cNvSpPr/>
          <p:nvPr/>
        </p:nvSpPr>
        <p:spPr>
          <a:xfrm>
            <a:off x="3810000" y="7951787"/>
            <a:ext cx="3238500" cy="10160"/>
          </a:xfrm>
          <a:prstGeom prst="rect">
            <a:avLst/>
          </a:prstGeom>
          <a:solidFill>
            <a:srgbClr val="1D1F20"/>
          </a:solidFill>
          <a:ln/>
        </p:spPr>
      </p:sp>
      <p:sp>
        <p:nvSpPr>
          <p:cNvPr id="122" name="Text 120"/>
          <p:cNvSpPr/>
          <p:nvPr/>
        </p:nvSpPr>
        <p:spPr>
          <a:xfrm>
            <a:off x="3810000" y="7297102"/>
            <a:ext cx="3145155" cy="626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Courtroom MAD + P-RAG</a:t>
            </a:r>
            <a:endParaRPr lang="en-US" sz="1800" dirty="0"/>
          </a:p>
        </p:txBody>
      </p:sp>
      <p:sp>
        <p:nvSpPr>
          <p:cNvPr id="123" name="Shape 121"/>
          <p:cNvSpPr/>
          <p:nvPr/>
        </p:nvSpPr>
        <p:spPr>
          <a:xfrm>
            <a:off x="7048500" y="7951787"/>
            <a:ext cx="2149634" cy="10160"/>
          </a:xfrm>
          <a:prstGeom prst="rect">
            <a:avLst/>
          </a:prstGeom>
          <a:solidFill>
            <a:srgbClr val="1D1F20"/>
          </a:solidFill>
          <a:ln/>
        </p:spPr>
      </p:sp>
      <p:sp>
        <p:nvSpPr>
          <p:cNvPr id="124" name="Shape 122"/>
          <p:cNvSpPr/>
          <p:nvPr/>
        </p:nvSpPr>
        <p:spPr>
          <a:xfrm>
            <a:off x="7048500" y="7490143"/>
            <a:ext cx="209550" cy="209550"/>
          </a:xfrm>
          <a:prstGeom prst="rect">
            <a:avLst/>
          </a:prstGeom>
          <a:solidFill>
            <a:srgbClr val="5980A6"/>
          </a:solidFill>
          <a:ln w="15240">
            <a:solidFill>
              <a:srgbClr val="5980A6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7372350" y="7457758"/>
            <a:ext cx="174485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· ≈11× tokens</a:t>
            </a:r>
            <a:endParaRPr lang="en-US" sz="1800" dirty="0"/>
          </a:p>
        </p:txBody>
      </p:sp>
      <p:sp>
        <p:nvSpPr>
          <p:cNvPr id="126" name="Shape 124"/>
          <p:cNvSpPr/>
          <p:nvPr/>
        </p:nvSpPr>
        <p:spPr>
          <a:xfrm>
            <a:off x="9198134" y="7951787"/>
            <a:ext cx="2604453" cy="10160"/>
          </a:xfrm>
          <a:prstGeom prst="rect">
            <a:avLst/>
          </a:prstGeom>
          <a:solidFill>
            <a:srgbClr val="1D1F20"/>
          </a:solidFill>
          <a:ln/>
        </p:spPr>
      </p:sp>
      <p:sp>
        <p:nvSpPr>
          <p:cNvPr id="127" name="Shape 125"/>
          <p:cNvSpPr/>
          <p:nvPr/>
        </p:nvSpPr>
        <p:spPr>
          <a:xfrm>
            <a:off x="9198134" y="7490143"/>
            <a:ext cx="209550" cy="209550"/>
          </a:xfrm>
          <a:prstGeom prst="rect">
            <a:avLst/>
          </a:prstGeom>
          <a:ln w="15240">
            <a:solidFill>
              <a:srgbClr val="98989B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9521984" y="7320597"/>
            <a:ext cx="2166303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Evidence, not citations</a:t>
            </a:r>
            <a:endParaRPr lang="en-US" sz="1800" dirty="0"/>
          </a:p>
        </p:txBody>
      </p:sp>
      <p:sp>
        <p:nvSpPr>
          <p:cNvPr id="129" name="Shape 127"/>
          <p:cNvSpPr/>
          <p:nvPr/>
        </p:nvSpPr>
        <p:spPr>
          <a:xfrm>
            <a:off x="11802587" y="7951787"/>
            <a:ext cx="3112452" cy="10160"/>
          </a:xfrm>
          <a:prstGeom prst="rect">
            <a:avLst/>
          </a:prstGeom>
          <a:solidFill>
            <a:srgbClr val="1D1F20"/>
          </a:solidFill>
          <a:ln/>
        </p:spPr>
      </p:sp>
      <p:sp>
        <p:nvSpPr>
          <p:cNvPr id="130" name="Shape 128"/>
          <p:cNvSpPr/>
          <p:nvPr/>
        </p:nvSpPr>
        <p:spPr>
          <a:xfrm>
            <a:off x="11802587" y="7490143"/>
            <a:ext cx="209550" cy="209550"/>
          </a:xfrm>
          <a:prstGeom prst="rect">
            <a:avLst/>
          </a:prstGeom>
          <a:gradFill rotWithShape="1">
            <a:gsLst>
              <a:gs pos="50000">
                <a:srgbClr val="5980A6">
                  <a:alpha val="100000"/>
                </a:srgbClr>
              </a:gs>
              <a:gs pos="50000">
                <a:srgbClr val="5980A6">
                  <a:alpha val="0"/>
                </a:srgbClr>
              </a:gs>
            </a:gsLst>
            <a:lin ang="0" scaled="0"/>
          </a:gradFill>
          <a:ln w="15240">
            <a:solidFill>
              <a:srgbClr val="5980A6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12126437" y="7457758"/>
            <a:ext cx="117363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P-RAG only</a:t>
            </a:r>
            <a:endParaRPr lang="en-US" sz="1800" dirty="0"/>
          </a:p>
        </p:txBody>
      </p:sp>
      <p:sp>
        <p:nvSpPr>
          <p:cNvPr id="132" name="Shape 130"/>
          <p:cNvSpPr/>
          <p:nvPr/>
        </p:nvSpPr>
        <p:spPr>
          <a:xfrm>
            <a:off x="14915038" y="7951787"/>
            <a:ext cx="2420461" cy="10160"/>
          </a:xfrm>
          <a:prstGeom prst="rect">
            <a:avLst/>
          </a:prstGeom>
          <a:solidFill>
            <a:srgbClr val="1D1F20"/>
          </a:solidFill>
          <a:ln/>
        </p:spPr>
      </p:sp>
      <p:sp>
        <p:nvSpPr>
          <p:cNvPr id="133" name="Shape 131"/>
          <p:cNvSpPr/>
          <p:nvPr/>
        </p:nvSpPr>
        <p:spPr>
          <a:xfrm>
            <a:off x="14915038" y="7490143"/>
            <a:ext cx="209550" cy="209550"/>
          </a:xfrm>
          <a:prstGeom prst="rect">
            <a:avLst/>
          </a:prstGeom>
          <a:ln w="15240">
            <a:solidFill>
              <a:srgbClr val="98989B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15238888" y="7457758"/>
            <a:ext cx="35528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800" dirty="0"/>
          </a:p>
        </p:txBody>
      </p:sp>
      <p:sp>
        <p:nvSpPr>
          <p:cNvPr id="135" name="Shape 133"/>
          <p:cNvSpPr/>
          <p:nvPr/>
        </p:nvSpPr>
        <p:spPr>
          <a:xfrm>
            <a:off x="952500" y="7961948"/>
            <a:ext cx="16383000" cy="772160"/>
          </a:xfrm>
          <a:prstGeom prst="rect">
            <a:avLst/>
          </a:prstGeom>
          <a:solidFill>
            <a:srgbClr val="EEF6FF"/>
          </a:solidFill>
          <a:ln/>
        </p:spPr>
      </p:sp>
      <p:sp>
        <p:nvSpPr>
          <p:cNvPr id="136" name="Shape 134"/>
          <p:cNvSpPr/>
          <p:nvPr/>
        </p:nvSpPr>
        <p:spPr>
          <a:xfrm>
            <a:off x="952500" y="8723948"/>
            <a:ext cx="2857500" cy="10160"/>
          </a:xfrm>
          <a:prstGeom prst="rect">
            <a:avLst/>
          </a:prstGeom>
          <a:solidFill>
            <a:srgbClr val="1D1F20"/>
          </a:solidFill>
          <a:ln/>
        </p:spPr>
      </p:sp>
      <p:sp>
        <p:nvSpPr>
          <p:cNvPr id="137" name="Text 135"/>
          <p:cNvSpPr/>
          <p:nvPr/>
        </p:nvSpPr>
        <p:spPr>
          <a:xfrm>
            <a:off x="1104900" y="8052753"/>
            <a:ext cx="276606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464"/>
              </a:lnSpc>
              <a:buNone/>
            </a:pPr>
            <a:r>
              <a:rPr lang="en-US" sz="1950" b="1" dirty="0">
                <a:solidFill>
                  <a:srgbClr val="2C4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LexAgent (ours)</a:t>
            </a:r>
            <a:endParaRPr lang="en-US" sz="1950" dirty="0"/>
          </a:p>
        </p:txBody>
      </p:sp>
      <p:sp>
        <p:nvSpPr>
          <p:cNvPr id="138" name="Text 136"/>
          <p:cNvSpPr/>
          <p:nvPr/>
        </p:nvSpPr>
        <p:spPr>
          <a:xfrm>
            <a:off x="1104900" y="8368982"/>
            <a:ext cx="276606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2C4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U.S. federal case law</a:t>
            </a:r>
            <a:endParaRPr lang="en-US" sz="1800" dirty="0"/>
          </a:p>
        </p:txBody>
      </p:sp>
      <p:sp>
        <p:nvSpPr>
          <p:cNvPr id="139" name="Shape 137"/>
          <p:cNvSpPr/>
          <p:nvPr/>
        </p:nvSpPr>
        <p:spPr>
          <a:xfrm>
            <a:off x="3810000" y="8723948"/>
            <a:ext cx="3238500" cy="10160"/>
          </a:xfrm>
          <a:prstGeom prst="rect">
            <a:avLst/>
          </a:prstGeom>
          <a:solidFill>
            <a:srgbClr val="1D1F20"/>
          </a:solidFill>
          <a:ln/>
        </p:spPr>
      </p:sp>
      <p:sp>
        <p:nvSpPr>
          <p:cNvPr id="140" name="Text 138"/>
          <p:cNvSpPr/>
          <p:nvPr/>
        </p:nvSpPr>
        <p:spPr>
          <a:xfrm>
            <a:off x="3810000" y="8047673"/>
            <a:ext cx="314515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1D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4-agent debate on one T4 GPU</a:t>
            </a:r>
            <a:endParaRPr lang="en-US" sz="1800" dirty="0"/>
          </a:p>
        </p:txBody>
      </p:sp>
      <p:sp>
        <p:nvSpPr>
          <p:cNvPr id="141" name="Shape 139"/>
          <p:cNvSpPr/>
          <p:nvPr/>
        </p:nvSpPr>
        <p:spPr>
          <a:xfrm>
            <a:off x="7048500" y="8723948"/>
            <a:ext cx="2149634" cy="10160"/>
          </a:xfrm>
          <a:prstGeom prst="rect">
            <a:avLst/>
          </a:prstGeom>
          <a:solidFill>
            <a:srgbClr val="1D1F20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048500" y="8243253"/>
            <a:ext cx="209550" cy="209550"/>
          </a:xfrm>
          <a:prstGeom prst="rect">
            <a:avLst/>
          </a:prstGeom>
          <a:solidFill>
            <a:srgbClr val="416180"/>
          </a:solidFill>
          <a:ln w="15240">
            <a:solidFill>
              <a:srgbClr val="416180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7372350" y="8073707"/>
            <a:ext cx="1711484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1D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Evidence-disjoint</a:t>
            </a:r>
            <a:endParaRPr lang="en-US" sz="1800" dirty="0"/>
          </a:p>
        </p:txBody>
      </p:sp>
      <p:sp>
        <p:nvSpPr>
          <p:cNvPr id="144" name="Shape 142"/>
          <p:cNvSpPr/>
          <p:nvPr/>
        </p:nvSpPr>
        <p:spPr>
          <a:xfrm>
            <a:off x="9198134" y="8723948"/>
            <a:ext cx="2604453" cy="10160"/>
          </a:xfrm>
          <a:prstGeom prst="rect">
            <a:avLst/>
          </a:prstGeom>
          <a:solidFill>
            <a:srgbClr val="1D1F20"/>
          </a:solidFill>
          <a:ln/>
        </p:spPr>
      </p:sp>
      <p:sp>
        <p:nvSpPr>
          <p:cNvPr id="145" name="Shape 143"/>
          <p:cNvSpPr/>
          <p:nvPr/>
        </p:nvSpPr>
        <p:spPr>
          <a:xfrm>
            <a:off x="9198134" y="8243253"/>
            <a:ext cx="209550" cy="209550"/>
          </a:xfrm>
          <a:prstGeom prst="rect">
            <a:avLst/>
          </a:prstGeom>
          <a:solidFill>
            <a:srgbClr val="416180"/>
          </a:solidFill>
          <a:ln w="15240">
            <a:solidFill>
              <a:srgbClr val="416180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9521984" y="8210867"/>
            <a:ext cx="115363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1D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CCS = E × S</a:t>
            </a:r>
            <a:endParaRPr lang="en-US" sz="1800" dirty="0"/>
          </a:p>
        </p:txBody>
      </p:sp>
      <p:sp>
        <p:nvSpPr>
          <p:cNvPr id="147" name="Shape 145"/>
          <p:cNvSpPr/>
          <p:nvPr/>
        </p:nvSpPr>
        <p:spPr>
          <a:xfrm>
            <a:off x="11802587" y="8723948"/>
            <a:ext cx="3112452" cy="10160"/>
          </a:xfrm>
          <a:prstGeom prst="rect">
            <a:avLst/>
          </a:prstGeom>
          <a:solidFill>
            <a:srgbClr val="1D1F20"/>
          </a:solidFill>
          <a:ln/>
        </p:spPr>
      </p:sp>
      <p:sp>
        <p:nvSpPr>
          <p:cNvPr id="148" name="Shape 146"/>
          <p:cNvSpPr/>
          <p:nvPr/>
        </p:nvSpPr>
        <p:spPr>
          <a:xfrm>
            <a:off x="11802587" y="8243253"/>
            <a:ext cx="209550" cy="209550"/>
          </a:xfrm>
          <a:prstGeom prst="rect">
            <a:avLst/>
          </a:prstGeom>
          <a:solidFill>
            <a:srgbClr val="416180"/>
          </a:solidFill>
          <a:ln w="15240">
            <a:solidFill>
              <a:srgbClr val="416180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12126437" y="8210867"/>
            <a:ext cx="214002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1D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 + Legal-BERT</a:t>
            </a:r>
            <a:endParaRPr lang="en-US" sz="1800" dirty="0"/>
          </a:p>
        </p:txBody>
      </p:sp>
      <p:sp>
        <p:nvSpPr>
          <p:cNvPr id="150" name="Shape 148"/>
          <p:cNvSpPr/>
          <p:nvPr/>
        </p:nvSpPr>
        <p:spPr>
          <a:xfrm>
            <a:off x="14915038" y="8723948"/>
            <a:ext cx="2420461" cy="10160"/>
          </a:xfrm>
          <a:prstGeom prst="rect">
            <a:avLst/>
          </a:prstGeom>
          <a:solidFill>
            <a:srgbClr val="1D1F20"/>
          </a:solidFill>
          <a:ln/>
        </p:spPr>
      </p:sp>
      <p:sp>
        <p:nvSpPr>
          <p:cNvPr id="151" name="Shape 149"/>
          <p:cNvSpPr/>
          <p:nvPr/>
        </p:nvSpPr>
        <p:spPr>
          <a:xfrm>
            <a:off x="14915038" y="8243253"/>
            <a:ext cx="209550" cy="209550"/>
          </a:xfrm>
          <a:prstGeom prst="rect">
            <a:avLst/>
          </a:prstGeom>
          <a:solidFill>
            <a:srgbClr val="416180"/>
          </a:solidFill>
          <a:ln w="15240">
            <a:solidFill>
              <a:srgbClr val="416180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15238888" y="8073707"/>
            <a:ext cx="2020411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1D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 + risk memory</a:t>
            </a:r>
            <a:endParaRPr lang="en-US" sz="1800" dirty="0"/>
          </a:p>
        </p:txBody>
      </p:sp>
      <p:sp>
        <p:nvSpPr>
          <p:cNvPr id="153" name="Shape 151"/>
          <p:cNvSpPr/>
          <p:nvPr/>
        </p:nvSpPr>
        <p:spPr>
          <a:xfrm>
            <a:off x="952500" y="9633585"/>
            <a:ext cx="190500" cy="190500"/>
          </a:xfrm>
          <a:prstGeom prst="rect">
            <a:avLst/>
          </a:prstGeom>
          <a:solidFill>
            <a:srgbClr val="5980A6"/>
          </a:solidFill>
          <a:ln w="15240">
            <a:solidFill>
              <a:srgbClr val="5980A6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1238250" y="9551670"/>
            <a:ext cx="421481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800" dirty="0"/>
          </a:p>
        </p:txBody>
      </p:sp>
      <p:sp>
        <p:nvSpPr>
          <p:cNvPr id="155" name="Shape 153"/>
          <p:cNvSpPr/>
          <p:nvPr/>
        </p:nvSpPr>
        <p:spPr>
          <a:xfrm>
            <a:off x="1964531" y="9633585"/>
            <a:ext cx="190500" cy="190500"/>
          </a:xfrm>
          <a:prstGeom prst="rect">
            <a:avLst/>
          </a:prstGeom>
          <a:gradFill rotWithShape="1">
            <a:gsLst>
              <a:gs pos="50000">
                <a:srgbClr val="5980A6">
                  <a:alpha val="100000"/>
                </a:srgbClr>
              </a:gs>
              <a:gs pos="50000">
                <a:srgbClr val="5980A6">
                  <a:alpha val="0"/>
                </a:srgbClr>
              </a:gs>
            </a:gsLst>
            <a:lin ang="0" scaled="0"/>
          </a:gradFill>
          <a:ln w="15240">
            <a:solidFill>
              <a:srgbClr val="5980A6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2250281" y="9551670"/>
            <a:ext cx="724853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1800" dirty="0"/>
          </a:p>
        </p:txBody>
      </p:sp>
      <p:sp>
        <p:nvSpPr>
          <p:cNvPr id="157" name="Shape 155"/>
          <p:cNvSpPr/>
          <p:nvPr/>
        </p:nvSpPr>
        <p:spPr>
          <a:xfrm>
            <a:off x="3279934" y="9633585"/>
            <a:ext cx="190500" cy="190500"/>
          </a:xfrm>
          <a:prstGeom prst="rect">
            <a:avLst/>
          </a:prstGeom>
          <a:ln w="15240">
            <a:solidFill>
              <a:srgbClr val="98989B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3565684" y="9551670"/>
            <a:ext cx="355282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800" dirty="0"/>
          </a:p>
        </p:txBody>
      </p:sp>
      <p:sp>
        <p:nvSpPr>
          <p:cNvPr id="159" name="Text 157"/>
          <p:cNvSpPr/>
          <p:nvPr/>
        </p:nvSpPr>
        <p:spPr>
          <a:xfrm>
            <a:off x="4225766" y="9551670"/>
            <a:ext cx="11018139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In-loop check = corpus matching of citations during debate, not post-hoc scoring of a finished answer.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933"/>
              </a:lnSpc>
              <a:buNone/>
            </a:pPr>
            <a:r>
              <a:rPr lang="en-US" sz="1950" b="1" spc="273" kern="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LITERATURE REVIEW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17308"/>
            <a:ext cx="1802130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4800" b="1" spc="-72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Gaps and LexAgent Response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840038"/>
            <a:ext cx="5897880" cy="10160"/>
          </a:xfrm>
          <a:prstGeom prst="rect">
            <a:avLst/>
          </a:prstGeom>
          <a:solidFill>
            <a:srgbClr val="1D1F20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414588"/>
            <a:ext cx="5770017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b="1" spc="144" kern="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IN THE LITERATURE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0380" y="2840038"/>
            <a:ext cx="5570220" cy="10160"/>
          </a:xfrm>
          <a:prstGeom prst="rect">
            <a:avLst/>
          </a:prstGeom>
          <a:solidFill>
            <a:srgbClr val="1D1F20"/>
          </a:solidFill>
          <a:ln/>
        </p:spPr>
      </p:sp>
      <p:sp>
        <p:nvSpPr>
          <p:cNvPr id="7" name="Text 5"/>
          <p:cNvSpPr/>
          <p:nvPr/>
        </p:nvSpPr>
        <p:spPr>
          <a:xfrm>
            <a:off x="6850380" y="2414588"/>
            <a:ext cx="5432526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b="1" spc="144" kern="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LEXAGENT RESPONSE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420600" y="2840038"/>
            <a:ext cx="4914900" cy="10160"/>
          </a:xfrm>
          <a:prstGeom prst="rect">
            <a:avLst/>
          </a:prstGeom>
          <a:solidFill>
            <a:srgbClr val="1D1F20"/>
          </a:solidFill>
          <a:ln/>
        </p:spPr>
      </p:sp>
      <p:sp>
        <p:nvSpPr>
          <p:cNvPr id="9" name="Text 7"/>
          <p:cNvSpPr/>
          <p:nvPr/>
        </p:nvSpPr>
        <p:spPr>
          <a:xfrm>
            <a:off x="12420600" y="2414588"/>
            <a:ext cx="5062347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b="1" spc="144" kern="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STILL NEEDED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52500" y="3877627"/>
            <a:ext cx="589788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52500" y="3040698"/>
            <a:ext cx="5770017" cy="684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can introduce misleading evidence [10, 13, 27]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6850380" y="3877627"/>
            <a:ext cx="557022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850380" y="3040698"/>
            <a:ext cx="5432526" cy="684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retrieval + reflection-driven query expansion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2420600" y="3877627"/>
            <a:ext cx="49149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2420600" y="3040698"/>
            <a:ext cx="5062347" cy="684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of target cases and passages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2500" y="4907597"/>
            <a:ext cx="589788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52500" y="4073207"/>
            <a:ext cx="5770017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Debate repeats shared errors [6, 11]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6850380" y="4907597"/>
            <a:ext cx="557022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850380" y="4073207"/>
            <a:ext cx="5432526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counter-retrieval excludes Prosecutor evidence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2420600" y="4907597"/>
            <a:ext cx="49149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2420600" y="4073207"/>
            <a:ext cx="5062347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vs. disjoint evidence comparison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52500" y="5615623"/>
            <a:ext cx="589788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952500" y="5103177"/>
            <a:ext cx="5770017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case may not support the claim [12, 23]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6850380" y="5615623"/>
            <a:ext cx="557022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850380" y="5103177"/>
            <a:ext cx="5432526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case existence from holding support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2420600" y="5615623"/>
            <a:ext cx="49149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2420600" y="5103177"/>
            <a:ext cx="5062347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Hard-negative stress tests, expert labels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52500" y="6645592"/>
            <a:ext cx="589788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952500" y="5811202"/>
            <a:ext cx="5770017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Agreement and confidence can mislead [11, 12]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6850380" y="6645592"/>
            <a:ext cx="557022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850380" y="5811202"/>
            <a:ext cx="5432526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Citation-aware controller; Judge limited to verified list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12420600" y="6645592"/>
            <a:ext cx="49149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2420600" y="5811202"/>
            <a:ext cx="5062347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and abstention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952500" y="7353617"/>
            <a:ext cx="589788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952500" y="6841173"/>
            <a:ext cx="5770017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system remembers rejected citations [24, 25]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6850380" y="7353617"/>
            <a:ext cx="557022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850380" y="6841173"/>
            <a:ext cx="5432526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 cache + proposition-level risk memory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12420600" y="7353617"/>
            <a:ext cx="49149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12420600" y="6841173"/>
            <a:ext cx="5062347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Paraphrase tests, cache isolation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933"/>
              </a:lnSpc>
              <a:buNone/>
            </a:pPr>
            <a:r>
              <a:rPr lang="en-US" sz="1950" b="1" spc="273" kern="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SYSTEM DESIGN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17308"/>
            <a:ext cx="1802130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4800" b="1" spc="-72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4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2338388"/>
            <a:ext cx="16383000" cy="6286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38500" y="2338388"/>
            <a:ext cx="4381500" cy="1143000"/>
          </a:xfrm>
          <a:prstGeom prst="rect">
            <a:avLst/>
          </a:prstGeom>
          <a:solidFill>
            <a:srgbClr val="FDE8CB"/>
          </a:solidFill>
          <a:ln w="10160">
            <a:solidFill>
              <a:srgbClr val="A9741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439160" y="2446972"/>
            <a:ext cx="437819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647"/>
              </a:lnSpc>
              <a:buNone/>
            </a:pPr>
            <a:r>
              <a:rPr lang="en-US" sz="2400" b="1" dirty="0">
                <a:solidFill>
                  <a:srgbClr val="633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store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3439160" y="2824163"/>
            <a:ext cx="4099585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42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 cache (similarity &gt; 0.92) · citation-risk index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52500" y="4338638"/>
            <a:ext cx="1619250" cy="1428750"/>
          </a:xfrm>
          <a:prstGeom prst="rect">
            <a:avLst/>
          </a:prstGeom>
          <a:solidFill>
            <a:srgbClr val="D5EEFF"/>
          </a:solidFill>
          <a:ln w="10160">
            <a:solidFill>
              <a:srgbClr val="4284C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53160" y="4590097"/>
            <a:ext cx="133972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647"/>
              </a:lnSpc>
              <a:buNone/>
            </a:pPr>
            <a:r>
              <a:rPr lang="en-US" sz="2400" b="1" dirty="0">
                <a:solidFill>
                  <a:srgbClr val="004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query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153160" y="4967288"/>
            <a:ext cx="1294130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42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question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238500" y="4338638"/>
            <a:ext cx="1905000" cy="1428750"/>
          </a:xfrm>
          <a:prstGeom prst="rect">
            <a:avLst/>
          </a:prstGeom>
          <a:solidFill>
            <a:srgbClr val="FDE8CB"/>
          </a:solidFill>
          <a:ln w="10160">
            <a:solidFill>
              <a:srgbClr val="A9741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39160" y="4430078"/>
            <a:ext cx="157988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647"/>
              </a:lnSpc>
              <a:buNone/>
            </a:pPr>
            <a:r>
              <a:rPr lang="en-US" sz="2400" b="1" dirty="0">
                <a:solidFill>
                  <a:srgbClr val="633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check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3439160" y="5127307"/>
            <a:ext cx="1579880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42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hit returns early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810250" y="4338638"/>
            <a:ext cx="2190750" cy="1428750"/>
          </a:xfrm>
          <a:prstGeom prst="rect">
            <a:avLst/>
          </a:prstGeom>
          <a:solidFill>
            <a:srgbClr val="CAF5F2"/>
          </a:solidFill>
          <a:ln w="10160">
            <a:solidFill>
              <a:srgbClr val="00969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10910" y="4590097"/>
            <a:ext cx="196837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647"/>
              </a:lnSpc>
              <a:buNone/>
            </a:pPr>
            <a:r>
              <a:rPr lang="en-US" sz="2400" b="1" dirty="0">
                <a:solidFill>
                  <a:srgbClr val="00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retriever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6010910" y="4967288"/>
            <a:ext cx="1865630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42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 + Legal-BERT → RRF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667750" y="4338638"/>
            <a:ext cx="3429000" cy="1428750"/>
          </a:xfrm>
          <a:prstGeom prst="rect">
            <a:avLst/>
          </a:prstGeom>
          <a:solidFill>
            <a:srgbClr val="EFE5FF"/>
          </a:solidFill>
          <a:ln w="10160">
            <a:solidFill>
              <a:srgbClr val="8C6EB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811260" y="4463097"/>
            <a:ext cx="3456178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b="1" spc="180" kern="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DEBATE ENGINE · MISTRAL-7B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8811260" y="4912677"/>
            <a:ext cx="1399540" cy="730250"/>
          </a:xfrm>
          <a:prstGeom prst="rect">
            <a:avLst/>
          </a:prstGeom>
          <a:solidFill>
            <a:srgbClr val="FFEEEB"/>
          </a:solidFill>
          <a:ln w="10160">
            <a:solidFill>
              <a:srgbClr val="BD615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935720" y="5071110"/>
            <a:ext cx="122682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b="1" dirty="0">
                <a:solidFill>
                  <a:srgbClr val="862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Prosecutor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10172700" y="4912677"/>
            <a:ext cx="419100" cy="768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8393"/>
              </a:lnSpc>
              <a:buNone/>
            </a:pPr>
            <a:r>
              <a:rPr lang="en-US" sz="2250" dirty="0">
                <a:solidFill>
                  <a:srgbClr val="598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2250" dirty="0"/>
          </a:p>
        </p:txBody>
      </p:sp>
      <p:sp>
        <p:nvSpPr>
          <p:cNvPr id="22" name="Shape 19"/>
          <p:cNvSpPr/>
          <p:nvPr/>
        </p:nvSpPr>
        <p:spPr>
          <a:xfrm>
            <a:off x="10553700" y="4912677"/>
            <a:ext cx="1399540" cy="730250"/>
          </a:xfrm>
          <a:prstGeom prst="rect">
            <a:avLst/>
          </a:prstGeom>
          <a:solidFill>
            <a:srgbClr val="E7F7FF"/>
          </a:solidFill>
          <a:ln w="10160">
            <a:solidFill>
              <a:srgbClr val="4284C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678160" y="5071110"/>
            <a:ext cx="122682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b="1" dirty="0">
                <a:solidFill>
                  <a:srgbClr val="004E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</a:t>
            </a:r>
            <a:endParaRPr lang="en-US" sz="2100" dirty="0"/>
          </a:p>
        </p:txBody>
      </p:sp>
      <p:sp>
        <p:nvSpPr>
          <p:cNvPr id="24" name="Shape 21"/>
          <p:cNvSpPr/>
          <p:nvPr/>
        </p:nvSpPr>
        <p:spPr>
          <a:xfrm>
            <a:off x="12763500" y="4338638"/>
            <a:ext cx="2095500" cy="1428750"/>
          </a:xfrm>
          <a:prstGeom prst="rect">
            <a:avLst/>
          </a:prstGeom>
          <a:solidFill>
            <a:srgbClr val="D9F4D9"/>
          </a:solidFill>
          <a:ln w="10160">
            <a:solidFill>
              <a:srgbClr val="4D935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2964160" y="4590097"/>
            <a:ext cx="186359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647"/>
              </a:lnSpc>
              <a:buNone/>
            </a:pPr>
            <a:r>
              <a:rPr lang="en-US" sz="2400" b="1" dirty="0">
                <a:solidFill>
                  <a:srgbClr val="0D5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 verifier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12964160" y="4967288"/>
            <a:ext cx="1770380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42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CCS = E × S · 5 verdicts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15525750" y="4338638"/>
            <a:ext cx="1809750" cy="1428750"/>
          </a:xfrm>
          <a:prstGeom prst="rect">
            <a:avLst/>
          </a:prstGeom>
          <a:solidFill>
            <a:srgbClr val="472C6D"/>
          </a:solidFill>
          <a:ln/>
        </p:spPr>
      </p:sp>
      <p:sp>
        <p:nvSpPr>
          <p:cNvPr id="28" name="Text 25"/>
          <p:cNvSpPr/>
          <p:nvPr/>
        </p:nvSpPr>
        <p:spPr>
          <a:xfrm>
            <a:off x="15716250" y="4727257"/>
            <a:ext cx="157162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647"/>
              </a:lnSpc>
              <a:buNone/>
            </a:pPr>
            <a:r>
              <a:rPr lang="en-US" sz="2400" b="1" dirty="0">
                <a:solidFill>
                  <a:srgbClr val="F2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</a:t>
            </a:r>
            <a:endParaRPr lang="en-US" sz="2400" dirty="0"/>
          </a:p>
        </p:txBody>
      </p:sp>
      <p:sp>
        <p:nvSpPr>
          <p:cNvPr id="29" name="Text 26"/>
          <p:cNvSpPr/>
          <p:nvPr/>
        </p:nvSpPr>
        <p:spPr>
          <a:xfrm>
            <a:off x="15716250" y="5104448"/>
            <a:ext cx="157162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E2D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answer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4191000" y="6910388"/>
            <a:ext cx="3048000" cy="1524000"/>
          </a:xfrm>
          <a:prstGeom prst="rect">
            <a:avLst/>
          </a:prstGeom>
          <a:solidFill>
            <a:srgbClr val="CAF5F2"/>
          </a:solidFill>
          <a:ln w="10160">
            <a:solidFill>
              <a:srgbClr val="00969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391660" y="7209473"/>
            <a:ext cx="291134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647"/>
              </a:lnSpc>
              <a:buNone/>
            </a:pPr>
            <a:r>
              <a:rPr lang="en-US" sz="2400" b="1" dirty="0">
                <a:solidFill>
                  <a:srgbClr val="00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</a:t>
            </a:r>
            <a:endParaRPr lang="en-US" sz="2400" dirty="0"/>
          </a:p>
        </p:txBody>
      </p:sp>
      <p:sp>
        <p:nvSpPr>
          <p:cNvPr id="32" name="Text 29"/>
          <p:cNvSpPr/>
          <p:nvPr/>
        </p:nvSpPr>
        <p:spPr>
          <a:xfrm>
            <a:off x="4391660" y="7586663"/>
            <a:ext cx="2726080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42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opinions · ChromaDB · BM25 index · case catalog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9334500" y="6910388"/>
            <a:ext cx="4953000" cy="1524000"/>
          </a:xfrm>
          <a:prstGeom prst="rect">
            <a:avLst/>
          </a:prstGeom>
          <a:solidFill>
            <a:srgbClr val="FFE1DA"/>
          </a:solidFill>
          <a:ln w="10160">
            <a:solidFill>
              <a:srgbClr val="BD625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535160" y="7209473"/>
            <a:ext cx="500684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647"/>
              </a:lnSpc>
              <a:buNone/>
            </a:pPr>
            <a:r>
              <a:rPr lang="en-US" sz="2400" b="1" dirty="0">
                <a:solidFill>
                  <a:srgbClr val="722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 → Debate controller</a:t>
            </a:r>
            <a:endParaRPr lang="en-US" sz="2400" dirty="0"/>
          </a:p>
        </p:txBody>
      </p:sp>
      <p:sp>
        <p:nvSpPr>
          <p:cNvPr id="35" name="Text 32"/>
          <p:cNvSpPr/>
          <p:nvPr/>
        </p:nvSpPr>
        <p:spPr>
          <a:xfrm>
            <a:off x="9535160" y="7586663"/>
            <a:ext cx="4688230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42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 + new queries · stop on concession or after 2 rounds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5160804" y="4542472"/>
            <a:ext cx="632143" cy="35433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37" name="Text 34"/>
          <p:cNvSpPr/>
          <p:nvPr/>
        </p:nvSpPr>
        <p:spPr>
          <a:xfrm>
            <a:off x="5256054" y="4542472"/>
            <a:ext cx="504857" cy="39243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</a:t>
            </a:r>
            <a:endParaRPr lang="en-US" sz="1800" dirty="0"/>
          </a:p>
        </p:txBody>
      </p:sp>
      <p:sp>
        <p:nvSpPr>
          <p:cNvPr id="38" name="Shape 35"/>
          <p:cNvSpPr/>
          <p:nvPr/>
        </p:nvSpPr>
        <p:spPr>
          <a:xfrm>
            <a:off x="10561161" y="2732722"/>
            <a:ext cx="2880677" cy="35433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39" name="Text 36"/>
          <p:cNvSpPr/>
          <p:nvPr/>
        </p:nvSpPr>
        <p:spPr>
          <a:xfrm>
            <a:off x="10656411" y="2732722"/>
            <a:ext cx="2978245" cy="39243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verdict + citation risk</a:t>
            </a:r>
            <a:endParaRPr lang="en-US" sz="1800" dirty="0"/>
          </a:p>
        </p:txBody>
      </p:sp>
      <p:sp>
        <p:nvSpPr>
          <p:cNvPr id="40" name="Shape 37"/>
          <p:cNvSpPr/>
          <p:nvPr/>
        </p:nvSpPr>
        <p:spPr>
          <a:xfrm>
            <a:off x="4386739" y="3732847"/>
            <a:ext cx="942181" cy="35433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41" name="Text 38"/>
          <p:cNvSpPr/>
          <p:nvPr/>
        </p:nvSpPr>
        <p:spPr>
          <a:xfrm>
            <a:off x="4481989" y="3732847"/>
            <a:ext cx="845899" cy="39243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Lookup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7931468" y="7495223"/>
            <a:ext cx="1091724" cy="35433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43" name="Text 40"/>
          <p:cNvSpPr/>
          <p:nvPr/>
        </p:nvSpPr>
        <p:spPr>
          <a:xfrm>
            <a:off x="8026718" y="7495223"/>
            <a:ext cx="1010396" cy="39243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</a:t>
            </a:r>
            <a:endParaRPr lang="en-US" sz="1800" dirty="0"/>
          </a:p>
        </p:txBody>
      </p:sp>
      <p:sp>
        <p:nvSpPr>
          <p:cNvPr id="44" name="Shape 41"/>
          <p:cNvSpPr/>
          <p:nvPr/>
        </p:nvSpPr>
        <p:spPr>
          <a:xfrm>
            <a:off x="14733588" y="7495223"/>
            <a:ext cx="1203484" cy="35433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45" name="Text 42"/>
          <p:cNvSpPr/>
          <p:nvPr/>
        </p:nvSpPr>
        <p:spPr>
          <a:xfrm>
            <a:off x="14828838" y="7495223"/>
            <a:ext cx="1133332" cy="39243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Terminate</a:t>
            </a:r>
            <a:endParaRPr lang="en-US" sz="1800" dirty="0"/>
          </a:p>
        </p:txBody>
      </p:sp>
      <p:sp>
        <p:nvSpPr>
          <p:cNvPr id="46" name="Shape 43"/>
          <p:cNvSpPr/>
          <p:nvPr/>
        </p:nvSpPr>
        <p:spPr>
          <a:xfrm>
            <a:off x="13172123" y="6161723"/>
            <a:ext cx="1278414" cy="35433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47" name="Text 44"/>
          <p:cNvSpPr/>
          <p:nvPr/>
        </p:nvSpPr>
        <p:spPr>
          <a:xfrm>
            <a:off x="13267373" y="6161723"/>
            <a:ext cx="1215755" cy="39243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CCS report</a:t>
            </a:r>
            <a:endParaRPr lang="en-US" sz="1800" dirty="0"/>
          </a:p>
        </p:txBody>
      </p:sp>
      <p:sp>
        <p:nvSpPr>
          <p:cNvPr id="48" name="Text 45"/>
          <p:cNvSpPr/>
          <p:nvPr/>
        </p:nvSpPr>
        <p:spPr>
          <a:xfrm>
            <a:off x="952500" y="9551670"/>
            <a:ext cx="1802130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42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Orchestrated as a LangGraph state machine. All agents share one 4-bit Mistral-7B on a single T4 GPU.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933"/>
              </a:lnSpc>
              <a:buNone/>
            </a:pPr>
            <a:r>
              <a:rPr lang="en-US" sz="1950" b="1" spc="273" kern="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SYSTEM DESIGN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17308"/>
            <a:ext cx="1802130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4800" b="1" spc="-72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Components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338388"/>
            <a:ext cx="2095500" cy="10160"/>
          </a:xfrm>
          <a:prstGeom prst="rect">
            <a:avLst/>
          </a:prstGeom>
          <a:solidFill>
            <a:srgbClr val="1D1F20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348548"/>
            <a:ext cx="2171700" cy="1297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933"/>
              </a:lnSpc>
              <a:buNone/>
            </a:pPr>
            <a:r>
              <a:rPr lang="en-US" sz="1950" b="1" spc="195" kern="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3276600" y="2338388"/>
            <a:ext cx="3343275" cy="1269683"/>
          </a:xfrm>
          <a:prstGeom prst="rect">
            <a:avLst/>
          </a:prstGeom>
          <a:solidFill>
            <a:srgbClr val="CAF5F2"/>
          </a:solidFill>
          <a:ln w="10160">
            <a:solidFill>
              <a:srgbClr val="0096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15360" y="2659856"/>
            <a:ext cx="31523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214"/>
              </a:lnSpc>
              <a:buNone/>
            </a:pPr>
            <a:r>
              <a:rPr lang="en-US" sz="2250" b="1" dirty="0">
                <a:solidFill>
                  <a:srgbClr val="00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case opinions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3515360" y="3012281"/>
            <a:ext cx="315233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42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U.S. Reports volumes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48475" y="2338388"/>
            <a:ext cx="3343275" cy="1269683"/>
          </a:xfrm>
          <a:prstGeom prst="rect">
            <a:avLst/>
          </a:prstGeom>
          <a:solidFill>
            <a:srgbClr val="CAF5F2"/>
          </a:solidFill>
          <a:ln w="10160">
            <a:solidFill>
              <a:srgbClr val="0096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87235" y="2659856"/>
            <a:ext cx="31523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214"/>
              </a:lnSpc>
              <a:buNone/>
            </a:pPr>
            <a:r>
              <a:rPr lang="en-US" sz="2250" b="1" dirty="0">
                <a:solidFill>
                  <a:srgbClr val="00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catalog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7087235" y="3012281"/>
            <a:ext cx="315233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42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14,524 name / reporter keys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420350" y="2338388"/>
            <a:ext cx="3343275" cy="1269683"/>
          </a:xfrm>
          <a:prstGeom prst="rect">
            <a:avLst/>
          </a:prstGeom>
          <a:solidFill>
            <a:srgbClr val="CAF5F2"/>
          </a:solidFill>
          <a:ln w="10160">
            <a:solidFill>
              <a:srgbClr val="0096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59110" y="2659856"/>
            <a:ext cx="31523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214"/>
              </a:lnSpc>
              <a:buNone/>
            </a:pPr>
            <a:r>
              <a:rPr lang="en-US" sz="2250" b="1" dirty="0">
                <a:solidFill>
                  <a:srgbClr val="00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Passage store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0659110" y="3012281"/>
            <a:ext cx="315233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42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450-word chunks + metadata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3992225" y="2338388"/>
            <a:ext cx="3343275" cy="1269683"/>
          </a:xfrm>
          <a:prstGeom prst="rect">
            <a:avLst/>
          </a:prstGeom>
          <a:solidFill>
            <a:srgbClr val="FDE8CB"/>
          </a:solidFill>
          <a:ln w="10160">
            <a:solidFill>
              <a:srgbClr val="A974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230985" y="2659856"/>
            <a:ext cx="31523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214"/>
              </a:lnSpc>
              <a:buNone/>
            </a:pPr>
            <a:r>
              <a:rPr lang="en-US" sz="2250" b="1" dirty="0">
                <a:solidFill>
                  <a:srgbClr val="633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store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4230985" y="3012281"/>
            <a:ext cx="315233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42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 cache + risk index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52500" y="3741420"/>
            <a:ext cx="2095500" cy="10160"/>
          </a:xfrm>
          <a:prstGeom prst="rect">
            <a:avLst/>
          </a:prstGeom>
          <a:solidFill>
            <a:srgbClr val="1D1F20"/>
          </a:solidFill>
          <a:ln/>
        </p:spPr>
      </p:sp>
      <p:sp>
        <p:nvSpPr>
          <p:cNvPr id="19" name="Text 17"/>
          <p:cNvSpPr/>
          <p:nvPr/>
        </p:nvSpPr>
        <p:spPr>
          <a:xfrm>
            <a:off x="952500" y="3751580"/>
            <a:ext cx="2171700" cy="1297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933"/>
              </a:lnSpc>
              <a:buNone/>
            </a:pPr>
            <a:r>
              <a:rPr lang="en-US" sz="1950" b="1" spc="195" kern="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3276600" y="3741420"/>
            <a:ext cx="3343275" cy="1269683"/>
          </a:xfrm>
          <a:prstGeom prst="rect">
            <a:avLst/>
          </a:prstGeom>
          <a:solidFill>
            <a:srgbClr val="CAF5F2"/>
          </a:solidFill>
          <a:ln w="10160">
            <a:solidFill>
              <a:srgbClr val="0096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15360" y="4062889"/>
            <a:ext cx="31523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214"/>
              </a:lnSpc>
              <a:buNone/>
            </a:pPr>
            <a:r>
              <a:rPr lang="en-US" sz="2250" b="1" dirty="0">
                <a:solidFill>
                  <a:srgbClr val="00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 lexical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3515360" y="4415314"/>
            <a:ext cx="315233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42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 + terms · top 4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848475" y="3741420"/>
            <a:ext cx="3343275" cy="1269683"/>
          </a:xfrm>
          <a:prstGeom prst="rect">
            <a:avLst/>
          </a:prstGeom>
          <a:solidFill>
            <a:srgbClr val="CAF5F2"/>
          </a:solidFill>
          <a:ln w="10160">
            <a:solidFill>
              <a:srgbClr val="0096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87235" y="4062889"/>
            <a:ext cx="31523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214"/>
              </a:lnSpc>
              <a:buNone/>
            </a:pPr>
            <a:r>
              <a:rPr lang="en-US" sz="2250" b="1" dirty="0">
                <a:solidFill>
                  <a:srgbClr val="00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Legal-BERT dense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7087235" y="4415314"/>
            <a:ext cx="315233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42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 · top 4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420350" y="3741420"/>
            <a:ext cx="3343275" cy="1269683"/>
          </a:xfrm>
          <a:prstGeom prst="rect">
            <a:avLst/>
          </a:prstGeom>
          <a:solidFill>
            <a:srgbClr val="CAF5F2"/>
          </a:solidFill>
          <a:ln w="10160">
            <a:solidFill>
              <a:srgbClr val="0096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59110" y="4062889"/>
            <a:ext cx="31523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214"/>
              </a:lnSpc>
              <a:buNone/>
            </a:pPr>
            <a:r>
              <a:rPr lang="en-US" sz="2250" b="1" dirty="0">
                <a:solidFill>
                  <a:srgbClr val="00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RRF fusion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10659110" y="4415314"/>
            <a:ext cx="315233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42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60 · ≤ 8 passages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3992225" y="3741420"/>
            <a:ext cx="3343275" cy="1269683"/>
          </a:xfrm>
          <a:prstGeom prst="rect">
            <a:avLst/>
          </a:prstGeom>
          <a:solidFill>
            <a:srgbClr val="CAF5F2"/>
          </a:solidFill>
          <a:ln w="10160">
            <a:solidFill>
              <a:srgbClr val="0096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230985" y="4062889"/>
            <a:ext cx="31523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214"/>
              </a:lnSpc>
              <a:buNone/>
            </a:pPr>
            <a:r>
              <a:rPr lang="en-US" sz="2250" b="1" dirty="0">
                <a:solidFill>
                  <a:srgbClr val="00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counter-retrieval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14230985" y="4415314"/>
            <a:ext cx="315233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42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Prosecutor docs excluded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52500" y="5144452"/>
            <a:ext cx="2095500" cy="10160"/>
          </a:xfrm>
          <a:prstGeom prst="rect">
            <a:avLst/>
          </a:prstGeom>
          <a:solidFill>
            <a:srgbClr val="1D1F20"/>
          </a:solidFill>
          <a:ln/>
        </p:spPr>
      </p:sp>
      <p:sp>
        <p:nvSpPr>
          <p:cNvPr id="33" name="Text 31"/>
          <p:cNvSpPr/>
          <p:nvPr/>
        </p:nvSpPr>
        <p:spPr>
          <a:xfrm>
            <a:off x="952500" y="5154612"/>
            <a:ext cx="2171700" cy="1297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933"/>
              </a:lnSpc>
              <a:buNone/>
            </a:pPr>
            <a:r>
              <a:rPr lang="en-US" sz="1950" b="1" spc="195" kern="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3276600" y="5144452"/>
            <a:ext cx="3343275" cy="1269682"/>
          </a:xfrm>
          <a:prstGeom prst="rect">
            <a:avLst/>
          </a:prstGeom>
          <a:solidFill>
            <a:srgbClr val="FFE0DC"/>
          </a:solidFill>
          <a:ln w="10160">
            <a:solidFill>
              <a:srgbClr val="BD615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15360" y="5465921"/>
            <a:ext cx="31523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214"/>
              </a:lnSpc>
              <a:buNone/>
            </a:pPr>
            <a:r>
              <a:rPr lang="en-US" sz="2250" b="1" dirty="0">
                <a:solidFill>
                  <a:srgbClr val="722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Prosecutor</a:t>
            </a:r>
            <a:endParaRPr lang="en-US" sz="2250" dirty="0"/>
          </a:p>
        </p:txBody>
      </p:sp>
      <p:sp>
        <p:nvSpPr>
          <p:cNvPr id="36" name="Text 34"/>
          <p:cNvSpPr/>
          <p:nvPr/>
        </p:nvSpPr>
        <p:spPr>
          <a:xfrm>
            <a:off x="3515360" y="5818346"/>
            <a:ext cx="315233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42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Argument + citations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6848475" y="5144452"/>
            <a:ext cx="3343275" cy="1269682"/>
          </a:xfrm>
          <a:prstGeom prst="rect">
            <a:avLst/>
          </a:prstGeom>
          <a:solidFill>
            <a:srgbClr val="D5EEFF"/>
          </a:solidFill>
          <a:ln w="10160">
            <a:solidFill>
              <a:srgbClr val="4284C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87235" y="5465921"/>
            <a:ext cx="31523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214"/>
              </a:lnSpc>
              <a:buNone/>
            </a:pPr>
            <a:r>
              <a:rPr lang="en-US" sz="2250" b="1" dirty="0">
                <a:solidFill>
                  <a:srgbClr val="004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</a:t>
            </a:r>
            <a:endParaRPr lang="en-US" sz="2250" dirty="0"/>
          </a:p>
        </p:txBody>
      </p:sp>
      <p:sp>
        <p:nvSpPr>
          <p:cNvPr id="39" name="Text 37"/>
          <p:cNvSpPr/>
          <p:nvPr/>
        </p:nvSpPr>
        <p:spPr>
          <a:xfrm>
            <a:off x="7087235" y="5818346"/>
            <a:ext cx="315233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42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+ concession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0420350" y="5144452"/>
            <a:ext cx="3343275" cy="1269682"/>
          </a:xfrm>
          <a:prstGeom prst="rect">
            <a:avLst/>
          </a:prstGeom>
          <a:solidFill>
            <a:srgbClr val="FFE1DA"/>
          </a:solidFill>
          <a:ln w="10160">
            <a:solidFill>
              <a:srgbClr val="BD625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659110" y="5465921"/>
            <a:ext cx="31523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214"/>
              </a:lnSpc>
              <a:buNone/>
            </a:pPr>
            <a:r>
              <a:rPr lang="en-US" sz="2250" b="1" dirty="0">
                <a:solidFill>
                  <a:srgbClr val="722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</a:t>
            </a:r>
            <a:endParaRPr lang="en-US" sz="2250" dirty="0"/>
          </a:p>
        </p:txBody>
      </p:sp>
      <p:sp>
        <p:nvSpPr>
          <p:cNvPr id="42" name="Text 40"/>
          <p:cNvSpPr/>
          <p:nvPr/>
        </p:nvSpPr>
        <p:spPr>
          <a:xfrm>
            <a:off x="10659110" y="5818346"/>
            <a:ext cx="315233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42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 + new queries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3992225" y="5144452"/>
            <a:ext cx="3343275" cy="1269682"/>
          </a:xfrm>
          <a:prstGeom prst="rect">
            <a:avLst/>
          </a:prstGeom>
          <a:solidFill>
            <a:srgbClr val="4C3173"/>
          </a:solidFill>
          <a:ln/>
        </p:spPr>
      </p:sp>
      <p:sp>
        <p:nvSpPr>
          <p:cNvPr id="44" name="Text 42"/>
          <p:cNvSpPr/>
          <p:nvPr/>
        </p:nvSpPr>
        <p:spPr>
          <a:xfrm>
            <a:off x="14220825" y="5465921"/>
            <a:ext cx="317468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214"/>
              </a:lnSpc>
              <a:buNone/>
            </a:pPr>
            <a:r>
              <a:rPr lang="en-US" sz="2250" b="1" dirty="0">
                <a:solidFill>
                  <a:srgbClr val="F2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</a:t>
            </a:r>
            <a:endParaRPr lang="en-US" sz="2250" dirty="0"/>
          </a:p>
        </p:txBody>
      </p:sp>
      <p:sp>
        <p:nvSpPr>
          <p:cNvPr id="45" name="Text 43"/>
          <p:cNvSpPr/>
          <p:nvPr/>
        </p:nvSpPr>
        <p:spPr>
          <a:xfrm>
            <a:off x="14220825" y="5818346"/>
            <a:ext cx="317468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F5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citations only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952500" y="6547485"/>
            <a:ext cx="2095500" cy="10160"/>
          </a:xfrm>
          <a:prstGeom prst="rect">
            <a:avLst/>
          </a:prstGeom>
          <a:solidFill>
            <a:srgbClr val="1D1F20"/>
          </a:solidFill>
          <a:ln/>
        </p:spPr>
      </p:sp>
      <p:sp>
        <p:nvSpPr>
          <p:cNvPr id="47" name="Text 45"/>
          <p:cNvSpPr/>
          <p:nvPr/>
        </p:nvSpPr>
        <p:spPr>
          <a:xfrm>
            <a:off x="952500" y="6557645"/>
            <a:ext cx="2171700" cy="1297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933"/>
              </a:lnSpc>
              <a:buNone/>
            </a:pPr>
            <a:r>
              <a:rPr lang="en-US" sz="1950" b="1" spc="195" kern="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1950" dirty="0"/>
          </a:p>
        </p:txBody>
      </p:sp>
      <p:sp>
        <p:nvSpPr>
          <p:cNvPr id="48" name="Shape 46"/>
          <p:cNvSpPr/>
          <p:nvPr/>
        </p:nvSpPr>
        <p:spPr>
          <a:xfrm>
            <a:off x="3276600" y="6547485"/>
            <a:ext cx="3343275" cy="1269683"/>
          </a:xfrm>
          <a:prstGeom prst="rect">
            <a:avLst/>
          </a:prstGeom>
          <a:solidFill>
            <a:srgbClr val="D9F4D9"/>
          </a:solidFill>
          <a:ln w="10160">
            <a:solidFill>
              <a:srgbClr val="4D935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515360" y="6868954"/>
            <a:ext cx="31523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214"/>
              </a:lnSpc>
              <a:buNone/>
            </a:pPr>
            <a:r>
              <a:rPr lang="en-US" sz="2250" b="1" dirty="0">
                <a:solidFill>
                  <a:srgbClr val="0D5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Existence · E</a:t>
            </a:r>
            <a:endParaRPr lang="en-US" sz="2250" dirty="0"/>
          </a:p>
        </p:txBody>
      </p:sp>
      <p:sp>
        <p:nvSpPr>
          <p:cNvPr id="50" name="Text 48"/>
          <p:cNvSpPr/>
          <p:nvPr/>
        </p:nvSpPr>
        <p:spPr>
          <a:xfrm>
            <a:off x="3515360" y="7221379"/>
            <a:ext cx="315233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42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+ fuzzy name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6848475" y="6547485"/>
            <a:ext cx="3343275" cy="1269683"/>
          </a:xfrm>
          <a:prstGeom prst="rect">
            <a:avLst/>
          </a:prstGeom>
          <a:solidFill>
            <a:srgbClr val="D9F4D9"/>
          </a:solidFill>
          <a:ln w="10160">
            <a:solidFill>
              <a:srgbClr val="4D935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87235" y="6868954"/>
            <a:ext cx="31523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214"/>
              </a:lnSpc>
              <a:buNone/>
            </a:pPr>
            <a:r>
              <a:rPr lang="en-US" sz="2250" b="1" dirty="0">
                <a:solidFill>
                  <a:srgbClr val="0D5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· S</a:t>
            </a:r>
            <a:endParaRPr lang="en-US" sz="2250" dirty="0"/>
          </a:p>
        </p:txBody>
      </p:sp>
      <p:sp>
        <p:nvSpPr>
          <p:cNvPr id="53" name="Text 51"/>
          <p:cNvSpPr/>
          <p:nvPr/>
        </p:nvSpPr>
        <p:spPr>
          <a:xfrm>
            <a:off x="7087235" y="7221379"/>
            <a:ext cx="315233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42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DeBERTa NLI entailment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10420350" y="6547485"/>
            <a:ext cx="3343275" cy="1269683"/>
          </a:xfrm>
          <a:prstGeom prst="rect">
            <a:avLst/>
          </a:prstGeom>
          <a:solidFill>
            <a:srgbClr val="D9F4D9"/>
          </a:solidFill>
          <a:ln w="10160">
            <a:solidFill>
              <a:srgbClr val="4D935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659110" y="6868954"/>
            <a:ext cx="31523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214"/>
              </a:lnSpc>
              <a:buNone/>
            </a:pPr>
            <a:r>
              <a:rPr lang="en-US" sz="2250" b="1" dirty="0">
                <a:solidFill>
                  <a:srgbClr val="0D5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CCS = E × S</a:t>
            </a:r>
            <a:endParaRPr lang="en-US" sz="2250" dirty="0"/>
          </a:p>
        </p:txBody>
      </p:sp>
      <p:sp>
        <p:nvSpPr>
          <p:cNvPr id="56" name="Text 54"/>
          <p:cNvSpPr/>
          <p:nvPr/>
        </p:nvSpPr>
        <p:spPr>
          <a:xfrm>
            <a:off x="10659110" y="7221379"/>
            <a:ext cx="315233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42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Per-citation score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13992225" y="6547485"/>
            <a:ext cx="3343275" cy="1269683"/>
          </a:xfrm>
          <a:prstGeom prst="rect">
            <a:avLst/>
          </a:prstGeom>
          <a:solidFill>
            <a:srgbClr val="D9F4D9"/>
          </a:solidFill>
          <a:ln w="10160">
            <a:solidFill>
              <a:srgbClr val="4D935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4230985" y="6868954"/>
            <a:ext cx="31523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214"/>
              </a:lnSpc>
              <a:buNone/>
            </a:pPr>
            <a:r>
              <a:rPr lang="en-US" sz="2250" b="1" dirty="0">
                <a:solidFill>
                  <a:srgbClr val="0D5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Five-way verdict</a:t>
            </a:r>
            <a:endParaRPr lang="en-US" sz="2250" dirty="0"/>
          </a:p>
        </p:txBody>
      </p:sp>
      <p:sp>
        <p:nvSpPr>
          <p:cNvPr id="59" name="Text 57"/>
          <p:cNvSpPr/>
          <p:nvPr/>
        </p:nvSpPr>
        <p:spPr>
          <a:xfrm>
            <a:off x="14230985" y="7221379"/>
            <a:ext cx="315233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42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→ Unverifiable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952500" y="7950518"/>
            <a:ext cx="2095500" cy="10160"/>
          </a:xfrm>
          <a:prstGeom prst="rect">
            <a:avLst/>
          </a:prstGeom>
          <a:solidFill>
            <a:srgbClr val="1D1F20"/>
          </a:solidFill>
          <a:ln/>
        </p:spPr>
      </p:sp>
      <p:sp>
        <p:nvSpPr>
          <p:cNvPr id="61" name="Text 59"/>
          <p:cNvSpPr/>
          <p:nvPr/>
        </p:nvSpPr>
        <p:spPr>
          <a:xfrm>
            <a:off x="952500" y="7960678"/>
            <a:ext cx="2171700" cy="1297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933"/>
              </a:lnSpc>
              <a:buNone/>
            </a:pPr>
            <a:r>
              <a:rPr lang="en-US" sz="1950" b="1" spc="195" kern="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1950" dirty="0"/>
          </a:p>
        </p:txBody>
      </p:sp>
      <p:sp>
        <p:nvSpPr>
          <p:cNvPr id="62" name="Shape 60"/>
          <p:cNvSpPr/>
          <p:nvPr/>
        </p:nvSpPr>
        <p:spPr>
          <a:xfrm>
            <a:off x="3276600" y="7950518"/>
            <a:ext cx="3343275" cy="1269683"/>
          </a:xfrm>
          <a:prstGeom prst="rect">
            <a:avLst/>
          </a:prstGeom>
          <a:solidFill>
            <a:srgbClr val="EFE5FF"/>
          </a:solidFill>
          <a:ln w="10160">
            <a:solidFill>
              <a:srgbClr val="8C6EB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515360" y="8271986"/>
            <a:ext cx="31523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214"/>
              </a:lnSpc>
              <a:buNone/>
            </a:pPr>
            <a:r>
              <a:rPr lang="en-US" sz="2250" b="1" dirty="0">
                <a:solidFill>
                  <a:srgbClr val="4C3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state</a:t>
            </a:r>
            <a:endParaRPr lang="en-US" sz="2250" dirty="0"/>
          </a:p>
        </p:txBody>
      </p:sp>
      <p:sp>
        <p:nvSpPr>
          <p:cNvPr id="64" name="Text 62"/>
          <p:cNvSpPr/>
          <p:nvPr/>
        </p:nvSpPr>
        <p:spPr>
          <a:xfrm>
            <a:off x="3515360" y="8624411"/>
            <a:ext cx="315233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42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Query, evidence, history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6848475" y="7950518"/>
            <a:ext cx="3343275" cy="1269683"/>
          </a:xfrm>
          <a:prstGeom prst="rect">
            <a:avLst/>
          </a:prstGeom>
          <a:solidFill>
            <a:srgbClr val="FFE1DA"/>
          </a:solidFill>
          <a:ln w="10160">
            <a:solidFill>
              <a:srgbClr val="BD625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087235" y="8271986"/>
            <a:ext cx="31523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214"/>
              </a:lnSpc>
              <a:buNone/>
            </a:pPr>
            <a:r>
              <a:rPr lang="en-US" sz="2250" b="1" dirty="0">
                <a:solidFill>
                  <a:srgbClr val="722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Debate controller</a:t>
            </a:r>
            <a:endParaRPr lang="en-US" sz="2250" dirty="0"/>
          </a:p>
        </p:txBody>
      </p:sp>
      <p:sp>
        <p:nvSpPr>
          <p:cNvPr id="67" name="Text 65"/>
          <p:cNvSpPr/>
          <p:nvPr/>
        </p:nvSpPr>
        <p:spPr>
          <a:xfrm>
            <a:off x="7087235" y="8624411"/>
            <a:ext cx="315233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42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or continue · ≤ 2 rounds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10420350" y="7950518"/>
            <a:ext cx="3343275" cy="1269683"/>
          </a:xfrm>
          <a:prstGeom prst="rect">
            <a:avLst/>
          </a:prstGeom>
          <a:solidFill>
            <a:srgbClr val="EFE5FF"/>
          </a:solidFill>
          <a:ln w="10160">
            <a:solidFill>
              <a:srgbClr val="8C6EB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659110" y="8271986"/>
            <a:ext cx="31523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214"/>
              </a:lnSpc>
              <a:buNone/>
            </a:pPr>
            <a:r>
              <a:rPr lang="en-US" sz="2250" b="1" dirty="0">
                <a:solidFill>
                  <a:srgbClr val="4C3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Mistral-7B · NF4</a:t>
            </a:r>
            <a:endParaRPr lang="en-US" sz="2250" dirty="0"/>
          </a:p>
        </p:txBody>
      </p:sp>
      <p:sp>
        <p:nvSpPr>
          <p:cNvPr id="70" name="Text 68"/>
          <p:cNvSpPr/>
          <p:nvPr/>
        </p:nvSpPr>
        <p:spPr>
          <a:xfrm>
            <a:off x="10659110" y="8624411"/>
            <a:ext cx="315233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42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by all roles · T4 GPU</a:t>
            </a:r>
            <a:endParaRPr lang="en-US" sz="1800" dirty="0"/>
          </a:p>
        </p:txBody>
      </p:sp>
      <p:sp>
        <p:nvSpPr>
          <p:cNvPr id="71" name="Shape 69"/>
          <p:cNvSpPr/>
          <p:nvPr/>
        </p:nvSpPr>
        <p:spPr>
          <a:xfrm>
            <a:off x="13992225" y="7950518"/>
            <a:ext cx="3343275" cy="1269683"/>
          </a:xfrm>
          <a:prstGeom prst="rect">
            <a:avLst/>
          </a:prstGeom>
          <a:solidFill>
            <a:srgbClr val="EFE5FF"/>
          </a:solidFill>
          <a:ln w="10160">
            <a:solidFill>
              <a:srgbClr val="8C6EB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4230985" y="8271986"/>
            <a:ext cx="31523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214"/>
              </a:lnSpc>
              <a:buNone/>
            </a:pPr>
            <a:r>
              <a:rPr lang="en-US" sz="2250" b="1" dirty="0">
                <a:solidFill>
                  <a:srgbClr val="4C3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runners</a:t>
            </a:r>
            <a:endParaRPr lang="en-US" sz="2250" dirty="0"/>
          </a:p>
        </p:txBody>
      </p:sp>
      <p:sp>
        <p:nvSpPr>
          <p:cNvPr id="73" name="Text 71"/>
          <p:cNvSpPr/>
          <p:nvPr/>
        </p:nvSpPr>
        <p:spPr>
          <a:xfrm>
            <a:off x="14230985" y="8624411"/>
            <a:ext cx="315233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42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+ ablation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933"/>
              </a:lnSpc>
              <a:buNone/>
            </a:pPr>
            <a:r>
              <a:rPr lang="en-US" sz="1950" b="1" spc="273" kern="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SYSTEM DESIGN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17308"/>
            <a:ext cx="1802130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4800" b="1" spc="-72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Debate Workflow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414588"/>
            <a:ext cx="3581400" cy="2146300"/>
          </a:xfrm>
          <a:prstGeom prst="rect">
            <a:avLst/>
          </a:prstGeom>
          <a:solidFill>
            <a:srgbClr val="FDE8CB"/>
          </a:solidFill>
          <a:ln w="10160">
            <a:solidFill>
              <a:srgbClr val="A974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29360" y="2691447"/>
            <a:ext cx="3330448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b="1" dirty="0">
                <a:solidFill>
                  <a:srgbClr val="7B4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29360" y="3121977"/>
            <a:ext cx="3330448" cy="4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29"/>
              </a:lnSpc>
              <a:buNone/>
            </a:pPr>
            <a:r>
              <a:rPr lang="en-US" sz="2700" b="1" dirty="0">
                <a:solidFill>
                  <a:srgbClr val="633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+ memory check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29360" y="3575368"/>
            <a:ext cx="3330448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42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hit returns early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495800" y="2414588"/>
            <a:ext cx="762000" cy="218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7500"/>
              </a:lnSpc>
              <a:buNone/>
            </a:pPr>
            <a:r>
              <a:rPr lang="en-US" sz="3300" dirty="0">
                <a:solidFill>
                  <a:srgbClr val="598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5219700" y="2414588"/>
            <a:ext cx="3581400" cy="2146300"/>
          </a:xfrm>
          <a:prstGeom prst="rect">
            <a:avLst/>
          </a:prstGeom>
          <a:solidFill>
            <a:srgbClr val="CAF5F2"/>
          </a:solidFill>
          <a:ln w="10160">
            <a:solidFill>
              <a:srgbClr val="0096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96560" y="2691447"/>
            <a:ext cx="3330448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b="1" dirty="0">
                <a:solidFill>
                  <a:srgbClr val="0069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96560" y="3121977"/>
            <a:ext cx="3330448" cy="4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29"/>
              </a:lnSpc>
              <a:buNone/>
            </a:pPr>
            <a:r>
              <a:rPr lang="en-US" sz="2700" b="1" dirty="0">
                <a:solidFill>
                  <a:srgbClr val="00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CAP retrieval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496560" y="3575368"/>
            <a:ext cx="3330448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42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 + Legal-BERT, RRF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763000" y="2414588"/>
            <a:ext cx="762000" cy="218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7500"/>
              </a:lnSpc>
              <a:buNone/>
            </a:pPr>
            <a:r>
              <a:rPr lang="en-US" sz="3300" dirty="0">
                <a:solidFill>
                  <a:srgbClr val="598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300" dirty="0"/>
          </a:p>
        </p:txBody>
      </p:sp>
      <p:sp>
        <p:nvSpPr>
          <p:cNvPr id="14" name="Shape 12"/>
          <p:cNvSpPr/>
          <p:nvPr/>
        </p:nvSpPr>
        <p:spPr>
          <a:xfrm>
            <a:off x="9486900" y="2414588"/>
            <a:ext cx="3581400" cy="2146300"/>
          </a:xfrm>
          <a:prstGeom prst="rect">
            <a:avLst/>
          </a:prstGeom>
          <a:solidFill>
            <a:srgbClr val="FFE0DC"/>
          </a:solidFill>
          <a:ln w="10160">
            <a:solidFill>
              <a:srgbClr val="BD61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63760" y="2691447"/>
            <a:ext cx="3330448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b="1" dirty="0">
                <a:solidFill>
                  <a:srgbClr val="8C34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763760" y="3121977"/>
            <a:ext cx="3330448" cy="4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29"/>
              </a:lnSpc>
              <a:buNone/>
            </a:pPr>
            <a:r>
              <a:rPr lang="en-US" sz="2700" b="1" dirty="0">
                <a:solidFill>
                  <a:srgbClr val="722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Prosecutor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9763760" y="3575368"/>
            <a:ext cx="3330448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42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argument + citations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030200" y="2414588"/>
            <a:ext cx="762000" cy="218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7500"/>
              </a:lnSpc>
              <a:buNone/>
            </a:pPr>
            <a:r>
              <a:rPr lang="en-US" sz="3300" dirty="0">
                <a:solidFill>
                  <a:srgbClr val="598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300" dirty="0"/>
          </a:p>
        </p:txBody>
      </p:sp>
      <p:sp>
        <p:nvSpPr>
          <p:cNvPr id="19" name="Shape 17"/>
          <p:cNvSpPr/>
          <p:nvPr/>
        </p:nvSpPr>
        <p:spPr>
          <a:xfrm>
            <a:off x="13754100" y="2414588"/>
            <a:ext cx="3581400" cy="2146300"/>
          </a:xfrm>
          <a:prstGeom prst="rect">
            <a:avLst/>
          </a:prstGeom>
          <a:solidFill>
            <a:srgbClr val="D5EEFF"/>
          </a:solidFill>
          <a:ln w="10160">
            <a:solidFill>
              <a:srgbClr val="4284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030960" y="2691447"/>
            <a:ext cx="3330448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b="1" dirty="0">
                <a:solidFill>
                  <a:srgbClr val="0E5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030960" y="3121977"/>
            <a:ext cx="3330448" cy="4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29"/>
              </a:lnSpc>
              <a:buNone/>
            </a:pPr>
            <a:r>
              <a:rPr lang="en-US" sz="2700" b="1" dirty="0">
                <a:solidFill>
                  <a:srgbClr val="004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4030960" y="3575368"/>
            <a:ext cx="3118510" cy="746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42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counter-evidence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71173" y="4578985"/>
            <a:ext cx="427355" cy="6877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3300" dirty="0">
                <a:solidFill>
                  <a:srgbClr val="598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6055677" y="4726623"/>
            <a:ext cx="263317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Continue: retrieve again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700379" y="4560887"/>
            <a:ext cx="368884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7500"/>
              </a:lnSpc>
              <a:buNone/>
            </a:pPr>
            <a:r>
              <a:rPr lang="en-US" sz="3300" dirty="0">
                <a:solidFill>
                  <a:srgbClr val="598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3300" dirty="0"/>
          </a:p>
        </p:txBody>
      </p:sp>
      <p:sp>
        <p:nvSpPr>
          <p:cNvPr id="26" name="Shape 24"/>
          <p:cNvSpPr/>
          <p:nvPr/>
        </p:nvSpPr>
        <p:spPr>
          <a:xfrm>
            <a:off x="952500" y="5246687"/>
            <a:ext cx="3581400" cy="2169160"/>
          </a:xfrm>
          <a:prstGeom prst="rect">
            <a:avLst/>
          </a:prstGeom>
          <a:solidFill>
            <a:srgbClr val="4C3173"/>
          </a:solidFill>
          <a:ln/>
        </p:spPr>
      </p:sp>
      <p:sp>
        <p:nvSpPr>
          <p:cNvPr id="27" name="Text 25"/>
          <p:cNvSpPr/>
          <p:nvPr/>
        </p:nvSpPr>
        <p:spPr>
          <a:xfrm>
            <a:off x="1219200" y="5513387"/>
            <a:ext cx="335280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b="1" dirty="0">
                <a:solidFill>
                  <a:srgbClr val="D3C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19200" y="5943917"/>
            <a:ext cx="3352800" cy="4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29"/>
              </a:lnSpc>
              <a:buNone/>
            </a:pPr>
            <a:r>
              <a:rPr lang="en-US" sz="2700" b="1" dirty="0">
                <a:solidFill>
                  <a:srgbClr val="F2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 + memory store</a:t>
            </a:r>
            <a:endParaRPr lang="en-US" sz="2700" dirty="0"/>
          </a:p>
        </p:txBody>
      </p:sp>
      <p:sp>
        <p:nvSpPr>
          <p:cNvPr id="29" name="Text 27"/>
          <p:cNvSpPr/>
          <p:nvPr/>
        </p:nvSpPr>
        <p:spPr>
          <a:xfrm>
            <a:off x="1219200" y="6397307"/>
            <a:ext cx="335280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F5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answer, verified citations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701222" y="6006465"/>
            <a:ext cx="427355" cy="6877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3300" dirty="0">
                <a:solidFill>
                  <a:srgbClr val="598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3300" dirty="0"/>
          </a:p>
        </p:txBody>
      </p:sp>
      <p:sp>
        <p:nvSpPr>
          <p:cNvPr id="31" name="Shape 29"/>
          <p:cNvSpPr/>
          <p:nvPr/>
        </p:nvSpPr>
        <p:spPr>
          <a:xfrm>
            <a:off x="5219700" y="5246687"/>
            <a:ext cx="3581400" cy="2169160"/>
          </a:xfrm>
          <a:prstGeom prst="rect">
            <a:avLst/>
          </a:prstGeom>
          <a:solidFill>
            <a:srgbClr val="FFE1DA"/>
          </a:solidFill>
          <a:ln w="10160">
            <a:solidFill>
              <a:srgbClr val="BD625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96560" y="5523548"/>
            <a:ext cx="3330448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b="1" dirty="0">
                <a:solidFill>
                  <a:srgbClr val="8C3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496560" y="5954077"/>
            <a:ext cx="3118510" cy="79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29"/>
              </a:lnSpc>
              <a:buNone/>
            </a:pPr>
            <a:r>
              <a:rPr lang="en-US" sz="2700" b="1" dirty="0">
                <a:solidFill>
                  <a:srgbClr val="722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Debate Controller</a:t>
            </a:r>
            <a:endParaRPr lang="en-US" sz="2700" dirty="0"/>
          </a:p>
        </p:txBody>
      </p:sp>
      <p:sp>
        <p:nvSpPr>
          <p:cNvPr id="34" name="Text 32"/>
          <p:cNvSpPr/>
          <p:nvPr/>
        </p:nvSpPr>
        <p:spPr>
          <a:xfrm>
            <a:off x="5496560" y="6784657"/>
            <a:ext cx="3330448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42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Terminate or continue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763000" y="5246687"/>
            <a:ext cx="762000" cy="2207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7500"/>
              </a:lnSpc>
              <a:buNone/>
            </a:pPr>
            <a:r>
              <a:rPr lang="en-US" sz="3300" dirty="0">
                <a:solidFill>
                  <a:srgbClr val="598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3300" dirty="0"/>
          </a:p>
        </p:txBody>
      </p:sp>
      <p:sp>
        <p:nvSpPr>
          <p:cNvPr id="36" name="Shape 34"/>
          <p:cNvSpPr/>
          <p:nvPr/>
        </p:nvSpPr>
        <p:spPr>
          <a:xfrm>
            <a:off x="9486900" y="5246687"/>
            <a:ext cx="3581400" cy="2169160"/>
          </a:xfrm>
          <a:prstGeom prst="rect">
            <a:avLst/>
          </a:prstGeom>
          <a:solidFill>
            <a:srgbClr val="FFE1DA"/>
          </a:solidFill>
          <a:ln w="10160">
            <a:solidFill>
              <a:srgbClr val="BD625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763760" y="5523548"/>
            <a:ext cx="3330448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b="1" dirty="0">
                <a:solidFill>
                  <a:srgbClr val="8C3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763760" y="5954077"/>
            <a:ext cx="3330448" cy="4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29"/>
              </a:lnSpc>
              <a:buNone/>
            </a:pPr>
            <a:r>
              <a:rPr lang="en-US" sz="2700" b="1" dirty="0">
                <a:solidFill>
                  <a:srgbClr val="722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</a:t>
            </a:r>
            <a:endParaRPr lang="en-US" sz="2700" dirty="0"/>
          </a:p>
        </p:txBody>
      </p:sp>
      <p:sp>
        <p:nvSpPr>
          <p:cNvPr id="39" name="Text 37"/>
          <p:cNvSpPr/>
          <p:nvPr/>
        </p:nvSpPr>
        <p:spPr>
          <a:xfrm>
            <a:off x="9763760" y="6407468"/>
            <a:ext cx="3330448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42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 + new queries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3030200" y="5246687"/>
            <a:ext cx="762000" cy="2207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7500"/>
              </a:lnSpc>
              <a:buNone/>
            </a:pPr>
            <a:r>
              <a:rPr lang="en-US" sz="3300" dirty="0">
                <a:solidFill>
                  <a:srgbClr val="598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3300" dirty="0"/>
          </a:p>
        </p:txBody>
      </p:sp>
      <p:sp>
        <p:nvSpPr>
          <p:cNvPr id="41" name="Shape 39"/>
          <p:cNvSpPr/>
          <p:nvPr/>
        </p:nvSpPr>
        <p:spPr>
          <a:xfrm>
            <a:off x="13754100" y="5246687"/>
            <a:ext cx="3581400" cy="2169160"/>
          </a:xfrm>
          <a:prstGeom prst="rect">
            <a:avLst/>
          </a:prstGeom>
          <a:solidFill>
            <a:srgbClr val="D9F4D9"/>
          </a:solidFill>
          <a:ln w="10160">
            <a:solidFill>
              <a:srgbClr val="4D935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4030960" y="5523548"/>
            <a:ext cx="3330448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b="1" dirty="0">
                <a:solidFill>
                  <a:srgbClr val="1E6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4030960" y="5954077"/>
            <a:ext cx="3118510" cy="79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29"/>
              </a:lnSpc>
              <a:buNone/>
            </a:pPr>
            <a:r>
              <a:rPr lang="en-US" sz="2700" b="1" dirty="0">
                <a:solidFill>
                  <a:srgbClr val="0D5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 Verification Module</a:t>
            </a:r>
            <a:endParaRPr lang="en-US" sz="2700" dirty="0"/>
          </a:p>
        </p:txBody>
      </p:sp>
      <p:sp>
        <p:nvSpPr>
          <p:cNvPr id="44" name="Text 42"/>
          <p:cNvSpPr/>
          <p:nvPr/>
        </p:nvSpPr>
        <p:spPr>
          <a:xfrm>
            <a:off x="14030960" y="6784657"/>
            <a:ext cx="3330448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42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+ holding support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952500" y="7873047"/>
            <a:ext cx="163830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952500" y="8106727"/>
            <a:ext cx="567182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b="1" spc="180" kern="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952500" y="8518207"/>
            <a:ext cx="5671820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933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state machine</a:t>
            </a:r>
            <a:endParaRPr lang="en-US" sz="1950" dirty="0"/>
          </a:p>
        </p:txBody>
      </p:sp>
      <p:sp>
        <p:nvSpPr>
          <p:cNvPr id="48" name="Text 46"/>
          <p:cNvSpPr/>
          <p:nvPr/>
        </p:nvSpPr>
        <p:spPr>
          <a:xfrm>
            <a:off x="6565900" y="8106727"/>
            <a:ext cx="567182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b="1" spc="180" kern="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DEBATE BUDGET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6565900" y="8518207"/>
            <a:ext cx="5671820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933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two rounds per query</a:t>
            </a:r>
            <a:endParaRPr lang="en-US" sz="1950" dirty="0"/>
          </a:p>
        </p:txBody>
      </p:sp>
      <p:sp>
        <p:nvSpPr>
          <p:cNvPr id="50" name="Text 48"/>
          <p:cNvSpPr/>
          <p:nvPr/>
        </p:nvSpPr>
        <p:spPr>
          <a:xfrm>
            <a:off x="12179300" y="8106727"/>
            <a:ext cx="567182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b="1" spc="180" kern="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12179300" y="8518207"/>
            <a:ext cx="5310886" cy="805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933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Passage IDs kept through debate and verification</a:t>
            </a:r>
            <a:endParaRPr lang="en-US" sz="1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933"/>
              </a:lnSpc>
              <a:buNone/>
            </a:pPr>
            <a:r>
              <a:rPr lang="en-US" sz="1950" b="1" spc="273" kern="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SYSTEM DESIGN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17308"/>
            <a:ext cx="1802130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4800" b="1" spc="-72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Retrieval Pipeline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338388"/>
            <a:ext cx="2788920" cy="3619500"/>
          </a:xfrm>
          <a:prstGeom prst="rect">
            <a:avLst/>
          </a:prstGeom>
          <a:solidFill>
            <a:srgbClr val="CAF5F2"/>
          </a:solidFill>
          <a:ln w="10160">
            <a:solidFill>
              <a:srgbClr val="0096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91260" y="3697605"/>
            <a:ext cx="25425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214"/>
              </a:lnSpc>
              <a:buNone/>
            </a:pPr>
            <a:r>
              <a:rPr lang="en-US" sz="2250" b="1" dirty="0">
                <a:solidFill>
                  <a:srgbClr val="00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CAP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191260" y="4050030"/>
            <a:ext cx="2387600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42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Case, court, year, reporter, page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86517" y="3957638"/>
            <a:ext cx="39544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286"/>
              </a:lnSpc>
              <a:buNone/>
            </a:pPr>
            <a:r>
              <a:rPr lang="en-US" sz="3000" dirty="0">
                <a:solidFill>
                  <a:srgbClr val="598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351020" y="2338388"/>
            <a:ext cx="2788920" cy="3619500"/>
          </a:xfrm>
          <a:prstGeom prst="rect">
            <a:avLst/>
          </a:prstGeom>
          <a:solidFill>
            <a:srgbClr val="CAF5F2"/>
          </a:solidFill>
          <a:ln w="10160">
            <a:solidFill>
              <a:srgbClr val="0096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89780" y="3560445"/>
            <a:ext cx="25425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214"/>
              </a:lnSpc>
              <a:buNone/>
            </a:pPr>
            <a:r>
              <a:rPr lang="en-US" sz="2250" b="1" dirty="0">
                <a:solidFill>
                  <a:srgbClr val="00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4589780" y="3912870"/>
            <a:ext cx="2387600" cy="861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42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450 words, 75-word overlap, parent IDs kept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285037" y="2986088"/>
            <a:ext cx="39544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286"/>
              </a:lnSpc>
              <a:buNone/>
            </a:pPr>
            <a:r>
              <a:rPr lang="en-US" sz="3000" dirty="0">
                <a:solidFill>
                  <a:srgbClr val="598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285037" y="4929188"/>
            <a:ext cx="39544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286"/>
              </a:lnSpc>
              <a:buNone/>
            </a:pPr>
            <a:r>
              <a:rPr lang="en-US" sz="3000" dirty="0">
                <a:solidFill>
                  <a:srgbClr val="598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7749540" y="2338388"/>
            <a:ext cx="2788920" cy="1676400"/>
          </a:xfrm>
          <a:prstGeom prst="rect">
            <a:avLst/>
          </a:prstGeom>
          <a:solidFill>
            <a:srgbClr val="CAF5F2"/>
          </a:solidFill>
          <a:ln w="10160">
            <a:solidFill>
              <a:srgbClr val="0096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88300" y="2726055"/>
            <a:ext cx="25425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214"/>
              </a:lnSpc>
              <a:buNone/>
            </a:pPr>
            <a:r>
              <a:rPr lang="en-US" sz="2250" b="1" dirty="0">
                <a:solidFill>
                  <a:srgbClr val="00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search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7988300" y="3078480"/>
            <a:ext cx="2387600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42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Legal-BERT + ChromaDB · top 4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749540" y="4281488"/>
            <a:ext cx="2788920" cy="1676400"/>
          </a:xfrm>
          <a:prstGeom prst="rect">
            <a:avLst/>
          </a:prstGeom>
          <a:solidFill>
            <a:srgbClr val="CAF5F2"/>
          </a:solidFill>
          <a:ln w="10160">
            <a:solidFill>
              <a:srgbClr val="0096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88300" y="4669155"/>
            <a:ext cx="25425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214"/>
              </a:lnSpc>
              <a:buNone/>
            </a:pPr>
            <a:r>
              <a:rPr lang="en-US" sz="2250" b="1" dirty="0">
                <a:solidFill>
                  <a:srgbClr val="00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Lexical search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7988300" y="5021580"/>
            <a:ext cx="2387600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42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 on names and terms · top 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683557" y="2986088"/>
            <a:ext cx="39544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286"/>
              </a:lnSpc>
              <a:buNone/>
            </a:pPr>
            <a:r>
              <a:rPr lang="en-US" sz="3000" dirty="0">
                <a:solidFill>
                  <a:srgbClr val="598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0683557" y="4929188"/>
            <a:ext cx="39544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286"/>
              </a:lnSpc>
              <a:buNone/>
            </a:pPr>
            <a:r>
              <a:rPr lang="en-US" sz="3000" dirty="0">
                <a:solidFill>
                  <a:srgbClr val="598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11148060" y="2338388"/>
            <a:ext cx="2788920" cy="3619500"/>
          </a:xfrm>
          <a:prstGeom prst="rect">
            <a:avLst/>
          </a:prstGeom>
          <a:solidFill>
            <a:srgbClr val="CAF5F2"/>
          </a:solidFill>
          <a:ln w="10160">
            <a:solidFill>
              <a:srgbClr val="0096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386820" y="3403282"/>
            <a:ext cx="23876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214"/>
              </a:lnSpc>
              <a:buNone/>
            </a:pPr>
            <a:r>
              <a:rPr lang="en-US" sz="2250" b="1" dirty="0">
                <a:solidFill>
                  <a:srgbClr val="00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Reciprocal Rank Fusion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1386820" y="4070032"/>
            <a:ext cx="2387600" cy="861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42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Deduplicate by document ID · ≤ 8 passages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082078" y="3957638"/>
            <a:ext cx="39544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286"/>
              </a:lnSpc>
              <a:buNone/>
            </a:pPr>
            <a:r>
              <a:rPr lang="en-US" sz="3000" dirty="0">
                <a:solidFill>
                  <a:srgbClr val="598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25" name="Shape 23"/>
          <p:cNvSpPr/>
          <p:nvPr/>
        </p:nvSpPr>
        <p:spPr>
          <a:xfrm>
            <a:off x="14546580" y="2338388"/>
            <a:ext cx="2788920" cy="3619500"/>
          </a:xfrm>
          <a:prstGeom prst="rect">
            <a:avLst/>
          </a:prstGeom>
          <a:solidFill>
            <a:srgbClr val="4C3173"/>
          </a:solidFill>
          <a:ln/>
        </p:spPr>
      </p:sp>
      <p:sp>
        <p:nvSpPr>
          <p:cNvPr id="26" name="Text 24"/>
          <p:cNvSpPr/>
          <p:nvPr/>
        </p:nvSpPr>
        <p:spPr>
          <a:xfrm>
            <a:off x="14775180" y="3560445"/>
            <a:ext cx="256489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214"/>
              </a:lnSpc>
              <a:buNone/>
            </a:pPr>
            <a:r>
              <a:rPr lang="en-US" sz="2250" b="1" dirty="0">
                <a:solidFill>
                  <a:srgbClr val="F2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to agents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14775180" y="3912870"/>
            <a:ext cx="2407920" cy="861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F5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Passage IDs + metadata travel with each claim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52500" y="6338888"/>
            <a:ext cx="163830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952500" y="6807359"/>
            <a:ext cx="859155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16"/>
              </a:lnSpc>
              <a:buNone/>
            </a:pPr>
            <a:r>
              <a:rPr lang="en-US" sz="5400" b="1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RRF(d) = Σ 1 / (60 + rankᵢ(d))</a:t>
            </a:r>
            <a:endParaRPr lang="en-US" sz="5400" dirty="0"/>
          </a:p>
        </p:txBody>
      </p:sp>
      <p:sp>
        <p:nvSpPr>
          <p:cNvPr id="30" name="Text 28"/>
          <p:cNvSpPr/>
          <p:nvPr/>
        </p:nvSpPr>
        <p:spPr>
          <a:xfrm>
            <a:off x="9525000" y="6648767"/>
            <a:ext cx="8044815" cy="1041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522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case names and reporter keys come from BM25; paraphrased holdings come from dense search. Fusion rewards passages that rank well in both.</a:t>
            </a:r>
            <a:endParaRPr lang="en-US" sz="1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933"/>
              </a:lnSpc>
              <a:buNone/>
            </a:pPr>
            <a:r>
              <a:rPr lang="en-US" sz="1950" b="1" spc="273" kern="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SYSTEM DESIGN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17308"/>
            <a:ext cx="1802130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4800" b="1" spc="-72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Roles and Evidence-Disjoint Defense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414588"/>
            <a:ext cx="3838575" cy="2867660"/>
          </a:xfrm>
          <a:prstGeom prst="rect">
            <a:avLst/>
          </a:prstGeom>
          <a:ln w="5080">
            <a:solidFill>
              <a:srgbClr val="1D1F20">
                <a:alpha val="16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62380" y="2724467"/>
            <a:ext cx="3540696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93"/>
              </a:lnSpc>
              <a:buNone/>
            </a:pPr>
            <a:r>
              <a:rPr lang="en-US" sz="300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Prosecutor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262380" y="3467417"/>
            <a:ext cx="3315379" cy="103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Drafts an answer from retrieved case passages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62380" y="4618037"/>
            <a:ext cx="3540696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Argument + candidate citations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33975" y="2414588"/>
            <a:ext cx="3838575" cy="2867660"/>
          </a:xfrm>
          <a:prstGeom prst="rect">
            <a:avLst/>
          </a:prstGeom>
          <a:ln w="5080">
            <a:solidFill>
              <a:srgbClr val="1D1F20">
                <a:alpha val="16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43855" y="2724467"/>
            <a:ext cx="3540696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93"/>
              </a:lnSpc>
              <a:buNone/>
            </a:pPr>
            <a:r>
              <a:rPr lang="en-US" sz="300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443855" y="3467417"/>
            <a:ext cx="3315379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Retrieves its own evidence and challenges the claims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5443855" y="4263707"/>
            <a:ext cx="3315379" cy="746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Challenges, counter-citations, concession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315450" y="2414588"/>
            <a:ext cx="3838575" cy="2867660"/>
          </a:xfrm>
          <a:prstGeom prst="rect">
            <a:avLst/>
          </a:prstGeom>
          <a:ln w="5080">
            <a:solidFill>
              <a:srgbClr val="1D1F20">
                <a:alpha val="16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25330" y="2724467"/>
            <a:ext cx="3540696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93"/>
              </a:lnSpc>
              <a:buNone/>
            </a:pPr>
            <a:r>
              <a:rPr lang="en-US" sz="300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625330" y="3467417"/>
            <a:ext cx="3315379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 the debate and citation-confidence feedback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625330" y="4263707"/>
            <a:ext cx="3315379" cy="746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Gaps, targeted queries, quality score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3496925" y="2414588"/>
            <a:ext cx="3838575" cy="2867660"/>
          </a:xfrm>
          <a:prstGeom prst="rect">
            <a:avLst/>
          </a:prstGeom>
          <a:ln w="5080">
            <a:solidFill>
              <a:srgbClr val="1D1F20">
                <a:alpha val="16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806805" y="2724467"/>
            <a:ext cx="3540696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93"/>
              </a:lnSpc>
              <a:buNone/>
            </a:pPr>
            <a:r>
              <a:rPr lang="en-US" sz="300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3806805" y="3467417"/>
            <a:ext cx="3315379" cy="103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Synthesises the debate; keeps only CVM-supported citations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3806805" y="4618037"/>
            <a:ext cx="3540696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Answer, verdict, confidence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52500" y="5739447"/>
            <a:ext cx="16383000" cy="10160"/>
          </a:xfrm>
          <a:prstGeom prst="rect">
            <a:avLst/>
          </a:prstGeom>
          <a:solidFill>
            <a:srgbClr val="1D1F20"/>
          </a:solidFill>
          <a:ln/>
        </p:spPr>
      </p:sp>
      <p:sp>
        <p:nvSpPr>
          <p:cNvPr id="21" name="Text 19"/>
          <p:cNvSpPr/>
          <p:nvPr/>
        </p:nvSpPr>
        <p:spPr>
          <a:xfrm>
            <a:off x="952500" y="6016307"/>
            <a:ext cx="2552700" cy="1112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214"/>
              </a:lnSpc>
              <a:buNone/>
            </a:pPr>
            <a:r>
              <a:rPr lang="en-US" sz="225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independence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3810000" y="6016307"/>
            <a:ext cx="467995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b="1" spc="180" kern="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COUNTER-QUERIES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810000" y="6446837"/>
            <a:ext cx="4382135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+ exception terms; cited case + “overruled”, “distinguished”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8445500" y="6016307"/>
            <a:ext cx="467995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b="1" spc="180" kern="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EXCLUSION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445500" y="6446837"/>
            <a:ext cx="4382135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passages matching Prosecutor document IDs; keep up to four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3081000" y="6016307"/>
            <a:ext cx="467995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b="1" spc="180" kern="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OVERLAP RATIO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081000" y="6446837"/>
            <a:ext cx="4382135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Defense citations found only in Prosecutor evidence. 1.0 = echo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952500" y="9551670"/>
            <a:ext cx="1802130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four roles share Mistral-7B-Instruct (4-bit). Role diversity comes from prompts and evidence.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933"/>
              </a:lnSpc>
              <a:buNone/>
            </a:pPr>
            <a:r>
              <a:rPr lang="en-US" sz="1950" b="1" spc="273" kern="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· SYSTEM DESIGN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17308"/>
            <a:ext cx="1802130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4800" b="1" spc="-72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Factorized Citation Verification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414588"/>
            <a:ext cx="5715000" cy="1762760"/>
          </a:xfrm>
          <a:prstGeom prst="rect">
            <a:avLst/>
          </a:prstGeom>
          <a:ln w="5080">
            <a:solidFill>
              <a:srgbClr val="1D1F20">
                <a:alpha val="16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8580" y="2800667"/>
            <a:ext cx="5437124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041"/>
              </a:lnSpc>
              <a:buNone/>
            </a:pPr>
            <a:r>
              <a:rPr lang="en-US" sz="7800" b="1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CCS = E × S</a:t>
            </a:r>
            <a:endParaRPr lang="en-US" sz="7800" dirty="0"/>
          </a:p>
        </p:txBody>
      </p:sp>
      <p:sp>
        <p:nvSpPr>
          <p:cNvPr id="6" name="Text 4"/>
          <p:cNvSpPr/>
          <p:nvPr/>
        </p:nvSpPr>
        <p:spPr>
          <a:xfrm>
            <a:off x="952500" y="4482147"/>
            <a:ext cx="628650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93"/>
              </a:lnSpc>
              <a:buNone/>
            </a:pPr>
            <a:r>
              <a:rPr lang="en-US" sz="225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· Existence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52500" y="5001260"/>
            <a:ext cx="5886450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catalog match, reporter/name check, fuzzy name match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52500" y="5949950"/>
            <a:ext cx="628650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93"/>
              </a:lnSpc>
              <a:buNone/>
            </a:pPr>
            <a:r>
              <a:rPr lang="en-US" sz="225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· Holding support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52500" y="6469063"/>
            <a:ext cx="5886450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DeBERTa NLI cross-encoder: does the case's own text entail the claimed holding?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7429500" y="2840038"/>
            <a:ext cx="2067560" cy="10160"/>
          </a:xfrm>
          <a:prstGeom prst="rect">
            <a:avLst/>
          </a:prstGeom>
          <a:solidFill>
            <a:srgbClr val="1D1F20"/>
          </a:solidFill>
          <a:ln/>
        </p:spPr>
      </p:sp>
      <p:sp>
        <p:nvSpPr>
          <p:cNvPr id="11" name="Text 9"/>
          <p:cNvSpPr/>
          <p:nvPr/>
        </p:nvSpPr>
        <p:spPr>
          <a:xfrm>
            <a:off x="7429500" y="2414588"/>
            <a:ext cx="191516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b="1" spc="144" kern="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97060" y="2840038"/>
            <a:ext cx="4793615" cy="10160"/>
          </a:xfrm>
          <a:prstGeom prst="rect">
            <a:avLst/>
          </a:prstGeom>
          <a:solidFill>
            <a:srgbClr val="1D1F20"/>
          </a:solidFill>
          <a:ln/>
        </p:spPr>
      </p:sp>
      <p:sp>
        <p:nvSpPr>
          <p:cNvPr id="13" name="Text 11"/>
          <p:cNvSpPr/>
          <p:nvPr/>
        </p:nvSpPr>
        <p:spPr>
          <a:xfrm>
            <a:off x="9497060" y="2414588"/>
            <a:ext cx="4708823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b="1" spc="144" kern="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4290675" y="2840038"/>
            <a:ext cx="3044825" cy="10160"/>
          </a:xfrm>
          <a:prstGeom prst="rect">
            <a:avLst/>
          </a:prstGeom>
          <a:solidFill>
            <a:srgbClr val="1D1F20"/>
          </a:solidFill>
          <a:ln/>
        </p:spPr>
      </p:sp>
      <p:sp>
        <p:nvSpPr>
          <p:cNvPr id="15" name="Text 13"/>
          <p:cNvSpPr/>
          <p:nvPr/>
        </p:nvSpPr>
        <p:spPr>
          <a:xfrm>
            <a:off x="14290675" y="2414588"/>
            <a:ext cx="313617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b="1" spc="144" kern="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 MAY USE?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429500" y="3593782"/>
            <a:ext cx="206756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429500" y="3059748"/>
            <a:ext cx="1915160" cy="3625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b="1" spc="78" kern="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497060" y="3593782"/>
            <a:ext cx="4793615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497060" y="3059748"/>
            <a:ext cx="4708823" cy="3625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≥ 0.85 and S ≥ 0.70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4290675" y="3593782"/>
            <a:ext cx="3044825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4290675" y="3059748"/>
            <a:ext cx="3136170" cy="3625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7429500" y="4339907"/>
            <a:ext cx="206756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7429500" y="3808412"/>
            <a:ext cx="1915160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b="1" spc="78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497060" y="4339907"/>
            <a:ext cx="4793615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497060" y="3808412"/>
            <a:ext cx="4708823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≥ 0.85 and 0.40 ≤ S &lt; 0.70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4290675" y="4339907"/>
            <a:ext cx="3044825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4290675" y="3808412"/>
            <a:ext cx="3136170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7429500" y="5086033"/>
            <a:ext cx="206756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429500" y="4554538"/>
            <a:ext cx="1915160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b="1" spc="78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MISATTRIBUTED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9497060" y="5086033"/>
            <a:ext cx="4793615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9497060" y="4554538"/>
            <a:ext cx="4708823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≥ 0.85 and S &lt; 0.40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14290675" y="5086033"/>
            <a:ext cx="3044825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4290675" y="4554538"/>
            <a:ext cx="3136170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 with reason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7429500" y="5832157"/>
            <a:ext cx="206756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7429500" y="5300663"/>
            <a:ext cx="1915160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b="1" spc="78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FABRICATED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9497060" y="5832157"/>
            <a:ext cx="4793615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9497060" y="5300663"/>
            <a:ext cx="4708823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E in a covered reporter volume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14290675" y="5832157"/>
            <a:ext cx="3044825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14290675" y="5300663"/>
            <a:ext cx="3136170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 with reason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7429500" y="6578282"/>
            <a:ext cx="206756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7429500" y="6046787"/>
            <a:ext cx="1915160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b="1" spc="78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UNVERIFIABLE</a:t>
            </a:r>
            <a:endParaRPr lang="en-US" sz="1950" dirty="0"/>
          </a:p>
        </p:txBody>
      </p:sp>
      <p:sp>
        <p:nvSpPr>
          <p:cNvPr id="42" name="Shape 40"/>
          <p:cNvSpPr/>
          <p:nvPr/>
        </p:nvSpPr>
        <p:spPr>
          <a:xfrm>
            <a:off x="9497060" y="6578282"/>
            <a:ext cx="4793615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9497060" y="6046787"/>
            <a:ext cx="4708823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Outside local corpus coverage</a:t>
            </a:r>
            <a:endParaRPr lang="en-US" sz="1950" dirty="0"/>
          </a:p>
        </p:txBody>
      </p:sp>
      <p:sp>
        <p:nvSpPr>
          <p:cNvPr id="44" name="Shape 42"/>
          <p:cNvSpPr/>
          <p:nvPr/>
        </p:nvSpPr>
        <p:spPr>
          <a:xfrm>
            <a:off x="14290675" y="6578282"/>
            <a:ext cx="3044825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14290675" y="6046787"/>
            <a:ext cx="3136170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Flagged, not called fake</a:t>
            </a:r>
            <a:endParaRPr lang="en-US" sz="1950" dirty="0"/>
          </a:p>
        </p:txBody>
      </p:sp>
      <p:sp>
        <p:nvSpPr>
          <p:cNvPr id="46" name="Text 44"/>
          <p:cNvSpPr/>
          <p:nvPr/>
        </p:nvSpPr>
        <p:spPr>
          <a:xfrm>
            <a:off x="952500" y="9551670"/>
            <a:ext cx="1802130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thresholds are heuristics, not calibrated probabilities. Contribution 02 replaces them with a conformal threshold.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933"/>
              </a:lnSpc>
              <a:buNone/>
            </a:pPr>
            <a:r>
              <a:rPr lang="en-US" sz="1950" b="1" spc="273" kern="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· SYSTEM DESIGN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17308"/>
            <a:ext cx="1802130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4800" b="1" spc="-72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 Verdict Decision Flow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338388"/>
            <a:ext cx="2476500" cy="6881813"/>
          </a:xfrm>
          <a:prstGeom prst="rect">
            <a:avLst/>
          </a:prstGeom>
          <a:solidFill>
            <a:srgbClr val="D9F4D9"/>
          </a:solidFill>
          <a:ln w="10160">
            <a:solidFill>
              <a:srgbClr val="4D93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91260" y="5328761"/>
            <a:ext cx="219887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214"/>
              </a:lnSpc>
              <a:buNone/>
            </a:pPr>
            <a:r>
              <a:rPr lang="en-US" sz="2250" b="1" dirty="0">
                <a:solidFill>
                  <a:srgbClr val="0D5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191260" y="5681186"/>
            <a:ext cx="2075180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42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name + claimed holding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390900" y="2338388"/>
            <a:ext cx="609600" cy="6919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8393"/>
              </a:lnSpc>
              <a:buNone/>
            </a:pPr>
            <a:r>
              <a:rPr lang="en-US" sz="3000" dirty="0">
                <a:solidFill>
                  <a:srgbClr val="598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962400" y="2338388"/>
            <a:ext cx="2667000" cy="6881813"/>
          </a:xfrm>
          <a:prstGeom prst="rect">
            <a:avLst/>
          </a:prstGeom>
          <a:solidFill>
            <a:srgbClr val="D9F4D9"/>
          </a:solidFill>
          <a:ln w="10160">
            <a:solidFill>
              <a:srgbClr val="4D93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1160" y="5328761"/>
            <a:ext cx="240842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214"/>
              </a:lnSpc>
              <a:buNone/>
            </a:pPr>
            <a:r>
              <a:rPr lang="en-US" sz="2250" b="1" dirty="0">
                <a:solidFill>
                  <a:srgbClr val="0D5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in corpus?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4201160" y="5681186"/>
            <a:ext cx="2265680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42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Existence E: catalog, reporter, fuzzy name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897019" y="4248626"/>
            <a:ext cx="426244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1471"/>
              </a:lnSpc>
              <a:buNone/>
            </a:pPr>
            <a:r>
              <a:rPr lang="en-US" sz="180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8512" y="4208621"/>
            <a:ext cx="36353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662"/>
              </a:lnSpc>
              <a:buNone/>
            </a:pPr>
            <a:r>
              <a:rPr lang="en-US" sz="2700" dirty="0">
                <a:solidFill>
                  <a:srgbClr val="598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6553200" y="6915626"/>
            <a:ext cx="1770062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1471"/>
              </a:lnSpc>
              <a:buNone/>
            </a:pPr>
            <a:r>
              <a:rPr lang="en-US" sz="180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· volume covered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18512" y="7007066"/>
            <a:ext cx="36353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662"/>
              </a:lnSpc>
              <a:buNone/>
            </a:pPr>
            <a:r>
              <a:rPr lang="en-US" sz="2700" dirty="0">
                <a:solidFill>
                  <a:srgbClr val="598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6560947" y="8446294"/>
            <a:ext cx="1762315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1471"/>
              </a:lnSpc>
              <a:buNone/>
            </a:pPr>
            <a:r>
              <a:rPr lang="en-US" sz="180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· not covered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18512" y="8406289"/>
            <a:ext cx="36353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662"/>
              </a:lnSpc>
              <a:buNone/>
            </a:pPr>
            <a:r>
              <a:rPr lang="en-US" sz="2700" dirty="0">
                <a:solidFill>
                  <a:srgbClr val="598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8820150" y="2338388"/>
            <a:ext cx="2857500" cy="4083368"/>
          </a:xfrm>
          <a:prstGeom prst="rect">
            <a:avLst/>
          </a:prstGeom>
          <a:solidFill>
            <a:srgbClr val="D9F4D9"/>
          </a:solidFill>
          <a:ln w="10160">
            <a:solidFill>
              <a:srgbClr val="4D93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8910" y="3929539"/>
            <a:ext cx="261797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214"/>
              </a:lnSpc>
              <a:buNone/>
            </a:pPr>
            <a:r>
              <a:rPr lang="en-US" sz="2250" b="1" dirty="0">
                <a:solidFill>
                  <a:srgbClr val="0D5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entails holding?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058910" y="4281964"/>
            <a:ext cx="2456180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42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S: NLI over opinion windows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194858" y="2849404"/>
            <a:ext cx="795655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1471"/>
              </a:lnSpc>
              <a:buNone/>
            </a:pPr>
            <a:r>
              <a:rPr lang="en-US" sz="180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CCS &gt; τ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085763" y="2809399"/>
            <a:ext cx="36353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662"/>
              </a:lnSpc>
              <a:buNone/>
            </a:pPr>
            <a:r>
              <a:rPr lang="en-US" sz="2700" dirty="0">
                <a:solidFill>
                  <a:srgbClr val="598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1871008" y="4248626"/>
            <a:ext cx="1119505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1471"/>
              </a:lnSpc>
              <a:buNone/>
            </a:pPr>
            <a:r>
              <a:rPr lang="en-US" sz="180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Borderline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085763" y="4208621"/>
            <a:ext cx="36353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662"/>
              </a:lnSpc>
              <a:buNone/>
            </a:pPr>
            <a:r>
              <a:rPr lang="en-US" sz="2700" dirty="0">
                <a:solidFill>
                  <a:srgbClr val="598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12633643" y="5647849"/>
            <a:ext cx="356870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1471"/>
              </a:lnSpc>
              <a:buNone/>
            </a:pPr>
            <a:r>
              <a:rPr lang="en-US" sz="180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085763" y="5607844"/>
            <a:ext cx="36353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662"/>
              </a:lnSpc>
              <a:buNone/>
            </a:pPr>
            <a:r>
              <a:rPr lang="en-US" sz="2700" dirty="0">
                <a:solidFill>
                  <a:srgbClr val="598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26" name="Shape 24"/>
          <p:cNvSpPr/>
          <p:nvPr/>
        </p:nvSpPr>
        <p:spPr>
          <a:xfrm>
            <a:off x="13487400" y="2338388"/>
            <a:ext cx="3848100" cy="1284922"/>
          </a:xfrm>
          <a:prstGeom prst="rect">
            <a:avLst/>
          </a:prstGeom>
          <a:solidFill>
            <a:srgbClr val="0D5117"/>
          </a:solidFill>
          <a:ln/>
        </p:spPr>
      </p:sp>
      <p:sp>
        <p:nvSpPr>
          <p:cNvPr id="27" name="Text 25"/>
          <p:cNvSpPr/>
          <p:nvPr/>
        </p:nvSpPr>
        <p:spPr>
          <a:xfrm>
            <a:off x="13716000" y="2667476"/>
            <a:ext cx="372999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214"/>
              </a:lnSpc>
              <a:buNone/>
            </a:pPr>
            <a:r>
              <a:rPr lang="en-US" sz="2250" b="1" dirty="0">
                <a:solidFill>
                  <a:srgbClr val="F2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13716000" y="3019901"/>
            <a:ext cx="372999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F5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 may use it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3487400" y="3737610"/>
            <a:ext cx="3848100" cy="1284923"/>
          </a:xfrm>
          <a:prstGeom prst="rect">
            <a:avLst/>
          </a:prstGeom>
          <a:solidFill>
            <a:srgbClr val="FDE8CB"/>
          </a:solidFill>
          <a:ln w="10160">
            <a:solidFill>
              <a:srgbClr val="A974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726160" y="4066699"/>
            <a:ext cx="370763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214"/>
              </a:lnSpc>
              <a:buNone/>
            </a:pPr>
            <a:r>
              <a:rPr lang="en-US" sz="2250" b="1" dirty="0">
                <a:solidFill>
                  <a:srgbClr val="633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13726160" y="4419124"/>
            <a:ext cx="370763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42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Withheld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3487400" y="5136832"/>
            <a:ext cx="3848100" cy="1284922"/>
          </a:xfrm>
          <a:prstGeom prst="rect">
            <a:avLst/>
          </a:prstGeom>
          <a:solidFill>
            <a:srgbClr val="FFE0DC"/>
          </a:solidFill>
          <a:ln w="10160">
            <a:solidFill>
              <a:srgbClr val="BD615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726160" y="5328761"/>
            <a:ext cx="370763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214"/>
              </a:lnSpc>
              <a:buNone/>
            </a:pPr>
            <a:r>
              <a:rPr lang="en-US" sz="2250" b="1" dirty="0">
                <a:solidFill>
                  <a:srgbClr val="722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MISATTRIBUTED</a:t>
            </a:r>
            <a:endParaRPr lang="en-US" sz="2250" dirty="0"/>
          </a:p>
        </p:txBody>
      </p:sp>
      <p:sp>
        <p:nvSpPr>
          <p:cNvPr id="34" name="Text 32"/>
          <p:cNvSpPr/>
          <p:nvPr/>
        </p:nvSpPr>
        <p:spPr>
          <a:xfrm>
            <a:off x="13726160" y="5681186"/>
            <a:ext cx="3471697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42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case, wrong holding · rejected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8820150" y="6536055"/>
            <a:ext cx="8515350" cy="1284923"/>
          </a:xfrm>
          <a:prstGeom prst="rect">
            <a:avLst/>
          </a:prstGeom>
          <a:solidFill>
            <a:srgbClr val="FFE0DC"/>
          </a:solidFill>
          <a:ln w="10160">
            <a:solidFill>
              <a:srgbClr val="BD615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58910" y="6865144"/>
            <a:ext cx="884161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214"/>
              </a:lnSpc>
              <a:buNone/>
            </a:pPr>
            <a:r>
              <a:rPr lang="en-US" sz="2250" b="1" dirty="0">
                <a:solidFill>
                  <a:srgbClr val="722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FABRICATED</a:t>
            </a:r>
            <a:endParaRPr lang="en-US" sz="2250" dirty="0"/>
          </a:p>
        </p:txBody>
      </p:sp>
      <p:sp>
        <p:nvSpPr>
          <p:cNvPr id="37" name="Text 35"/>
          <p:cNvSpPr/>
          <p:nvPr/>
        </p:nvSpPr>
        <p:spPr>
          <a:xfrm>
            <a:off x="9058910" y="7217569"/>
            <a:ext cx="884161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42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case of that name at a covered citation · rejected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8820150" y="7935277"/>
            <a:ext cx="8515350" cy="1284922"/>
          </a:xfrm>
          <a:prstGeom prst="rect">
            <a:avLst/>
          </a:prstGeom>
          <a:solidFill>
            <a:srgbClr val="D5EEFF"/>
          </a:solidFill>
          <a:ln w="10160">
            <a:solidFill>
              <a:srgbClr val="4284C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58910" y="8264366"/>
            <a:ext cx="884161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214"/>
              </a:lnSpc>
              <a:buNone/>
            </a:pPr>
            <a:r>
              <a:rPr lang="en-US" sz="2250" b="1" dirty="0">
                <a:solidFill>
                  <a:srgbClr val="004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UNVERIFIABLE</a:t>
            </a:r>
            <a:endParaRPr lang="en-US" sz="2250" dirty="0"/>
          </a:p>
        </p:txBody>
      </p:sp>
      <p:sp>
        <p:nvSpPr>
          <p:cNvPr id="40" name="Text 38"/>
          <p:cNvSpPr/>
          <p:nvPr/>
        </p:nvSpPr>
        <p:spPr>
          <a:xfrm>
            <a:off x="9058910" y="8616791"/>
            <a:ext cx="884161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42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Outside local coverage · flagged, not called fake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933"/>
              </a:lnSpc>
              <a:buNone/>
            </a:pPr>
            <a:r>
              <a:rPr lang="en-US" sz="1950" b="1" spc="273" kern="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· CONTRIBUTIONS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17308"/>
            <a:ext cx="1802130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4800" b="1" spc="-72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Novel Contributions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414588"/>
            <a:ext cx="5232400" cy="3231356"/>
          </a:xfrm>
          <a:prstGeom prst="rect">
            <a:avLst/>
          </a:prstGeom>
          <a:ln w="5080">
            <a:solidFill>
              <a:srgbClr val="1D1F20">
                <a:alpha val="16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62380" y="2724467"/>
            <a:ext cx="5073904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933"/>
              </a:lnSpc>
              <a:buNone/>
            </a:pPr>
            <a:r>
              <a:rPr lang="en-US" sz="1950" b="1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62380" y="3222625"/>
            <a:ext cx="5073904" cy="4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29"/>
              </a:lnSpc>
              <a:buNone/>
            </a:pPr>
            <a:r>
              <a:rPr lang="en-US" sz="270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Factorized citation verification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62380" y="3714115"/>
            <a:ext cx="4751019" cy="1191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CCS = Existence × Support with a five-way verdict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2380" y="4981734"/>
            <a:ext cx="5073904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Replaces the weighted CCE sum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27800" y="2414588"/>
            <a:ext cx="5232400" cy="3231356"/>
          </a:xfrm>
          <a:prstGeom prst="rect">
            <a:avLst/>
          </a:prstGeom>
          <a:ln w="5080">
            <a:solidFill>
              <a:srgbClr val="1D1F20">
                <a:alpha val="16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37680" y="2724467"/>
            <a:ext cx="5073904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933"/>
              </a:lnSpc>
              <a:buNone/>
            </a:pPr>
            <a:r>
              <a:rPr lang="en-US" sz="1950" b="1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837680" y="3222625"/>
            <a:ext cx="5073904" cy="4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29"/>
              </a:lnSpc>
              <a:buNone/>
            </a:pPr>
            <a:r>
              <a:rPr lang="en-US" sz="270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Conformal acceptance threshold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837680" y="3714115"/>
            <a:ext cx="4751019" cy="1191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τ = s₍ₖ₎, k = ⌈(n+1)(1−α)⌉, giving P(accept | unsupported) ≤ α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6837680" y="4981734"/>
            <a:ext cx="5073904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Replaces hand-picked 0.40 / 0.75 cut-offs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103100" y="2414588"/>
            <a:ext cx="5232400" cy="3231356"/>
          </a:xfrm>
          <a:prstGeom prst="rect">
            <a:avLst/>
          </a:prstGeom>
          <a:ln w="5080">
            <a:solidFill>
              <a:srgbClr val="1D1F20">
                <a:alpha val="16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412980" y="2724467"/>
            <a:ext cx="5073904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933"/>
              </a:lnSpc>
              <a:buNone/>
            </a:pPr>
            <a:r>
              <a:rPr lang="en-US" sz="1950" b="1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412980" y="3222625"/>
            <a:ext cx="5073904" cy="4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29"/>
              </a:lnSpc>
              <a:buNone/>
            </a:pPr>
            <a:r>
              <a:rPr lang="en-US" sz="270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Evidence-disjoint Defense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2412980" y="3714115"/>
            <a:ext cx="4751019" cy="1191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retrieves its own counter-evidence; Prosecutor documents excluded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2412980" y="4981734"/>
            <a:ext cx="5073904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Replaces shared-context Defense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52500" y="5988844"/>
            <a:ext cx="5232400" cy="3231356"/>
          </a:xfrm>
          <a:prstGeom prst="rect">
            <a:avLst/>
          </a:prstGeom>
          <a:ln w="5080">
            <a:solidFill>
              <a:srgbClr val="1D1F20">
                <a:alpha val="16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62380" y="6298724"/>
            <a:ext cx="5073904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933"/>
              </a:lnSpc>
              <a:buNone/>
            </a:pPr>
            <a:r>
              <a:rPr lang="en-US" sz="1950" b="1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262380" y="6796881"/>
            <a:ext cx="5073904" cy="4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29"/>
              </a:lnSpc>
              <a:buNone/>
            </a:pPr>
            <a:r>
              <a:rPr lang="en-US" sz="270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Self-correcting memory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262380" y="7288371"/>
            <a:ext cx="4751019" cy="1191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(case, wrong holding) pairs; forget entries that later verify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262380" y="8555990"/>
            <a:ext cx="5073904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Replaces the name-level risk list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527800" y="5988844"/>
            <a:ext cx="5232400" cy="3231356"/>
          </a:xfrm>
          <a:prstGeom prst="rect">
            <a:avLst/>
          </a:prstGeom>
          <a:ln w="5080">
            <a:solidFill>
              <a:srgbClr val="1D1F20">
                <a:alpha val="16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37680" y="6298724"/>
            <a:ext cx="5073904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933"/>
              </a:lnSpc>
              <a:buNone/>
            </a:pPr>
            <a:r>
              <a:rPr lang="en-US" sz="1950" b="1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6837680" y="6796881"/>
            <a:ext cx="5073904" cy="4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29"/>
              </a:lnSpc>
              <a:buNone/>
            </a:pPr>
            <a:r>
              <a:rPr lang="en-US" sz="270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 stress-test protocol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6837680" y="7288371"/>
            <a:ext cx="4751019" cy="1191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 labelled bad citations; measure catch rate per error type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6837680" y="8555990"/>
            <a:ext cx="5073904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Replaces end-to-end RAGAS only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2103100" y="5988844"/>
            <a:ext cx="5232400" cy="3231356"/>
          </a:xfrm>
          <a:prstGeom prst="rect">
            <a:avLst/>
          </a:prstGeom>
          <a:solidFill>
            <a:srgbClr val="1D2D3D"/>
          </a:solidFill>
          <a:ln/>
        </p:spPr>
      </p:sp>
      <p:sp>
        <p:nvSpPr>
          <p:cNvPr id="30" name="Text 28"/>
          <p:cNvSpPr/>
          <p:nvPr/>
        </p:nvSpPr>
        <p:spPr>
          <a:xfrm>
            <a:off x="12407900" y="6348095"/>
            <a:ext cx="508508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b="1" spc="216" kern="0" dirty="0">
                <a:solidFill>
                  <a:srgbClr val="B5D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 STATEMENT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407900" y="6854825"/>
            <a:ext cx="4761484" cy="2044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522"/>
              </a:lnSpc>
              <a:buNone/>
            </a:pPr>
            <a:r>
              <a:rPr lang="en-US" sz="1950" dirty="0">
                <a:solidFill>
                  <a:srgbClr val="F2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LexAgent distinguishes fabricated, misattributed and unverifiable citations, forces evidential independence between debating agents, and bounds how often unsupported citations are accepted, all on one T4 GPU.</a:t>
            </a:r>
            <a:endParaRPr lang="en-US" sz="1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933"/>
              </a:lnSpc>
              <a:buNone/>
            </a:pPr>
            <a:r>
              <a:rPr lang="en-US" sz="1950" b="1" spc="273" kern="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· IMPLEMENTATION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17308"/>
            <a:ext cx="1802130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4800" b="1" spc="-72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and Progress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52500" y="2376488"/>
            <a:ext cx="4681347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93"/>
              </a:lnSpc>
              <a:buNone/>
            </a:pPr>
            <a:r>
              <a:rPr lang="en-US" sz="225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Review-II milestone: 75% of planned work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3004959" y="2443639"/>
            <a:ext cx="4763595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 25%: validation and final delivery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52500" y="2952750"/>
            <a:ext cx="2428875" cy="342900"/>
          </a:xfrm>
          <a:prstGeom prst="rect">
            <a:avLst/>
          </a:prstGeom>
          <a:solidFill>
            <a:srgbClr val="5980A6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3390900"/>
            <a:ext cx="267176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· 15%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19475" y="2952750"/>
            <a:ext cx="1619250" cy="342900"/>
          </a:xfrm>
          <a:prstGeom prst="rect">
            <a:avLst/>
          </a:prstGeom>
          <a:solidFill>
            <a:srgbClr val="5980A6"/>
          </a:solidFill>
          <a:ln/>
        </p:spPr>
      </p:sp>
      <p:sp>
        <p:nvSpPr>
          <p:cNvPr id="9" name="Text 7"/>
          <p:cNvSpPr/>
          <p:nvPr/>
        </p:nvSpPr>
        <p:spPr>
          <a:xfrm>
            <a:off x="3419475" y="3390900"/>
            <a:ext cx="1695450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· 10%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76825" y="2952750"/>
            <a:ext cx="2428875" cy="342900"/>
          </a:xfrm>
          <a:prstGeom prst="rect">
            <a:avLst/>
          </a:prstGeom>
          <a:solidFill>
            <a:srgbClr val="5980A6"/>
          </a:solidFill>
          <a:ln/>
        </p:spPr>
      </p:sp>
      <p:sp>
        <p:nvSpPr>
          <p:cNvPr id="11" name="Text 9"/>
          <p:cNvSpPr/>
          <p:nvPr/>
        </p:nvSpPr>
        <p:spPr>
          <a:xfrm>
            <a:off x="5076825" y="3390900"/>
            <a:ext cx="267176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Corpus + retrieval · 15%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543800" y="2952750"/>
            <a:ext cx="3238500" cy="342900"/>
          </a:xfrm>
          <a:prstGeom prst="rect">
            <a:avLst/>
          </a:prstGeom>
          <a:solidFill>
            <a:srgbClr val="5980A6"/>
          </a:solidFill>
          <a:ln/>
        </p:spPr>
      </p:sp>
      <p:sp>
        <p:nvSpPr>
          <p:cNvPr id="13" name="Text 11"/>
          <p:cNvSpPr/>
          <p:nvPr/>
        </p:nvSpPr>
        <p:spPr>
          <a:xfrm>
            <a:off x="7543800" y="3390900"/>
            <a:ext cx="35623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prototype · 20%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820400" y="2952750"/>
            <a:ext cx="2428875" cy="342900"/>
          </a:xfrm>
          <a:prstGeom prst="rect">
            <a:avLst/>
          </a:prstGeom>
          <a:solidFill>
            <a:srgbClr val="5980A6"/>
          </a:solidFill>
          <a:ln/>
        </p:spPr>
      </p:sp>
      <p:sp>
        <p:nvSpPr>
          <p:cNvPr id="15" name="Text 13"/>
          <p:cNvSpPr/>
          <p:nvPr/>
        </p:nvSpPr>
        <p:spPr>
          <a:xfrm>
            <a:off x="10820400" y="3390900"/>
            <a:ext cx="2505075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Preliminary evaluation · 15%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3287375" y="2952750"/>
            <a:ext cx="4048125" cy="342900"/>
          </a:xfrm>
          <a:prstGeom prst="rect">
            <a:avLst/>
          </a:prstGeom>
          <a:ln w="15240">
            <a:solidFill>
              <a:srgbClr val="98989B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3287375" y="3390900"/>
            <a:ext cx="445293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8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+ delivery · 25%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52500" y="4765040"/>
            <a:ext cx="2476500" cy="10160"/>
          </a:xfrm>
          <a:prstGeom prst="rect">
            <a:avLst/>
          </a:prstGeom>
          <a:solidFill>
            <a:srgbClr val="1D1F20"/>
          </a:solidFill>
          <a:ln/>
        </p:spPr>
      </p:sp>
      <p:sp>
        <p:nvSpPr>
          <p:cNvPr id="19" name="Text 17"/>
          <p:cNvSpPr/>
          <p:nvPr/>
        </p:nvSpPr>
        <p:spPr>
          <a:xfrm>
            <a:off x="952500" y="4358640"/>
            <a:ext cx="232410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b="1" spc="144" kern="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429000" y="4765040"/>
            <a:ext cx="7339330" cy="10160"/>
          </a:xfrm>
          <a:prstGeom prst="rect">
            <a:avLst/>
          </a:prstGeom>
          <a:solidFill>
            <a:srgbClr val="1D1F20"/>
          </a:solidFill>
          <a:ln/>
        </p:spPr>
      </p:sp>
      <p:sp>
        <p:nvSpPr>
          <p:cNvPr id="21" name="Text 19"/>
          <p:cNvSpPr/>
          <p:nvPr/>
        </p:nvSpPr>
        <p:spPr>
          <a:xfrm>
            <a:off x="3429000" y="4358640"/>
            <a:ext cx="733091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b="1" spc="144" kern="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768330" y="4765040"/>
            <a:ext cx="6567170" cy="10160"/>
          </a:xfrm>
          <a:prstGeom prst="rect">
            <a:avLst/>
          </a:prstGeom>
          <a:solidFill>
            <a:srgbClr val="1D1F20"/>
          </a:solidFill>
          <a:ln/>
        </p:spPr>
      </p:sp>
      <p:sp>
        <p:nvSpPr>
          <p:cNvPr id="23" name="Text 21"/>
          <p:cNvSpPr/>
          <p:nvPr/>
        </p:nvSpPr>
        <p:spPr>
          <a:xfrm>
            <a:off x="10768330" y="4358640"/>
            <a:ext cx="6764185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b="1" spc="144" kern="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52500" y="5366385"/>
            <a:ext cx="24765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52500" y="4908550"/>
            <a:ext cx="2324100" cy="3625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3429000" y="5366385"/>
            <a:ext cx="733933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429000" y="4908550"/>
            <a:ext cx="7330910" cy="3625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Mistral-7B-Instruct-v0.3, NF4 4-bit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0768330" y="5366385"/>
            <a:ext cx="656717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0768330" y="4908550"/>
            <a:ext cx="6764185" cy="3625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Tesla T4 16 GB · 768 max tokens · temp 0.1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952500" y="5960110"/>
            <a:ext cx="24765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952500" y="5504815"/>
            <a:ext cx="2324100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3429000" y="5960110"/>
            <a:ext cx="733933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429000" y="5504815"/>
            <a:ext cx="7330910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Legal-BERT + ChromaDB, BM25, RRF (k = 60)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10768330" y="5960110"/>
            <a:ext cx="656717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0768330" y="5504815"/>
            <a:ext cx="6764185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4 + 4 → 8 passages · 450-word chunks · 27 volumes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952500" y="6553835"/>
            <a:ext cx="24765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952500" y="6098540"/>
            <a:ext cx="2324100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3429000" y="6553835"/>
            <a:ext cx="733933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3429000" y="6098540"/>
            <a:ext cx="7330910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DeBERTa NLI cross-encoder, factorized CVM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10768330" y="6553835"/>
            <a:ext cx="656717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10768330" y="6098540"/>
            <a:ext cx="6764185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Per-citation identity and support reports</a:t>
            </a:r>
            <a:endParaRPr lang="en-US" sz="1950" dirty="0"/>
          </a:p>
        </p:txBody>
      </p:sp>
      <p:sp>
        <p:nvSpPr>
          <p:cNvPr id="42" name="Shape 40"/>
          <p:cNvSpPr/>
          <p:nvPr/>
        </p:nvSpPr>
        <p:spPr>
          <a:xfrm>
            <a:off x="952500" y="7147560"/>
            <a:ext cx="24765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952500" y="6692265"/>
            <a:ext cx="2324100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1950" dirty="0"/>
          </a:p>
        </p:txBody>
      </p:sp>
      <p:sp>
        <p:nvSpPr>
          <p:cNvPr id="44" name="Shape 42"/>
          <p:cNvSpPr/>
          <p:nvPr/>
        </p:nvSpPr>
        <p:spPr>
          <a:xfrm>
            <a:off x="3429000" y="7147560"/>
            <a:ext cx="733933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3429000" y="6692265"/>
            <a:ext cx="7330910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LangGraph, four roles, DDC, adaptive memory</a:t>
            </a:r>
            <a:endParaRPr lang="en-US" sz="1950" dirty="0"/>
          </a:p>
        </p:txBody>
      </p:sp>
      <p:sp>
        <p:nvSpPr>
          <p:cNvPr id="46" name="Shape 44"/>
          <p:cNvSpPr/>
          <p:nvPr/>
        </p:nvSpPr>
        <p:spPr>
          <a:xfrm>
            <a:off x="10768330" y="7147560"/>
            <a:ext cx="656717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10768330" y="6692265"/>
            <a:ext cx="6764185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two rounds · cache reuse at similarity &gt; 0.92</a:t>
            </a:r>
            <a:endParaRPr lang="en-US" sz="1950" dirty="0"/>
          </a:p>
        </p:txBody>
      </p:sp>
      <p:sp>
        <p:nvSpPr>
          <p:cNvPr id="48" name="Shape 46"/>
          <p:cNvSpPr/>
          <p:nvPr/>
        </p:nvSpPr>
        <p:spPr>
          <a:xfrm>
            <a:off x="952500" y="7741285"/>
            <a:ext cx="24765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952500" y="7285990"/>
            <a:ext cx="2324100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950" dirty="0"/>
          </a:p>
        </p:txBody>
      </p:sp>
      <p:sp>
        <p:nvSpPr>
          <p:cNvPr id="50" name="Shape 48"/>
          <p:cNvSpPr/>
          <p:nvPr/>
        </p:nvSpPr>
        <p:spPr>
          <a:xfrm>
            <a:off x="3429000" y="7741285"/>
            <a:ext cx="733933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3429000" y="7285990"/>
            <a:ext cx="7330910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CLI, Colab notebook, benchmark + ablation runners</a:t>
            </a:r>
            <a:endParaRPr lang="en-US" sz="1950" dirty="0"/>
          </a:p>
        </p:txBody>
      </p:sp>
      <p:sp>
        <p:nvSpPr>
          <p:cNvPr id="52" name="Shape 50"/>
          <p:cNvSpPr/>
          <p:nvPr/>
        </p:nvSpPr>
        <p:spPr>
          <a:xfrm>
            <a:off x="10768330" y="7741285"/>
            <a:ext cx="656717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10768330" y="7285990"/>
            <a:ext cx="6764185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25-case scorecard · 40-item stress test</a:t>
            </a:r>
            <a:endParaRPr lang="en-US" sz="1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D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933"/>
              </a:lnSpc>
              <a:buNone/>
            </a:pPr>
            <a:r>
              <a:rPr lang="en-US" sz="1950" b="1" spc="273" kern="0" dirty="0">
                <a:solidFill>
                  <a:srgbClr val="B5D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· RESULTS · 25-CASE BENCHMARK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17308"/>
            <a:ext cx="1802130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4800" b="1" spc="-72" kern="0" dirty="0">
                <a:solidFill>
                  <a:srgbClr val="F2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Results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490788"/>
            <a:ext cx="3752850" cy="9525"/>
          </a:xfrm>
          <a:prstGeom prst="rect">
            <a:avLst/>
          </a:prstGeom>
          <a:solidFill>
            <a:srgbClr val="416180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724467"/>
            <a:ext cx="4128135" cy="1232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577"/>
              </a:lnSpc>
              <a:buNone/>
            </a:pPr>
            <a:r>
              <a:rPr lang="en-US" sz="9900" b="1" dirty="0">
                <a:solidFill>
                  <a:srgbClr val="B5D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25/25</a:t>
            </a:r>
            <a:endParaRPr lang="en-US" sz="9900" dirty="0"/>
          </a:p>
        </p:txBody>
      </p:sp>
      <p:sp>
        <p:nvSpPr>
          <p:cNvPr id="6" name="Text 4"/>
          <p:cNvSpPr/>
          <p:nvPr/>
        </p:nvSpPr>
        <p:spPr>
          <a:xfrm>
            <a:off x="952500" y="4033203"/>
            <a:ext cx="4128135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933"/>
              </a:lnSpc>
              <a:buNone/>
            </a:pPr>
            <a:r>
              <a:rPr lang="en-US" sz="1950" dirty="0">
                <a:solidFill>
                  <a:srgbClr val="F2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 completed, no crashes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5162550" y="2490788"/>
            <a:ext cx="3752850" cy="9525"/>
          </a:xfrm>
          <a:prstGeom prst="rect">
            <a:avLst/>
          </a:prstGeom>
          <a:solidFill>
            <a:srgbClr val="416180"/>
          </a:solidFill>
          <a:ln/>
        </p:spPr>
      </p:sp>
      <p:sp>
        <p:nvSpPr>
          <p:cNvPr id="8" name="Text 6"/>
          <p:cNvSpPr/>
          <p:nvPr/>
        </p:nvSpPr>
        <p:spPr>
          <a:xfrm>
            <a:off x="5162550" y="2724467"/>
            <a:ext cx="4128135" cy="1232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577"/>
              </a:lnSpc>
              <a:buNone/>
            </a:pPr>
            <a:r>
              <a:rPr lang="en-US" sz="9900" b="1" dirty="0">
                <a:solidFill>
                  <a:srgbClr val="B5D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91.5%</a:t>
            </a:r>
            <a:endParaRPr lang="en-US" sz="9900" dirty="0"/>
          </a:p>
        </p:txBody>
      </p:sp>
      <p:sp>
        <p:nvSpPr>
          <p:cNvPr id="9" name="Text 7"/>
          <p:cNvSpPr/>
          <p:nvPr/>
        </p:nvSpPr>
        <p:spPr>
          <a:xfrm>
            <a:off x="5162550" y="4033203"/>
            <a:ext cx="4128135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933"/>
              </a:lnSpc>
              <a:buNone/>
            </a:pPr>
            <a:r>
              <a:rPr lang="en-US" sz="1950" dirty="0">
                <a:solidFill>
                  <a:srgbClr val="F2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citation accuracy (CAS)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372600" y="2490788"/>
            <a:ext cx="3752850" cy="9525"/>
          </a:xfrm>
          <a:prstGeom prst="rect">
            <a:avLst/>
          </a:prstGeom>
          <a:solidFill>
            <a:srgbClr val="416180"/>
          </a:solidFill>
          <a:ln/>
        </p:spPr>
      </p:sp>
      <p:sp>
        <p:nvSpPr>
          <p:cNvPr id="11" name="Text 9"/>
          <p:cNvSpPr/>
          <p:nvPr/>
        </p:nvSpPr>
        <p:spPr>
          <a:xfrm>
            <a:off x="9372600" y="2724467"/>
            <a:ext cx="4128135" cy="1232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577"/>
              </a:lnSpc>
              <a:buNone/>
            </a:pPr>
            <a:r>
              <a:rPr lang="en-US" sz="9900" b="1" dirty="0">
                <a:solidFill>
                  <a:srgbClr val="B5D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9900" dirty="0"/>
          </a:p>
        </p:txBody>
      </p:sp>
      <p:sp>
        <p:nvSpPr>
          <p:cNvPr id="12" name="Text 10"/>
          <p:cNvSpPr/>
          <p:nvPr/>
        </p:nvSpPr>
        <p:spPr>
          <a:xfrm>
            <a:off x="9372600" y="4033203"/>
            <a:ext cx="4128135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933"/>
              </a:lnSpc>
              <a:buNone/>
            </a:pPr>
            <a:r>
              <a:rPr lang="en-US" sz="1950" dirty="0">
                <a:solidFill>
                  <a:srgbClr val="F2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Debate convergence (18/25)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3582650" y="2490788"/>
            <a:ext cx="3752850" cy="9525"/>
          </a:xfrm>
          <a:prstGeom prst="rect">
            <a:avLst/>
          </a:prstGeom>
          <a:solidFill>
            <a:srgbClr val="416180"/>
          </a:solidFill>
          <a:ln/>
        </p:spPr>
      </p:sp>
      <p:sp>
        <p:nvSpPr>
          <p:cNvPr id="14" name="Text 12"/>
          <p:cNvSpPr/>
          <p:nvPr/>
        </p:nvSpPr>
        <p:spPr>
          <a:xfrm>
            <a:off x="13582650" y="2724467"/>
            <a:ext cx="4128135" cy="1232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577"/>
              </a:lnSpc>
              <a:buNone/>
            </a:pPr>
            <a:r>
              <a:rPr lang="en-US" sz="9900" b="1" dirty="0">
                <a:solidFill>
                  <a:srgbClr val="B5D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19.4%</a:t>
            </a:r>
            <a:endParaRPr lang="en-US" sz="9900" dirty="0"/>
          </a:p>
        </p:txBody>
      </p:sp>
      <p:sp>
        <p:nvSpPr>
          <p:cNvPr id="15" name="Text 13"/>
          <p:cNvSpPr/>
          <p:nvPr/>
        </p:nvSpPr>
        <p:spPr>
          <a:xfrm>
            <a:off x="13582650" y="4033203"/>
            <a:ext cx="4128135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933"/>
              </a:lnSpc>
              <a:buNone/>
            </a:pPr>
            <a:r>
              <a:rPr lang="en-US" sz="1950" dirty="0">
                <a:solidFill>
                  <a:srgbClr val="F2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hallucination rate (HR)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52500" y="4950460"/>
            <a:ext cx="412813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636"/>
              </a:lnSpc>
              <a:buNone/>
            </a:pPr>
            <a:r>
              <a:rPr lang="en-US" sz="3900" b="1" dirty="0">
                <a:solidFill>
                  <a:srgbClr val="F2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25</a:t>
            </a:r>
            <a:endParaRPr lang="en-US" sz="3900" dirty="0"/>
          </a:p>
        </p:txBody>
      </p:sp>
      <p:sp>
        <p:nvSpPr>
          <p:cNvPr id="17" name="Text 15"/>
          <p:cNvSpPr/>
          <p:nvPr/>
        </p:nvSpPr>
        <p:spPr>
          <a:xfrm>
            <a:off x="952500" y="5502910"/>
            <a:ext cx="4128135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D4D4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 with HR = 0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162550" y="4950460"/>
            <a:ext cx="412813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636"/>
              </a:lnSpc>
              <a:buNone/>
            </a:pPr>
            <a:r>
              <a:rPr lang="en-US" sz="3900" b="1" dirty="0">
                <a:solidFill>
                  <a:srgbClr val="F2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</a:t>
            </a:r>
            <a:endParaRPr lang="en-US" sz="3900" dirty="0"/>
          </a:p>
        </p:txBody>
      </p:sp>
      <p:sp>
        <p:nvSpPr>
          <p:cNvPr id="19" name="Text 17"/>
          <p:cNvSpPr/>
          <p:nvPr/>
        </p:nvSpPr>
        <p:spPr>
          <a:xfrm>
            <a:off x="5162550" y="5502910"/>
            <a:ext cx="4128135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D4D4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overlap ratio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372600" y="4950460"/>
            <a:ext cx="412813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636"/>
              </a:lnSpc>
              <a:buNone/>
            </a:pPr>
            <a:r>
              <a:rPr lang="en-US" sz="3900" b="1" dirty="0">
                <a:solidFill>
                  <a:srgbClr val="F2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73.2 min</a:t>
            </a:r>
            <a:endParaRPr lang="en-US" sz="3900" dirty="0"/>
          </a:p>
        </p:txBody>
      </p:sp>
      <p:sp>
        <p:nvSpPr>
          <p:cNvPr id="21" name="Text 19"/>
          <p:cNvSpPr/>
          <p:nvPr/>
        </p:nvSpPr>
        <p:spPr>
          <a:xfrm>
            <a:off x="9372600" y="5502910"/>
            <a:ext cx="4128135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D4D4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T4 GPU · ≈2.9 min per case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582650" y="4950460"/>
            <a:ext cx="412813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636"/>
              </a:lnSpc>
              <a:buNone/>
            </a:pPr>
            <a:r>
              <a:rPr lang="en-US" sz="3900" b="1" dirty="0">
                <a:solidFill>
                  <a:srgbClr val="F2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5</a:t>
            </a:r>
            <a:endParaRPr lang="en-US" sz="3900" dirty="0"/>
          </a:p>
        </p:txBody>
      </p:sp>
      <p:sp>
        <p:nvSpPr>
          <p:cNvPr id="23" name="Text 21"/>
          <p:cNvSpPr/>
          <p:nvPr/>
        </p:nvSpPr>
        <p:spPr>
          <a:xfrm>
            <a:off x="13582650" y="5502910"/>
            <a:ext cx="4128135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D4D4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Two-round / one-round debates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52500" y="6390640"/>
            <a:ext cx="16383000" cy="9525"/>
          </a:xfrm>
          <a:prstGeom prst="rect">
            <a:avLst/>
          </a:prstGeom>
          <a:solidFill>
            <a:srgbClr val="416180"/>
          </a:solidFill>
          <a:ln/>
        </p:spPr>
      </p:sp>
      <p:sp>
        <p:nvSpPr>
          <p:cNvPr id="25" name="Text 23"/>
          <p:cNvSpPr/>
          <p:nvPr/>
        </p:nvSpPr>
        <p:spPr>
          <a:xfrm>
            <a:off x="952500" y="6624320"/>
            <a:ext cx="2552700" cy="706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933"/>
              </a:lnSpc>
              <a:buNone/>
            </a:pPr>
            <a:r>
              <a:rPr lang="en-US" sz="1950" b="1" spc="195" kern="0" dirty="0">
                <a:solidFill>
                  <a:srgbClr val="B5D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HR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3810000" y="6624320"/>
            <a:ext cx="13931265" cy="706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522"/>
              </a:lnSpc>
              <a:buNone/>
            </a:pPr>
            <a:r>
              <a:rPr lang="en-US" sz="1950" dirty="0">
                <a:solidFill>
                  <a:srgbClr val="F2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includes authentic Supreme Court citations outside the 27-volume local preset, such as Lockett v. Ohio and Milliken v. Bradley. These are unverifiable by this corpus, not confirmed fabrications.</a:t>
            </a:r>
            <a:endParaRPr lang="en-US" sz="1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933"/>
              </a:lnSpc>
              <a:buNone/>
            </a:pPr>
            <a:r>
              <a:rPr lang="en-US" sz="1950" b="1" spc="273" kern="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· RESULTS · 40 LABELLED CITATIONS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17308"/>
            <a:ext cx="1802130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4800" b="1" spc="-72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 Stress Test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771458"/>
            <a:ext cx="6381750" cy="10160"/>
          </a:xfrm>
          <a:prstGeom prst="rect">
            <a:avLst/>
          </a:prstGeom>
          <a:solidFill>
            <a:srgbClr val="1D1F20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376488"/>
            <a:ext cx="6344603" cy="318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0294"/>
              </a:lnSpc>
              <a:buNone/>
            </a:pPr>
            <a:r>
              <a:rPr lang="en-US" sz="1800" b="1" spc="144" kern="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34250" y="2771458"/>
            <a:ext cx="1238250" cy="10160"/>
          </a:xfrm>
          <a:prstGeom prst="rect">
            <a:avLst/>
          </a:prstGeom>
          <a:solidFill>
            <a:srgbClr val="1D1F20"/>
          </a:solidFill>
          <a:ln/>
        </p:spPr>
      </p:sp>
      <p:sp>
        <p:nvSpPr>
          <p:cNvPr id="7" name="Text 5"/>
          <p:cNvSpPr/>
          <p:nvPr/>
        </p:nvSpPr>
        <p:spPr>
          <a:xfrm>
            <a:off x="7334250" y="2376488"/>
            <a:ext cx="1085850" cy="318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0294"/>
              </a:lnSpc>
              <a:buNone/>
            </a:pPr>
            <a:r>
              <a:rPr lang="en-US" sz="1800" b="1" spc="144" kern="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572500" y="2771458"/>
            <a:ext cx="5334000" cy="10160"/>
          </a:xfrm>
          <a:prstGeom prst="rect">
            <a:avLst/>
          </a:prstGeom>
          <a:solidFill>
            <a:srgbClr val="1D1F20"/>
          </a:solidFill>
          <a:ln/>
        </p:spPr>
      </p:sp>
      <p:sp>
        <p:nvSpPr>
          <p:cNvPr id="9" name="Text 7"/>
          <p:cNvSpPr/>
          <p:nvPr/>
        </p:nvSpPr>
        <p:spPr>
          <a:xfrm>
            <a:off x="8572500" y="2376488"/>
            <a:ext cx="5265420" cy="318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0294"/>
              </a:lnSpc>
              <a:buNone/>
            </a:pPr>
            <a:r>
              <a:rPr lang="en-US" sz="1800" b="1" spc="144" kern="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ACCEPTED BY VERIFIER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906500" y="2771458"/>
            <a:ext cx="3429000" cy="10160"/>
          </a:xfrm>
          <a:prstGeom prst="rect">
            <a:avLst/>
          </a:prstGeom>
          <a:solidFill>
            <a:srgbClr val="1D1F20"/>
          </a:solidFill>
          <a:ln/>
        </p:spPr>
      </p:sp>
      <p:sp>
        <p:nvSpPr>
          <p:cNvPr id="11" name="Text 9"/>
          <p:cNvSpPr/>
          <p:nvPr/>
        </p:nvSpPr>
        <p:spPr>
          <a:xfrm>
            <a:off x="13906500" y="2376488"/>
            <a:ext cx="3531870" cy="318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0294"/>
              </a:lnSpc>
              <a:buNone/>
            </a:pPr>
            <a:r>
              <a:rPr lang="en-US" sz="1800" b="1" spc="144" kern="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52500" y="3398520"/>
            <a:ext cx="638175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" y="2934017"/>
            <a:ext cx="6344603" cy="350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8817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precedents (control)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7334250" y="3398520"/>
            <a:ext cx="123825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334250" y="2934017"/>
            <a:ext cx="1085850" cy="350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8817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8572500" y="3398520"/>
            <a:ext cx="53340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572500" y="2989104"/>
            <a:ext cx="4191000" cy="209550"/>
          </a:xfrm>
          <a:prstGeom prst="rect">
            <a:avLst/>
          </a:prstGeom>
          <a:solidFill>
            <a:srgbClr val="E7E7EA"/>
          </a:solidFill>
          <a:ln/>
        </p:spPr>
      </p:sp>
      <p:sp>
        <p:nvSpPr>
          <p:cNvPr id="18" name="Shape 16"/>
          <p:cNvSpPr/>
          <p:nvPr/>
        </p:nvSpPr>
        <p:spPr>
          <a:xfrm>
            <a:off x="8572500" y="2989104"/>
            <a:ext cx="4191000" cy="209550"/>
          </a:xfrm>
          <a:prstGeom prst="rect">
            <a:avLst/>
          </a:prstGeom>
          <a:solidFill>
            <a:srgbClr val="5980A6"/>
          </a:solidFill>
          <a:ln/>
        </p:spPr>
      </p:sp>
      <p:sp>
        <p:nvSpPr>
          <p:cNvPr id="19" name="Text 17"/>
          <p:cNvSpPr/>
          <p:nvPr/>
        </p:nvSpPr>
        <p:spPr>
          <a:xfrm>
            <a:off x="12915900" y="2939097"/>
            <a:ext cx="8382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817"/>
              </a:lnSpc>
              <a:buNone/>
            </a:pPr>
            <a:r>
              <a:rPr lang="en-US" sz="195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10/10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3906500" y="3398520"/>
            <a:ext cx="34290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3906500" y="2934017"/>
            <a:ext cx="3531870" cy="350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8817"/>
              </a:lnSpc>
              <a:buNone/>
            </a:pPr>
            <a:r>
              <a:rPr lang="en-US" sz="195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expected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52500" y="4017962"/>
            <a:ext cx="638175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952500" y="3556000"/>
            <a:ext cx="634460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8817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misattributions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7334250" y="4017962"/>
            <a:ext cx="123825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7334250" y="3556000"/>
            <a:ext cx="10858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8817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8572500" y="4017962"/>
            <a:ext cx="53340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572500" y="3608546"/>
            <a:ext cx="4191000" cy="209550"/>
          </a:xfrm>
          <a:prstGeom prst="rect">
            <a:avLst/>
          </a:prstGeom>
          <a:solidFill>
            <a:srgbClr val="E7E7EA"/>
          </a:solidFill>
          <a:ln/>
        </p:spPr>
      </p:sp>
      <p:sp>
        <p:nvSpPr>
          <p:cNvPr id="28" name="Shape 26"/>
          <p:cNvSpPr/>
          <p:nvPr/>
        </p:nvSpPr>
        <p:spPr>
          <a:xfrm>
            <a:off x="8572500" y="3608546"/>
            <a:ext cx="4191000" cy="209550"/>
          </a:xfrm>
          <a:prstGeom prst="rect">
            <a:avLst/>
          </a:prstGeom>
          <a:solidFill>
            <a:srgbClr val="424244"/>
          </a:solidFill>
          <a:ln/>
        </p:spPr>
      </p:sp>
      <p:sp>
        <p:nvSpPr>
          <p:cNvPr id="29" name="Text 27"/>
          <p:cNvSpPr/>
          <p:nvPr/>
        </p:nvSpPr>
        <p:spPr>
          <a:xfrm>
            <a:off x="12915900" y="3558540"/>
            <a:ext cx="8382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817"/>
              </a:lnSpc>
              <a:buNone/>
            </a:pPr>
            <a:r>
              <a:rPr lang="en-US" sz="195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10/10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13906500" y="4017962"/>
            <a:ext cx="34290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3906500" y="3556000"/>
            <a:ext cx="353187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8817"/>
              </a:lnSpc>
              <a:buNone/>
            </a:pPr>
            <a:r>
              <a:rPr lang="en-US" sz="195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caught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952500" y="4637405"/>
            <a:ext cx="638175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952500" y="4175443"/>
            <a:ext cx="6344603" cy="347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8817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CaseHOLD legal distractors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7334250" y="4637405"/>
            <a:ext cx="123825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7334250" y="4175443"/>
            <a:ext cx="1085850" cy="347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8817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8572500" y="4637405"/>
            <a:ext cx="53340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572500" y="4227989"/>
            <a:ext cx="4191000" cy="209550"/>
          </a:xfrm>
          <a:prstGeom prst="rect">
            <a:avLst/>
          </a:prstGeom>
          <a:solidFill>
            <a:srgbClr val="E7E7EA"/>
          </a:solidFill>
          <a:ln/>
        </p:spPr>
      </p:sp>
      <p:sp>
        <p:nvSpPr>
          <p:cNvPr id="38" name="Shape 36"/>
          <p:cNvSpPr/>
          <p:nvPr/>
        </p:nvSpPr>
        <p:spPr>
          <a:xfrm>
            <a:off x="8572500" y="4227989"/>
            <a:ext cx="4191000" cy="209550"/>
          </a:xfrm>
          <a:prstGeom prst="rect">
            <a:avLst/>
          </a:prstGeom>
          <a:solidFill>
            <a:srgbClr val="424244"/>
          </a:solidFill>
          <a:ln/>
        </p:spPr>
      </p:sp>
      <p:sp>
        <p:nvSpPr>
          <p:cNvPr id="39" name="Text 37"/>
          <p:cNvSpPr/>
          <p:nvPr/>
        </p:nvSpPr>
        <p:spPr>
          <a:xfrm>
            <a:off x="12915900" y="4177982"/>
            <a:ext cx="8382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817"/>
              </a:lnSpc>
              <a:buNone/>
            </a:pPr>
            <a:r>
              <a:rPr lang="en-US" sz="195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5/5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13906500" y="4637405"/>
            <a:ext cx="34290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13906500" y="4175443"/>
            <a:ext cx="3531870" cy="347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8817"/>
              </a:lnSpc>
              <a:buNone/>
            </a:pPr>
            <a:r>
              <a:rPr lang="en-US" sz="195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Lexical overlap passes</a:t>
            </a:r>
            <a:endParaRPr lang="en-US" sz="1950" dirty="0"/>
          </a:p>
        </p:txBody>
      </p:sp>
      <p:sp>
        <p:nvSpPr>
          <p:cNvPr id="42" name="Shape 40"/>
          <p:cNvSpPr/>
          <p:nvPr/>
        </p:nvSpPr>
        <p:spPr>
          <a:xfrm>
            <a:off x="952500" y="5256848"/>
            <a:ext cx="638175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952500" y="4794885"/>
            <a:ext cx="634460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8817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Plausible fabricated citations</a:t>
            </a:r>
            <a:endParaRPr lang="en-US" sz="1950" dirty="0"/>
          </a:p>
        </p:txBody>
      </p:sp>
      <p:sp>
        <p:nvSpPr>
          <p:cNvPr id="44" name="Shape 42"/>
          <p:cNvSpPr/>
          <p:nvPr/>
        </p:nvSpPr>
        <p:spPr>
          <a:xfrm>
            <a:off x="7334250" y="5256848"/>
            <a:ext cx="123825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7334250" y="4794885"/>
            <a:ext cx="10858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8817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</a:t>
            </a:r>
            <a:endParaRPr lang="en-US" sz="1950" dirty="0"/>
          </a:p>
        </p:txBody>
      </p:sp>
      <p:sp>
        <p:nvSpPr>
          <p:cNvPr id="46" name="Shape 44"/>
          <p:cNvSpPr/>
          <p:nvPr/>
        </p:nvSpPr>
        <p:spPr>
          <a:xfrm>
            <a:off x="8572500" y="5256848"/>
            <a:ext cx="53340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572500" y="4847431"/>
            <a:ext cx="4191000" cy="209550"/>
          </a:xfrm>
          <a:prstGeom prst="rect">
            <a:avLst/>
          </a:prstGeom>
          <a:solidFill>
            <a:srgbClr val="E7E7EA"/>
          </a:solidFill>
          <a:ln/>
        </p:spPr>
      </p:sp>
      <p:sp>
        <p:nvSpPr>
          <p:cNvPr id="48" name="Shape 46"/>
          <p:cNvSpPr/>
          <p:nvPr/>
        </p:nvSpPr>
        <p:spPr>
          <a:xfrm>
            <a:off x="8572500" y="4847431"/>
            <a:ext cx="838200" cy="209550"/>
          </a:xfrm>
          <a:prstGeom prst="rect">
            <a:avLst/>
          </a:prstGeom>
          <a:solidFill>
            <a:srgbClr val="424244"/>
          </a:solidFill>
          <a:ln/>
        </p:spPr>
      </p:sp>
      <p:sp>
        <p:nvSpPr>
          <p:cNvPr id="49" name="Text 47"/>
          <p:cNvSpPr/>
          <p:nvPr/>
        </p:nvSpPr>
        <p:spPr>
          <a:xfrm>
            <a:off x="12915900" y="4797425"/>
            <a:ext cx="8382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817"/>
              </a:lnSpc>
              <a:buNone/>
            </a:pPr>
            <a:r>
              <a:rPr lang="en-US" sz="195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1/5</a:t>
            </a:r>
            <a:endParaRPr lang="en-US" sz="1950" dirty="0"/>
          </a:p>
        </p:txBody>
      </p:sp>
      <p:sp>
        <p:nvSpPr>
          <p:cNvPr id="50" name="Shape 48"/>
          <p:cNvSpPr/>
          <p:nvPr/>
        </p:nvSpPr>
        <p:spPr>
          <a:xfrm>
            <a:off x="13906500" y="5256848"/>
            <a:ext cx="34290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13906500" y="4794885"/>
            <a:ext cx="353187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8817"/>
              </a:lnSpc>
              <a:buNone/>
            </a:pPr>
            <a:r>
              <a:rPr lang="en-US" sz="195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of 5 rejected</a:t>
            </a:r>
            <a:endParaRPr lang="en-US" sz="1950" dirty="0"/>
          </a:p>
        </p:txBody>
      </p:sp>
      <p:sp>
        <p:nvSpPr>
          <p:cNvPr id="52" name="Shape 50"/>
          <p:cNvSpPr/>
          <p:nvPr/>
        </p:nvSpPr>
        <p:spPr>
          <a:xfrm>
            <a:off x="952500" y="5876290"/>
            <a:ext cx="638175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952500" y="5414328"/>
            <a:ext cx="6344603" cy="347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8817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Fabricated, no citation details</a:t>
            </a:r>
            <a:endParaRPr lang="en-US" sz="1950" dirty="0"/>
          </a:p>
        </p:txBody>
      </p:sp>
      <p:sp>
        <p:nvSpPr>
          <p:cNvPr id="54" name="Shape 52"/>
          <p:cNvSpPr/>
          <p:nvPr/>
        </p:nvSpPr>
        <p:spPr>
          <a:xfrm>
            <a:off x="7334250" y="5876290"/>
            <a:ext cx="123825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7334250" y="5414328"/>
            <a:ext cx="1085850" cy="347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8817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</a:t>
            </a:r>
            <a:endParaRPr lang="en-US" sz="1950" dirty="0"/>
          </a:p>
        </p:txBody>
      </p:sp>
      <p:sp>
        <p:nvSpPr>
          <p:cNvPr id="56" name="Shape 54"/>
          <p:cNvSpPr/>
          <p:nvPr/>
        </p:nvSpPr>
        <p:spPr>
          <a:xfrm>
            <a:off x="8572500" y="5876290"/>
            <a:ext cx="53340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572500" y="5466874"/>
            <a:ext cx="4191000" cy="209550"/>
          </a:xfrm>
          <a:prstGeom prst="rect">
            <a:avLst/>
          </a:prstGeom>
          <a:solidFill>
            <a:srgbClr val="E7E7EA"/>
          </a:solidFill>
          <a:ln/>
        </p:spPr>
      </p:sp>
      <p:sp>
        <p:nvSpPr>
          <p:cNvPr id="58" name="Text 56"/>
          <p:cNvSpPr/>
          <p:nvPr/>
        </p:nvSpPr>
        <p:spPr>
          <a:xfrm>
            <a:off x="12915900" y="5416868"/>
            <a:ext cx="8382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817"/>
              </a:lnSpc>
              <a:buNone/>
            </a:pPr>
            <a:r>
              <a:rPr lang="en-US" sz="195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0/5</a:t>
            </a:r>
            <a:endParaRPr lang="en-US" sz="1950" dirty="0"/>
          </a:p>
        </p:txBody>
      </p:sp>
      <p:sp>
        <p:nvSpPr>
          <p:cNvPr id="59" name="Shape 57"/>
          <p:cNvSpPr/>
          <p:nvPr/>
        </p:nvSpPr>
        <p:spPr>
          <a:xfrm>
            <a:off x="13906500" y="5876290"/>
            <a:ext cx="34290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13906500" y="5414328"/>
            <a:ext cx="3531870" cy="347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8817"/>
              </a:lnSpc>
              <a:buNone/>
            </a:pPr>
            <a:r>
              <a:rPr lang="en-US" sz="195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rejected</a:t>
            </a:r>
            <a:endParaRPr lang="en-US" sz="1950" dirty="0"/>
          </a:p>
        </p:txBody>
      </p:sp>
      <p:sp>
        <p:nvSpPr>
          <p:cNvPr id="61" name="Shape 59"/>
          <p:cNvSpPr/>
          <p:nvPr/>
        </p:nvSpPr>
        <p:spPr>
          <a:xfrm>
            <a:off x="952500" y="6495733"/>
            <a:ext cx="638175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952500" y="6033770"/>
            <a:ext cx="634460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8817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Real, off-corpus precedents</a:t>
            </a:r>
            <a:endParaRPr lang="en-US" sz="1950" dirty="0"/>
          </a:p>
        </p:txBody>
      </p:sp>
      <p:sp>
        <p:nvSpPr>
          <p:cNvPr id="63" name="Shape 61"/>
          <p:cNvSpPr/>
          <p:nvPr/>
        </p:nvSpPr>
        <p:spPr>
          <a:xfrm>
            <a:off x="7334250" y="6495733"/>
            <a:ext cx="123825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7334250" y="6033770"/>
            <a:ext cx="10858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8817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</a:t>
            </a:r>
            <a:endParaRPr lang="en-US" sz="1950" dirty="0"/>
          </a:p>
        </p:txBody>
      </p:sp>
      <p:sp>
        <p:nvSpPr>
          <p:cNvPr id="65" name="Shape 63"/>
          <p:cNvSpPr/>
          <p:nvPr/>
        </p:nvSpPr>
        <p:spPr>
          <a:xfrm>
            <a:off x="8572500" y="6495733"/>
            <a:ext cx="53340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572500" y="6086316"/>
            <a:ext cx="4191000" cy="209550"/>
          </a:xfrm>
          <a:prstGeom prst="rect">
            <a:avLst/>
          </a:prstGeom>
          <a:solidFill>
            <a:srgbClr val="E7E7EA"/>
          </a:solidFill>
          <a:ln/>
        </p:spPr>
      </p:sp>
      <p:sp>
        <p:nvSpPr>
          <p:cNvPr id="67" name="Text 65"/>
          <p:cNvSpPr/>
          <p:nvPr/>
        </p:nvSpPr>
        <p:spPr>
          <a:xfrm>
            <a:off x="12915900" y="6036310"/>
            <a:ext cx="8382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817"/>
              </a:lnSpc>
              <a:buNone/>
            </a:pPr>
            <a:r>
              <a:rPr lang="en-US" sz="195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0/5</a:t>
            </a:r>
            <a:endParaRPr lang="en-US" sz="1950" dirty="0"/>
          </a:p>
        </p:txBody>
      </p:sp>
      <p:sp>
        <p:nvSpPr>
          <p:cNvPr id="68" name="Shape 66"/>
          <p:cNvSpPr/>
          <p:nvPr/>
        </p:nvSpPr>
        <p:spPr>
          <a:xfrm>
            <a:off x="13906500" y="6495733"/>
            <a:ext cx="34290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13906500" y="6033770"/>
            <a:ext cx="353187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8817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Unverifiable (coverage)</a:t>
            </a:r>
            <a:endParaRPr lang="en-US" sz="1950" dirty="0"/>
          </a:p>
        </p:txBody>
      </p:sp>
      <p:sp>
        <p:nvSpPr>
          <p:cNvPr id="70" name="Text 68"/>
          <p:cNvSpPr/>
          <p:nvPr/>
        </p:nvSpPr>
        <p:spPr>
          <a:xfrm>
            <a:off x="952500" y="6922452"/>
            <a:ext cx="146807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16"/>
              </a:lnSpc>
              <a:buNone/>
            </a:pPr>
            <a:r>
              <a:rPr lang="en-US" sz="5400" b="1" dirty="0">
                <a:solidFill>
                  <a:srgbClr val="598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5400" dirty="0"/>
          </a:p>
        </p:txBody>
      </p:sp>
      <p:sp>
        <p:nvSpPr>
          <p:cNvPr id="71" name="Text 69"/>
          <p:cNvSpPr/>
          <p:nvPr/>
        </p:nvSpPr>
        <p:spPr>
          <a:xfrm>
            <a:off x="2477611" y="7305358"/>
            <a:ext cx="395246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94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In-corpus control acceptance (10/10)</a:t>
            </a:r>
            <a:endParaRPr lang="en-US" sz="1800" dirty="0"/>
          </a:p>
        </p:txBody>
      </p:sp>
      <p:sp>
        <p:nvSpPr>
          <p:cNvPr id="72" name="Text 70"/>
          <p:cNvSpPr/>
          <p:nvPr/>
        </p:nvSpPr>
        <p:spPr>
          <a:xfrm>
            <a:off x="6565900" y="6922452"/>
            <a:ext cx="120427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16"/>
              </a:lnSpc>
              <a:buNone/>
            </a:pPr>
            <a:r>
              <a:rPr lang="en-US" sz="5400" b="1" dirty="0">
                <a:solidFill>
                  <a:srgbClr val="598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5400" dirty="0"/>
          </a:p>
        </p:txBody>
      </p:sp>
      <p:sp>
        <p:nvSpPr>
          <p:cNvPr id="73" name="Text 71"/>
          <p:cNvSpPr/>
          <p:nvPr/>
        </p:nvSpPr>
        <p:spPr>
          <a:xfrm>
            <a:off x="7884477" y="7305358"/>
            <a:ext cx="303934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94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Fabrication catch rate (9/10)</a:t>
            </a:r>
            <a:endParaRPr lang="en-US" sz="1800" dirty="0"/>
          </a:p>
        </p:txBody>
      </p:sp>
      <p:sp>
        <p:nvSpPr>
          <p:cNvPr id="74" name="Text 72"/>
          <p:cNvSpPr/>
          <p:nvPr/>
        </p:nvSpPr>
        <p:spPr>
          <a:xfrm>
            <a:off x="12179300" y="6922452"/>
            <a:ext cx="91424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16"/>
              </a:lnSpc>
              <a:buNone/>
            </a:pPr>
            <a:r>
              <a:rPr lang="en-US" sz="5400" b="1" dirty="0">
                <a:solidFill>
                  <a:srgbClr val="42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5400" dirty="0"/>
          </a:p>
        </p:txBody>
      </p:sp>
      <p:sp>
        <p:nvSpPr>
          <p:cNvPr id="75" name="Text 73"/>
          <p:cNvSpPr/>
          <p:nvPr/>
        </p:nvSpPr>
        <p:spPr>
          <a:xfrm>
            <a:off x="13207841" y="7305358"/>
            <a:ext cx="396625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94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misattribution catch (0/10)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933"/>
              </a:lnSpc>
              <a:buNone/>
            </a:pPr>
            <a:r>
              <a:rPr lang="en-US" sz="1950" b="1" spc="273" kern="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· RESULTS · LOWER HR IS BETTER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17308"/>
            <a:ext cx="1802130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4800" b="1" spc="-72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Ablation Study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809558"/>
            <a:ext cx="5334000" cy="10160"/>
          </a:xfrm>
          <a:prstGeom prst="rect">
            <a:avLst/>
          </a:prstGeom>
          <a:solidFill>
            <a:srgbClr val="1D1F20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414588"/>
            <a:ext cx="5265420" cy="318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0294"/>
              </a:lnSpc>
              <a:buNone/>
            </a:pPr>
            <a:r>
              <a:rPr lang="en-US" sz="1800" b="1" spc="144" kern="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286500" y="2809558"/>
            <a:ext cx="3810000" cy="10160"/>
          </a:xfrm>
          <a:prstGeom prst="rect">
            <a:avLst/>
          </a:prstGeom>
          <a:solidFill>
            <a:srgbClr val="1D1F20"/>
          </a:solidFill>
          <a:ln/>
        </p:spPr>
      </p:sp>
      <p:sp>
        <p:nvSpPr>
          <p:cNvPr id="7" name="Text 5"/>
          <p:cNvSpPr/>
          <p:nvPr/>
        </p:nvSpPr>
        <p:spPr>
          <a:xfrm>
            <a:off x="6286500" y="2414588"/>
            <a:ext cx="3695700" cy="318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0294"/>
              </a:lnSpc>
              <a:buNone/>
            </a:pPr>
            <a:r>
              <a:rPr lang="en-US" sz="1800" b="1" spc="144" kern="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HR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096500" y="2809558"/>
            <a:ext cx="1047750" cy="10160"/>
          </a:xfrm>
          <a:prstGeom prst="rect">
            <a:avLst/>
          </a:prstGeom>
          <a:solidFill>
            <a:srgbClr val="1D1F20"/>
          </a:solidFill>
          <a:ln/>
        </p:spPr>
      </p:sp>
      <p:sp>
        <p:nvSpPr>
          <p:cNvPr id="9" name="Text 7"/>
          <p:cNvSpPr/>
          <p:nvPr/>
        </p:nvSpPr>
        <p:spPr>
          <a:xfrm>
            <a:off x="10096500" y="2414588"/>
            <a:ext cx="895350" cy="318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0294"/>
              </a:lnSpc>
              <a:buNone/>
            </a:pPr>
            <a:r>
              <a:rPr lang="en-US" sz="1800" b="1" spc="144" kern="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144250" y="2809558"/>
            <a:ext cx="1238250" cy="10160"/>
          </a:xfrm>
          <a:prstGeom prst="rect">
            <a:avLst/>
          </a:prstGeom>
          <a:solidFill>
            <a:srgbClr val="1D1F20"/>
          </a:solidFill>
          <a:ln/>
        </p:spPr>
      </p:sp>
      <p:sp>
        <p:nvSpPr>
          <p:cNvPr id="11" name="Text 9"/>
          <p:cNvSpPr/>
          <p:nvPr/>
        </p:nvSpPr>
        <p:spPr>
          <a:xfrm>
            <a:off x="11144250" y="2414588"/>
            <a:ext cx="1314450" cy="318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0294"/>
              </a:lnSpc>
              <a:buNone/>
            </a:pPr>
            <a:r>
              <a:rPr lang="en-US" sz="1800" b="1" spc="144" kern="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52500" y="3855720"/>
            <a:ext cx="53340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" y="3034347"/>
            <a:ext cx="561594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817"/>
              </a:lnSpc>
              <a:buNone/>
            </a:pPr>
            <a:r>
              <a:rPr lang="en-US" sz="195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· DVA+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52500" y="3362960"/>
            <a:ext cx="561594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94"/>
              </a:lnSpc>
              <a:buNone/>
            </a:pPr>
            <a:r>
              <a:rPr lang="en-US" sz="18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LexAgent v3.0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286500" y="3855720"/>
            <a:ext cx="38100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286500" y="3236754"/>
            <a:ext cx="2049145" cy="209550"/>
          </a:xfrm>
          <a:prstGeom prst="rect">
            <a:avLst/>
          </a:prstGeom>
          <a:solidFill>
            <a:srgbClr val="5980A6"/>
          </a:solidFill>
          <a:ln/>
        </p:spPr>
      </p:sp>
      <p:sp>
        <p:nvSpPr>
          <p:cNvPr id="17" name="Text 15"/>
          <p:cNvSpPr/>
          <p:nvPr/>
        </p:nvSpPr>
        <p:spPr>
          <a:xfrm>
            <a:off x="9182100" y="3186747"/>
            <a:ext cx="7620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817"/>
              </a:lnSpc>
              <a:buNone/>
            </a:pPr>
            <a:r>
              <a:rPr lang="en-US" sz="195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0.168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0096500" y="3855720"/>
            <a:ext cx="104775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0096500" y="3029267"/>
            <a:ext cx="895350" cy="655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8817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0.911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1144250" y="3855720"/>
            <a:ext cx="123825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1144250" y="3029267"/>
            <a:ext cx="1314450" cy="655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8817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0.763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52500" y="4894262"/>
            <a:ext cx="53340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952500" y="4072890"/>
            <a:ext cx="561594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817"/>
              </a:lnSpc>
              <a:buNone/>
            </a:pPr>
            <a:r>
              <a:rPr lang="en-US" sz="195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 · No Defense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952500" y="4401503"/>
            <a:ext cx="561594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94"/>
              </a:lnSpc>
              <a:buNone/>
            </a:pPr>
            <a:r>
              <a:rPr lang="en-US" sz="18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Monologue baseline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286500" y="4894262"/>
            <a:ext cx="38100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286500" y="4275296"/>
            <a:ext cx="13653" cy="209550"/>
          </a:xfrm>
          <a:prstGeom prst="rect">
            <a:avLst/>
          </a:prstGeom>
          <a:solidFill>
            <a:srgbClr val="5980A6"/>
          </a:solidFill>
          <a:ln/>
        </p:spPr>
      </p:sp>
      <p:sp>
        <p:nvSpPr>
          <p:cNvPr id="27" name="Text 25"/>
          <p:cNvSpPr/>
          <p:nvPr/>
        </p:nvSpPr>
        <p:spPr>
          <a:xfrm>
            <a:off x="9182100" y="4225290"/>
            <a:ext cx="7620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817"/>
              </a:lnSpc>
              <a:buNone/>
            </a:pPr>
            <a:r>
              <a:rPr lang="en-US" sz="195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0096500" y="4894262"/>
            <a:ext cx="104775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0096500" y="4070350"/>
            <a:ext cx="895350" cy="652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8817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0.906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11144250" y="4894262"/>
            <a:ext cx="123825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1144250" y="4070350"/>
            <a:ext cx="1314450" cy="652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8817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0.766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952500" y="5932805"/>
            <a:ext cx="53340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952500" y="5111432"/>
            <a:ext cx="561594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817"/>
              </a:lnSpc>
              <a:buNone/>
            </a:pPr>
            <a:r>
              <a:rPr lang="en-US" sz="195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 · No CCE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952500" y="5440045"/>
            <a:ext cx="561594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94"/>
              </a:lnSpc>
              <a:buNone/>
            </a:pPr>
            <a:r>
              <a:rPr lang="en-US" sz="18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 verification removed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286500" y="5932805"/>
            <a:ext cx="38100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286500" y="5313838"/>
            <a:ext cx="1621155" cy="209550"/>
          </a:xfrm>
          <a:prstGeom prst="rect">
            <a:avLst/>
          </a:prstGeom>
          <a:solidFill>
            <a:srgbClr val="5980A6"/>
          </a:solidFill>
          <a:ln/>
        </p:spPr>
      </p:sp>
      <p:sp>
        <p:nvSpPr>
          <p:cNvPr id="37" name="Text 35"/>
          <p:cNvSpPr/>
          <p:nvPr/>
        </p:nvSpPr>
        <p:spPr>
          <a:xfrm>
            <a:off x="9182100" y="5263832"/>
            <a:ext cx="7620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817"/>
              </a:lnSpc>
              <a:buNone/>
            </a:pPr>
            <a:r>
              <a:rPr lang="en-US" sz="195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0.133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10096500" y="5932805"/>
            <a:ext cx="104775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10096500" y="5108893"/>
            <a:ext cx="895350" cy="6524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8817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0.914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11144250" y="5932805"/>
            <a:ext cx="123825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11144250" y="5108893"/>
            <a:ext cx="1314450" cy="6524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8817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0.700</a:t>
            </a:r>
            <a:endParaRPr lang="en-US" sz="1950" dirty="0"/>
          </a:p>
        </p:txBody>
      </p:sp>
      <p:sp>
        <p:nvSpPr>
          <p:cNvPr id="42" name="Shape 40"/>
          <p:cNvSpPr/>
          <p:nvPr/>
        </p:nvSpPr>
        <p:spPr>
          <a:xfrm>
            <a:off x="952500" y="5937885"/>
            <a:ext cx="11430000" cy="1038543"/>
          </a:xfrm>
          <a:prstGeom prst="rect">
            <a:avLst/>
          </a:prstGeom>
          <a:solidFill>
            <a:srgbClr val="EEF6FF"/>
          </a:solidFill>
          <a:ln/>
        </p:spPr>
      </p:sp>
      <p:sp>
        <p:nvSpPr>
          <p:cNvPr id="43" name="Shape 41"/>
          <p:cNvSpPr/>
          <p:nvPr/>
        </p:nvSpPr>
        <p:spPr>
          <a:xfrm>
            <a:off x="952500" y="6971348"/>
            <a:ext cx="53340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1066800" y="6149975"/>
            <a:ext cx="549021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817"/>
              </a:lnSpc>
              <a:buNone/>
            </a:pPr>
            <a:r>
              <a:rPr lang="en-US" sz="1950" b="1" dirty="0">
                <a:solidFill>
                  <a:srgbClr val="1D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 · No memory</a:t>
            </a:r>
            <a:endParaRPr lang="en-US" sz="1950" dirty="0"/>
          </a:p>
        </p:txBody>
      </p:sp>
      <p:sp>
        <p:nvSpPr>
          <p:cNvPr id="45" name="Text 43"/>
          <p:cNvSpPr/>
          <p:nvPr/>
        </p:nvSpPr>
        <p:spPr>
          <a:xfrm>
            <a:off x="1066800" y="6478588"/>
            <a:ext cx="54902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94"/>
              </a:lnSpc>
              <a:buNone/>
            </a:pPr>
            <a:r>
              <a:rPr lang="en-US" sz="1800" dirty="0">
                <a:solidFill>
                  <a:srgbClr val="2C4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memory removed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6286500" y="6971348"/>
            <a:ext cx="38100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286500" y="6352381"/>
            <a:ext cx="2743200" cy="209550"/>
          </a:xfrm>
          <a:prstGeom prst="rect">
            <a:avLst/>
          </a:prstGeom>
          <a:solidFill>
            <a:srgbClr val="416180"/>
          </a:solidFill>
          <a:ln/>
        </p:spPr>
      </p:sp>
      <p:sp>
        <p:nvSpPr>
          <p:cNvPr id="48" name="Text 46"/>
          <p:cNvSpPr/>
          <p:nvPr/>
        </p:nvSpPr>
        <p:spPr>
          <a:xfrm>
            <a:off x="9182100" y="6302375"/>
            <a:ext cx="7620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817"/>
              </a:lnSpc>
              <a:buNone/>
            </a:pPr>
            <a:r>
              <a:rPr lang="en-US" sz="1950" b="1" dirty="0">
                <a:solidFill>
                  <a:srgbClr val="1D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0.225</a:t>
            </a:r>
            <a:endParaRPr lang="en-US" sz="1950" dirty="0"/>
          </a:p>
        </p:txBody>
      </p:sp>
      <p:sp>
        <p:nvSpPr>
          <p:cNvPr id="49" name="Shape 47"/>
          <p:cNvSpPr/>
          <p:nvPr/>
        </p:nvSpPr>
        <p:spPr>
          <a:xfrm>
            <a:off x="10096500" y="6971348"/>
            <a:ext cx="104775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10096500" y="6147435"/>
            <a:ext cx="895350" cy="652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8817"/>
              </a:lnSpc>
              <a:buNone/>
            </a:pPr>
            <a:r>
              <a:rPr lang="en-US" sz="1950" dirty="0">
                <a:solidFill>
                  <a:srgbClr val="1D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0.926</a:t>
            </a:r>
            <a:endParaRPr lang="en-US" sz="1950" dirty="0"/>
          </a:p>
        </p:txBody>
      </p:sp>
      <p:sp>
        <p:nvSpPr>
          <p:cNvPr id="51" name="Shape 49"/>
          <p:cNvSpPr/>
          <p:nvPr/>
        </p:nvSpPr>
        <p:spPr>
          <a:xfrm>
            <a:off x="11144250" y="6971348"/>
            <a:ext cx="123825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11144250" y="6147435"/>
            <a:ext cx="1314450" cy="652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8817"/>
              </a:lnSpc>
              <a:buNone/>
            </a:pPr>
            <a:r>
              <a:rPr lang="en-US" sz="1950" dirty="0">
                <a:solidFill>
                  <a:srgbClr val="1D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0.865</a:t>
            </a:r>
            <a:endParaRPr lang="en-US" sz="1950" dirty="0"/>
          </a:p>
        </p:txBody>
      </p:sp>
      <p:sp>
        <p:nvSpPr>
          <p:cNvPr id="53" name="Shape 51"/>
          <p:cNvSpPr/>
          <p:nvPr/>
        </p:nvSpPr>
        <p:spPr>
          <a:xfrm>
            <a:off x="952500" y="8009890"/>
            <a:ext cx="53340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952500" y="7188518"/>
            <a:ext cx="561594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817"/>
              </a:lnSpc>
              <a:buNone/>
            </a:pPr>
            <a:r>
              <a:rPr lang="en-US" sz="195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 · No DDC</a:t>
            </a:r>
            <a:endParaRPr lang="en-US" sz="1950" dirty="0"/>
          </a:p>
        </p:txBody>
      </p:sp>
      <p:sp>
        <p:nvSpPr>
          <p:cNvPr id="55" name="Text 53"/>
          <p:cNvSpPr/>
          <p:nvPr/>
        </p:nvSpPr>
        <p:spPr>
          <a:xfrm>
            <a:off x="952500" y="7517130"/>
            <a:ext cx="561594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94"/>
              </a:lnSpc>
              <a:buNone/>
            </a:pPr>
            <a:r>
              <a:rPr lang="en-US" sz="18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one round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6286500" y="8009890"/>
            <a:ext cx="38100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286500" y="7390924"/>
            <a:ext cx="707708" cy="209550"/>
          </a:xfrm>
          <a:prstGeom prst="rect">
            <a:avLst/>
          </a:prstGeom>
          <a:solidFill>
            <a:srgbClr val="5980A6"/>
          </a:solidFill>
          <a:ln/>
        </p:spPr>
      </p:sp>
      <p:sp>
        <p:nvSpPr>
          <p:cNvPr id="58" name="Text 56"/>
          <p:cNvSpPr/>
          <p:nvPr/>
        </p:nvSpPr>
        <p:spPr>
          <a:xfrm>
            <a:off x="9182100" y="7340918"/>
            <a:ext cx="7620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817"/>
              </a:lnSpc>
              <a:buNone/>
            </a:pPr>
            <a:r>
              <a:rPr lang="en-US" sz="195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0.058</a:t>
            </a:r>
            <a:endParaRPr lang="en-US" sz="1950" dirty="0"/>
          </a:p>
        </p:txBody>
      </p:sp>
      <p:sp>
        <p:nvSpPr>
          <p:cNvPr id="59" name="Shape 57"/>
          <p:cNvSpPr/>
          <p:nvPr/>
        </p:nvSpPr>
        <p:spPr>
          <a:xfrm>
            <a:off x="10096500" y="8009890"/>
            <a:ext cx="104775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10096500" y="7185978"/>
            <a:ext cx="895350" cy="6524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8817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0.909</a:t>
            </a:r>
            <a:endParaRPr lang="en-US" sz="1950" dirty="0"/>
          </a:p>
        </p:txBody>
      </p:sp>
      <p:sp>
        <p:nvSpPr>
          <p:cNvPr id="61" name="Shape 59"/>
          <p:cNvSpPr/>
          <p:nvPr/>
        </p:nvSpPr>
        <p:spPr>
          <a:xfrm>
            <a:off x="11144250" y="8009890"/>
            <a:ext cx="123825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11144250" y="7185978"/>
            <a:ext cx="1314450" cy="6524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8817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0.780</a:t>
            </a:r>
            <a:endParaRPr lang="en-US" sz="1950" dirty="0"/>
          </a:p>
        </p:txBody>
      </p:sp>
      <p:sp>
        <p:nvSpPr>
          <p:cNvPr id="63" name="Shape 61"/>
          <p:cNvSpPr/>
          <p:nvPr/>
        </p:nvSpPr>
        <p:spPr>
          <a:xfrm>
            <a:off x="13144500" y="2414588"/>
            <a:ext cx="4191000" cy="2273300"/>
          </a:xfrm>
          <a:prstGeom prst="rect">
            <a:avLst/>
          </a:prstGeom>
          <a:ln w="5080">
            <a:solidFill>
              <a:srgbClr val="1D1F20">
                <a:alpha val="16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3454380" y="2724467"/>
            <a:ext cx="392836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109"/>
              </a:lnSpc>
              <a:buNone/>
            </a:pPr>
            <a:r>
              <a:rPr lang="en-US" sz="7200" b="1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+33.9%</a:t>
            </a:r>
            <a:endParaRPr lang="en-US" sz="7200" dirty="0"/>
          </a:p>
        </p:txBody>
      </p:sp>
      <p:sp>
        <p:nvSpPr>
          <p:cNvPr id="65" name="Text 63"/>
          <p:cNvSpPr/>
          <p:nvPr/>
        </p:nvSpPr>
        <p:spPr>
          <a:xfrm>
            <a:off x="13454380" y="3734117"/>
            <a:ext cx="3678377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Relative HR increase without adaptive memory (0.168 → 0.225)</a:t>
            </a:r>
            <a:endParaRPr lang="en-US" sz="1950" dirty="0"/>
          </a:p>
        </p:txBody>
      </p:sp>
      <p:sp>
        <p:nvSpPr>
          <p:cNvPr id="66" name="Shape 64"/>
          <p:cNvSpPr/>
          <p:nvPr/>
        </p:nvSpPr>
        <p:spPr>
          <a:xfrm>
            <a:off x="13144500" y="5030788"/>
            <a:ext cx="41910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13144500" y="5207318"/>
            <a:ext cx="461010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b="1" spc="180" kern="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CAUTION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13144500" y="5637848"/>
            <a:ext cx="4316730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118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A1's zero HR comes from removing the adversary, not from stronger robustness.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13144500" y="6597968"/>
            <a:ext cx="41910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13144500" y="6774498"/>
            <a:ext cx="461010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b="1" spc="180" kern="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13144500" y="7205028"/>
            <a:ext cx="4316730" cy="963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118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 has the highest HR and the highest confidence, so confidence alone is not reliability.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933"/>
              </a:lnSpc>
              <a:buNone/>
            </a:pPr>
            <a:r>
              <a:rPr lang="en-US" sz="1950" b="1" spc="273" kern="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· RESULTS · SAVED NOTEBOOK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17308"/>
            <a:ext cx="1802130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4800" b="1" spc="-72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414588"/>
            <a:ext cx="16383000" cy="1671320"/>
          </a:xfrm>
          <a:prstGeom prst="rect">
            <a:avLst/>
          </a:prstGeom>
          <a:ln w="5080">
            <a:solidFill>
              <a:srgbClr val="1D1F20">
                <a:alpha val="16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6680" y="2762567"/>
            <a:ext cx="17088104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b="1" spc="216" kern="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6680" y="3212148"/>
            <a:ext cx="17088104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471"/>
              </a:lnSpc>
              <a:buNone/>
            </a:pPr>
            <a:r>
              <a:rPr lang="en-US" sz="36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Fourth Amendment protect against warrantless cell phone searches?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952500" y="4949508"/>
            <a:ext cx="3619500" cy="10160"/>
          </a:xfrm>
          <a:prstGeom prst="rect">
            <a:avLst/>
          </a:prstGeom>
          <a:solidFill>
            <a:srgbClr val="1D1F20"/>
          </a:solidFill>
          <a:ln/>
        </p:spPr>
      </p:sp>
      <p:sp>
        <p:nvSpPr>
          <p:cNvPr id="8" name="Text 6"/>
          <p:cNvSpPr/>
          <p:nvPr/>
        </p:nvSpPr>
        <p:spPr>
          <a:xfrm>
            <a:off x="952500" y="4543108"/>
            <a:ext cx="3499485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b="1" spc="144" kern="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0" y="4949508"/>
            <a:ext cx="7429500" cy="10160"/>
          </a:xfrm>
          <a:prstGeom prst="rect">
            <a:avLst/>
          </a:prstGeom>
          <a:solidFill>
            <a:srgbClr val="1D1F2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4543108"/>
            <a:ext cx="7423785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b="1" spc="144" kern="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OBSERVATION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001500" y="4949508"/>
            <a:ext cx="5334000" cy="10160"/>
          </a:xfrm>
          <a:prstGeom prst="rect">
            <a:avLst/>
          </a:prstGeom>
          <a:solidFill>
            <a:srgbClr val="1D1F20"/>
          </a:solidFill>
          <a:ln/>
        </p:spPr>
      </p:sp>
      <p:sp>
        <p:nvSpPr>
          <p:cNvPr id="12" name="Text 10"/>
          <p:cNvSpPr/>
          <p:nvPr/>
        </p:nvSpPr>
        <p:spPr>
          <a:xfrm>
            <a:off x="12001500" y="4543108"/>
            <a:ext cx="549402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b="1" spc="144" kern="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SHOWS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52500" y="5665153"/>
            <a:ext cx="36195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52500" y="5150168"/>
            <a:ext cx="3499485" cy="3625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Hybrid retrieval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4572000" y="5665153"/>
            <a:ext cx="74295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5150168"/>
            <a:ext cx="7423785" cy="3625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CAP authority passages returned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2001500" y="5665153"/>
            <a:ext cx="53340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2001500" y="5150168"/>
            <a:ext cx="5494020" cy="3625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and lexical retrieval work together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52500" y="6373177"/>
            <a:ext cx="36195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52500" y="5860732"/>
            <a:ext cx="3499485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Fixed one-round debate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4572000" y="6373177"/>
            <a:ext cx="74295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5860732"/>
            <a:ext cx="7423785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Riley citation rejected as unverified; Judge confidence 0.35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2001500" y="6373177"/>
            <a:ext cx="53340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2001500" y="5860732"/>
            <a:ext cx="5494020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answer can outlive a failed citation check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952500" y="7081202"/>
            <a:ext cx="36195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52500" y="6568757"/>
            <a:ext cx="3499485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Full DVA+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4572000" y="7081202"/>
            <a:ext cx="74295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0" y="6568757"/>
            <a:ext cx="7423785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rounds, average CCS 0.998, one verified citation, confidence 1.00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12001500" y="7081202"/>
            <a:ext cx="5334000" cy="9525"/>
          </a:xfrm>
          <a:prstGeom prst="rect">
            <a:avLst/>
          </a:prstGeom>
          <a:solidFill>
            <a:srgbClr val="1D1F20">
              <a:alpha val="16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2001500" y="6568757"/>
            <a:ext cx="5494020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and stopping state are recorded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952500" y="9551670"/>
            <a:ext cx="1802130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separate benchmark run reports 66.67% HR for this case, so versions will be pinned and trials repeated.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933"/>
              </a:lnSpc>
              <a:buNone/>
            </a:pPr>
            <a:r>
              <a:rPr lang="en-US" sz="1950" b="1" spc="273" kern="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· PLAN TO REVIEW-III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17308"/>
            <a:ext cx="1802130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4800" b="1" spc="-72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 Work and Timeline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52500" y="2414588"/>
            <a:ext cx="4191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16"/>
              </a:lnSpc>
              <a:buNone/>
            </a:pPr>
            <a:r>
              <a:rPr lang="en-US" sz="5400" b="1" dirty="0">
                <a:solidFill>
                  <a:srgbClr val="598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52500" y="3176588"/>
            <a:ext cx="41910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817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Verifier + final-answer checks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5143500" y="2414588"/>
            <a:ext cx="4191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16"/>
              </a:lnSpc>
              <a:buNone/>
            </a:pPr>
            <a:r>
              <a:rPr lang="en-US" sz="5400" b="1" dirty="0">
                <a:solidFill>
                  <a:srgbClr val="598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143500" y="3176588"/>
            <a:ext cx="41910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817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Baselines + ablations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334500" y="2414588"/>
            <a:ext cx="4191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16"/>
              </a:lnSpc>
              <a:buNone/>
            </a:pPr>
            <a:r>
              <a:rPr lang="en-US" sz="5400" b="1" dirty="0">
                <a:solidFill>
                  <a:srgbClr val="598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9334500" y="3176588"/>
            <a:ext cx="41910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817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+ reproducibility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3525500" y="2414588"/>
            <a:ext cx="4191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16"/>
              </a:lnSpc>
              <a:buNone/>
            </a:pPr>
            <a:r>
              <a:rPr lang="en-US" sz="5400" b="1" dirty="0">
                <a:solidFill>
                  <a:srgbClr val="598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13525500" y="3176588"/>
            <a:ext cx="41910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817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report + demo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52500" y="3943350"/>
            <a:ext cx="3485674" cy="15240"/>
          </a:xfrm>
          <a:prstGeom prst="rect">
            <a:avLst/>
          </a:prstGeom>
          <a:solidFill>
            <a:srgbClr val="5980A6"/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" y="4187190"/>
            <a:ext cx="3498961" cy="569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77"/>
              </a:lnSpc>
              <a:buNone/>
            </a:pPr>
            <a:r>
              <a:rPr lang="en-US" sz="270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Sep – 6 Oct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952500" y="4852035"/>
            <a:ext cx="3276300" cy="1003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identity resolution, NLI mapping, final-answer checks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52500" y="5951220"/>
            <a:ext cx="327630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Verifier tests, revised stress test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438174" y="3943350"/>
            <a:ext cx="3485674" cy="15240"/>
          </a:xfrm>
          <a:prstGeom prst="rect">
            <a:avLst/>
          </a:prstGeom>
          <a:solidFill>
            <a:srgbClr val="5980A6"/>
          </a:solidFill>
          <a:ln/>
        </p:spPr>
      </p:sp>
      <p:sp>
        <p:nvSpPr>
          <p:cNvPr id="17" name="Text 15"/>
          <p:cNvSpPr/>
          <p:nvPr/>
        </p:nvSpPr>
        <p:spPr>
          <a:xfrm>
            <a:off x="4438174" y="4187190"/>
            <a:ext cx="3498961" cy="569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77"/>
              </a:lnSpc>
              <a:buNone/>
            </a:pPr>
            <a:r>
              <a:rPr lang="en-US" sz="270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– 13 Oct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4438174" y="4852035"/>
            <a:ext cx="3276300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Matched RAG baseline and four ablations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4438174" y="5629275"/>
            <a:ext cx="327630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Comparable scorecards, latency, tokens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923848" y="3943350"/>
            <a:ext cx="3485674" cy="15240"/>
          </a:xfrm>
          <a:prstGeom prst="rect">
            <a:avLst/>
          </a:prstGeom>
          <a:solidFill>
            <a:srgbClr val="5980A6"/>
          </a:solidFill>
          <a:ln/>
        </p:spPr>
      </p:sp>
      <p:sp>
        <p:nvSpPr>
          <p:cNvPr id="21" name="Text 19"/>
          <p:cNvSpPr/>
          <p:nvPr/>
        </p:nvSpPr>
        <p:spPr>
          <a:xfrm>
            <a:off x="7923848" y="4187190"/>
            <a:ext cx="3498961" cy="569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77"/>
              </a:lnSpc>
              <a:buNone/>
            </a:pPr>
            <a:r>
              <a:rPr lang="en-US" sz="270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– 20 Oct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7923848" y="4852035"/>
            <a:ext cx="3276300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Held-out review, paraphrase and memory tests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7923848" y="5629275"/>
            <a:ext cx="327630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labels, failure taxonomy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1409521" y="3943350"/>
            <a:ext cx="3485674" cy="15240"/>
          </a:xfrm>
          <a:prstGeom prst="rect">
            <a:avLst/>
          </a:prstGeom>
          <a:solidFill>
            <a:srgbClr val="5980A6"/>
          </a:solidFill>
          <a:ln/>
        </p:spPr>
      </p:sp>
      <p:sp>
        <p:nvSpPr>
          <p:cNvPr id="25" name="Text 23"/>
          <p:cNvSpPr/>
          <p:nvPr/>
        </p:nvSpPr>
        <p:spPr>
          <a:xfrm>
            <a:off x="11409521" y="4187190"/>
            <a:ext cx="3498961" cy="569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77"/>
              </a:lnSpc>
              <a:buNone/>
            </a:pPr>
            <a:r>
              <a:rPr lang="en-US" sz="270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– 27 Oct</a:t>
            </a:r>
            <a:endParaRPr lang="en-US" sz="2700" dirty="0"/>
          </a:p>
        </p:txBody>
      </p:sp>
      <p:sp>
        <p:nvSpPr>
          <p:cNvPr id="26" name="Text 24"/>
          <p:cNvSpPr/>
          <p:nvPr/>
        </p:nvSpPr>
        <p:spPr>
          <a:xfrm>
            <a:off x="11409521" y="4852035"/>
            <a:ext cx="3276300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experiments; finalise report and demo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1409521" y="5629275"/>
            <a:ext cx="327630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 package, final figures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4895195" y="3943350"/>
            <a:ext cx="2439987" cy="15240"/>
          </a:xfrm>
          <a:prstGeom prst="rect">
            <a:avLst/>
          </a:prstGeom>
          <a:solidFill>
            <a:srgbClr val="1D2D3D"/>
          </a:solidFill>
          <a:ln/>
        </p:spPr>
      </p:sp>
      <p:sp>
        <p:nvSpPr>
          <p:cNvPr id="29" name="Text 27"/>
          <p:cNvSpPr/>
          <p:nvPr/>
        </p:nvSpPr>
        <p:spPr>
          <a:xfrm>
            <a:off x="14895195" y="4187190"/>
            <a:ext cx="2683986" cy="569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77"/>
              </a:lnSpc>
              <a:buNone/>
            </a:pPr>
            <a:r>
              <a:rPr lang="en-US" sz="2700" b="1" dirty="0">
                <a:solidFill>
                  <a:srgbClr val="1D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Oct</a:t>
            </a:r>
            <a:endParaRPr lang="en-US" sz="2700" dirty="0"/>
          </a:p>
        </p:txBody>
      </p:sp>
      <p:sp>
        <p:nvSpPr>
          <p:cNvPr id="30" name="Text 28"/>
          <p:cNvSpPr/>
          <p:nvPr/>
        </p:nvSpPr>
        <p:spPr>
          <a:xfrm>
            <a:off x="14895195" y="4852035"/>
            <a:ext cx="2683986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70"/>
              </a:lnSpc>
              <a:buNone/>
            </a:pPr>
            <a:r>
              <a:rPr lang="en-US" sz="195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Review-III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4895195" y="5307330"/>
            <a:ext cx="2516187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results and limitations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D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933"/>
              </a:lnSpc>
              <a:buNone/>
            </a:pPr>
            <a:r>
              <a:rPr lang="en-US" sz="1950" b="1" spc="273" kern="0" dirty="0">
                <a:solidFill>
                  <a:srgbClr val="B5D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· SUMMARY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17308"/>
            <a:ext cx="1802130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4800" b="1" spc="-72" kern="0" dirty="0">
                <a:solidFill>
                  <a:srgbClr val="F2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414588"/>
            <a:ext cx="5105400" cy="9525"/>
          </a:xfrm>
          <a:prstGeom prst="rect">
            <a:avLst/>
          </a:prstGeom>
          <a:solidFill>
            <a:srgbClr val="416180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648267"/>
            <a:ext cx="561594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93"/>
              </a:lnSpc>
              <a:buNone/>
            </a:pPr>
            <a:r>
              <a:rPr lang="en-US" sz="3000" b="1" dirty="0">
                <a:solidFill>
                  <a:srgbClr val="B5D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achieved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52500" y="3391217"/>
            <a:ext cx="5258562" cy="1041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522"/>
              </a:lnSpc>
              <a:buNone/>
            </a:pPr>
            <a:r>
              <a:rPr lang="en-US" sz="1950" dirty="0">
                <a:solidFill>
                  <a:srgbClr val="F2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retrieval, four-role debate, factorized citation verification, dynamic stopping and adaptive memory run end-to-end on one T4.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6591300" y="2414588"/>
            <a:ext cx="5105400" cy="9525"/>
          </a:xfrm>
          <a:prstGeom prst="rect">
            <a:avLst/>
          </a:prstGeom>
          <a:solidFill>
            <a:srgbClr val="416180"/>
          </a:solidFill>
          <a:ln/>
        </p:spPr>
      </p:sp>
      <p:sp>
        <p:nvSpPr>
          <p:cNvPr id="8" name="Text 6"/>
          <p:cNvSpPr/>
          <p:nvPr/>
        </p:nvSpPr>
        <p:spPr>
          <a:xfrm>
            <a:off x="6591300" y="2648267"/>
            <a:ext cx="561594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93"/>
              </a:lnSpc>
              <a:buNone/>
            </a:pPr>
            <a:r>
              <a:rPr lang="en-US" sz="3000" b="1" dirty="0">
                <a:solidFill>
                  <a:srgbClr val="B5D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issues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591300" y="3391217"/>
            <a:ext cx="5258562" cy="1041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522"/>
              </a:lnSpc>
              <a:buNone/>
            </a:pPr>
            <a:r>
              <a:rPr lang="en-US" sz="1950" dirty="0">
                <a:solidFill>
                  <a:srgbClr val="F2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misattributions and CaseHOLD distractors pass the verifier; off-corpus citations inflate the measured HR.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2230100" y="2414588"/>
            <a:ext cx="5105400" cy="9525"/>
          </a:xfrm>
          <a:prstGeom prst="rect">
            <a:avLst/>
          </a:prstGeom>
          <a:solidFill>
            <a:srgbClr val="416180"/>
          </a:solidFill>
          <a:ln/>
        </p:spPr>
      </p:sp>
      <p:sp>
        <p:nvSpPr>
          <p:cNvPr id="11" name="Text 9"/>
          <p:cNvSpPr/>
          <p:nvPr/>
        </p:nvSpPr>
        <p:spPr>
          <a:xfrm>
            <a:off x="12230100" y="2648267"/>
            <a:ext cx="561594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93"/>
              </a:lnSpc>
              <a:buNone/>
            </a:pPr>
            <a:r>
              <a:rPr lang="en-US" sz="3000" b="1" dirty="0">
                <a:solidFill>
                  <a:srgbClr val="B5D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milestone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2230100" y="3391217"/>
            <a:ext cx="5258562" cy="1041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522"/>
              </a:lnSpc>
              <a:buNone/>
            </a:pPr>
            <a:r>
              <a:rPr lang="en-US" sz="1950" dirty="0">
                <a:solidFill>
                  <a:srgbClr val="F2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 holding-support checks, calibrate τ conformally, then test against a matched RAG baseline and ablations.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52500" y="8077200"/>
            <a:ext cx="4598051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286"/>
              </a:lnSpc>
              <a:buNone/>
            </a:pPr>
            <a:r>
              <a:rPr lang="en-US" sz="9000" b="1" dirty="0">
                <a:solidFill>
                  <a:srgbClr val="F2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9000" dirty="0"/>
          </a:p>
        </p:txBody>
      </p:sp>
      <p:sp>
        <p:nvSpPr>
          <p:cNvPr id="14" name="Text 12"/>
          <p:cNvSpPr/>
          <p:nvPr/>
        </p:nvSpPr>
        <p:spPr>
          <a:xfrm>
            <a:off x="13371830" y="8814911"/>
            <a:ext cx="4360037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933"/>
              </a:lnSpc>
              <a:buNone/>
            </a:pPr>
            <a:r>
              <a:rPr lang="en-US" sz="1950" dirty="0">
                <a:solidFill>
                  <a:srgbClr val="D4D4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LexAgent · Review-II · Project-I (2026)</a:t>
            </a:r>
            <a:endParaRPr lang="en-US" sz="1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933"/>
              </a:lnSpc>
              <a:buNone/>
            </a:pPr>
            <a:r>
              <a:rPr lang="en-US" sz="1950" b="1" spc="273" kern="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· 1 OF 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17308"/>
            <a:ext cx="1802130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4800" b="1" spc="-72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52500" y="2414588"/>
            <a:ext cx="60960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b="1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62100" y="2414588"/>
            <a:ext cx="7416927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Xiao et al. (2021). Lawformer: pre-trained LM for Chinese legal long documents. AI Open.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525000" y="2414588"/>
            <a:ext cx="60960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b="1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[8]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134600" y="2414588"/>
            <a:ext cx="7416927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Yue et al. (2023). DISC-LawLLM: fine-tuning LLMs for intelligent legal services. arXiv:2309.11325.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52500" y="3218497"/>
            <a:ext cx="60960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b="1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62100" y="3218497"/>
            <a:ext cx="7416927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Lewis et al. (2020). Retrieval-augmented generation for knowledge-intensive NLP. NeurIPS.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525000" y="3218497"/>
            <a:ext cx="60960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b="1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[9]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134600" y="3218497"/>
            <a:ext cx="7416927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Dhuliawala et al. (2023). Chain-of-Verification reduces hallucination in LLMs. arXiv:2309.11495.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52500" y="4022407"/>
            <a:ext cx="60960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b="1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62100" y="4022407"/>
            <a:ext cx="7416927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Chalkidis et al. (2022). LexGLUE: legal language understanding in English. ACL.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525000" y="4022407"/>
            <a:ext cx="60960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b="1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[10]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134600" y="4022407"/>
            <a:ext cx="7416927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Asai et al. (2023). Self-RAG: retrieve, generate and critique through self-reflection. arXiv:2310.11511.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52500" y="4826318"/>
            <a:ext cx="60960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b="1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62100" y="4826318"/>
            <a:ext cx="7416927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Wang, X. et al. (2023). Self-consistency improves chain-of-thought reasoning. ICLR.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525000" y="4826318"/>
            <a:ext cx="60960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b="1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[11]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134600" y="4826318"/>
            <a:ext cx="7416927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Smit et al. (2024). Should we be going MAD? Multi-agent debate strategies for LLMs. ICML.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52500" y="5630227"/>
            <a:ext cx="60960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b="1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62100" y="5630227"/>
            <a:ext cx="7416927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et al. (2023). Improving factuality and reasoning through multiagent debate. arXiv:2305.14325.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525000" y="5630227"/>
            <a:ext cx="60960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b="1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[12]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134600" y="5630227"/>
            <a:ext cx="7416927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Dahl et al. (2024). Large legal fictions: profiling legal hallucinations in LLMs. J. Legal Analysis 16(1).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52500" y="6434138"/>
            <a:ext cx="60960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b="1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[6]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562100" y="6434138"/>
            <a:ext cx="7416927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Liang et al. (2024). Encouraging divergent thinking through multi-agent debate. arXiv:2305.19118.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525000" y="6434138"/>
            <a:ext cx="60960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b="1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[13]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134600" y="6434138"/>
            <a:ext cx="7416927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 et al. (2024). Corrective retrieval augmented generation. arXiv:2401.15884.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52500" y="7238048"/>
            <a:ext cx="60960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b="1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[7]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562100" y="7238048"/>
            <a:ext cx="7416927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Guha et al. (2023). LegalBench: measuring legal reasoning in LLMs. arXiv:2308.11462.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525000" y="7238048"/>
            <a:ext cx="60960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b="1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[14]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134600" y="7238048"/>
            <a:ext cx="7416927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Wang, Q. et al. (2024). Rethinking the bounds of LLM reasoning: are multi-agent discussions the key? arXiv:2402.18272.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933"/>
              </a:lnSpc>
              <a:buNone/>
            </a:pPr>
            <a:r>
              <a:rPr lang="en-US" sz="1950" b="1" spc="273" kern="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· 2 OF 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17308"/>
            <a:ext cx="1802130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4800" b="1" spc="-72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52500" y="2414588"/>
            <a:ext cx="60960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b="1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[15]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62100" y="2414588"/>
            <a:ext cx="7416927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 et al. (2024). Detecting LLM hallucination via Markov chain-based multi-agent debate. arXiv:2406.03075.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525000" y="2414588"/>
            <a:ext cx="60960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b="1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[22]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134600" y="2414588"/>
            <a:ext cx="7416927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 et al. (2026). ChatLaw: multi-agent legal assistant with role-aligned MoE. Fundamental Research.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52500" y="3218497"/>
            <a:ext cx="60960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b="1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[16]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62100" y="3218497"/>
            <a:ext cx="7416927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Zhou et al. (2024). LawGPT: a Chinese legal knowledge-enhanced LLM. arXiv:2406.04614.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525000" y="3218497"/>
            <a:ext cx="60960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b="1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[23]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134600" y="3218497"/>
            <a:ext cx="7416927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Noël et al. (2026). HalluGraph: auditable hallucination detection for legal RAG. AAAI.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52500" y="4022407"/>
            <a:ext cx="60960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b="1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[17]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62100" y="4022407"/>
            <a:ext cx="7416927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Fei et al. (2024). LawBench: benchmarking legal knowledge of LLMs. EMNLP.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525000" y="4022407"/>
            <a:ext cx="60960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b="1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[24]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134600" y="4022407"/>
            <a:ext cx="7416927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Chowdhury et al. (2026). Courtroom-style multi-agent debate with progressive RAG (PROCLAIM). arXiv:2603.28488.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52500" y="4826318"/>
            <a:ext cx="60960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b="1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[18]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62100" y="4826318"/>
            <a:ext cx="7416927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 et al. (2024). LegalAgentBench: evaluating LLM agents in the legal domain. arXiv:2412.17259.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525000" y="4826318"/>
            <a:ext cx="60960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b="1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[25]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134600" y="4826318"/>
            <a:ext cx="7416927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Bose (2026). Falkor-IRAC: graph-constrained generation for Indian judicial AI. InIRAC dataset.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52500" y="5630227"/>
            <a:ext cx="60960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b="1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[19]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62100" y="5630227"/>
            <a:ext cx="7416927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Anaokar et al. (2025). HalluDetect: hallucinations in legal conversational systems. EMNLP Industry.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525000" y="5630227"/>
            <a:ext cx="60960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b="1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[26]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134600" y="5630227"/>
            <a:ext cx="7416927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 et al. (2025). Multi-agent human-in-the-loop framework for legal terminology mapping. AI and Law. (Base paper)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52500" y="6434138"/>
            <a:ext cx="60960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b="1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[20]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562100" y="6434138"/>
            <a:ext cx="7416927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Liu &amp; Tang (2025). LeAK-GraphRAG: legal academic knowledge GraphRAG. JURIX, IOS Press.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525000" y="6434138"/>
            <a:ext cx="60960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b="1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[27]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134600" y="6434138"/>
            <a:ext cx="7416927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 et al. (2025). Removal of hallucination on hallucination: Debate-Augmented RAG. ACL.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52500" y="7238048"/>
            <a:ext cx="60960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b="1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[21]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562100" y="7238048"/>
            <a:ext cx="7416927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8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Huang et al. (2026). Mitigating legal hallucinations via symbolic constraints and analogical precedents. ACL.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2026-09-27T22:57:44Z</dcterms:created>
  <dcterms:modified xsi:type="dcterms:W3CDTF">2026-09-27T22:57:44Z</dcterms:modified>
</cp:coreProperties>
</file>