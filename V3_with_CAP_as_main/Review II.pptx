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60" r:id="rId4"/>
    <p:sldId id="261" r:id="rId5"/>
    <p:sldId id="262" r:id="rId6"/>
    <p:sldId id="263" r:id="rId7"/>
    <p:sldId id="264" r:id="rId8"/>
    <p:sldId id="265" r:id="rId9"/>
    <p:sldId id="266" r:id="rId10"/>
    <p:sldId id="267" r:id="rId11"/>
    <p:sldId id="288" r:id="rId12"/>
    <p:sldId id="258" r:id="rId13"/>
    <p:sldId id="259"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9" r:id="rId33"/>
    <p:sldId id="286" r:id="rId34"/>
    <p:sldId id="287" r:id="rId3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564" autoAdjust="0"/>
  </p:normalViewPr>
  <p:slideViewPr>
    <p:cSldViewPr snapToGrid="0" snapToObjects="1">
      <p:cViewPr varScale="1">
        <p:scale>
          <a:sx n="54" d="100"/>
          <a:sy n="54" d="100"/>
        </p:scale>
        <p:origin x="754" y="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23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EDB4A-F1B4-B755-81CC-65D8D4F4E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AADC4-B4C4-30EC-1E67-B12540BE5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2C320-B3FA-19DA-29E0-55D58F73EE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71432C-4864-BCBC-FBDF-E0BB04A483A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63219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429E8-5239-37FC-6B05-0A153DFA2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444A7-41B0-A28A-CCB0-ABC4B8287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07169-F36C-0FCB-4652-28118613BD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CD0E68-3D8C-0890-8CEA-F8517DE1E9AF}"/>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750329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6082538" cy="421958"/>
          </a:xfrm>
          <a:prstGeom prst="rect">
            <a:avLst/>
          </a:prstGeom>
          <a:noFill/>
          <a:ln/>
        </p:spPr>
        <p:txBody>
          <a:bodyPr wrap="square" lIns="25400" tIns="25400" rIns="25400" bIns="25400" rtlCol="0" anchor="t">
            <a:normAutofit fontScale="70000" lnSpcReduction="20000"/>
          </a:bodyPr>
          <a:lstStyle/>
          <a:p>
            <a:pPr marL="0" indent="0" algn="just">
              <a:lnSpc>
                <a:spcPct val="134933"/>
              </a:lnSpc>
              <a:buNone/>
            </a:pPr>
            <a:r>
              <a:rPr lang="en-US" sz="1950" b="1" kern="0" spc="273" dirty="0">
                <a:solidFill>
                  <a:srgbClr val="416180"/>
                </a:solidFill>
                <a:latin typeface="Times New Roman" panose="02020603050405020304" pitchFamily="18" charset="0"/>
                <a:ea typeface="Arial" pitchFamily="34" charset="-122"/>
                <a:cs typeface="Times New Roman" panose="02020603050405020304" pitchFamily="18" charset="0"/>
              </a:rPr>
              <a:t>SCHOOL OF ELECTRONICS ENGINEERING (SENSE)</a:t>
            </a:r>
            <a:endParaRPr lang="en-US" sz="1950" dirty="0">
              <a:latin typeface="Times New Roman" panose="02020603050405020304" pitchFamily="18" charset="0"/>
              <a:cs typeface="Times New Roman" panose="02020603050405020304" pitchFamily="18" charset="0"/>
            </a:endParaRPr>
          </a:p>
        </p:txBody>
      </p:sp>
      <p:sp>
        <p:nvSpPr>
          <p:cNvPr id="3" name="Text 1"/>
          <p:cNvSpPr/>
          <p:nvPr/>
        </p:nvSpPr>
        <p:spPr>
          <a:xfrm>
            <a:off x="15262225" y="838200"/>
            <a:ext cx="2280603" cy="421958"/>
          </a:xfrm>
          <a:prstGeom prst="rect">
            <a:avLst/>
          </a:prstGeom>
          <a:noFill/>
          <a:ln/>
        </p:spPr>
        <p:txBody>
          <a:bodyPr wrap="square" lIns="25400" tIns="25400" rIns="25400" bIns="25400" rtlCol="0" anchor="t">
            <a:normAutofit fontScale="77500" lnSpcReduction="20000"/>
          </a:bodyPr>
          <a:lstStyle/>
          <a:p>
            <a:pPr marL="0" indent="0" algn="just">
              <a:lnSpc>
                <a:spcPct val="134933"/>
              </a:lnSpc>
              <a:buNone/>
            </a:pPr>
            <a:r>
              <a:rPr lang="en-US" sz="1950" b="1" kern="0" spc="273" dirty="0">
                <a:solidFill>
                  <a:srgbClr val="5D5D60"/>
                </a:solidFill>
                <a:latin typeface="Times New Roman" panose="02020603050405020304" pitchFamily="18" charset="0"/>
                <a:ea typeface="Arial" pitchFamily="34" charset="-122"/>
                <a:cs typeface="Times New Roman" panose="02020603050405020304" pitchFamily="18" charset="0"/>
              </a:rPr>
              <a:t>PROJECT-I (2026)</a:t>
            </a:r>
            <a:endParaRPr lang="en-US" sz="1950" dirty="0">
              <a:latin typeface="Times New Roman" panose="02020603050405020304" pitchFamily="18" charset="0"/>
              <a:cs typeface="Times New Roman" panose="02020603050405020304" pitchFamily="18" charset="0"/>
            </a:endParaRPr>
          </a:p>
        </p:txBody>
      </p:sp>
      <p:sp>
        <p:nvSpPr>
          <p:cNvPr id="4" name="Text 2"/>
          <p:cNvSpPr/>
          <p:nvPr/>
        </p:nvSpPr>
        <p:spPr>
          <a:xfrm>
            <a:off x="952500" y="2600008"/>
            <a:ext cx="15716250"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kern="0" spc="273" dirty="0">
                <a:solidFill>
                  <a:srgbClr val="416180"/>
                </a:solidFill>
                <a:latin typeface="Times New Roman" panose="02020603050405020304" pitchFamily="18" charset="0"/>
                <a:ea typeface="Arial" pitchFamily="34" charset="-122"/>
                <a:cs typeface="Times New Roman" panose="02020603050405020304" pitchFamily="18" charset="0"/>
              </a:rPr>
              <a:t>REVIEW-II</a:t>
            </a:r>
            <a:endParaRPr lang="en-US" sz="1950" dirty="0">
              <a:latin typeface="Times New Roman" panose="02020603050405020304" pitchFamily="18" charset="0"/>
              <a:cs typeface="Times New Roman" panose="02020603050405020304" pitchFamily="18" charset="0"/>
            </a:endParaRPr>
          </a:p>
        </p:txBody>
      </p:sp>
      <p:sp>
        <p:nvSpPr>
          <p:cNvPr id="5" name="Text 3"/>
          <p:cNvSpPr/>
          <p:nvPr/>
        </p:nvSpPr>
        <p:spPr>
          <a:xfrm>
            <a:off x="952500" y="3212465"/>
            <a:ext cx="15716250" cy="1485900"/>
          </a:xfrm>
          <a:prstGeom prst="rect">
            <a:avLst/>
          </a:prstGeom>
          <a:noFill/>
          <a:ln/>
        </p:spPr>
        <p:txBody>
          <a:bodyPr wrap="square" lIns="25400" tIns="25400" rIns="25400" bIns="25400" rtlCol="0" anchor="t">
            <a:normAutofit lnSpcReduction="10000"/>
          </a:bodyPr>
          <a:lstStyle/>
          <a:p>
            <a:pPr marL="0" indent="0" algn="just">
              <a:lnSpc>
                <a:spcPct val="84821"/>
              </a:lnSpc>
              <a:buNone/>
            </a:pPr>
            <a:r>
              <a:rPr lang="en-US" sz="12000" b="1" kern="0" spc="-240" dirty="0">
                <a:solidFill>
                  <a:srgbClr val="1D1F20"/>
                </a:solidFill>
                <a:latin typeface="Times New Roman" panose="02020603050405020304" pitchFamily="18" charset="0"/>
                <a:ea typeface="Arial" pitchFamily="34" charset="-122"/>
                <a:cs typeface="Times New Roman" panose="02020603050405020304" pitchFamily="18" charset="0"/>
              </a:rPr>
              <a:t>LexAgent</a:t>
            </a:r>
            <a:endParaRPr lang="en-US" sz="12000" dirty="0">
              <a:latin typeface="Times New Roman" panose="02020603050405020304" pitchFamily="18" charset="0"/>
              <a:cs typeface="Times New Roman" panose="02020603050405020304" pitchFamily="18" charset="0"/>
            </a:endParaRPr>
          </a:p>
        </p:txBody>
      </p:sp>
      <p:sp>
        <p:nvSpPr>
          <p:cNvPr id="6" name="Text 4"/>
          <p:cNvSpPr/>
          <p:nvPr/>
        </p:nvSpPr>
        <p:spPr>
          <a:xfrm>
            <a:off x="952500" y="4888865"/>
            <a:ext cx="15716250" cy="624840"/>
          </a:xfrm>
          <a:prstGeom prst="rect">
            <a:avLst/>
          </a:prstGeom>
          <a:noFill/>
          <a:ln/>
        </p:spPr>
        <p:txBody>
          <a:bodyPr wrap="square" lIns="25400" tIns="25400" rIns="25400" bIns="25400" rtlCol="0" anchor="t">
            <a:normAutofit lnSpcReduction="10000"/>
          </a:bodyPr>
          <a:lstStyle/>
          <a:p>
            <a:pPr marL="0" indent="0" algn="just">
              <a:lnSpc>
                <a:spcPct val="97059"/>
              </a:lnSpc>
              <a:buNone/>
            </a:pPr>
            <a:r>
              <a:rPr lang="en-US" sz="4200" dirty="0">
                <a:solidFill>
                  <a:srgbClr val="416180"/>
                </a:solidFill>
                <a:latin typeface="Times New Roman" panose="02020603050405020304" pitchFamily="18" charset="0"/>
                <a:ea typeface="Arial" pitchFamily="34" charset="-122"/>
                <a:cs typeface="Times New Roman" panose="02020603050405020304" pitchFamily="18" charset="0"/>
              </a:rPr>
              <a:t>Multi-Agent Debate Framework for Hallucination Reduction in Legal AI</a:t>
            </a:r>
            <a:endParaRPr lang="en-US" sz="4200" dirty="0">
              <a:latin typeface="Times New Roman" panose="02020603050405020304" pitchFamily="18" charset="0"/>
              <a:cs typeface="Times New Roman" panose="02020603050405020304" pitchFamily="18" charset="0"/>
            </a:endParaRPr>
          </a:p>
        </p:txBody>
      </p:sp>
      <p:sp>
        <p:nvSpPr>
          <p:cNvPr id="7" name="Shape 5"/>
          <p:cNvSpPr/>
          <p:nvPr/>
        </p:nvSpPr>
        <p:spPr>
          <a:xfrm>
            <a:off x="952500" y="6853555"/>
            <a:ext cx="4533900" cy="9525"/>
          </a:xfrm>
          <a:prstGeom prst="rect">
            <a:avLst/>
          </a:prstGeom>
          <a:solidFill>
            <a:srgbClr val="1D1F20">
              <a:alpha val="16000"/>
            </a:srgbClr>
          </a:solidFill>
          <a:ln/>
        </p:spPr>
      </p:sp>
      <p:sp>
        <p:nvSpPr>
          <p:cNvPr id="8" name="Text 6"/>
          <p:cNvSpPr/>
          <p:nvPr/>
        </p:nvSpPr>
        <p:spPr>
          <a:xfrm>
            <a:off x="952500" y="7011035"/>
            <a:ext cx="498729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Times New Roman" panose="02020603050405020304" pitchFamily="18" charset="0"/>
              </a:rPr>
              <a:t>Student Name(s)</a:t>
            </a:r>
            <a:endParaRPr lang="en-US" sz="1800" dirty="0">
              <a:latin typeface="Times New Roman" panose="02020603050405020304" pitchFamily="18" charset="0"/>
              <a:cs typeface="Times New Roman" panose="02020603050405020304" pitchFamily="18" charset="0"/>
            </a:endParaRPr>
          </a:p>
        </p:txBody>
      </p:sp>
      <p:sp>
        <p:nvSpPr>
          <p:cNvPr id="9" name="Text 7"/>
          <p:cNvSpPr/>
          <p:nvPr/>
        </p:nvSpPr>
        <p:spPr>
          <a:xfrm>
            <a:off x="952500" y="7441564"/>
            <a:ext cx="4987290" cy="757237"/>
          </a:xfrm>
          <a:prstGeom prst="rect">
            <a:avLst/>
          </a:prstGeom>
          <a:noFill/>
          <a:ln/>
        </p:spPr>
        <p:txBody>
          <a:bodyPr wrap="square" lIns="25400" tIns="25400" rIns="25400" bIns="25400" rtlCol="0" anchor="t">
            <a:normAutofit fontScale="92500" lnSpcReduction="20000"/>
          </a:bodyPr>
          <a:lstStyle/>
          <a:p>
            <a:pPr marL="0" indent="0" algn="just">
              <a:lnSpc>
                <a:spcPct val="138393"/>
              </a:lnSpc>
              <a:buNone/>
            </a:pPr>
            <a:r>
              <a:rPr lang="en-US" sz="1400">
                <a:solidFill>
                  <a:srgbClr val="1D1F20"/>
                </a:solidFill>
                <a:latin typeface="Times New Roman" panose="02020603050405020304" pitchFamily="18" charset="0"/>
                <a:cs typeface="Times New Roman" panose="02020603050405020304" pitchFamily="18" charset="0"/>
              </a:rPr>
              <a:t>23BLC1242 </a:t>
            </a:r>
            <a:r>
              <a:rPr lang="en-US" sz="1400" dirty="0">
                <a:solidFill>
                  <a:srgbClr val="1D1F20"/>
                </a:solidFill>
                <a:latin typeface="Times New Roman" panose="02020603050405020304" pitchFamily="18" charset="0"/>
                <a:cs typeface="Times New Roman" panose="02020603050405020304" pitchFamily="18" charset="0"/>
              </a:rPr>
              <a:t>– Rishi Jain</a:t>
            </a:r>
          </a:p>
          <a:p>
            <a:pPr marL="0" indent="0" algn="just">
              <a:lnSpc>
                <a:spcPct val="138393"/>
              </a:lnSpc>
              <a:buNone/>
            </a:pPr>
            <a:r>
              <a:rPr lang="en-US" sz="1400" dirty="0">
                <a:latin typeface="Times New Roman" panose="02020603050405020304" pitchFamily="18" charset="0"/>
                <a:cs typeface="Times New Roman" panose="02020603050405020304" pitchFamily="18" charset="0"/>
              </a:rPr>
              <a:t>23BLC1115 – Lakshya Agarwal</a:t>
            </a:r>
          </a:p>
          <a:p>
            <a:pPr marL="0" indent="0" algn="just">
              <a:lnSpc>
                <a:spcPct val="138393"/>
              </a:lnSpc>
              <a:buNone/>
            </a:pPr>
            <a:r>
              <a:rPr lang="en-US" sz="1400" dirty="0">
                <a:latin typeface="Times New Roman" panose="02020603050405020304" pitchFamily="18" charset="0"/>
                <a:cs typeface="Times New Roman" panose="02020603050405020304" pitchFamily="18" charset="0"/>
              </a:rPr>
              <a:t>23BEC1242 – Aditya Pratap Singh Takuli</a:t>
            </a:r>
          </a:p>
        </p:txBody>
      </p:sp>
      <p:sp>
        <p:nvSpPr>
          <p:cNvPr id="10" name="Shape 8"/>
          <p:cNvSpPr/>
          <p:nvPr/>
        </p:nvSpPr>
        <p:spPr>
          <a:xfrm>
            <a:off x="952500" y="8189277"/>
            <a:ext cx="4533900" cy="9525"/>
          </a:xfrm>
          <a:prstGeom prst="rect">
            <a:avLst/>
          </a:prstGeom>
          <a:solidFill>
            <a:srgbClr val="1D1F20">
              <a:alpha val="16000"/>
            </a:srgbClr>
          </a:solidFill>
          <a:ln/>
        </p:spPr>
      </p:sp>
      <p:sp>
        <p:nvSpPr>
          <p:cNvPr id="11" name="Text 9"/>
          <p:cNvSpPr/>
          <p:nvPr/>
        </p:nvSpPr>
        <p:spPr>
          <a:xfrm>
            <a:off x="952500" y="8346757"/>
            <a:ext cx="498729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Times New Roman" panose="02020603050405020304" pitchFamily="18" charset="0"/>
              </a:rPr>
              <a:t>Guide</a:t>
            </a:r>
            <a:endParaRPr lang="en-US" sz="1800" dirty="0">
              <a:latin typeface="Times New Roman" panose="02020603050405020304" pitchFamily="18" charset="0"/>
              <a:cs typeface="Times New Roman" panose="02020603050405020304" pitchFamily="18" charset="0"/>
            </a:endParaRPr>
          </a:p>
        </p:txBody>
      </p:sp>
      <p:sp>
        <p:nvSpPr>
          <p:cNvPr id="12" name="Text 10"/>
          <p:cNvSpPr/>
          <p:nvPr/>
        </p:nvSpPr>
        <p:spPr>
          <a:xfrm>
            <a:off x="952500" y="8777288"/>
            <a:ext cx="4987290" cy="481012"/>
          </a:xfrm>
          <a:prstGeom prst="rect">
            <a:avLst/>
          </a:prstGeom>
          <a:noFill/>
          <a:ln/>
        </p:spPr>
        <p:txBody>
          <a:bodyPr wrap="square" lIns="25400" tIns="25400" rIns="25400" bIns="25400" rtlCol="0" anchor="t">
            <a:normAutofit/>
          </a:bodyPr>
          <a:lstStyle/>
          <a:p>
            <a:pPr algn="just">
              <a:lnSpc>
                <a:spcPct val="138393"/>
              </a:lnSpc>
            </a:pPr>
            <a:r>
              <a:rPr lang="en-US" sz="2250" dirty="0">
                <a:solidFill>
                  <a:srgbClr val="1D1F20"/>
                </a:solidFill>
                <a:latin typeface="Times New Roman" panose="02020603050405020304" pitchFamily="18" charset="0"/>
                <a:cs typeface="Times New Roman" panose="02020603050405020304" pitchFamily="18" charset="0"/>
              </a:rPr>
              <a:t>Dr. Raju Patel [</a:t>
            </a:r>
            <a:r>
              <a:rPr lang="en-IN" dirty="0"/>
              <a:t>53066]</a:t>
            </a:r>
            <a:endParaRPr lang="en-US" sz="2250" dirty="0">
              <a:latin typeface="Times New Roman" panose="02020603050405020304" pitchFamily="18" charset="0"/>
              <a:cs typeface="Times New Roman" panose="02020603050405020304" pitchFamily="18" charset="0"/>
            </a:endParaRPr>
          </a:p>
        </p:txBody>
      </p:sp>
      <p:sp>
        <p:nvSpPr>
          <p:cNvPr id="13" name="Shape 11"/>
          <p:cNvSpPr/>
          <p:nvPr/>
        </p:nvSpPr>
        <p:spPr>
          <a:xfrm>
            <a:off x="6096000" y="6853555"/>
            <a:ext cx="4533900" cy="9525"/>
          </a:xfrm>
          <a:prstGeom prst="rect">
            <a:avLst/>
          </a:prstGeom>
          <a:solidFill>
            <a:srgbClr val="1D1F20">
              <a:alpha val="16000"/>
            </a:srgbClr>
          </a:solidFill>
          <a:ln/>
        </p:spPr>
      </p:sp>
      <p:sp>
        <p:nvSpPr>
          <p:cNvPr id="14" name="Text 12"/>
          <p:cNvSpPr/>
          <p:nvPr/>
        </p:nvSpPr>
        <p:spPr>
          <a:xfrm>
            <a:off x="6096000" y="7011035"/>
            <a:ext cx="498729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Times New Roman" panose="02020603050405020304" pitchFamily="18" charset="0"/>
              </a:rPr>
              <a:t>Programme / School</a:t>
            </a:r>
            <a:endParaRPr lang="en-US" sz="1800" dirty="0">
              <a:latin typeface="Times New Roman" panose="02020603050405020304" pitchFamily="18" charset="0"/>
              <a:cs typeface="Times New Roman" panose="02020603050405020304" pitchFamily="18" charset="0"/>
            </a:endParaRPr>
          </a:p>
        </p:txBody>
      </p:sp>
      <p:sp>
        <p:nvSpPr>
          <p:cNvPr id="15" name="Text 13"/>
          <p:cNvSpPr/>
          <p:nvPr/>
        </p:nvSpPr>
        <p:spPr>
          <a:xfrm>
            <a:off x="6096000" y="7441565"/>
            <a:ext cx="4987290" cy="481012"/>
          </a:xfrm>
          <a:prstGeom prst="rect">
            <a:avLst/>
          </a:prstGeom>
          <a:noFill/>
          <a:ln/>
        </p:spPr>
        <p:txBody>
          <a:bodyPr wrap="square" lIns="25400" tIns="25400" rIns="25400" bIns="25400" rtlCol="0" anchor="t">
            <a:normAutofit/>
          </a:bodyPr>
          <a:lstStyle/>
          <a:p>
            <a:pPr marL="0" indent="0" algn="just">
              <a:lnSpc>
                <a:spcPct val="138393"/>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B.Tech, SENSE, VIT Chennai</a:t>
            </a:r>
            <a:endParaRPr lang="en-US" sz="2250" dirty="0">
              <a:latin typeface="Times New Roman" panose="02020603050405020304" pitchFamily="18" charset="0"/>
              <a:cs typeface="Times New Roman" panose="02020603050405020304" pitchFamily="18" charset="0"/>
            </a:endParaRPr>
          </a:p>
        </p:txBody>
      </p:sp>
      <p:sp>
        <p:nvSpPr>
          <p:cNvPr id="16" name="Shape 14"/>
          <p:cNvSpPr/>
          <p:nvPr/>
        </p:nvSpPr>
        <p:spPr>
          <a:xfrm>
            <a:off x="6096000" y="8189277"/>
            <a:ext cx="4533900" cy="9525"/>
          </a:xfrm>
          <a:prstGeom prst="rect">
            <a:avLst/>
          </a:prstGeom>
          <a:solidFill>
            <a:srgbClr val="1D1F20">
              <a:alpha val="16000"/>
            </a:srgbClr>
          </a:solidFill>
          <a:ln/>
        </p:spPr>
      </p:sp>
      <p:sp>
        <p:nvSpPr>
          <p:cNvPr id="17" name="Text 15"/>
          <p:cNvSpPr/>
          <p:nvPr/>
        </p:nvSpPr>
        <p:spPr>
          <a:xfrm>
            <a:off x="6096000" y="8346757"/>
            <a:ext cx="498729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Times New Roman" panose="02020603050405020304" pitchFamily="18" charset="0"/>
              </a:rPr>
              <a:t>Review &amp; Date</a:t>
            </a:r>
            <a:endParaRPr lang="en-US" sz="1800" dirty="0">
              <a:latin typeface="Times New Roman" panose="02020603050405020304" pitchFamily="18" charset="0"/>
              <a:cs typeface="Times New Roman" panose="02020603050405020304" pitchFamily="18" charset="0"/>
            </a:endParaRPr>
          </a:p>
        </p:txBody>
      </p:sp>
      <p:sp>
        <p:nvSpPr>
          <p:cNvPr id="18" name="Text 16"/>
          <p:cNvSpPr/>
          <p:nvPr/>
        </p:nvSpPr>
        <p:spPr>
          <a:xfrm>
            <a:off x="6096000" y="8777288"/>
            <a:ext cx="4987290" cy="481012"/>
          </a:xfrm>
          <a:prstGeom prst="rect">
            <a:avLst/>
          </a:prstGeom>
          <a:noFill/>
          <a:ln/>
        </p:spPr>
        <p:txBody>
          <a:bodyPr wrap="square" lIns="25400" tIns="25400" rIns="25400" bIns="25400" rtlCol="0" anchor="t">
            <a:normAutofit/>
          </a:bodyPr>
          <a:lstStyle/>
          <a:p>
            <a:pPr marL="0" indent="0" algn="just">
              <a:lnSpc>
                <a:spcPct val="138393"/>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Review-II · 30.09.2026 (Wednesday)</a:t>
            </a:r>
            <a:endParaRPr lang="en-US" sz="2250" dirty="0">
              <a:latin typeface="Times New Roman" panose="02020603050405020304" pitchFamily="18" charset="0"/>
              <a:cs typeface="Times New Roman" panose="02020603050405020304" pitchFamily="18" charset="0"/>
            </a:endParaRPr>
          </a:p>
        </p:txBody>
      </p:sp>
      <p:sp>
        <p:nvSpPr>
          <p:cNvPr id="19" name="Shape 17"/>
          <p:cNvSpPr/>
          <p:nvPr/>
        </p:nvSpPr>
        <p:spPr>
          <a:xfrm>
            <a:off x="11239500" y="6915467"/>
            <a:ext cx="6096000" cy="2304732"/>
          </a:xfrm>
          <a:prstGeom prst="rect">
            <a:avLst/>
          </a:prstGeom>
          <a:ln w="5080">
            <a:solidFill>
              <a:srgbClr val="1D1F20">
                <a:alpha val="16000"/>
              </a:srgbClr>
            </a:solidFill>
            <a:prstDash val="solid"/>
          </a:ln>
        </p:spPr>
      </p:sp>
      <p:sp>
        <p:nvSpPr>
          <p:cNvPr id="20" name="Text 18"/>
          <p:cNvSpPr/>
          <p:nvPr/>
        </p:nvSpPr>
        <p:spPr>
          <a:xfrm>
            <a:off x="11549380" y="7225347"/>
            <a:ext cx="6023864"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Times New Roman" panose="02020603050405020304" pitchFamily="18" charset="0"/>
              </a:rPr>
              <a:t>GUIDE'S SIGNATURE WITH DATE</a:t>
            </a:r>
            <a:endParaRPr lang="en-US" sz="1950" dirty="0">
              <a:latin typeface="Times New Roman" panose="02020603050405020304" pitchFamily="18" charset="0"/>
              <a:cs typeface="Times New Roman" panose="02020603050405020304" pitchFamily="18" charset="0"/>
            </a:endParaRPr>
          </a:p>
        </p:txBody>
      </p:sp>
      <p:sp>
        <p:nvSpPr>
          <p:cNvPr id="21" name="Text 19"/>
          <p:cNvSpPr/>
          <p:nvPr/>
        </p:nvSpPr>
        <p:spPr>
          <a:xfrm>
            <a:off x="11549380" y="7875905"/>
            <a:ext cx="6023864"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1D1F20"/>
                </a:solidFill>
                <a:latin typeface="Times New Roman" panose="02020603050405020304" pitchFamily="18" charset="0"/>
                <a:ea typeface="Arial" pitchFamily="34" charset="-122"/>
                <a:cs typeface="Times New Roman" panose="02020603050405020304" pitchFamily="18" charset="0"/>
              </a:rPr>
              <a:t>Signature: ____________________</a:t>
            </a:r>
            <a:endParaRPr lang="en-US" sz="1950" dirty="0">
              <a:latin typeface="Times New Roman" panose="02020603050405020304" pitchFamily="18" charset="0"/>
              <a:cs typeface="Times New Roman" panose="02020603050405020304" pitchFamily="18" charset="0"/>
            </a:endParaRPr>
          </a:p>
        </p:txBody>
      </p:sp>
      <p:sp>
        <p:nvSpPr>
          <p:cNvPr id="22" name="Text 20"/>
          <p:cNvSpPr/>
          <p:nvPr/>
        </p:nvSpPr>
        <p:spPr>
          <a:xfrm>
            <a:off x="11549380" y="8526463"/>
            <a:ext cx="6023864"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1D1F20"/>
                </a:solidFill>
                <a:latin typeface="Times New Roman" panose="02020603050405020304" pitchFamily="18" charset="0"/>
                <a:ea typeface="Arial" pitchFamily="34" charset="-122"/>
                <a:cs typeface="Times New Roman" panose="02020603050405020304" pitchFamily="18" charset="0"/>
              </a:rPr>
              <a:t>Date: ________________________</a:t>
            </a:r>
            <a:endParaRPr lang="en-US" sz="1950" dirty="0">
              <a:latin typeface="Times New Roman" panose="02020603050405020304" pitchFamily="18" charset="0"/>
              <a:cs typeface="Times New Roman" panose="02020603050405020304" pitchFamily="18" charset="0"/>
            </a:endParaRPr>
          </a:p>
        </p:txBody>
      </p:sp>
      <p:pic>
        <p:nvPicPr>
          <p:cNvPr id="23" name="Image 0" descr="preencoded.png">
            <a:extLst>
              <a:ext uri="{FF2B5EF4-FFF2-40B4-BE49-F238E27FC236}">
                <a16:creationId xmlns:a16="http://schemas.microsoft.com/office/drawing/2014/main" id="{5B29B3CD-DF8A-704B-AD51-B36D01752053}"/>
              </a:ext>
            </a:extLst>
          </p:cNvPr>
          <p:cNvPicPr>
            <a:picLocks noChangeAspect="1"/>
          </p:cNvPicPr>
          <p:nvPr/>
        </p:nvPicPr>
        <p:blipFill>
          <a:blip r:embed="rId3"/>
          <a:stretch>
            <a:fillRect/>
          </a:stretch>
        </p:blipFill>
        <p:spPr>
          <a:xfrm>
            <a:off x="15262225" y="1239520"/>
            <a:ext cx="2115503" cy="800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9202737"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Contents</a:t>
            </a:r>
            <a:endParaRPr lang="en-US" sz="48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18" name="Text 15"/>
          <p:cNvSpPr/>
          <p:nvPr/>
        </p:nvSpPr>
        <p:spPr>
          <a:xfrm>
            <a:off x="17662684" y="9589770"/>
            <a:ext cx="168116" cy="392430"/>
          </a:xfrm>
          <a:prstGeom prst="rect">
            <a:avLst/>
          </a:prstGeom>
          <a:noFill/>
          <a:ln/>
        </p:spPr>
        <p:txBody>
          <a:bodyPr wrap="square" lIns="25400" tIns="25400" rIns="25400" bIns="25400" rtlCol="0" anchor="t">
            <a:normAutofit/>
          </a:bodyPr>
          <a:lstStyle/>
          <a:p>
            <a:pPr marL="0" indent="0" algn="just">
              <a:lnSpc>
                <a:spcPct val="136765"/>
              </a:lnSpc>
              <a:buNone/>
            </a:pPr>
            <a:endParaRPr lang="en-US" sz="1800" dirty="0">
              <a:latin typeface="Times New Roman" panose="02020603050405020304" pitchFamily="18" charset="0"/>
              <a:cs typeface="Times New Roman" panose="02020603050405020304" pitchFamily="18" charset="0"/>
            </a:endParaRPr>
          </a:p>
        </p:txBody>
      </p:sp>
      <p:sp>
        <p:nvSpPr>
          <p:cNvPr id="20" name="Shape 2">
            <a:extLst>
              <a:ext uri="{FF2B5EF4-FFF2-40B4-BE49-F238E27FC236}">
                <a16:creationId xmlns:a16="http://schemas.microsoft.com/office/drawing/2014/main" id="{9EE9E8A4-400C-3BA3-95F2-90F1A620E275}"/>
              </a:ext>
            </a:extLst>
          </p:cNvPr>
          <p:cNvSpPr/>
          <p:nvPr/>
        </p:nvSpPr>
        <p:spPr>
          <a:xfrm>
            <a:off x="952500" y="2716530"/>
            <a:ext cx="666750" cy="15240"/>
          </a:xfrm>
          <a:prstGeom prst="rect">
            <a:avLst/>
          </a:prstGeom>
          <a:solidFill>
            <a:srgbClr val="416180"/>
          </a:solidFill>
          <a:ln/>
        </p:spPr>
      </p:sp>
      <p:sp>
        <p:nvSpPr>
          <p:cNvPr id="21" name="Text 3">
            <a:extLst>
              <a:ext uri="{FF2B5EF4-FFF2-40B4-BE49-F238E27FC236}">
                <a16:creationId xmlns:a16="http://schemas.microsoft.com/office/drawing/2014/main" id="{B2964F78-F4BF-7592-6E1C-E591048C92CC}"/>
              </a:ext>
            </a:extLst>
          </p:cNvPr>
          <p:cNvSpPr/>
          <p:nvPr/>
        </p:nvSpPr>
        <p:spPr>
          <a:xfrm>
            <a:off x="952500" y="2305050"/>
            <a:ext cx="552450" cy="316230"/>
          </a:xfrm>
          <a:prstGeom prst="rect">
            <a:avLst/>
          </a:prstGeom>
          <a:noFill/>
          <a:ln/>
        </p:spPr>
        <p:txBody>
          <a:bodyPr wrap="square" lIns="25400" tIns="25400" rIns="25400" bIns="25400" rtlCol="0" anchor="ctr">
            <a:normAutofit fontScale="62500" lnSpcReduction="20000"/>
          </a:bodyPr>
          <a:lstStyle/>
          <a:p>
            <a:pPr algn="just">
              <a:lnSpc>
                <a:spcPct val="110294"/>
              </a:lnSpc>
            </a:pPr>
            <a:r>
              <a:rPr lang="en-US" b="1" kern="0" spc="144" dirty="0">
                <a:solidFill>
                  <a:srgbClr val="5D5D60"/>
                </a:solidFill>
                <a:latin typeface="Times New Roman" panose="02020603050405020304" pitchFamily="18" charset="0"/>
                <a:ea typeface="Arial" pitchFamily="34" charset="-122"/>
                <a:cs typeface="Times New Roman" panose="02020603050405020304" pitchFamily="18" charset="0"/>
              </a:rPr>
              <a:t>S.NO. </a:t>
            </a:r>
            <a:endParaRPr lang="en-US" sz="1800" dirty="0">
              <a:latin typeface="Times New Roman" panose="02020603050405020304" pitchFamily="18" charset="0"/>
              <a:cs typeface="Times New Roman" panose="02020603050405020304" pitchFamily="18" charset="0"/>
            </a:endParaRPr>
          </a:p>
        </p:txBody>
      </p:sp>
      <p:sp>
        <p:nvSpPr>
          <p:cNvPr id="22" name="Shape 4">
            <a:extLst>
              <a:ext uri="{FF2B5EF4-FFF2-40B4-BE49-F238E27FC236}">
                <a16:creationId xmlns:a16="http://schemas.microsoft.com/office/drawing/2014/main" id="{764E2FB1-9A38-A1E3-B9E9-FB05918AEC7B}"/>
              </a:ext>
            </a:extLst>
          </p:cNvPr>
          <p:cNvSpPr/>
          <p:nvPr/>
        </p:nvSpPr>
        <p:spPr>
          <a:xfrm>
            <a:off x="1619250" y="2716530"/>
            <a:ext cx="2381250" cy="15240"/>
          </a:xfrm>
          <a:prstGeom prst="rect">
            <a:avLst/>
          </a:prstGeom>
          <a:solidFill>
            <a:srgbClr val="416180"/>
          </a:solidFill>
          <a:ln/>
        </p:spPr>
      </p:sp>
      <p:sp>
        <p:nvSpPr>
          <p:cNvPr id="23" name="Text 5">
            <a:extLst>
              <a:ext uri="{FF2B5EF4-FFF2-40B4-BE49-F238E27FC236}">
                <a16:creationId xmlns:a16="http://schemas.microsoft.com/office/drawing/2014/main" id="{DEE71B3F-02B8-1811-9A7C-4B1B8E29ADE4}"/>
              </a:ext>
            </a:extLst>
          </p:cNvPr>
          <p:cNvSpPr/>
          <p:nvPr/>
        </p:nvSpPr>
        <p:spPr>
          <a:xfrm>
            <a:off x="1619250" y="2305050"/>
            <a:ext cx="2266950" cy="316230"/>
          </a:xfrm>
          <a:prstGeom prst="rect">
            <a:avLst/>
          </a:prstGeom>
          <a:noFill/>
          <a:ln/>
        </p:spPr>
        <p:txBody>
          <a:bodyPr wrap="square" lIns="25400" tIns="25400" rIns="25400" bIns="25400" rtlCol="0" anchor="ctr">
            <a:normAutofit fontScale="92500"/>
          </a:bodyPr>
          <a:lstStyle/>
          <a:p>
            <a:pPr marL="0" indent="0" algn="ctr">
              <a:lnSpc>
                <a:spcPct val="110294"/>
              </a:lnSpc>
              <a:buNone/>
            </a:pPr>
            <a:r>
              <a:rPr lang="en-US" b="1" kern="0" spc="144" dirty="0">
                <a:solidFill>
                  <a:srgbClr val="5D5D60"/>
                </a:solidFill>
                <a:latin typeface="Times New Roman" panose="02020603050405020304" pitchFamily="18" charset="0"/>
                <a:ea typeface="Arial" pitchFamily="34" charset="-122"/>
                <a:cs typeface="Times New Roman" panose="02020603050405020304" pitchFamily="18" charset="0"/>
              </a:rPr>
              <a:t>Content</a:t>
            </a:r>
            <a:endParaRPr lang="en-US" sz="1800" dirty="0">
              <a:latin typeface="Times New Roman" panose="02020603050405020304" pitchFamily="18" charset="0"/>
              <a:cs typeface="Times New Roman" panose="02020603050405020304" pitchFamily="18" charset="0"/>
            </a:endParaRPr>
          </a:p>
        </p:txBody>
      </p:sp>
      <p:sp>
        <p:nvSpPr>
          <p:cNvPr id="24" name="Shape 6">
            <a:extLst>
              <a:ext uri="{FF2B5EF4-FFF2-40B4-BE49-F238E27FC236}">
                <a16:creationId xmlns:a16="http://schemas.microsoft.com/office/drawing/2014/main" id="{36CB8471-C22A-6FCF-4A7A-0EFC94D4C55C}"/>
              </a:ext>
            </a:extLst>
          </p:cNvPr>
          <p:cNvSpPr/>
          <p:nvPr/>
        </p:nvSpPr>
        <p:spPr>
          <a:xfrm>
            <a:off x="4000500" y="2716530"/>
            <a:ext cx="4953000" cy="15240"/>
          </a:xfrm>
          <a:prstGeom prst="rect">
            <a:avLst/>
          </a:prstGeom>
          <a:solidFill>
            <a:srgbClr val="416180"/>
          </a:solidFill>
          <a:ln/>
        </p:spPr>
      </p:sp>
      <p:sp>
        <p:nvSpPr>
          <p:cNvPr id="25" name="Text 7">
            <a:extLst>
              <a:ext uri="{FF2B5EF4-FFF2-40B4-BE49-F238E27FC236}">
                <a16:creationId xmlns:a16="http://schemas.microsoft.com/office/drawing/2014/main" id="{81801336-223F-521B-170F-7D9276A67F29}"/>
              </a:ext>
            </a:extLst>
          </p:cNvPr>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ctr">
              <a:lnSpc>
                <a:spcPct val="110294"/>
              </a:lnSpc>
              <a:buNone/>
            </a:pPr>
            <a:r>
              <a:rPr lang="en-US" b="1" kern="0" spc="144" dirty="0">
                <a:solidFill>
                  <a:srgbClr val="5D5D60"/>
                </a:solidFill>
                <a:latin typeface="Times New Roman" panose="02020603050405020304" pitchFamily="18" charset="0"/>
                <a:cs typeface="Times New Roman" panose="02020603050405020304" pitchFamily="18" charset="0"/>
              </a:rPr>
              <a:t>Page Number</a:t>
            </a:r>
            <a:endParaRPr lang="en-US" sz="18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D968CC57-D318-1965-6D5E-1CF54A083D7C}"/>
              </a:ext>
            </a:extLst>
          </p:cNvPr>
          <p:cNvSpPr/>
          <p:nvPr/>
        </p:nvSpPr>
        <p:spPr>
          <a:xfrm>
            <a:off x="952500" y="3536950"/>
            <a:ext cx="666750" cy="9525"/>
          </a:xfrm>
          <a:prstGeom prst="rect">
            <a:avLst/>
          </a:prstGeom>
          <a:solidFill>
            <a:srgbClr val="1D1F20">
              <a:alpha val="16000"/>
            </a:srgbClr>
          </a:solidFill>
          <a:ln/>
        </p:spPr>
      </p:sp>
      <p:sp>
        <p:nvSpPr>
          <p:cNvPr id="31" name="Text 13">
            <a:extLst>
              <a:ext uri="{FF2B5EF4-FFF2-40B4-BE49-F238E27FC236}">
                <a16:creationId xmlns:a16="http://schemas.microsoft.com/office/drawing/2014/main" id="{2D11537D-CC7C-91A2-A93C-2C5562E333B2}"/>
              </a:ext>
            </a:extLst>
          </p:cNvPr>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32" name="Shape 14">
            <a:extLst>
              <a:ext uri="{FF2B5EF4-FFF2-40B4-BE49-F238E27FC236}">
                <a16:creationId xmlns:a16="http://schemas.microsoft.com/office/drawing/2014/main" id="{0C6BE2AA-4831-C362-511B-4273F126123C}"/>
              </a:ext>
            </a:extLst>
          </p:cNvPr>
          <p:cNvSpPr/>
          <p:nvPr/>
        </p:nvSpPr>
        <p:spPr>
          <a:xfrm>
            <a:off x="1619250" y="3536950"/>
            <a:ext cx="2381250" cy="9525"/>
          </a:xfrm>
          <a:prstGeom prst="rect">
            <a:avLst/>
          </a:prstGeom>
          <a:solidFill>
            <a:srgbClr val="1D1F20">
              <a:alpha val="16000"/>
            </a:srgbClr>
          </a:solidFill>
          <a:ln/>
        </p:spPr>
      </p:sp>
      <p:sp>
        <p:nvSpPr>
          <p:cNvPr id="33" name="Text 15">
            <a:extLst>
              <a:ext uri="{FF2B5EF4-FFF2-40B4-BE49-F238E27FC236}">
                <a16:creationId xmlns:a16="http://schemas.microsoft.com/office/drawing/2014/main" id="{A9B25B9F-DE89-B70E-4431-BAE02D08895B}"/>
              </a:ext>
            </a:extLst>
          </p:cNvPr>
          <p:cNvSpPr/>
          <p:nvPr/>
        </p:nvSpPr>
        <p:spPr>
          <a:xfrm>
            <a:off x="1619250" y="2846070"/>
            <a:ext cx="2266950" cy="614680"/>
          </a:xfrm>
          <a:prstGeom prst="rect">
            <a:avLst/>
          </a:prstGeom>
          <a:noFill/>
          <a:ln/>
        </p:spPr>
        <p:txBody>
          <a:bodyPr wrap="square" lIns="25400" tIns="25400" rIns="25400" bIns="25400" rtlCol="0" anchor="t">
            <a:normAutofit lnSpcReduction="10000"/>
          </a:bodyPr>
          <a:lstStyle/>
          <a:p>
            <a:pPr algn="just">
              <a:lnSpc>
                <a:spcPct val="110294"/>
              </a:lnSpc>
            </a:pPr>
            <a:r>
              <a:rPr lang="en-US" b="1" dirty="0">
                <a:solidFill>
                  <a:srgbClr val="1D1F20"/>
                </a:solidFill>
                <a:latin typeface="Times New Roman" panose="02020603050405020304" pitchFamily="18" charset="0"/>
                <a:ea typeface="Arial" pitchFamily="34" charset="-122"/>
                <a:cs typeface="Times New Roman" panose="02020603050405020304" pitchFamily="18" charset="0"/>
              </a:rPr>
              <a:t>Detailed Literature Review</a:t>
            </a:r>
            <a:endParaRPr lang="en-US" dirty="0">
              <a:latin typeface="Times New Roman" panose="02020603050405020304" pitchFamily="18" charset="0"/>
              <a:cs typeface="Times New Roman" panose="02020603050405020304" pitchFamily="18" charset="0"/>
            </a:endParaRPr>
          </a:p>
        </p:txBody>
      </p:sp>
      <p:sp>
        <p:nvSpPr>
          <p:cNvPr id="34" name="Shape 16">
            <a:extLst>
              <a:ext uri="{FF2B5EF4-FFF2-40B4-BE49-F238E27FC236}">
                <a16:creationId xmlns:a16="http://schemas.microsoft.com/office/drawing/2014/main" id="{E66CD611-8F7D-4DEB-821B-2CD4C267D1F6}"/>
              </a:ext>
            </a:extLst>
          </p:cNvPr>
          <p:cNvSpPr/>
          <p:nvPr/>
        </p:nvSpPr>
        <p:spPr>
          <a:xfrm>
            <a:off x="4000500" y="3536950"/>
            <a:ext cx="4953000" cy="9525"/>
          </a:xfrm>
          <a:prstGeom prst="rect">
            <a:avLst/>
          </a:prstGeom>
          <a:solidFill>
            <a:srgbClr val="1D1F20">
              <a:alpha val="16000"/>
            </a:srgbClr>
          </a:solidFill>
          <a:ln/>
        </p:spPr>
      </p:sp>
      <p:sp>
        <p:nvSpPr>
          <p:cNvPr id="40" name="Shape 22">
            <a:extLst>
              <a:ext uri="{FF2B5EF4-FFF2-40B4-BE49-F238E27FC236}">
                <a16:creationId xmlns:a16="http://schemas.microsoft.com/office/drawing/2014/main" id="{FD70D596-F8FA-49CD-1DBB-5BBEF27F100A}"/>
              </a:ext>
            </a:extLst>
          </p:cNvPr>
          <p:cNvSpPr/>
          <p:nvPr/>
        </p:nvSpPr>
        <p:spPr>
          <a:xfrm>
            <a:off x="952500" y="4342130"/>
            <a:ext cx="666750" cy="9525"/>
          </a:xfrm>
          <a:prstGeom prst="rect">
            <a:avLst/>
          </a:prstGeom>
          <a:solidFill>
            <a:srgbClr val="1D1F20">
              <a:alpha val="16000"/>
            </a:srgbClr>
          </a:solidFill>
          <a:ln/>
        </p:spPr>
      </p:sp>
      <p:sp>
        <p:nvSpPr>
          <p:cNvPr id="41" name="Text 23">
            <a:extLst>
              <a:ext uri="{FF2B5EF4-FFF2-40B4-BE49-F238E27FC236}">
                <a16:creationId xmlns:a16="http://schemas.microsoft.com/office/drawing/2014/main" id="{33015978-9613-4FA0-45DB-AAE7C4A91B92}"/>
              </a:ext>
            </a:extLst>
          </p:cNvPr>
          <p:cNvSpPr/>
          <p:nvPr/>
        </p:nvSpPr>
        <p:spPr>
          <a:xfrm>
            <a:off x="952500" y="365633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42" name="Shape 24">
            <a:extLst>
              <a:ext uri="{FF2B5EF4-FFF2-40B4-BE49-F238E27FC236}">
                <a16:creationId xmlns:a16="http://schemas.microsoft.com/office/drawing/2014/main" id="{91A5556C-5603-4540-0C07-1DAB1A0CE025}"/>
              </a:ext>
            </a:extLst>
          </p:cNvPr>
          <p:cNvSpPr/>
          <p:nvPr/>
        </p:nvSpPr>
        <p:spPr>
          <a:xfrm>
            <a:off x="1619250" y="4342130"/>
            <a:ext cx="2381250" cy="9525"/>
          </a:xfrm>
          <a:prstGeom prst="rect">
            <a:avLst/>
          </a:prstGeom>
          <a:solidFill>
            <a:srgbClr val="1D1F20">
              <a:alpha val="16000"/>
            </a:srgbClr>
          </a:solidFill>
          <a:ln/>
        </p:spPr>
      </p:sp>
      <p:sp>
        <p:nvSpPr>
          <p:cNvPr id="43" name="Text 25">
            <a:extLst>
              <a:ext uri="{FF2B5EF4-FFF2-40B4-BE49-F238E27FC236}">
                <a16:creationId xmlns:a16="http://schemas.microsoft.com/office/drawing/2014/main" id="{7904D439-BC6A-60B6-0F27-A690F127C751}"/>
              </a:ext>
            </a:extLst>
          </p:cNvPr>
          <p:cNvSpPr/>
          <p:nvPr/>
        </p:nvSpPr>
        <p:spPr>
          <a:xfrm>
            <a:off x="1619250" y="3656330"/>
            <a:ext cx="2266950" cy="609600"/>
          </a:xfrm>
          <a:prstGeom prst="rect">
            <a:avLst/>
          </a:prstGeom>
          <a:noFill/>
          <a:ln/>
        </p:spPr>
        <p:txBody>
          <a:bodyPr wrap="square" lIns="25400" tIns="25400" rIns="25400" bIns="25400" rtlCol="0" anchor="t">
            <a:normAutofit lnSpcReduction="10000"/>
          </a:bodyPr>
          <a:lstStyle/>
          <a:p>
            <a:pPr algn="just">
              <a:lnSpc>
                <a:spcPct val="110294"/>
              </a:lnSpc>
            </a:pPr>
            <a:r>
              <a:rPr lang="en-US" b="1" dirty="0">
                <a:solidFill>
                  <a:srgbClr val="1D1F20"/>
                </a:solidFill>
                <a:latin typeface="Times New Roman" panose="02020603050405020304" pitchFamily="18" charset="0"/>
                <a:cs typeface="Times New Roman" panose="02020603050405020304" pitchFamily="18" charset="0"/>
              </a:rPr>
              <a:t>Introduction and Problem Recap</a:t>
            </a:r>
            <a:endParaRPr lang="en-US" dirty="0">
              <a:latin typeface="Times New Roman" panose="02020603050405020304" pitchFamily="18" charset="0"/>
              <a:cs typeface="Times New Roman" panose="02020603050405020304" pitchFamily="18" charset="0"/>
            </a:endParaRPr>
          </a:p>
        </p:txBody>
      </p:sp>
      <p:sp>
        <p:nvSpPr>
          <p:cNvPr id="44" name="Shape 26">
            <a:extLst>
              <a:ext uri="{FF2B5EF4-FFF2-40B4-BE49-F238E27FC236}">
                <a16:creationId xmlns:a16="http://schemas.microsoft.com/office/drawing/2014/main" id="{8AE238A0-2F07-3AA2-055F-3CD299341952}"/>
              </a:ext>
            </a:extLst>
          </p:cNvPr>
          <p:cNvSpPr/>
          <p:nvPr/>
        </p:nvSpPr>
        <p:spPr>
          <a:xfrm>
            <a:off x="4000500" y="4342130"/>
            <a:ext cx="4953000" cy="9525"/>
          </a:xfrm>
          <a:prstGeom prst="rect">
            <a:avLst/>
          </a:prstGeom>
          <a:solidFill>
            <a:srgbClr val="1D1F20">
              <a:alpha val="16000"/>
            </a:srgbClr>
          </a:solidFill>
          <a:ln/>
        </p:spPr>
      </p:sp>
      <p:sp>
        <p:nvSpPr>
          <p:cNvPr id="50" name="Shape 32">
            <a:extLst>
              <a:ext uri="{FF2B5EF4-FFF2-40B4-BE49-F238E27FC236}">
                <a16:creationId xmlns:a16="http://schemas.microsoft.com/office/drawing/2014/main" id="{9AC96234-24AD-C794-7044-323096F5C49F}"/>
              </a:ext>
            </a:extLst>
          </p:cNvPr>
          <p:cNvSpPr/>
          <p:nvPr/>
        </p:nvSpPr>
        <p:spPr>
          <a:xfrm>
            <a:off x="952500" y="5147310"/>
            <a:ext cx="666750" cy="9525"/>
          </a:xfrm>
          <a:prstGeom prst="rect">
            <a:avLst/>
          </a:prstGeom>
          <a:solidFill>
            <a:srgbClr val="1D1F20">
              <a:alpha val="16000"/>
            </a:srgbClr>
          </a:solidFill>
          <a:ln/>
        </p:spPr>
      </p:sp>
      <p:sp>
        <p:nvSpPr>
          <p:cNvPr id="51" name="Text 33">
            <a:extLst>
              <a:ext uri="{FF2B5EF4-FFF2-40B4-BE49-F238E27FC236}">
                <a16:creationId xmlns:a16="http://schemas.microsoft.com/office/drawing/2014/main" id="{4D48C4A7-2BEE-4B93-7A17-5C5FED4B2C7F}"/>
              </a:ext>
            </a:extLst>
          </p:cNvPr>
          <p:cNvSpPr/>
          <p:nvPr/>
        </p:nvSpPr>
        <p:spPr>
          <a:xfrm>
            <a:off x="952500" y="446151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52" name="Shape 34">
            <a:extLst>
              <a:ext uri="{FF2B5EF4-FFF2-40B4-BE49-F238E27FC236}">
                <a16:creationId xmlns:a16="http://schemas.microsoft.com/office/drawing/2014/main" id="{8EB6197F-A105-33AE-5645-7971478351B8}"/>
              </a:ext>
            </a:extLst>
          </p:cNvPr>
          <p:cNvSpPr/>
          <p:nvPr/>
        </p:nvSpPr>
        <p:spPr>
          <a:xfrm>
            <a:off x="1619250" y="5147310"/>
            <a:ext cx="2381250" cy="9525"/>
          </a:xfrm>
          <a:prstGeom prst="rect">
            <a:avLst/>
          </a:prstGeom>
          <a:solidFill>
            <a:srgbClr val="1D1F20">
              <a:alpha val="16000"/>
            </a:srgbClr>
          </a:solidFill>
          <a:ln/>
        </p:spPr>
      </p:sp>
      <p:sp>
        <p:nvSpPr>
          <p:cNvPr id="53" name="Text 35">
            <a:extLst>
              <a:ext uri="{FF2B5EF4-FFF2-40B4-BE49-F238E27FC236}">
                <a16:creationId xmlns:a16="http://schemas.microsoft.com/office/drawing/2014/main" id="{19C9B703-4561-D3AD-9FCC-CD321865F9C3}"/>
              </a:ext>
            </a:extLst>
          </p:cNvPr>
          <p:cNvSpPr/>
          <p:nvPr/>
        </p:nvSpPr>
        <p:spPr>
          <a:xfrm>
            <a:off x="1619250" y="4461510"/>
            <a:ext cx="226695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System Design and Architecture</a:t>
            </a:r>
            <a:endParaRPr lang="en-US" sz="1800" dirty="0">
              <a:latin typeface="Times New Roman" panose="02020603050405020304" pitchFamily="18" charset="0"/>
              <a:cs typeface="Times New Roman" panose="02020603050405020304" pitchFamily="18" charset="0"/>
            </a:endParaRPr>
          </a:p>
        </p:txBody>
      </p:sp>
      <p:sp>
        <p:nvSpPr>
          <p:cNvPr id="54" name="Shape 36">
            <a:extLst>
              <a:ext uri="{FF2B5EF4-FFF2-40B4-BE49-F238E27FC236}">
                <a16:creationId xmlns:a16="http://schemas.microsoft.com/office/drawing/2014/main" id="{89C4D21E-8EB5-0E6C-AD31-E00AE392E49F}"/>
              </a:ext>
            </a:extLst>
          </p:cNvPr>
          <p:cNvSpPr/>
          <p:nvPr/>
        </p:nvSpPr>
        <p:spPr>
          <a:xfrm>
            <a:off x="4000500" y="5147310"/>
            <a:ext cx="4953000" cy="9525"/>
          </a:xfrm>
          <a:prstGeom prst="rect">
            <a:avLst/>
          </a:prstGeom>
          <a:solidFill>
            <a:srgbClr val="1D1F20">
              <a:alpha val="16000"/>
            </a:srgbClr>
          </a:solidFill>
          <a:ln/>
        </p:spPr>
      </p:sp>
      <p:sp>
        <p:nvSpPr>
          <p:cNvPr id="60" name="Shape 42">
            <a:extLst>
              <a:ext uri="{FF2B5EF4-FFF2-40B4-BE49-F238E27FC236}">
                <a16:creationId xmlns:a16="http://schemas.microsoft.com/office/drawing/2014/main" id="{660FE8B1-9F01-8BAC-3E67-4AAD1C554D51}"/>
              </a:ext>
            </a:extLst>
          </p:cNvPr>
          <p:cNvSpPr/>
          <p:nvPr/>
        </p:nvSpPr>
        <p:spPr>
          <a:xfrm>
            <a:off x="952500" y="5952490"/>
            <a:ext cx="666750" cy="9525"/>
          </a:xfrm>
          <a:prstGeom prst="rect">
            <a:avLst/>
          </a:prstGeom>
          <a:solidFill>
            <a:srgbClr val="1D1F20">
              <a:alpha val="16000"/>
            </a:srgbClr>
          </a:solidFill>
          <a:ln/>
        </p:spPr>
      </p:sp>
      <p:sp>
        <p:nvSpPr>
          <p:cNvPr id="61" name="Text 43">
            <a:extLst>
              <a:ext uri="{FF2B5EF4-FFF2-40B4-BE49-F238E27FC236}">
                <a16:creationId xmlns:a16="http://schemas.microsoft.com/office/drawing/2014/main" id="{8CCBAA2A-9AFF-6FDC-D94F-E0C7EB98C864}"/>
              </a:ext>
            </a:extLst>
          </p:cNvPr>
          <p:cNvSpPr/>
          <p:nvPr/>
        </p:nvSpPr>
        <p:spPr>
          <a:xfrm>
            <a:off x="952500" y="526669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62" name="Shape 44">
            <a:extLst>
              <a:ext uri="{FF2B5EF4-FFF2-40B4-BE49-F238E27FC236}">
                <a16:creationId xmlns:a16="http://schemas.microsoft.com/office/drawing/2014/main" id="{FA03052E-CCB8-D963-FCE5-9B11A41FC5B6}"/>
              </a:ext>
            </a:extLst>
          </p:cNvPr>
          <p:cNvSpPr/>
          <p:nvPr/>
        </p:nvSpPr>
        <p:spPr>
          <a:xfrm>
            <a:off x="1619250" y="5952490"/>
            <a:ext cx="2381250" cy="9525"/>
          </a:xfrm>
          <a:prstGeom prst="rect">
            <a:avLst/>
          </a:prstGeom>
          <a:solidFill>
            <a:srgbClr val="1D1F20">
              <a:alpha val="16000"/>
            </a:srgbClr>
          </a:solidFill>
          <a:ln/>
        </p:spPr>
      </p:sp>
      <p:sp>
        <p:nvSpPr>
          <p:cNvPr id="63" name="Text 45">
            <a:extLst>
              <a:ext uri="{FF2B5EF4-FFF2-40B4-BE49-F238E27FC236}">
                <a16:creationId xmlns:a16="http://schemas.microsoft.com/office/drawing/2014/main" id="{AA149150-D522-68DD-0638-B0548DF7F63B}"/>
              </a:ext>
            </a:extLst>
          </p:cNvPr>
          <p:cNvSpPr/>
          <p:nvPr/>
        </p:nvSpPr>
        <p:spPr>
          <a:xfrm>
            <a:off x="1619250" y="5266690"/>
            <a:ext cx="226695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b="1" dirty="0">
                <a:solidFill>
                  <a:srgbClr val="1D1F20"/>
                </a:solidFill>
                <a:latin typeface="Times New Roman" panose="02020603050405020304" pitchFamily="18" charset="0"/>
                <a:cs typeface="Times New Roman" panose="02020603050405020304" pitchFamily="18" charset="0"/>
              </a:rPr>
              <a:t>Implementation Details</a:t>
            </a:r>
            <a:endParaRPr lang="en-US" sz="1800" dirty="0">
              <a:latin typeface="Times New Roman" panose="02020603050405020304" pitchFamily="18" charset="0"/>
              <a:cs typeface="Times New Roman" panose="02020603050405020304" pitchFamily="18" charset="0"/>
            </a:endParaRPr>
          </a:p>
        </p:txBody>
      </p:sp>
      <p:sp>
        <p:nvSpPr>
          <p:cNvPr id="64" name="Shape 46">
            <a:extLst>
              <a:ext uri="{FF2B5EF4-FFF2-40B4-BE49-F238E27FC236}">
                <a16:creationId xmlns:a16="http://schemas.microsoft.com/office/drawing/2014/main" id="{98A30BDB-4FE8-5623-8E74-29AC7FB930A9}"/>
              </a:ext>
            </a:extLst>
          </p:cNvPr>
          <p:cNvSpPr/>
          <p:nvPr/>
        </p:nvSpPr>
        <p:spPr>
          <a:xfrm>
            <a:off x="4000500" y="5952490"/>
            <a:ext cx="4953000" cy="9525"/>
          </a:xfrm>
          <a:prstGeom prst="rect">
            <a:avLst/>
          </a:prstGeom>
          <a:solidFill>
            <a:srgbClr val="1D1F20">
              <a:alpha val="16000"/>
            </a:srgbClr>
          </a:solidFill>
          <a:ln/>
        </p:spPr>
      </p:sp>
      <p:sp>
        <p:nvSpPr>
          <p:cNvPr id="70" name="Shape 52">
            <a:extLst>
              <a:ext uri="{FF2B5EF4-FFF2-40B4-BE49-F238E27FC236}">
                <a16:creationId xmlns:a16="http://schemas.microsoft.com/office/drawing/2014/main" id="{163523AF-88AD-697C-6240-3BA1B05FAAC3}"/>
              </a:ext>
            </a:extLst>
          </p:cNvPr>
          <p:cNvSpPr/>
          <p:nvPr/>
        </p:nvSpPr>
        <p:spPr>
          <a:xfrm>
            <a:off x="952500" y="6757670"/>
            <a:ext cx="666750" cy="9525"/>
          </a:xfrm>
          <a:prstGeom prst="rect">
            <a:avLst/>
          </a:prstGeom>
          <a:solidFill>
            <a:srgbClr val="1D1F20">
              <a:alpha val="16000"/>
            </a:srgbClr>
          </a:solidFill>
          <a:ln/>
        </p:spPr>
      </p:sp>
      <p:sp>
        <p:nvSpPr>
          <p:cNvPr id="71" name="Text 53">
            <a:extLst>
              <a:ext uri="{FF2B5EF4-FFF2-40B4-BE49-F238E27FC236}">
                <a16:creationId xmlns:a16="http://schemas.microsoft.com/office/drawing/2014/main" id="{F51A38F3-D0D4-D293-5F16-545257C0D0B6}"/>
              </a:ext>
            </a:extLst>
          </p:cNvPr>
          <p:cNvSpPr/>
          <p:nvPr/>
        </p:nvSpPr>
        <p:spPr>
          <a:xfrm>
            <a:off x="952500" y="607187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72" name="Shape 54">
            <a:extLst>
              <a:ext uri="{FF2B5EF4-FFF2-40B4-BE49-F238E27FC236}">
                <a16:creationId xmlns:a16="http://schemas.microsoft.com/office/drawing/2014/main" id="{AE103755-E40F-E533-D3CB-71609760FC30}"/>
              </a:ext>
            </a:extLst>
          </p:cNvPr>
          <p:cNvSpPr/>
          <p:nvPr/>
        </p:nvSpPr>
        <p:spPr>
          <a:xfrm>
            <a:off x="1619250" y="6757670"/>
            <a:ext cx="2381250" cy="9525"/>
          </a:xfrm>
          <a:prstGeom prst="rect">
            <a:avLst/>
          </a:prstGeom>
          <a:solidFill>
            <a:srgbClr val="1D1F20">
              <a:alpha val="16000"/>
            </a:srgbClr>
          </a:solidFill>
          <a:ln/>
        </p:spPr>
      </p:sp>
      <p:sp>
        <p:nvSpPr>
          <p:cNvPr id="73" name="Text 55">
            <a:extLst>
              <a:ext uri="{FF2B5EF4-FFF2-40B4-BE49-F238E27FC236}">
                <a16:creationId xmlns:a16="http://schemas.microsoft.com/office/drawing/2014/main" id="{CB7AEC32-DE7D-FABB-D799-0ECDE3F41E6D}"/>
              </a:ext>
            </a:extLst>
          </p:cNvPr>
          <p:cNvSpPr/>
          <p:nvPr/>
        </p:nvSpPr>
        <p:spPr>
          <a:xfrm>
            <a:off x="1619250" y="607187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b="1" dirty="0">
                <a:solidFill>
                  <a:srgbClr val="1D1F20"/>
                </a:solidFill>
                <a:latin typeface="Times New Roman" panose="02020603050405020304" pitchFamily="18" charset="0"/>
                <a:cs typeface="Times New Roman" panose="02020603050405020304" pitchFamily="18" charset="0"/>
              </a:rPr>
              <a:t>Results and Analysis</a:t>
            </a:r>
            <a:endParaRPr lang="en-US" sz="1800" dirty="0">
              <a:latin typeface="Times New Roman" panose="02020603050405020304" pitchFamily="18" charset="0"/>
              <a:cs typeface="Times New Roman" panose="02020603050405020304" pitchFamily="18" charset="0"/>
            </a:endParaRPr>
          </a:p>
        </p:txBody>
      </p:sp>
      <p:sp>
        <p:nvSpPr>
          <p:cNvPr id="74" name="Shape 56">
            <a:extLst>
              <a:ext uri="{FF2B5EF4-FFF2-40B4-BE49-F238E27FC236}">
                <a16:creationId xmlns:a16="http://schemas.microsoft.com/office/drawing/2014/main" id="{50257305-D154-B7E1-3086-68E38FE94C9C}"/>
              </a:ext>
            </a:extLst>
          </p:cNvPr>
          <p:cNvSpPr/>
          <p:nvPr/>
        </p:nvSpPr>
        <p:spPr>
          <a:xfrm>
            <a:off x="4000500" y="6757670"/>
            <a:ext cx="4953000" cy="9525"/>
          </a:xfrm>
          <a:prstGeom prst="rect">
            <a:avLst/>
          </a:prstGeom>
          <a:solidFill>
            <a:srgbClr val="1D1F20">
              <a:alpha val="16000"/>
            </a:srgbClr>
          </a:solidFill>
          <a:ln/>
        </p:spPr>
      </p:sp>
      <p:sp>
        <p:nvSpPr>
          <p:cNvPr id="80" name="Shape 52">
            <a:extLst>
              <a:ext uri="{FF2B5EF4-FFF2-40B4-BE49-F238E27FC236}">
                <a16:creationId xmlns:a16="http://schemas.microsoft.com/office/drawing/2014/main" id="{165E488C-2BE6-E371-0A97-E977A9FEB81D}"/>
              </a:ext>
            </a:extLst>
          </p:cNvPr>
          <p:cNvSpPr/>
          <p:nvPr/>
        </p:nvSpPr>
        <p:spPr>
          <a:xfrm>
            <a:off x="952500" y="7562850"/>
            <a:ext cx="666750" cy="9525"/>
          </a:xfrm>
          <a:prstGeom prst="rect">
            <a:avLst/>
          </a:prstGeom>
          <a:solidFill>
            <a:srgbClr val="1D1F20">
              <a:alpha val="16000"/>
            </a:srgbClr>
          </a:solidFill>
          <a:ln/>
        </p:spPr>
      </p:sp>
      <p:sp>
        <p:nvSpPr>
          <p:cNvPr id="81" name="Text 53">
            <a:extLst>
              <a:ext uri="{FF2B5EF4-FFF2-40B4-BE49-F238E27FC236}">
                <a16:creationId xmlns:a16="http://schemas.microsoft.com/office/drawing/2014/main" id="{43C4BF0C-A2E4-0B1D-FA42-E4B8161E137D}"/>
              </a:ext>
            </a:extLst>
          </p:cNvPr>
          <p:cNvSpPr/>
          <p:nvPr/>
        </p:nvSpPr>
        <p:spPr>
          <a:xfrm>
            <a:off x="952500" y="687705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[6]</a:t>
            </a:r>
            <a:endParaRPr lang="en-US" sz="1800" dirty="0">
              <a:latin typeface="Times New Roman" panose="02020603050405020304" pitchFamily="18" charset="0"/>
              <a:cs typeface="Times New Roman" panose="02020603050405020304" pitchFamily="18" charset="0"/>
            </a:endParaRPr>
          </a:p>
        </p:txBody>
      </p:sp>
      <p:sp>
        <p:nvSpPr>
          <p:cNvPr id="82" name="Shape 54">
            <a:extLst>
              <a:ext uri="{FF2B5EF4-FFF2-40B4-BE49-F238E27FC236}">
                <a16:creationId xmlns:a16="http://schemas.microsoft.com/office/drawing/2014/main" id="{9F42E4AB-BAEA-0218-2778-2D11E094135F}"/>
              </a:ext>
            </a:extLst>
          </p:cNvPr>
          <p:cNvSpPr/>
          <p:nvPr/>
        </p:nvSpPr>
        <p:spPr>
          <a:xfrm>
            <a:off x="1619250" y="7562850"/>
            <a:ext cx="2381250" cy="9525"/>
          </a:xfrm>
          <a:prstGeom prst="rect">
            <a:avLst/>
          </a:prstGeom>
          <a:solidFill>
            <a:srgbClr val="1D1F20">
              <a:alpha val="16000"/>
            </a:srgbClr>
          </a:solidFill>
          <a:ln/>
        </p:spPr>
      </p:sp>
      <p:sp>
        <p:nvSpPr>
          <p:cNvPr id="83" name="Text 55">
            <a:extLst>
              <a:ext uri="{FF2B5EF4-FFF2-40B4-BE49-F238E27FC236}">
                <a16:creationId xmlns:a16="http://schemas.microsoft.com/office/drawing/2014/main" id="{849604EA-34A9-AC8E-3E37-FA37446C2F79}"/>
              </a:ext>
            </a:extLst>
          </p:cNvPr>
          <p:cNvSpPr/>
          <p:nvPr/>
        </p:nvSpPr>
        <p:spPr>
          <a:xfrm>
            <a:off x="1619250" y="6877050"/>
            <a:ext cx="226695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b="1" dirty="0">
                <a:solidFill>
                  <a:srgbClr val="1D1F20"/>
                </a:solidFill>
                <a:latin typeface="Times New Roman" panose="02020603050405020304" pitchFamily="18" charset="0"/>
                <a:cs typeface="Times New Roman" panose="02020603050405020304" pitchFamily="18" charset="0"/>
              </a:rPr>
              <a:t>Challenges and R</a:t>
            </a:r>
            <a:r>
              <a:rPr lang="en-US" b="1" dirty="0">
                <a:solidFill>
                  <a:srgbClr val="1D1F20"/>
                </a:solidFill>
                <a:latin typeface="Times New Roman" panose="02020603050405020304" pitchFamily="18" charset="0"/>
                <a:cs typeface="Times New Roman" panose="02020603050405020304" pitchFamily="18" charset="0"/>
              </a:rPr>
              <a:t>emaining Work</a:t>
            </a:r>
            <a:endParaRPr lang="en-US" sz="1800" dirty="0">
              <a:latin typeface="Times New Roman" panose="02020603050405020304" pitchFamily="18" charset="0"/>
              <a:cs typeface="Times New Roman" panose="02020603050405020304" pitchFamily="18" charset="0"/>
            </a:endParaRPr>
          </a:p>
        </p:txBody>
      </p:sp>
      <p:sp>
        <p:nvSpPr>
          <p:cNvPr id="84" name="Shape 56">
            <a:extLst>
              <a:ext uri="{FF2B5EF4-FFF2-40B4-BE49-F238E27FC236}">
                <a16:creationId xmlns:a16="http://schemas.microsoft.com/office/drawing/2014/main" id="{08BD9DB8-ECBE-6649-88D6-8E8A9483148C}"/>
              </a:ext>
            </a:extLst>
          </p:cNvPr>
          <p:cNvSpPr/>
          <p:nvPr/>
        </p:nvSpPr>
        <p:spPr>
          <a:xfrm>
            <a:off x="4000500" y="7562850"/>
            <a:ext cx="4953000" cy="9525"/>
          </a:xfrm>
          <a:prstGeom prst="rect">
            <a:avLst/>
          </a:prstGeom>
          <a:solidFill>
            <a:srgbClr val="1D1F20">
              <a:alpha val="16000"/>
            </a:srgbClr>
          </a:solidFill>
          <a:ln/>
        </p:spPr>
      </p:sp>
      <p:sp>
        <p:nvSpPr>
          <p:cNvPr id="86" name="Shape 52">
            <a:extLst>
              <a:ext uri="{FF2B5EF4-FFF2-40B4-BE49-F238E27FC236}">
                <a16:creationId xmlns:a16="http://schemas.microsoft.com/office/drawing/2014/main" id="{88F7878B-AF9A-CB39-60A2-5FDA0221B8E6}"/>
              </a:ext>
            </a:extLst>
          </p:cNvPr>
          <p:cNvSpPr/>
          <p:nvPr/>
        </p:nvSpPr>
        <p:spPr>
          <a:xfrm>
            <a:off x="952500" y="8339137"/>
            <a:ext cx="666750" cy="9525"/>
          </a:xfrm>
          <a:prstGeom prst="rect">
            <a:avLst/>
          </a:prstGeom>
          <a:solidFill>
            <a:srgbClr val="1D1F20">
              <a:alpha val="16000"/>
            </a:srgbClr>
          </a:solidFill>
          <a:ln/>
        </p:spPr>
      </p:sp>
      <p:sp>
        <p:nvSpPr>
          <p:cNvPr id="87" name="Text 53">
            <a:extLst>
              <a:ext uri="{FF2B5EF4-FFF2-40B4-BE49-F238E27FC236}">
                <a16:creationId xmlns:a16="http://schemas.microsoft.com/office/drawing/2014/main" id="{B25CA35D-C98A-29C6-0B92-DAF8769E0331}"/>
              </a:ext>
            </a:extLst>
          </p:cNvPr>
          <p:cNvSpPr/>
          <p:nvPr/>
        </p:nvSpPr>
        <p:spPr>
          <a:xfrm>
            <a:off x="952500" y="7653337"/>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[7]</a:t>
            </a:r>
            <a:endParaRPr lang="en-US" sz="1800" dirty="0">
              <a:latin typeface="Times New Roman" panose="02020603050405020304" pitchFamily="18" charset="0"/>
              <a:cs typeface="Times New Roman" panose="02020603050405020304" pitchFamily="18" charset="0"/>
            </a:endParaRPr>
          </a:p>
        </p:txBody>
      </p:sp>
      <p:sp>
        <p:nvSpPr>
          <p:cNvPr id="88" name="Shape 54">
            <a:extLst>
              <a:ext uri="{FF2B5EF4-FFF2-40B4-BE49-F238E27FC236}">
                <a16:creationId xmlns:a16="http://schemas.microsoft.com/office/drawing/2014/main" id="{0027CBEB-E8E4-A3BD-D41F-BB6675CEA905}"/>
              </a:ext>
            </a:extLst>
          </p:cNvPr>
          <p:cNvSpPr/>
          <p:nvPr/>
        </p:nvSpPr>
        <p:spPr>
          <a:xfrm>
            <a:off x="1619250" y="8339137"/>
            <a:ext cx="2381250" cy="9525"/>
          </a:xfrm>
          <a:prstGeom prst="rect">
            <a:avLst/>
          </a:prstGeom>
          <a:solidFill>
            <a:srgbClr val="1D1F20">
              <a:alpha val="16000"/>
            </a:srgbClr>
          </a:solidFill>
          <a:ln/>
        </p:spPr>
      </p:sp>
      <p:sp>
        <p:nvSpPr>
          <p:cNvPr id="89" name="Text 55">
            <a:extLst>
              <a:ext uri="{FF2B5EF4-FFF2-40B4-BE49-F238E27FC236}">
                <a16:creationId xmlns:a16="http://schemas.microsoft.com/office/drawing/2014/main" id="{E6388215-775A-5D47-B9CC-CB12988EB2FD}"/>
              </a:ext>
            </a:extLst>
          </p:cNvPr>
          <p:cNvSpPr/>
          <p:nvPr/>
        </p:nvSpPr>
        <p:spPr>
          <a:xfrm>
            <a:off x="1619250" y="7653337"/>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b="1" dirty="0">
                <a:solidFill>
                  <a:srgbClr val="1D1F20"/>
                </a:solidFill>
                <a:latin typeface="Times New Roman" panose="02020603050405020304" pitchFamily="18" charset="0"/>
                <a:cs typeface="Times New Roman" panose="02020603050405020304" pitchFamily="18" charset="0"/>
              </a:rPr>
              <a:t>Conclusion</a:t>
            </a:r>
            <a:endParaRPr lang="en-US" sz="1800" dirty="0">
              <a:latin typeface="Times New Roman" panose="02020603050405020304" pitchFamily="18" charset="0"/>
              <a:cs typeface="Times New Roman" panose="02020603050405020304" pitchFamily="18" charset="0"/>
            </a:endParaRPr>
          </a:p>
        </p:txBody>
      </p:sp>
      <p:sp>
        <p:nvSpPr>
          <p:cNvPr id="90" name="Shape 56">
            <a:extLst>
              <a:ext uri="{FF2B5EF4-FFF2-40B4-BE49-F238E27FC236}">
                <a16:creationId xmlns:a16="http://schemas.microsoft.com/office/drawing/2014/main" id="{C498FD40-5A94-4745-BE83-B6D9CA302CA4}"/>
              </a:ext>
            </a:extLst>
          </p:cNvPr>
          <p:cNvSpPr/>
          <p:nvPr/>
        </p:nvSpPr>
        <p:spPr>
          <a:xfrm>
            <a:off x="4000500" y="8339137"/>
            <a:ext cx="4953000" cy="9525"/>
          </a:xfrm>
          <a:prstGeom prst="rect">
            <a:avLst/>
          </a:prstGeom>
          <a:solidFill>
            <a:srgbClr val="1D1F20">
              <a:alpha val="16000"/>
            </a:srgbClr>
          </a:solidFill>
          <a:ln/>
        </p:spPr>
      </p:sp>
      <p:sp>
        <p:nvSpPr>
          <p:cNvPr id="92" name="Shape 52">
            <a:extLst>
              <a:ext uri="{FF2B5EF4-FFF2-40B4-BE49-F238E27FC236}">
                <a16:creationId xmlns:a16="http://schemas.microsoft.com/office/drawing/2014/main" id="{3B8B9C1B-CCD2-6FE7-B260-AB98CE6C938F}"/>
              </a:ext>
            </a:extLst>
          </p:cNvPr>
          <p:cNvSpPr/>
          <p:nvPr/>
        </p:nvSpPr>
        <p:spPr>
          <a:xfrm>
            <a:off x="952500" y="9110661"/>
            <a:ext cx="666750" cy="9525"/>
          </a:xfrm>
          <a:prstGeom prst="rect">
            <a:avLst/>
          </a:prstGeom>
          <a:solidFill>
            <a:srgbClr val="1D1F20">
              <a:alpha val="16000"/>
            </a:srgbClr>
          </a:solidFill>
          <a:ln/>
        </p:spPr>
      </p:sp>
      <p:sp>
        <p:nvSpPr>
          <p:cNvPr id="93" name="Text 53">
            <a:extLst>
              <a:ext uri="{FF2B5EF4-FFF2-40B4-BE49-F238E27FC236}">
                <a16:creationId xmlns:a16="http://schemas.microsoft.com/office/drawing/2014/main" id="{272943C7-215A-662F-74FE-D449A33D9ADE}"/>
              </a:ext>
            </a:extLst>
          </p:cNvPr>
          <p:cNvSpPr/>
          <p:nvPr/>
        </p:nvSpPr>
        <p:spPr>
          <a:xfrm>
            <a:off x="952500" y="8424861"/>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[8]</a:t>
            </a:r>
            <a:endParaRPr lang="en-US" sz="1800" dirty="0">
              <a:latin typeface="Times New Roman" panose="02020603050405020304" pitchFamily="18" charset="0"/>
              <a:cs typeface="Times New Roman" panose="02020603050405020304" pitchFamily="18" charset="0"/>
            </a:endParaRPr>
          </a:p>
        </p:txBody>
      </p:sp>
      <p:sp>
        <p:nvSpPr>
          <p:cNvPr id="94" name="Shape 54">
            <a:extLst>
              <a:ext uri="{FF2B5EF4-FFF2-40B4-BE49-F238E27FC236}">
                <a16:creationId xmlns:a16="http://schemas.microsoft.com/office/drawing/2014/main" id="{F632AB36-F044-7A8E-EEEB-CCD0D4A7D3BC}"/>
              </a:ext>
            </a:extLst>
          </p:cNvPr>
          <p:cNvSpPr/>
          <p:nvPr/>
        </p:nvSpPr>
        <p:spPr>
          <a:xfrm>
            <a:off x="1619250" y="9110661"/>
            <a:ext cx="2381250" cy="9525"/>
          </a:xfrm>
          <a:prstGeom prst="rect">
            <a:avLst/>
          </a:prstGeom>
          <a:solidFill>
            <a:srgbClr val="1D1F20">
              <a:alpha val="16000"/>
            </a:srgbClr>
          </a:solidFill>
          <a:ln/>
        </p:spPr>
      </p:sp>
      <p:sp>
        <p:nvSpPr>
          <p:cNvPr id="95" name="Text 55">
            <a:extLst>
              <a:ext uri="{FF2B5EF4-FFF2-40B4-BE49-F238E27FC236}">
                <a16:creationId xmlns:a16="http://schemas.microsoft.com/office/drawing/2014/main" id="{26997AF6-9BD5-469C-9955-7E179C7C7665}"/>
              </a:ext>
            </a:extLst>
          </p:cNvPr>
          <p:cNvSpPr/>
          <p:nvPr/>
        </p:nvSpPr>
        <p:spPr>
          <a:xfrm>
            <a:off x="1619250" y="8424861"/>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b="1" dirty="0">
                <a:solidFill>
                  <a:srgbClr val="1D1F20"/>
                </a:solidFill>
                <a:latin typeface="Times New Roman" panose="02020603050405020304" pitchFamily="18" charset="0"/>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96" name="Shape 56">
            <a:extLst>
              <a:ext uri="{FF2B5EF4-FFF2-40B4-BE49-F238E27FC236}">
                <a16:creationId xmlns:a16="http://schemas.microsoft.com/office/drawing/2014/main" id="{3B00316C-5668-9B89-8534-366255BC83A4}"/>
              </a:ext>
            </a:extLst>
          </p:cNvPr>
          <p:cNvSpPr/>
          <p:nvPr/>
        </p:nvSpPr>
        <p:spPr>
          <a:xfrm>
            <a:off x="4000500" y="9110661"/>
            <a:ext cx="4953000" cy="9525"/>
          </a:xfrm>
          <a:prstGeom prst="rect">
            <a:avLst/>
          </a:prstGeom>
          <a:solidFill>
            <a:srgbClr val="1D1F20">
              <a:alpha val="16000"/>
            </a:srgbClr>
          </a:solidFill>
          <a:ln/>
        </p:spPr>
      </p:sp>
      <p:sp>
        <p:nvSpPr>
          <p:cNvPr id="101" name="TextBox 100">
            <a:extLst>
              <a:ext uri="{FF2B5EF4-FFF2-40B4-BE49-F238E27FC236}">
                <a16:creationId xmlns:a16="http://schemas.microsoft.com/office/drawing/2014/main" id="{2FF4EB2B-6252-2202-E96B-7EACD3EE841C}"/>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103" name="TextBox 102">
            <a:extLst>
              <a:ext uri="{FF2B5EF4-FFF2-40B4-BE49-F238E27FC236}">
                <a16:creationId xmlns:a16="http://schemas.microsoft.com/office/drawing/2014/main" id="{BAF7159B-FD81-6157-EABA-325D46CEFBE4}"/>
              </a:ext>
            </a:extLst>
          </p:cNvPr>
          <p:cNvSpPr txBox="1"/>
          <p:nvPr/>
        </p:nvSpPr>
        <p:spPr>
          <a:xfrm>
            <a:off x="6122669" y="2890004"/>
            <a:ext cx="821055"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2 - 9</a:t>
            </a:r>
            <a:endParaRPr lang="en-IN" dirty="0"/>
          </a:p>
        </p:txBody>
      </p:sp>
      <p:sp>
        <p:nvSpPr>
          <p:cNvPr id="104" name="TextBox 103">
            <a:extLst>
              <a:ext uri="{FF2B5EF4-FFF2-40B4-BE49-F238E27FC236}">
                <a16:creationId xmlns:a16="http://schemas.microsoft.com/office/drawing/2014/main" id="{88E2D626-208B-8407-76D4-1C1F66B6FF6A}"/>
              </a:ext>
            </a:extLst>
          </p:cNvPr>
          <p:cNvSpPr txBox="1"/>
          <p:nvPr/>
        </p:nvSpPr>
        <p:spPr>
          <a:xfrm>
            <a:off x="6122669" y="3756659"/>
            <a:ext cx="1021081"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10 - 12</a:t>
            </a:r>
            <a:endParaRPr lang="en-IN" dirty="0"/>
          </a:p>
        </p:txBody>
      </p:sp>
      <p:sp>
        <p:nvSpPr>
          <p:cNvPr id="105" name="TextBox 104">
            <a:extLst>
              <a:ext uri="{FF2B5EF4-FFF2-40B4-BE49-F238E27FC236}">
                <a16:creationId xmlns:a16="http://schemas.microsoft.com/office/drawing/2014/main" id="{266C6970-123E-0F80-E1B7-2D4BC16D3DD4}"/>
              </a:ext>
            </a:extLst>
          </p:cNvPr>
          <p:cNvSpPr txBox="1"/>
          <p:nvPr/>
        </p:nvSpPr>
        <p:spPr>
          <a:xfrm>
            <a:off x="6122668" y="4590574"/>
            <a:ext cx="1021082"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13 - 20</a:t>
            </a:r>
            <a:endParaRPr lang="en-IN" dirty="0"/>
          </a:p>
        </p:txBody>
      </p:sp>
      <p:sp>
        <p:nvSpPr>
          <p:cNvPr id="106" name="TextBox 105">
            <a:extLst>
              <a:ext uri="{FF2B5EF4-FFF2-40B4-BE49-F238E27FC236}">
                <a16:creationId xmlns:a16="http://schemas.microsoft.com/office/drawing/2014/main" id="{C8358F38-D518-6606-7214-9B463FAAA9BB}"/>
              </a:ext>
            </a:extLst>
          </p:cNvPr>
          <p:cNvSpPr txBox="1"/>
          <p:nvPr/>
        </p:nvSpPr>
        <p:spPr>
          <a:xfrm>
            <a:off x="6122667" y="5386229"/>
            <a:ext cx="1021083"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21 - 22</a:t>
            </a:r>
            <a:endParaRPr lang="en-IN" dirty="0"/>
          </a:p>
        </p:txBody>
      </p:sp>
      <p:sp>
        <p:nvSpPr>
          <p:cNvPr id="107" name="TextBox 106">
            <a:extLst>
              <a:ext uri="{FF2B5EF4-FFF2-40B4-BE49-F238E27FC236}">
                <a16:creationId xmlns:a16="http://schemas.microsoft.com/office/drawing/2014/main" id="{BBD5FF3B-950D-051B-9251-09C2518E7695}"/>
              </a:ext>
            </a:extLst>
          </p:cNvPr>
          <p:cNvSpPr txBox="1"/>
          <p:nvPr/>
        </p:nvSpPr>
        <p:spPr>
          <a:xfrm>
            <a:off x="6122669" y="6071870"/>
            <a:ext cx="1021081"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23 - 27</a:t>
            </a:r>
            <a:endParaRPr lang="en-IN" dirty="0"/>
          </a:p>
        </p:txBody>
      </p:sp>
      <p:sp>
        <p:nvSpPr>
          <p:cNvPr id="108" name="TextBox 107">
            <a:extLst>
              <a:ext uri="{FF2B5EF4-FFF2-40B4-BE49-F238E27FC236}">
                <a16:creationId xmlns:a16="http://schemas.microsoft.com/office/drawing/2014/main" id="{78B38A59-2A6B-4FE8-B37C-5859D99BCEC1}"/>
              </a:ext>
            </a:extLst>
          </p:cNvPr>
          <p:cNvSpPr txBox="1"/>
          <p:nvPr/>
        </p:nvSpPr>
        <p:spPr>
          <a:xfrm>
            <a:off x="6122669" y="6963528"/>
            <a:ext cx="1021081"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28 - 29</a:t>
            </a:r>
            <a:endParaRPr lang="en-IN" dirty="0"/>
          </a:p>
        </p:txBody>
      </p:sp>
      <p:sp>
        <p:nvSpPr>
          <p:cNvPr id="109" name="TextBox 108">
            <a:extLst>
              <a:ext uri="{FF2B5EF4-FFF2-40B4-BE49-F238E27FC236}">
                <a16:creationId xmlns:a16="http://schemas.microsoft.com/office/drawing/2014/main" id="{A2AA6399-9917-7E7B-E5BB-87D7E256AE64}"/>
              </a:ext>
            </a:extLst>
          </p:cNvPr>
          <p:cNvSpPr txBox="1"/>
          <p:nvPr/>
        </p:nvSpPr>
        <p:spPr>
          <a:xfrm>
            <a:off x="6122669" y="7708263"/>
            <a:ext cx="821055"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30</a:t>
            </a:r>
            <a:endParaRPr lang="en-IN" dirty="0"/>
          </a:p>
        </p:txBody>
      </p:sp>
      <p:sp>
        <p:nvSpPr>
          <p:cNvPr id="110" name="TextBox 109">
            <a:extLst>
              <a:ext uri="{FF2B5EF4-FFF2-40B4-BE49-F238E27FC236}">
                <a16:creationId xmlns:a16="http://schemas.microsoft.com/office/drawing/2014/main" id="{9E7AA0CF-F152-950C-E351-5F6D49E0EAC2}"/>
              </a:ext>
            </a:extLst>
          </p:cNvPr>
          <p:cNvSpPr txBox="1"/>
          <p:nvPr/>
        </p:nvSpPr>
        <p:spPr>
          <a:xfrm>
            <a:off x="6122666" y="8424861"/>
            <a:ext cx="1021084" cy="369332"/>
          </a:xfrm>
          <a:prstGeom prst="rect">
            <a:avLst/>
          </a:prstGeom>
          <a:noFill/>
        </p:spPr>
        <p:txBody>
          <a:bodyPr wrap="square">
            <a:spAutoFit/>
          </a:bodyPr>
          <a:lstStyle/>
          <a:p>
            <a:r>
              <a:rPr lang="en-US" b="1" dirty="0">
                <a:solidFill>
                  <a:srgbClr val="416180"/>
                </a:solidFill>
                <a:latin typeface="Times New Roman" panose="02020603050405020304" pitchFamily="18" charset="0"/>
                <a:cs typeface="Times New Roman" panose="02020603050405020304" pitchFamily="18" charset="0"/>
              </a:rPr>
              <a:t>31 - 32</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8249459"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Detailed Literature Review</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952500" y="1554480"/>
            <a:ext cx="8249459"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Times New Roman" panose="02020603050405020304" pitchFamily="18" charset="0"/>
              </a:rPr>
              <a:t>Papers 1–5 of 27 · peer-reviewed</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16530"/>
            <a:ext cx="666750" cy="15240"/>
          </a:xfrm>
          <a:prstGeom prst="rect">
            <a:avLst/>
          </a:prstGeom>
          <a:solidFill>
            <a:srgbClr val="416180"/>
          </a:solidFill>
          <a:ln/>
        </p:spPr>
      </p:sp>
      <p:sp>
        <p:nvSpPr>
          <p:cNvPr id="6" name="Text 3"/>
          <p:cNvSpPr/>
          <p:nvPr/>
        </p:nvSpPr>
        <p:spPr>
          <a:xfrm>
            <a:off x="952500" y="2305050"/>
            <a:ext cx="55245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NO.</a:t>
            </a:r>
            <a:endParaRPr lang="en-US" sz="1800" dirty="0">
              <a:latin typeface="Times New Roman" panose="02020603050405020304" pitchFamily="18" charset="0"/>
              <a:cs typeface="Times New Roman" panose="02020603050405020304" pitchFamily="18" charset="0"/>
            </a:endParaRPr>
          </a:p>
        </p:txBody>
      </p:sp>
      <p:sp>
        <p:nvSpPr>
          <p:cNvPr id="7" name="Shape 4"/>
          <p:cNvSpPr/>
          <p:nvPr/>
        </p:nvSpPr>
        <p:spPr>
          <a:xfrm>
            <a:off x="1619250" y="2716530"/>
            <a:ext cx="2381250" cy="15240"/>
          </a:xfrm>
          <a:prstGeom prst="rect">
            <a:avLst/>
          </a:prstGeom>
          <a:solidFill>
            <a:srgbClr val="416180"/>
          </a:solidFill>
          <a:ln/>
        </p:spPr>
      </p:sp>
      <p:sp>
        <p:nvSpPr>
          <p:cNvPr id="8" name="Text 5"/>
          <p:cNvSpPr/>
          <p:nvPr/>
        </p:nvSpPr>
        <p:spPr>
          <a:xfrm>
            <a:off x="1619250" y="2305050"/>
            <a:ext cx="2266950" cy="316230"/>
          </a:xfrm>
          <a:prstGeom prst="rect">
            <a:avLst/>
          </a:prstGeom>
          <a:noFill/>
          <a:ln/>
        </p:spPr>
        <p:txBody>
          <a:bodyPr wrap="square" lIns="25400" tIns="25400" rIns="25400" bIns="25400" rtlCol="0" anchor="ctr">
            <a:normAutofit fontScale="85000" lnSpcReduction="1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AUTHOR(S) &amp; YEAR</a:t>
            </a:r>
            <a:endParaRPr lang="en-US" sz="1800" dirty="0">
              <a:latin typeface="Times New Roman" panose="02020603050405020304" pitchFamily="18" charset="0"/>
              <a:cs typeface="Times New Roman" panose="02020603050405020304" pitchFamily="18" charset="0"/>
            </a:endParaRPr>
          </a:p>
        </p:txBody>
      </p:sp>
      <p:sp>
        <p:nvSpPr>
          <p:cNvPr id="9" name="Shape 6"/>
          <p:cNvSpPr/>
          <p:nvPr/>
        </p:nvSpPr>
        <p:spPr>
          <a:xfrm>
            <a:off x="4000500" y="2716530"/>
            <a:ext cx="4953000" cy="15240"/>
          </a:xfrm>
          <a:prstGeom prst="rect">
            <a:avLst/>
          </a:prstGeom>
          <a:solidFill>
            <a:srgbClr val="416180"/>
          </a:solidFill>
          <a:ln/>
        </p:spPr>
      </p:sp>
      <p:sp>
        <p:nvSpPr>
          <p:cNvPr id="10" name="Text 7"/>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TITLE / SOURCE</a:t>
            </a:r>
            <a:endParaRPr lang="en-US" sz="1800" dirty="0">
              <a:latin typeface="Times New Roman" panose="02020603050405020304" pitchFamily="18" charset="0"/>
              <a:cs typeface="Times New Roman" panose="02020603050405020304" pitchFamily="18" charset="0"/>
            </a:endParaRPr>
          </a:p>
        </p:txBody>
      </p:sp>
      <p:sp>
        <p:nvSpPr>
          <p:cNvPr id="11" name="Shape 8"/>
          <p:cNvSpPr/>
          <p:nvPr/>
        </p:nvSpPr>
        <p:spPr>
          <a:xfrm>
            <a:off x="8953500" y="2716530"/>
            <a:ext cx="3810000" cy="15240"/>
          </a:xfrm>
          <a:prstGeom prst="rect">
            <a:avLst/>
          </a:prstGeom>
          <a:solidFill>
            <a:srgbClr val="416180"/>
          </a:solidFill>
          <a:ln/>
        </p:spPr>
      </p:sp>
      <p:sp>
        <p:nvSpPr>
          <p:cNvPr id="12" name="Text 9"/>
          <p:cNvSpPr/>
          <p:nvPr/>
        </p:nvSpPr>
        <p:spPr>
          <a:xfrm>
            <a:off x="8953500" y="2305050"/>
            <a:ext cx="373380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METHOD / APPROACH</a:t>
            </a:r>
            <a:endParaRPr lang="en-US" sz="1800" dirty="0">
              <a:latin typeface="Times New Roman" panose="02020603050405020304" pitchFamily="18" charset="0"/>
              <a:cs typeface="Times New Roman" panose="02020603050405020304" pitchFamily="18" charset="0"/>
            </a:endParaRPr>
          </a:p>
        </p:txBody>
      </p:sp>
      <p:sp>
        <p:nvSpPr>
          <p:cNvPr id="13" name="Shape 10"/>
          <p:cNvSpPr/>
          <p:nvPr/>
        </p:nvSpPr>
        <p:spPr>
          <a:xfrm>
            <a:off x="12763500" y="2716530"/>
            <a:ext cx="4572000" cy="15240"/>
          </a:xfrm>
          <a:prstGeom prst="rect">
            <a:avLst/>
          </a:prstGeom>
          <a:solidFill>
            <a:srgbClr val="416180"/>
          </a:solidFill>
          <a:ln/>
        </p:spPr>
      </p:sp>
      <p:sp>
        <p:nvSpPr>
          <p:cNvPr id="14" name="Text 11"/>
          <p:cNvSpPr/>
          <p:nvPr/>
        </p:nvSpPr>
        <p:spPr>
          <a:xfrm>
            <a:off x="12763500" y="2305050"/>
            <a:ext cx="470916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FINDINGS &amp; RESEARCH GAP</a:t>
            </a:r>
            <a:endParaRPr lang="en-US" sz="1800" dirty="0">
              <a:latin typeface="Times New Roman" panose="02020603050405020304" pitchFamily="18" charset="0"/>
              <a:cs typeface="Times New Roman" panose="02020603050405020304" pitchFamily="18" charset="0"/>
            </a:endParaRPr>
          </a:p>
        </p:txBody>
      </p:sp>
      <p:sp>
        <p:nvSpPr>
          <p:cNvPr id="15" name="Shape 12"/>
          <p:cNvSpPr/>
          <p:nvPr/>
        </p:nvSpPr>
        <p:spPr>
          <a:xfrm>
            <a:off x="952500" y="3536950"/>
            <a:ext cx="666750" cy="9525"/>
          </a:xfrm>
          <a:prstGeom prst="rect">
            <a:avLst/>
          </a:prstGeom>
          <a:solidFill>
            <a:srgbClr val="1D1F20">
              <a:alpha val="16000"/>
            </a:srgbClr>
          </a:solidFill>
          <a:ln/>
        </p:spPr>
      </p:sp>
      <p:sp>
        <p:nvSpPr>
          <p:cNvPr id="16" name="Text 13"/>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p:txBody>
      </p:sp>
      <p:sp>
        <p:nvSpPr>
          <p:cNvPr id="17" name="Shape 14"/>
          <p:cNvSpPr/>
          <p:nvPr/>
        </p:nvSpPr>
        <p:spPr>
          <a:xfrm>
            <a:off x="1619250" y="3536950"/>
            <a:ext cx="2381250" cy="9525"/>
          </a:xfrm>
          <a:prstGeom prst="rect">
            <a:avLst/>
          </a:prstGeom>
          <a:solidFill>
            <a:srgbClr val="1D1F20">
              <a:alpha val="16000"/>
            </a:srgbClr>
          </a:solidFill>
          <a:ln/>
        </p:spPr>
      </p:sp>
      <p:sp>
        <p:nvSpPr>
          <p:cNvPr id="18" name="Text 15"/>
          <p:cNvSpPr/>
          <p:nvPr/>
        </p:nvSpPr>
        <p:spPr>
          <a:xfrm>
            <a:off x="1619250" y="2846070"/>
            <a:ext cx="22669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Xiao et al., 2021</a:t>
            </a:r>
            <a:endParaRPr lang="en-US" sz="1800" dirty="0">
              <a:latin typeface="Times New Roman" panose="02020603050405020304" pitchFamily="18" charset="0"/>
              <a:cs typeface="Times New Roman" panose="02020603050405020304" pitchFamily="18" charset="0"/>
            </a:endParaRPr>
          </a:p>
        </p:txBody>
      </p:sp>
      <p:sp>
        <p:nvSpPr>
          <p:cNvPr id="19" name="Shape 16"/>
          <p:cNvSpPr/>
          <p:nvPr/>
        </p:nvSpPr>
        <p:spPr>
          <a:xfrm>
            <a:off x="4000500" y="3536950"/>
            <a:ext cx="4953000" cy="9525"/>
          </a:xfrm>
          <a:prstGeom prst="rect">
            <a:avLst/>
          </a:prstGeom>
          <a:solidFill>
            <a:srgbClr val="1D1F20">
              <a:alpha val="16000"/>
            </a:srgbClr>
          </a:solidFill>
          <a:ln/>
        </p:spPr>
      </p:sp>
      <p:sp>
        <p:nvSpPr>
          <p:cNvPr id="20" name="Text 17"/>
          <p:cNvSpPr/>
          <p:nvPr/>
        </p:nvSpPr>
        <p:spPr>
          <a:xfrm>
            <a:off x="4000500" y="2846070"/>
            <a:ext cx="491109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Lawformer: pre-trained LM for Chinese legal long documents · AI Open</a:t>
            </a:r>
            <a:endParaRPr lang="en-US" sz="1800" dirty="0">
              <a:latin typeface="Times New Roman" panose="02020603050405020304" pitchFamily="18" charset="0"/>
              <a:cs typeface="Times New Roman" panose="02020603050405020304" pitchFamily="18" charset="0"/>
            </a:endParaRPr>
          </a:p>
        </p:txBody>
      </p:sp>
      <p:sp>
        <p:nvSpPr>
          <p:cNvPr id="21" name="Shape 18"/>
          <p:cNvSpPr/>
          <p:nvPr/>
        </p:nvSpPr>
        <p:spPr>
          <a:xfrm>
            <a:off x="8953500" y="3536950"/>
            <a:ext cx="3810000" cy="9525"/>
          </a:xfrm>
          <a:prstGeom prst="rect">
            <a:avLst/>
          </a:prstGeom>
          <a:solidFill>
            <a:srgbClr val="1D1F20">
              <a:alpha val="16000"/>
            </a:srgbClr>
          </a:solidFill>
          <a:ln/>
        </p:spPr>
      </p:sp>
      <p:sp>
        <p:nvSpPr>
          <p:cNvPr id="22" name="Text 19"/>
          <p:cNvSpPr/>
          <p:nvPr/>
        </p:nvSpPr>
        <p:spPr>
          <a:xfrm>
            <a:off x="8953500" y="2846070"/>
            <a:ext cx="373380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Longformer-style pre-training on long Chinese legal documents</a:t>
            </a:r>
            <a:endParaRPr lang="en-US" sz="1800" dirty="0">
              <a:latin typeface="Times New Roman" panose="02020603050405020304" pitchFamily="18" charset="0"/>
              <a:cs typeface="Times New Roman" panose="02020603050405020304" pitchFamily="18" charset="0"/>
            </a:endParaRPr>
          </a:p>
        </p:txBody>
      </p:sp>
      <p:sp>
        <p:nvSpPr>
          <p:cNvPr id="23" name="Shape 20"/>
          <p:cNvSpPr/>
          <p:nvPr/>
        </p:nvSpPr>
        <p:spPr>
          <a:xfrm>
            <a:off x="12763500" y="3536950"/>
            <a:ext cx="4572000" cy="9525"/>
          </a:xfrm>
          <a:prstGeom prst="rect">
            <a:avLst/>
          </a:prstGeom>
          <a:solidFill>
            <a:srgbClr val="1D1F20">
              <a:alpha val="16000"/>
            </a:srgbClr>
          </a:solidFill>
          <a:ln/>
        </p:spPr>
      </p:sp>
      <p:sp>
        <p:nvSpPr>
          <p:cNvPr id="24" name="Text 21"/>
          <p:cNvSpPr/>
          <p:nvPr/>
        </p:nvSpPr>
        <p:spPr>
          <a:xfrm>
            <a:off x="12763500" y="2846070"/>
            <a:ext cx="470916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Strong long-document legal understanding; no retrieval or citation checking</a:t>
            </a:r>
            <a:endParaRPr lang="en-US" sz="1800" dirty="0">
              <a:latin typeface="Times New Roman" panose="02020603050405020304" pitchFamily="18" charset="0"/>
              <a:cs typeface="Times New Roman" panose="02020603050405020304" pitchFamily="18" charset="0"/>
            </a:endParaRPr>
          </a:p>
        </p:txBody>
      </p:sp>
      <p:sp>
        <p:nvSpPr>
          <p:cNvPr id="25" name="Shape 22"/>
          <p:cNvSpPr/>
          <p:nvPr/>
        </p:nvSpPr>
        <p:spPr>
          <a:xfrm>
            <a:off x="952500" y="4342130"/>
            <a:ext cx="666750" cy="9525"/>
          </a:xfrm>
          <a:prstGeom prst="rect">
            <a:avLst/>
          </a:prstGeom>
          <a:solidFill>
            <a:srgbClr val="1D1F20">
              <a:alpha val="16000"/>
            </a:srgbClr>
          </a:solidFill>
          <a:ln/>
        </p:spPr>
      </p:sp>
      <p:sp>
        <p:nvSpPr>
          <p:cNvPr id="26" name="Text 23"/>
          <p:cNvSpPr/>
          <p:nvPr/>
        </p:nvSpPr>
        <p:spPr>
          <a:xfrm>
            <a:off x="952500" y="365633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p:txBody>
      </p:sp>
      <p:sp>
        <p:nvSpPr>
          <p:cNvPr id="27" name="Shape 24"/>
          <p:cNvSpPr/>
          <p:nvPr/>
        </p:nvSpPr>
        <p:spPr>
          <a:xfrm>
            <a:off x="1619250" y="4342130"/>
            <a:ext cx="2381250" cy="9525"/>
          </a:xfrm>
          <a:prstGeom prst="rect">
            <a:avLst/>
          </a:prstGeom>
          <a:solidFill>
            <a:srgbClr val="1D1F20">
              <a:alpha val="16000"/>
            </a:srgbClr>
          </a:solidFill>
          <a:ln/>
        </p:spPr>
      </p:sp>
      <p:sp>
        <p:nvSpPr>
          <p:cNvPr id="28" name="Text 25"/>
          <p:cNvSpPr/>
          <p:nvPr/>
        </p:nvSpPr>
        <p:spPr>
          <a:xfrm>
            <a:off x="1619250" y="365633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Lewis et al., 2020</a:t>
            </a:r>
            <a:endParaRPr lang="en-US" sz="1800" dirty="0">
              <a:latin typeface="Times New Roman" panose="02020603050405020304" pitchFamily="18" charset="0"/>
              <a:cs typeface="Times New Roman" panose="02020603050405020304" pitchFamily="18" charset="0"/>
            </a:endParaRPr>
          </a:p>
        </p:txBody>
      </p:sp>
      <p:sp>
        <p:nvSpPr>
          <p:cNvPr id="29" name="Shape 26"/>
          <p:cNvSpPr/>
          <p:nvPr/>
        </p:nvSpPr>
        <p:spPr>
          <a:xfrm>
            <a:off x="4000500" y="4342130"/>
            <a:ext cx="4953000" cy="9525"/>
          </a:xfrm>
          <a:prstGeom prst="rect">
            <a:avLst/>
          </a:prstGeom>
          <a:solidFill>
            <a:srgbClr val="1D1F20">
              <a:alpha val="16000"/>
            </a:srgbClr>
          </a:solidFill>
          <a:ln/>
        </p:spPr>
      </p:sp>
      <p:sp>
        <p:nvSpPr>
          <p:cNvPr id="30" name="Text 27"/>
          <p:cNvSpPr/>
          <p:nvPr/>
        </p:nvSpPr>
        <p:spPr>
          <a:xfrm>
            <a:off x="4000500" y="365633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Retrieval-augmented generation for knowledge-intensive NLP · NeurIPS</a:t>
            </a:r>
            <a:endParaRPr lang="en-US" sz="1800" dirty="0">
              <a:latin typeface="Times New Roman" panose="02020603050405020304" pitchFamily="18" charset="0"/>
              <a:cs typeface="Times New Roman" panose="02020603050405020304" pitchFamily="18" charset="0"/>
            </a:endParaRPr>
          </a:p>
        </p:txBody>
      </p:sp>
      <p:sp>
        <p:nvSpPr>
          <p:cNvPr id="31" name="Shape 28"/>
          <p:cNvSpPr/>
          <p:nvPr/>
        </p:nvSpPr>
        <p:spPr>
          <a:xfrm>
            <a:off x="8953500" y="4342130"/>
            <a:ext cx="3810000" cy="9525"/>
          </a:xfrm>
          <a:prstGeom prst="rect">
            <a:avLst/>
          </a:prstGeom>
          <a:solidFill>
            <a:srgbClr val="1D1F20">
              <a:alpha val="16000"/>
            </a:srgbClr>
          </a:solidFill>
          <a:ln/>
        </p:spPr>
      </p:sp>
      <p:sp>
        <p:nvSpPr>
          <p:cNvPr id="32" name="Text 29"/>
          <p:cNvSpPr/>
          <p:nvPr/>
        </p:nvSpPr>
        <p:spPr>
          <a:xfrm>
            <a:off x="8953500" y="365633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Dense retriever + seq2seq generator trained end-to-end</a:t>
            </a:r>
            <a:endParaRPr lang="en-US" sz="1800" dirty="0">
              <a:latin typeface="Times New Roman" panose="02020603050405020304" pitchFamily="18" charset="0"/>
              <a:cs typeface="Times New Roman" panose="02020603050405020304" pitchFamily="18" charset="0"/>
            </a:endParaRPr>
          </a:p>
        </p:txBody>
      </p:sp>
      <p:sp>
        <p:nvSpPr>
          <p:cNvPr id="33" name="Shape 30"/>
          <p:cNvSpPr/>
          <p:nvPr/>
        </p:nvSpPr>
        <p:spPr>
          <a:xfrm>
            <a:off x="12763500" y="4342130"/>
            <a:ext cx="4572000" cy="9525"/>
          </a:xfrm>
          <a:prstGeom prst="rect">
            <a:avLst/>
          </a:prstGeom>
          <a:solidFill>
            <a:srgbClr val="1D1F20">
              <a:alpha val="16000"/>
            </a:srgbClr>
          </a:solidFill>
          <a:ln/>
        </p:spPr>
      </p:sp>
      <p:sp>
        <p:nvSpPr>
          <p:cNvPr id="34" name="Text 31"/>
          <p:cNvSpPr/>
          <p:nvPr/>
        </p:nvSpPr>
        <p:spPr>
          <a:xfrm>
            <a:off x="12763500" y="365633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Retrieval grounds generation; no check that sources support the answer</a:t>
            </a:r>
            <a:endParaRPr lang="en-US" sz="1800" dirty="0">
              <a:latin typeface="Times New Roman" panose="02020603050405020304" pitchFamily="18" charset="0"/>
              <a:cs typeface="Times New Roman" panose="02020603050405020304" pitchFamily="18" charset="0"/>
            </a:endParaRPr>
          </a:p>
        </p:txBody>
      </p:sp>
      <p:sp>
        <p:nvSpPr>
          <p:cNvPr id="35" name="Shape 32"/>
          <p:cNvSpPr/>
          <p:nvPr/>
        </p:nvSpPr>
        <p:spPr>
          <a:xfrm>
            <a:off x="952500" y="5147310"/>
            <a:ext cx="666750" cy="9525"/>
          </a:xfrm>
          <a:prstGeom prst="rect">
            <a:avLst/>
          </a:prstGeom>
          <a:solidFill>
            <a:srgbClr val="1D1F20">
              <a:alpha val="16000"/>
            </a:srgbClr>
          </a:solidFill>
          <a:ln/>
        </p:spPr>
      </p:sp>
      <p:sp>
        <p:nvSpPr>
          <p:cNvPr id="36" name="Text 33"/>
          <p:cNvSpPr/>
          <p:nvPr/>
        </p:nvSpPr>
        <p:spPr>
          <a:xfrm>
            <a:off x="952500" y="446151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p:txBody>
      </p:sp>
      <p:sp>
        <p:nvSpPr>
          <p:cNvPr id="37" name="Shape 34"/>
          <p:cNvSpPr/>
          <p:nvPr/>
        </p:nvSpPr>
        <p:spPr>
          <a:xfrm>
            <a:off x="1619250" y="5147310"/>
            <a:ext cx="2381250" cy="9525"/>
          </a:xfrm>
          <a:prstGeom prst="rect">
            <a:avLst/>
          </a:prstGeom>
          <a:solidFill>
            <a:srgbClr val="1D1F20">
              <a:alpha val="16000"/>
            </a:srgbClr>
          </a:solidFill>
          <a:ln/>
        </p:spPr>
      </p:sp>
      <p:sp>
        <p:nvSpPr>
          <p:cNvPr id="38" name="Text 35"/>
          <p:cNvSpPr/>
          <p:nvPr/>
        </p:nvSpPr>
        <p:spPr>
          <a:xfrm>
            <a:off x="1619250" y="446151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Chalkidis et al., 2022</a:t>
            </a:r>
            <a:endParaRPr lang="en-US" sz="1800" dirty="0">
              <a:latin typeface="Times New Roman" panose="02020603050405020304" pitchFamily="18" charset="0"/>
              <a:cs typeface="Times New Roman" panose="02020603050405020304" pitchFamily="18" charset="0"/>
            </a:endParaRPr>
          </a:p>
        </p:txBody>
      </p:sp>
      <p:sp>
        <p:nvSpPr>
          <p:cNvPr id="39" name="Shape 36"/>
          <p:cNvSpPr/>
          <p:nvPr/>
        </p:nvSpPr>
        <p:spPr>
          <a:xfrm>
            <a:off x="4000500" y="5147310"/>
            <a:ext cx="4953000" cy="9525"/>
          </a:xfrm>
          <a:prstGeom prst="rect">
            <a:avLst/>
          </a:prstGeom>
          <a:solidFill>
            <a:srgbClr val="1D1F20">
              <a:alpha val="16000"/>
            </a:srgbClr>
          </a:solidFill>
          <a:ln/>
        </p:spPr>
      </p:sp>
      <p:sp>
        <p:nvSpPr>
          <p:cNvPr id="40" name="Text 37"/>
          <p:cNvSpPr/>
          <p:nvPr/>
        </p:nvSpPr>
        <p:spPr>
          <a:xfrm>
            <a:off x="4000500" y="446151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LexGLUE: legal language understanding in English · ACL</a:t>
            </a:r>
            <a:endParaRPr lang="en-US" sz="1800" dirty="0">
              <a:latin typeface="Times New Roman" panose="02020603050405020304" pitchFamily="18" charset="0"/>
              <a:cs typeface="Times New Roman" panose="02020603050405020304" pitchFamily="18" charset="0"/>
            </a:endParaRPr>
          </a:p>
        </p:txBody>
      </p:sp>
      <p:sp>
        <p:nvSpPr>
          <p:cNvPr id="41" name="Shape 38"/>
          <p:cNvSpPr/>
          <p:nvPr/>
        </p:nvSpPr>
        <p:spPr>
          <a:xfrm>
            <a:off x="8953500" y="5147310"/>
            <a:ext cx="3810000" cy="9525"/>
          </a:xfrm>
          <a:prstGeom prst="rect">
            <a:avLst/>
          </a:prstGeom>
          <a:solidFill>
            <a:srgbClr val="1D1F20">
              <a:alpha val="16000"/>
            </a:srgbClr>
          </a:solidFill>
          <a:ln/>
        </p:spPr>
      </p:sp>
      <p:sp>
        <p:nvSpPr>
          <p:cNvPr id="42" name="Text 39"/>
          <p:cNvSpPr/>
          <p:nvPr/>
        </p:nvSpPr>
        <p:spPr>
          <a:xfrm>
            <a:off x="8953500" y="446151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Benchmark of seven English legal NLU tasks</a:t>
            </a:r>
            <a:endParaRPr lang="en-US" sz="1800" dirty="0">
              <a:latin typeface="Times New Roman" panose="02020603050405020304" pitchFamily="18" charset="0"/>
              <a:cs typeface="Times New Roman" panose="02020603050405020304" pitchFamily="18" charset="0"/>
            </a:endParaRPr>
          </a:p>
        </p:txBody>
      </p:sp>
      <p:sp>
        <p:nvSpPr>
          <p:cNvPr id="43" name="Shape 40"/>
          <p:cNvSpPr/>
          <p:nvPr/>
        </p:nvSpPr>
        <p:spPr>
          <a:xfrm>
            <a:off x="12763500" y="5147310"/>
            <a:ext cx="4572000" cy="9525"/>
          </a:xfrm>
          <a:prstGeom prst="rect">
            <a:avLst/>
          </a:prstGeom>
          <a:solidFill>
            <a:srgbClr val="1D1F20">
              <a:alpha val="16000"/>
            </a:srgbClr>
          </a:solidFill>
          <a:ln/>
        </p:spPr>
      </p:sp>
      <p:sp>
        <p:nvSpPr>
          <p:cNvPr id="44" name="Text 41"/>
          <p:cNvSpPr/>
          <p:nvPr/>
        </p:nvSpPr>
        <p:spPr>
          <a:xfrm>
            <a:off x="12763500" y="446151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Standard legal NLU scoring; no citation or hallucination metric</a:t>
            </a:r>
            <a:endParaRPr lang="en-US" sz="1800" dirty="0">
              <a:latin typeface="Times New Roman" panose="02020603050405020304" pitchFamily="18" charset="0"/>
              <a:cs typeface="Times New Roman" panose="02020603050405020304" pitchFamily="18" charset="0"/>
            </a:endParaRPr>
          </a:p>
        </p:txBody>
      </p:sp>
      <p:sp>
        <p:nvSpPr>
          <p:cNvPr id="45" name="Shape 42"/>
          <p:cNvSpPr/>
          <p:nvPr/>
        </p:nvSpPr>
        <p:spPr>
          <a:xfrm>
            <a:off x="952500" y="5952490"/>
            <a:ext cx="666750" cy="9525"/>
          </a:xfrm>
          <a:prstGeom prst="rect">
            <a:avLst/>
          </a:prstGeom>
          <a:solidFill>
            <a:srgbClr val="1D1F20">
              <a:alpha val="16000"/>
            </a:srgbClr>
          </a:solidFill>
          <a:ln/>
        </p:spPr>
      </p:sp>
      <p:sp>
        <p:nvSpPr>
          <p:cNvPr id="46" name="Text 43"/>
          <p:cNvSpPr/>
          <p:nvPr/>
        </p:nvSpPr>
        <p:spPr>
          <a:xfrm>
            <a:off x="952500" y="526669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p:txBody>
      </p:sp>
      <p:sp>
        <p:nvSpPr>
          <p:cNvPr id="47" name="Shape 44"/>
          <p:cNvSpPr/>
          <p:nvPr/>
        </p:nvSpPr>
        <p:spPr>
          <a:xfrm>
            <a:off x="1619250" y="5952490"/>
            <a:ext cx="2381250" cy="9525"/>
          </a:xfrm>
          <a:prstGeom prst="rect">
            <a:avLst/>
          </a:prstGeom>
          <a:solidFill>
            <a:srgbClr val="1D1F20">
              <a:alpha val="16000"/>
            </a:srgbClr>
          </a:solidFill>
          <a:ln/>
        </p:spPr>
      </p:sp>
      <p:sp>
        <p:nvSpPr>
          <p:cNvPr id="48" name="Text 45"/>
          <p:cNvSpPr/>
          <p:nvPr/>
        </p:nvSpPr>
        <p:spPr>
          <a:xfrm>
            <a:off x="1619250" y="526669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Wang, X. et al., 2023</a:t>
            </a:r>
            <a:endParaRPr lang="en-US" sz="1800" dirty="0">
              <a:latin typeface="Times New Roman" panose="02020603050405020304" pitchFamily="18" charset="0"/>
              <a:cs typeface="Times New Roman" panose="02020603050405020304" pitchFamily="18" charset="0"/>
            </a:endParaRPr>
          </a:p>
        </p:txBody>
      </p:sp>
      <p:sp>
        <p:nvSpPr>
          <p:cNvPr id="49" name="Shape 46"/>
          <p:cNvSpPr/>
          <p:nvPr/>
        </p:nvSpPr>
        <p:spPr>
          <a:xfrm>
            <a:off x="4000500" y="5952490"/>
            <a:ext cx="4953000" cy="9525"/>
          </a:xfrm>
          <a:prstGeom prst="rect">
            <a:avLst/>
          </a:prstGeom>
          <a:solidFill>
            <a:srgbClr val="1D1F20">
              <a:alpha val="16000"/>
            </a:srgbClr>
          </a:solidFill>
          <a:ln/>
        </p:spPr>
      </p:sp>
      <p:sp>
        <p:nvSpPr>
          <p:cNvPr id="50" name="Text 47"/>
          <p:cNvSpPr/>
          <p:nvPr/>
        </p:nvSpPr>
        <p:spPr>
          <a:xfrm>
            <a:off x="4000500" y="526669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Self-consistency improves chain-of-thought reasoning · ICLR</a:t>
            </a:r>
            <a:endParaRPr lang="en-US" sz="1800" dirty="0">
              <a:latin typeface="Times New Roman" panose="02020603050405020304" pitchFamily="18" charset="0"/>
              <a:cs typeface="Times New Roman" panose="02020603050405020304" pitchFamily="18" charset="0"/>
            </a:endParaRPr>
          </a:p>
        </p:txBody>
      </p:sp>
      <p:sp>
        <p:nvSpPr>
          <p:cNvPr id="51" name="Shape 48"/>
          <p:cNvSpPr/>
          <p:nvPr/>
        </p:nvSpPr>
        <p:spPr>
          <a:xfrm>
            <a:off x="8953500" y="5952490"/>
            <a:ext cx="3810000" cy="9525"/>
          </a:xfrm>
          <a:prstGeom prst="rect">
            <a:avLst/>
          </a:prstGeom>
          <a:solidFill>
            <a:srgbClr val="1D1F20">
              <a:alpha val="16000"/>
            </a:srgbClr>
          </a:solidFill>
          <a:ln/>
        </p:spPr>
      </p:sp>
      <p:sp>
        <p:nvSpPr>
          <p:cNvPr id="52" name="Text 49"/>
          <p:cNvSpPr/>
          <p:nvPr/>
        </p:nvSpPr>
        <p:spPr>
          <a:xfrm>
            <a:off x="8953500" y="526669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Sample several reasoning paths; majority vote</a:t>
            </a:r>
            <a:endParaRPr lang="en-US" sz="1800" dirty="0">
              <a:latin typeface="Times New Roman" panose="02020603050405020304" pitchFamily="18" charset="0"/>
              <a:cs typeface="Times New Roman" panose="02020603050405020304" pitchFamily="18" charset="0"/>
            </a:endParaRPr>
          </a:p>
        </p:txBody>
      </p:sp>
      <p:sp>
        <p:nvSpPr>
          <p:cNvPr id="53" name="Shape 50"/>
          <p:cNvSpPr/>
          <p:nvPr/>
        </p:nvSpPr>
        <p:spPr>
          <a:xfrm>
            <a:off x="12763500" y="5952490"/>
            <a:ext cx="4572000" cy="9525"/>
          </a:xfrm>
          <a:prstGeom prst="rect">
            <a:avLst/>
          </a:prstGeom>
          <a:solidFill>
            <a:srgbClr val="1D1F20">
              <a:alpha val="16000"/>
            </a:srgbClr>
          </a:solidFill>
          <a:ln/>
        </p:spPr>
      </p:sp>
      <p:sp>
        <p:nvSpPr>
          <p:cNvPr id="54" name="Text 51"/>
          <p:cNvSpPr/>
          <p:nvPr/>
        </p:nvSpPr>
        <p:spPr>
          <a:xfrm>
            <a:off x="12763500" y="526669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Consistency lifts accuracy; consistent answers can still lack evidence</a:t>
            </a:r>
            <a:endParaRPr lang="en-US" sz="1800" dirty="0">
              <a:latin typeface="Times New Roman" panose="02020603050405020304" pitchFamily="18" charset="0"/>
              <a:cs typeface="Times New Roman" panose="02020603050405020304" pitchFamily="18" charset="0"/>
            </a:endParaRPr>
          </a:p>
        </p:txBody>
      </p:sp>
      <p:sp>
        <p:nvSpPr>
          <p:cNvPr id="55" name="Shape 52"/>
          <p:cNvSpPr/>
          <p:nvPr/>
        </p:nvSpPr>
        <p:spPr>
          <a:xfrm>
            <a:off x="952500" y="6757670"/>
            <a:ext cx="666750" cy="9525"/>
          </a:xfrm>
          <a:prstGeom prst="rect">
            <a:avLst/>
          </a:prstGeom>
          <a:solidFill>
            <a:srgbClr val="1D1F20">
              <a:alpha val="16000"/>
            </a:srgbClr>
          </a:solidFill>
          <a:ln/>
        </p:spPr>
      </p:sp>
      <p:sp>
        <p:nvSpPr>
          <p:cNvPr id="56" name="Text 53"/>
          <p:cNvSpPr/>
          <p:nvPr/>
        </p:nvSpPr>
        <p:spPr>
          <a:xfrm>
            <a:off x="952500" y="607187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p:txBody>
      </p:sp>
      <p:sp>
        <p:nvSpPr>
          <p:cNvPr id="57" name="Shape 54"/>
          <p:cNvSpPr/>
          <p:nvPr/>
        </p:nvSpPr>
        <p:spPr>
          <a:xfrm>
            <a:off x="1619250" y="6757670"/>
            <a:ext cx="2381250" cy="9525"/>
          </a:xfrm>
          <a:prstGeom prst="rect">
            <a:avLst/>
          </a:prstGeom>
          <a:solidFill>
            <a:srgbClr val="1D1F20">
              <a:alpha val="16000"/>
            </a:srgbClr>
          </a:solidFill>
          <a:ln/>
        </p:spPr>
      </p:sp>
      <p:sp>
        <p:nvSpPr>
          <p:cNvPr id="58" name="Text 55"/>
          <p:cNvSpPr/>
          <p:nvPr/>
        </p:nvSpPr>
        <p:spPr>
          <a:xfrm>
            <a:off x="1619250" y="607187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Smit et al., 2024</a:t>
            </a:r>
            <a:endParaRPr lang="en-US" sz="1800" dirty="0">
              <a:latin typeface="Times New Roman" panose="02020603050405020304" pitchFamily="18" charset="0"/>
              <a:cs typeface="Times New Roman" panose="02020603050405020304" pitchFamily="18" charset="0"/>
            </a:endParaRPr>
          </a:p>
        </p:txBody>
      </p:sp>
      <p:sp>
        <p:nvSpPr>
          <p:cNvPr id="59" name="Shape 56"/>
          <p:cNvSpPr/>
          <p:nvPr/>
        </p:nvSpPr>
        <p:spPr>
          <a:xfrm>
            <a:off x="4000500" y="6757670"/>
            <a:ext cx="4953000" cy="9525"/>
          </a:xfrm>
          <a:prstGeom prst="rect">
            <a:avLst/>
          </a:prstGeom>
          <a:solidFill>
            <a:srgbClr val="1D1F20">
              <a:alpha val="16000"/>
            </a:srgbClr>
          </a:solidFill>
          <a:ln/>
        </p:spPr>
      </p:sp>
      <p:sp>
        <p:nvSpPr>
          <p:cNvPr id="60" name="Text 57"/>
          <p:cNvSpPr/>
          <p:nvPr/>
        </p:nvSpPr>
        <p:spPr>
          <a:xfrm>
            <a:off x="4000500" y="607187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Should we be going MAD? Multi-agent debate strategies for LLMs · ICML</a:t>
            </a:r>
            <a:endParaRPr lang="en-US" sz="1800" dirty="0">
              <a:latin typeface="Times New Roman" panose="02020603050405020304" pitchFamily="18" charset="0"/>
              <a:cs typeface="Times New Roman" panose="02020603050405020304" pitchFamily="18" charset="0"/>
            </a:endParaRPr>
          </a:p>
        </p:txBody>
      </p:sp>
      <p:sp>
        <p:nvSpPr>
          <p:cNvPr id="61" name="Shape 58"/>
          <p:cNvSpPr/>
          <p:nvPr/>
        </p:nvSpPr>
        <p:spPr>
          <a:xfrm>
            <a:off x="8953500" y="6757670"/>
            <a:ext cx="3810000" cy="9525"/>
          </a:xfrm>
          <a:prstGeom prst="rect">
            <a:avLst/>
          </a:prstGeom>
          <a:solidFill>
            <a:srgbClr val="1D1F20">
              <a:alpha val="16000"/>
            </a:srgbClr>
          </a:solidFill>
          <a:ln/>
        </p:spPr>
      </p:sp>
      <p:sp>
        <p:nvSpPr>
          <p:cNvPr id="62" name="Text 59"/>
          <p:cNvSpPr/>
          <p:nvPr/>
        </p:nvSpPr>
        <p:spPr>
          <a:xfrm>
            <a:off x="8953500" y="607187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Benchmarks debate strategies against prompting baselines</a:t>
            </a:r>
            <a:endParaRPr lang="en-US" sz="1800" dirty="0">
              <a:latin typeface="Times New Roman" panose="02020603050405020304" pitchFamily="18" charset="0"/>
              <a:cs typeface="Times New Roman" panose="02020603050405020304" pitchFamily="18" charset="0"/>
            </a:endParaRPr>
          </a:p>
        </p:txBody>
      </p:sp>
      <p:sp>
        <p:nvSpPr>
          <p:cNvPr id="63" name="Shape 60"/>
          <p:cNvSpPr/>
          <p:nvPr/>
        </p:nvSpPr>
        <p:spPr>
          <a:xfrm>
            <a:off x="12763500" y="6757670"/>
            <a:ext cx="4572000" cy="9525"/>
          </a:xfrm>
          <a:prstGeom prst="rect">
            <a:avLst/>
          </a:prstGeom>
          <a:solidFill>
            <a:srgbClr val="1D1F20">
              <a:alpha val="16000"/>
            </a:srgbClr>
          </a:solidFill>
          <a:ln/>
        </p:spPr>
      </p:sp>
      <p:sp>
        <p:nvSpPr>
          <p:cNvPr id="64" name="Text 61"/>
          <p:cNvSpPr/>
          <p:nvPr/>
        </p:nvSpPr>
        <p:spPr>
          <a:xfrm>
            <a:off x="12763500" y="607187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Debate gains are configuration-sensitive; no legal citation matcher</a:t>
            </a:r>
            <a:endParaRPr lang="en-US" sz="18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5210630C-52C9-CE0E-624E-5F6296D551DC}"/>
              </a:ext>
            </a:extLst>
          </p:cNvPr>
          <p:cNvSpPr txBox="1"/>
          <p:nvPr/>
        </p:nvSpPr>
        <p:spPr>
          <a:xfrm>
            <a:off x="17499012" y="9604058"/>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Detailed Literature Review (contd.)</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Times New Roman" panose="02020603050405020304" pitchFamily="18" charset="0"/>
              </a:rPr>
              <a:t>Papers 6–10 of 27</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16530"/>
            <a:ext cx="666750" cy="15240"/>
          </a:xfrm>
          <a:prstGeom prst="rect">
            <a:avLst/>
          </a:prstGeom>
          <a:solidFill>
            <a:srgbClr val="416180"/>
          </a:solidFill>
          <a:ln/>
        </p:spPr>
      </p:sp>
      <p:sp>
        <p:nvSpPr>
          <p:cNvPr id="6" name="Text 3"/>
          <p:cNvSpPr/>
          <p:nvPr/>
        </p:nvSpPr>
        <p:spPr>
          <a:xfrm>
            <a:off x="952500" y="2305050"/>
            <a:ext cx="55245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NO.</a:t>
            </a:r>
            <a:endParaRPr lang="en-US" sz="1800" dirty="0">
              <a:latin typeface="Times New Roman" panose="02020603050405020304" pitchFamily="18" charset="0"/>
              <a:cs typeface="Times New Roman" panose="02020603050405020304" pitchFamily="18" charset="0"/>
            </a:endParaRPr>
          </a:p>
        </p:txBody>
      </p:sp>
      <p:sp>
        <p:nvSpPr>
          <p:cNvPr id="7" name="Shape 4"/>
          <p:cNvSpPr/>
          <p:nvPr/>
        </p:nvSpPr>
        <p:spPr>
          <a:xfrm>
            <a:off x="1619250" y="2716530"/>
            <a:ext cx="2381250" cy="15240"/>
          </a:xfrm>
          <a:prstGeom prst="rect">
            <a:avLst/>
          </a:prstGeom>
          <a:solidFill>
            <a:srgbClr val="416180"/>
          </a:solidFill>
          <a:ln/>
        </p:spPr>
      </p:sp>
      <p:sp>
        <p:nvSpPr>
          <p:cNvPr id="8" name="Text 5"/>
          <p:cNvSpPr/>
          <p:nvPr/>
        </p:nvSpPr>
        <p:spPr>
          <a:xfrm>
            <a:off x="1619250" y="2305050"/>
            <a:ext cx="2266950" cy="316230"/>
          </a:xfrm>
          <a:prstGeom prst="rect">
            <a:avLst/>
          </a:prstGeom>
          <a:noFill/>
          <a:ln/>
        </p:spPr>
        <p:txBody>
          <a:bodyPr wrap="square" lIns="25400" tIns="25400" rIns="25400" bIns="25400" rtlCol="0" anchor="ctr">
            <a:normAutofit fontScale="85000" lnSpcReduction="1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AUTHOR(S) &amp; YEAR</a:t>
            </a:r>
            <a:endParaRPr lang="en-US" sz="1800" dirty="0">
              <a:latin typeface="Times New Roman" panose="02020603050405020304" pitchFamily="18" charset="0"/>
              <a:cs typeface="Times New Roman" panose="02020603050405020304" pitchFamily="18" charset="0"/>
            </a:endParaRPr>
          </a:p>
        </p:txBody>
      </p:sp>
      <p:sp>
        <p:nvSpPr>
          <p:cNvPr id="9" name="Shape 6"/>
          <p:cNvSpPr/>
          <p:nvPr/>
        </p:nvSpPr>
        <p:spPr>
          <a:xfrm>
            <a:off x="4000500" y="2716530"/>
            <a:ext cx="4953000" cy="15240"/>
          </a:xfrm>
          <a:prstGeom prst="rect">
            <a:avLst/>
          </a:prstGeom>
          <a:solidFill>
            <a:srgbClr val="416180"/>
          </a:solidFill>
          <a:ln/>
        </p:spPr>
      </p:sp>
      <p:sp>
        <p:nvSpPr>
          <p:cNvPr id="10" name="Text 7"/>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TITLE / SOURCE</a:t>
            </a:r>
            <a:endParaRPr lang="en-US" sz="1800" dirty="0">
              <a:latin typeface="Times New Roman" panose="02020603050405020304" pitchFamily="18" charset="0"/>
              <a:cs typeface="Times New Roman" panose="02020603050405020304" pitchFamily="18" charset="0"/>
            </a:endParaRPr>
          </a:p>
        </p:txBody>
      </p:sp>
      <p:sp>
        <p:nvSpPr>
          <p:cNvPr id="11" name="Shape 8"/>
          <p:cNvSpPr/>
          <p:nvPr/>
        </p:nvSpPr>
        <p:spPr>
          <a:xfrm>
            <a:off x="8953500" y="2716530"/>
            <a:ext cx="3810000" cy="15240"/>
          </a:xfrm>
          <a:prstGeom prst="rect">
            <a:avLst/>
          </a:prstGeom>
          <a:solidFill>
            <a:srgbClr val="416180"/>
          </a:solidFill>
          <a:ln/>
        </p:spPr>
      </p:sp>
      <p:sp>
        <p:nvSpPr>
          <p:cNvPr id="12" name="Text 9"/>
          <p:cNvSpPr/>
          <p:nvPr/>
        </p:nvSpPr>
        <p:spPr>
          <a:xfrm>
            <a:off x="8953500" y="2305050"/>
            <a:ext cx="373380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METHOD / APPROACH</a:t>
            </a:r>
            <a:endParaRPr lang="en-US" sz="1800" dirty="0">
              <a:latin typeface="Times New Roman" panose="02020603050405020304" pitchFamily="18" charset="0"/>
              <a:cs typeface="Times New Roman" panose="02020603050405020304" pitchFamily="18" charset="0"/>
            </a:endParaRPr>
          </a:p>
        </p:txBody>
      </p:sp>
      <p:sp>
        <p:nvSpPr>
          <p:cNvPr id="13" name="Shape 10"/>
          <p:cNvSpPr/>
          <p:nvPr/>
        </p:nvSpPr>
        <p:spPr>
          <a:xfrm>
            <a:off x="12763500" y="2716530"/>
            <a:ext cx="4572000" cy="15240"/>
          </a:xfrm>
          <a:prstGeom prst="rect">
            <a:avLst/>
          </a:prstGeom>
          <a:solidFill>
            <a:srgbClr val="416180"/>
          </a:solidFill>
          <a:ln/>
        </p:spPr>
      </p:sp>
      <p:sp>
        <p:nvSpPr>
          <p:cNvPr id="14" name="Text 11"/>
          <p:cNvSpPr/>
          <p:nvPr/>
        </p:nvSpPr>
        <p:spPr>
          <a:xfrm>
            <a:off x="12763500" y="2305050"/>
            <a:ext cx="470916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FINDINGS &amp; RESEARCH GAP</a:t>
            </a:r>
            <a:endParaRPr lang="en-US" sz="1800" dirty="0">
              <a:latin typeface="Times New Roman" panose="02020603050405020304" pitchFamily="18" charset="0"/>
              <a:cs typeface="Times New Roman" panose="02020603050405020304" pitchFamily="18" charset="0"/>
            </a:endParaRPr>
          </a:p>
        </p:txBody>
      </p:sp>
      <p:sp>
        <p:nvSpPr>
          <p:cNvPr id="15" name="Shape 12"/>
          <p:cNvSpPr/>
          <p:nvPr/>
        </p:nvSpPr>
        <p:spPr>
          <a:xfrm>
            <a:off x="952500" y="3536950"/>
            <a:ext cx="666750" cy="9525"/>
          </a:xfrm>
          <a:prstGeom prst="rect">
            <a:avLst/>
          </a:prstGeom>
          <a:solidFill>
            <a:srgbClr val="1D1F20">
              <a:alpha val="16000"/>
            </a:srgbClr>
          </a:solidFill>
          <a:ln/>
        </p:spPr>
      </p:sp>
      <p:sp>
        <p:nvSpPr>
          <p:cNvPr id="16" name="Text 13"/>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[6]</a:t>
            </a:r>
            <a:endParaRPr lang="en-US" sz="1800" dirty="0">
              <a:latin typeface="Times New Roman" panose="02020603050405020304" pitchFamily="18" charset="0"/>
              <a:cs typeface="Times New Roman" panose="02020603050405020304" pitchFamily="18" charset="0"/>
            </a:endParaRPr>
          </a:p>
        </p:txBody>
      </p:sp>
      <p:sp>
        <p:nvSpPr>
          <p:cNvPr id="17" name="Shape 14"/>
          <p:cNvSpPr/>
          <p:nvPr/>
        </p:nvSpPr>
        <p:spPr>
          <a:xfrm>
            <a:off x="1619250" y="3536950"/>
            <a:ext cx="2381250" cy="9525"/>
          </a:xfrm>
          <a:prstGeom prst="rect">
            <a:avLst/>
          </a:prstGeom>
          <a:solidFill>
            <a:srgbClr val="1D1F20">
              <a:alpha val="16000"/>
            </a:srgbClr>
          </a:solidFill>
          <a:ln/>
        </p:spPr>
      </p:sp>
      <p:sp>
        <p:nvSpPr>
          <p:cNvPr id="18" name="Text 15"/>
          <p:cNvSpPr/>
          <p:nvPr/>
        </p:nvSpPr>
        <p:spPr>
          <a:xfrm>
            <a:off x="1619250" y="2846070"/>
            <a:ext cx="22669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Dahl et al., 2024</a:t>
            </a:r>
            <a:endParaRPr lang="en-US" sz="1800" dirty="0">
              <a:latin typeface="Times New Roman" panose="02020603050405020304" pitchFamily="18" charset="0"/>
              <a:cs typeface="Times New Roman" panose="02020603050405020304" pitchFamily="18" charset="0"/>
            </a:endParaRPr>
          </a:p>
        </p:txBody>
      </p:sp>
      <p:sp>
        <p:nvSpPr>
          <p:cNvPr id="19" name="Shape 16"/>
          <p:cNvSpPr/>
          <p:nvPr/>
        </p:nvSpPr>
        <p:spPr>
          <a:xfrm>
            <a:off x="4000500" y="3536950"/>
            <a:ext cx="4953000" cy="9525"/>
          </a:xfrm>
          <a:prstGeom prst="rect">
            <a:avLst/>
          </a:prstGeom>
          <a:solidFill>
            <a:srgbClr val="1D1F20">
              <a:alpha val="16000"/>
            </a:srgbClr>
          </a:solidFill>
          <a:ln/>
        </p:spPr>
      </p:sp>
      <p:sp>
        <p:nvSpPr>
          <p:cNvPr id="20" name="Text 17"/>
          <p:cNvSpPr/>
          <p:nvPr/>
        </p:nvSpPr>
        <p:spPr>
          <a:xfrm>
            <a:off x="4000500" y="2846070"/>
            <a:ext cx="491109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Large legal fictions: profiling legal hallucinations in LLMs · J. Legal Analysis</a:t>
            </a:r>
            <a:endParaRPr lang="en-US" sz="1800" dirty="0">
              <a:latin typeface="Times New Roman" panose="02020603050405020304" pitchFamily="18" charset="0"/>
              <a:cs typeface="Times New Roman" panose="02020603050405020304" pitchFamily="18" charset="0"/>
            </a:endParaRPr>
          </a:p>
        </p:txBody>
      </p:sp>
      <p:sp>
        <p:nvSpPr>
          <p:cNvPr id="21" name="Shape 18"/>
          <p:cNvSpPr/>
          <p:nvPr/>
        </p:nvSpPr>
        <p:spPr>
          <a:xfrm>
            <a:off x="8953500" y="3536950"/>
            <a:ext cx="3810000" cy="9525"/>
          </a:xfrm>
          <a:prstGeom prst="rect">
            <a:avLst/>
          </a:prstGeom>
          <a:solidFill>
            <a:srgbClr val="1D1F20">
              <a:alpha val="16000"/>
            </a:srgbClr>
          </a:solidFill>
          <a:ln/>
        </p:spPr>
      </p:sp>
      <p:sp>
        <p:nvSpPr>
          <p:cNvPr id="22" name="Text 19"/>
          <p:cNvSpPr/>
          <p:nvPr/>
        </p:nvSpPr>
        <p:spPr>
          <a:xfrm>
            <a:off x="8953500" y="2846070"/>
            <a:ext cx="373380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Verifiable U.S. federal case questions posed to public LLMs</a:t>
            </a:r>
            <a:endParaRPr lang="en-US" sz="1800" dirty="0">
              <a:latin typeface="Times New Roman" panose="02020603050405020304" pitchFamily="18" charset="0"/>
              <a:cs typeface="Times New Roman" panose="02020603050405020304" pitchFamily="18" charset="0"/>
            </a:endParaRPr>
          </a:p>
        </p:txBody>
      </p:sp>
      <p:sp>
        <p:nvSpPr>
          <p:cNvPr id="23" name="Shape 20"/>
          <p:cNvSpPr/>
          <p:nvPr/>
        </p:nvSpPr>
        <p:spPr>
          <a:xfrm>
            <a:off x="12763500" y="3536950"/>
            <a:ext cx="4572000" cy="9525"/>
          </a:xfrm>
          <a:prstGeom prst="rect">
            <a:avLst/>
          </a:prstGeom>
          <a:solidFill>
            <a:srgbClr val="1D1F20">
              <a:alpha val="16000"/>
            </a:srgbClr>
          </a:solidFill>
          <a:ln/>
        </p:spPr>
      </p:sp>
      <p:sp>
        <p:nvSpPr>
          <p:cNvPr id="24" name="Text 21"/>
          <p:cNvSpPr/>
          <p:nvPr/>
        </p:nvSpPr>
        <p:spPr>
          <a:xfrm>
            <a:off x="12763500" y="2846070"/>
            <a:ext cx="470916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58–88% hallucination; motivates citation-level verification</a:t>
            </a:r>
            <a:endParaRPr lang="en-US" sz="1800" dirty="0">
              <a:latin typeface="Times New Roman" panose="02020603050405020304" pitchFamily="18" charset="0"/>
              <a:cs typeface="Times New Roman" panose="02020603050405020304" pitchFamily="18" charset="0"/>
            </a:endParaRPr>
          </a:p>
        </p:txBody>
      </p:sp>
      <p:sp>
        <p:nvSpPr>
          <p:cNvPr id="25" name="Shape 22"/>
          <p:cNvSpPr/>
          <p:nvPr/>
        </p:nvSpPr>
        <p:spPr>
          <a:xfrm>
            <a:off x="952500" y="4342130"/>
            <a:ext cx="666750" cy="9525"/>
          </a:xfrm>
          <a:prstGeom prst="rect">
            <a:avLst/>
          </a:prstGeom>
          <a:solidFill>
            <a:srgbClr val="1D1F20">
              <a:alpha val="16000"/>
            </a:srgbClr>
          </a:solidFill>
          <a:ln/>
        </p:spPr>
      </p:sp>
      <p:sp>
        <p:nvSpPr>
          <p:cNvPr id="26" name="Text 23"/>
          <p:cNvSpPr/>
          <p:nvPr/>
        </p:nvSpPr>
        <p:spPr>
          <a:xfrm>
            <a:off x="952500" y="365633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[7]</a:t>
            </a:r>
            <a:endParaRPr lang="en-US" sz="1800" dirty="0">
              <a:latin typeface="Times New Roman" panose="02020603050405020304" pitchFamily="18" charset="0"/>
              <a:cs typeface="Times New Roman" panose="02020603050405020304" pitchFamily="18" charset="0"/>
            </a:endParaRPr>
          </a:p>
        </p:txBody>
      </p:sp>
      <p:sp>
        <p:nvSpPr>
          <p:cNvPr id="27" name="Shape 24"/>
          <p:cNvSpPr/>
          <p:nvPr/>
        </p:nvSpPr>
        <p:spPr>
          <a:xfrm>
            <a:off x="1619250" y="4342130"/>
            <a:ext cx="2381250" cy="9525"/>
          </a:xfrm>
          <a:prstGeom prst="rect">
            <a:avLst/>
          </a:prstGeom>
          <a:solidFill>
            <a:srgbClr val="1D1F20">
              <a:alpha val="16000"/>
            </a:srgbClr>
          </a:solidFill>
          <a:ln/>
        </p:spPr>
      </p:sp>
      <p:sp>
        <p:nvSpPr>
          <p:cNvPr id="28" name="Text 25"/>
          <p:cNvSpPr/>
          <p:nvPr/>
        </p:nvSpPr>
        <p:spPr>
          <a:xfrm>
            <a:off x="1619250" y="365633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Fei et al., 2024</a:t>
            </a:r>
            <a:endParaRPr lang="en-US" sz="1800" dirty="0">
              <a:latin typeface="Times New Roman" panose="02020603050405020304" pitchFamily="18" charset="0"/>
              <a:cs typeface="Times New Roman" panose="02020603050405020304" pitchFamily="18" charset="0"/>
            </a:endParaRPr>
          </a:p>
        </p:txBody>
      </p:sp>
      <p:sp>
        <p:nvSpPr>
          <p:cNvPr id="29" name="Shape 26"/>
          <p:cNvSpPr/>
          <p:nvPr/>
        </p:nvSpPr>
        <p:spPr>
          <a:xfrm>
            <a:off x="4000500" y="4342130"/>
            <a:ext cx="4953000" cy="9525"/>
          </a:xfrm>
          <a:prstGeom prst="rect">
            <a:avLst/>
          </a:prstGeom>
          <a:solidFill>
            <a:srgbClr val="1D1F20">
              <a:alpha val="16000"/>
            </a:srgbClr>
          </a:solidFill>
          <a:ln/>
        </p:spPr>
      </p:sp>
      <p:sp>
        <p:nvSpPr>
          <p:cNvPr id="30" name="Text 27"/>
          <p:cNvSpPr/>
          <p:nvPr/>
        </p:nvSpPr>
        <p:spPr>
          <a:xfrm>
            <a:off x="4000500" y="365633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LawBench: benchmarking legal knowledge of LLMs · EMNLP</a:t>
            </a:r>
            <a:endParaRPr lang="en-US" sz="1800" dirty="0">
              <a:latin typeface="Times New Roman" panose="02020603050405020304" pitchFamily="18" charset="0"/>
              <a:cs typeface="Times New Roman" panose="02020603050405020304" pitchFamily="18" charset="0"/>
            </a:endParaRPr>
          </a:p>
        </p:txBody>
      </p:sp>
      <p:sp>
        <p:nvSpPr>
          <p:cNvPr id="31" name="Shape 28"/>
          <p:cNvSpPr/>
          <p:nvPr/>
        </p:nvSpPr>
        <p:spPr>
          <a:xfrm>
            <a:off x="8953500" y="4342130"/>
            <a:ext cx="3810000" cy="9525"/>
          </a:xfrm>
          <a:prstGeom prst="rect">
            <a:avLst/>
          </a:prstGeom>
          <a:solidFill>
            <a:srgbClr val="1D1F20">
              <a:alpha val="16000"/>
            </a:srgbClr>
          </a:solidFill>
          <a:ln/>
        </p:spPr>
      </p:sp>
      <p:sp>
        <p:nvSpPr>
          <p:cNvPr id="32" name="Text 29"/>
          <p:cNvSpPr/>
          <p:nvPr/>
        </p:nvSpPr>
        <p:spPr>
          <a:xfrm>
            <a:off x="8953500" y="365633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Chinese legal benchmark: memorise, understand, apply</a:t>
            </a:r>
            <a:endParaRPr lang="en-US" sz="1800" dirty="0">
              <a:latin typeface="Times New Roman" panose="02020603050405020304" pitchFamily="18" charset="0"/>
              <a:cs typeface="Times New Roman" panose="02020603050405020304" pitchFamily="18" charset="0"/>
            </a:endParaRPr>
          </a:p>
        </p:txBody>
      </p:sp>
      <p:sp>
        <p:nvSpPr>
          <p:cNvPr id="33" name="Shape 30"/>
          <p:cNvSpPr/>
          <p:nvPr/>
        </p:nvSpPr>
        <p:spPr>
          <a:xfrm>
            <a:off x="12763500" y="4342130"/>
            <a:ext cx="4572000" cy="9525"/>
          </a:xfrm>
          <a:prstGeom prst="rect">
            <a:avLst/>
          </a:prstGeom>
          <a:solidFill>
            <a:srgbClr val="1D1F20">
              <a:alpha val="16000"/>
            </a:srgbClr>
          </a:solidFill>
          <a:ln/>
        </p:spPr>
      </p:sp>
      <p:sp>
        <p:nvSpPr>
          <p:cNvPr id="34" name="Text 31"/>
          <p:cNvSpPr/>
          <p:nvPr/>
        </p:nvSpPr>
        <p:spPr>
          <a:xfrm>
            <a:off x="12763500" y="3656330"/>
            <a:ext cx="470916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Broad legal scoring; no measure of citation refusal</a:t>
            </a:r>
            <a:endParaRPr lang="en-US" sz="1800" dirty="0">
              <a:latin typeface="Times New Roman" panose="02020603050405020304" pitchFamily="18" charset="0"/>
              <a:cs typeface="Times New Roman" panose="02020603050405020304" pitchFamily="18" charset="0"/>
            </a:endParaRPr>
          </a:p>
        </p:txBody>
      </p:sp>
      <p:sp>
        <p:nvSpPr>
          <p:cNvPr id="35" name="Shape 32"/>
          <p:cNvSpPr/>
          <p:nvPr/>
        </p:nvSpPr>
        <p:spPr>
          <a:xfrm>
            <a:off x="952500" y="5147310"/>
            <a:ext cx="666750" cy="9525"/>
          </a:xfrm>
          <a:prstGeom prst="rect">
            <a:avLst/>
          </a:prstGeom>
          <a:solidFill>
            <a:srgbClr val="1D1F20">
              <a:alpha val="16000"/>
            </a:srgbClr>
          </a:solidFill>
          <a:ln/>
        </p:spPr>
      </p:sp>
      <p:sp>
        <p:nvSpPr>
          <p:cNvPr id="36" name="Text 33"/>
          <p:cNvSpPr/>
          <p:nvPr/>
        </p:nvSpPr>
        <p:spPr>
          <a:xfrm>
            <a:off x="952500" y="446151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[8]</a:t>
            </a:r>
            <a:endParaRPr lang="en-US" sz="1800" dirty="0">
              <a:latin typeface="Times New Roman" panose="02020603050405020304" pitchFamily="18" charset="0"/>
              <a:cs typeface="Times New Roman" panose="02020603050405020304" pitchFamily="18" charset="0"/>
            </a:endParaRPr>
          </a:p>
        </p:txBody>
      </p:sp>
      <p:sp>
        <p:nvSpPr>
          <p:cNvPr id="37" name="Shape 34"/>
          <p:cNvSpPr/>
          <p:nvPr/>
        </p:nvSpPr>
        <p:spPr>
          <a:xfrm>
            <a:off x="1619250" y="5147310"/>
            <a:ext cx="2381250" cy="9525"/>
          </a:xfrm>
          <a:prstGeom prst="rect">
            <a:avLst/>
          </a:prstGeom>
          <a:solidFill>
            <a:srgbClr val="1D1F20">
              <a:alpha val="16000"/>
            </a:srgbClr>
          </a:solidFill>
          <a:ln/>
        </p:spPr>
      </p:sp>
      <p:sp>
        <p:nvSpPr>
          <p:cNvPr id="38" name="Text 35"/>
          <p:cNvSpPr/>
          <p:nvPr/>
        </p:nvSpPr>
        <p:spPr>
          <a:xfrm>
            <a:off x="1619250" y="446151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Anaokar et al., 2025</a:t>
            </a:r>
            <a:endParaRPr lang="en-US" sz="1800" dirty="0">
              <a:latin typeface="Times New Roman" panose="02020603050405020304" pitchFamily="18" charset="0"/>
              <a:cs typeface="Times New Roman" panose="02020603050405020304" pitchFamily="18" charset="0"/>
            </a:endParaRPr>
          </a:p>
        </p:txBody>
      </p:sp>
      <p:sp>
        <p:nvSpPr>
          <p:cNvPr id="39" name="Shape 36"/>
          <p:cNvSpPr/>
          <p:nvPr/>
        </p:nvSpPr>
        <p:spPr>
          <a:xfrm>
            <a:off x="4000500" y="5147310"/>
            <a:ext cx="4953000" cy="9525"/>
          </a:xfrm>
          <a:prstGeom prst="rect">
            <a:avLst/>
          </a:prstGeom>
          <a:solidFill>
            <a:srgbClr val="1D1F20">
              <a:alpha val="16000"/>
            </a:srgbClr>
          </a:solidFill>
          <a:ln/>
        </p:spPr>
      </p:sp>
      <p:sp>
        <p:nvSpPr>
          <p:cNvPr id="40" name="Text 37"/>
          <p:cNvSpPr/>
          <p:nvPr/>
        </p:nvSpPr>
        <p:spPr>
          <a:xfrm>
            <a:off x="4000500" y="446151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HalluDetect: hallucinations in legal conversational systems · EMNLP Industry</a:t>
            </a:r>
            <a:endParaRPr lang="en-US" sz="1800" dirty="0">
              <a:latin typeface="Times New Roman" panose="02020603050405020304" pitchFamily="18" charset="0"/>
              <a:cs typeface="Times New Roman" panose="02020603050405020304" pitchFamily="18" charset="0"/>
            </a:endParaRPr>
          </a:p>
        </p:txBody>
      </p:sp>
      <p:sp>
        <p:nvSpPr>
          <p:cNvPr id="41" name="Shape 38"/>
          <p:cNvSpPr/>
          <p:nvPr/>
        </p:nvSpPr>
        <p:spPr>
          <a:xfrm>
            <a:off x="8953500" y="5147310"/>
            <a:ext cx="3810000" cy="9525"/>
          </a:xfrm>
          <a:prstGeom prst="rect">
            <a:avLst/>
          </a:prstGeom>
          <a:solidFill>
            <a:srgbClr val="1D1F20">
              <a:alpha val="16000"/>
            </a:srgbClr>
          </a:solidFill>
          <a:ln/>
        </p:spPr>
      </p:sp>
      <p:sp>
        <p:nvSpPr>
          <p:cNvPr id="42" name="Text 39"/>
          <p:cNvSpPr/>
          <p:nvPr/>
        </p:nvSpPr>
        <p:spPr>
          <a:xfrm>
            <a:off x="8953500" y="446151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Hallucination detection for legal chat systems</a:t>
            </a:r>
            <a:endParaRPr lang="en-US" sz="1800" dirty="0">
              <a:latin typeface="Times New Roman" panose="02020603050405020304" pitchFamily="18" charset="0"/>
              <a:cs typeface="Times New Roman" panose="02020603050405020304" pitchFamily="18" charset="0"/>
            </a:endParaRPr>
          </a:p>
        </p:txBody>
      </p:sp>
      <p:sp>
        <p:nvSpPr>
          <p:cNvPr id="43" name="Shape 40"/>
          <p:cNvSpPr/>
          <p:nvPr/>
        </p:nvSpPr>
        <p:spPr>
          <a:xfrm>
            <a:off x="12763500" y="5147310"/>
            <a:ext cx="4572000" cy="9525"/>
          </a:xfrm>
          <a:prstGeom prst="rect">
            <a:avLst/>
          </a:prstGeom>
          <a:solidFill>
            <a:srgbClr val="1D1F20">
              <a:alpha val="16000"/>
            </a:srgbClr>
          </a:solidFill>
          <a:ln/>
        </p:spPr>
      </p:sp>
      <p:sp>
        <p:nvSpPr>
          <p:cNvPr id="44" name="Text 41"/>
          <p:cNvSpPr/>
          <p:nvPr/>
        </p:nvSpPr>
        <p:spPr>
          <a:xfrm>
            <a:off x="12763500" y="446151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Post-hoc detection; no memory of past fabrications</a:t>
            </a:r>
            <a:endParaRPr lang="en-US" sz="1800" dirty="0">
              <a:latin typeface="Times New Roman" panose="02020603050405020304" pitchFamily="18" charset="0"/>
              <a:cs typeface="Times New Roman" panose="02020603050405020304" pitchFamily="18" charset="0"/>
            </a:endParaRPr>
          </a:p>
        </p:txBody>
      </p:sp>
      <p:sp>
        <p:nvSpPr>
          <p:cNvPr id="45" name="Shape 42"/>
          <p:cNvSpPr/>
          <p:nvPr/>
        </p:nvSpPr>
        <p:spPr>
          <a:xfrm>
            <a:off x="952500" y="5952490"/>
            <a:ext cx="666750" cy="9525"/>
          </a:xfrm>
          <a:prstGeom prst="rect">
            <a:avLst/>
          </a:prstGeom>
          <a:solidFill>
            <a:srgbClr val="1D1F20">
              <a:alpha val="16000"/>
            </a:srgbClr>
          </a:solidFill>
          <a:ln/>
        </p:spPr>
      </p:sp>
      <p:sp>
        <p:nvSpPr>
          <p:cNvPr id="46" name="Text 43"/>
          <p:cNvSpPr/>
          <p:nvPr/>
        </p:nvSpPr>
        <p:spPr>
          <a:xfrm>
            <a:off x="952500" y="526669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[9]</a:t>
            </a:r>
            <a:endParaRPr lang="en-US" sz="1800" dirty="0">
              <a:latin typeface="Times New Roman" panose="02020603050405020304" pitchFamily="18" charset="0"/>
              <a:cs typeface="Times New Roman" panose="02020603050405020304" pitchFamily="18" charset="0"/>
            </a:endParaRPr>
          </a:p>
        </p:txBody>
      </p:sp>
      <p:sp>
        <p:nvSpPr>
          <p:cNvPr id="47" name="Shape 44"/>
          <p:cNvSpPr/>
          <p:nvPr/>
        </p:nvSpPr>
        <p:spPr>
          <a:xfrm>
            <a:off x="1619250" y="5952490"/>
            <a:ext cx="2381250" cy="9525"/>
          </a:xfrm>
          <a:prstGeom prst="rect">
            <a:avLst/>
          </a:prstGeom>
          <a:solidFill>
            <a:srgbClr val="1D1F20">
              <a:alpha val="16000"/>
            </a:srgbClr>
          </a:solidFill>
          <a:ln/>
        </p:spPr>
      </p:sp>
      <p:sp>
        <p:nvSpPr>
          <p:cNvPr id="48" name="Text 45"/>
          <p:cNvSpPr/>
          <p:nvPr/>
        </p:nvSpPr>
        <p:spPr>
          <a:xfrm>
            <a:off x="1619250" y="526669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Liu &amp; Tang, 2025</a:t>
            </a:r>
            <a:endParaRPr lang="en-US" sz="1800" dirty="0">
              <a:latin typeface="Times New Roman" panose="02020603050405020304" pitchFamily="18" charset="0"/>
              <a:cs typeface="Times New Roman" panose="02020603050405020304" pitchFamily="18" charset="0"/>
            </a:endParaRPr>
          </a:p>
        </p:txBody>
      </p:sp>
      <p:sp>
        <p:nvSpPr>
          <p:cNvPr id="49" name="Shape 46"/>
          <p:cNvSpPr/>
          <p:nvPr/>
        </p:nvSpPr>
        <p:spPr>
          <a:xfrm>
            <a:off x="4000500" y="5952490"/>
            <a:ext cx="4953000" cy="9525"/>
          </a:xfrm>
          <a:prstGeom prst="rect">
            <a:avLst/>
          </a:prstGeom>
          <a:solidFill>
            <a:srgbClr val="1D1F20">
              <a:alpha val="16000"/>
            </a:srgbClr>
          </a:solidFill>
          <a:ln/>
        </p:spPr>
      </p:sp>
      <p:sp>
        <p:nvSpPr>
          <p:cNvPr id="50" name="Text 47"/>
          <p:cNvSpPr/>
          <p:nvPr/>
        </p:nvSpPr>
        <p:spPr>
          <a:xfrm>
            <a:off x="4000500" y="526669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LeAK-GraphRAG: legal academic knowledge GraphRAG · JURIX</a:t>
            </a:r>
            <a:endParaRPr lang="en-US" sz="1800" dirty="0">
              <a:latin typeface="Times New Roman" panose="02020603050405020304" pitchFamily="18" charset="0"/>
              <a:cs typeface="Times New Roman" panose="02020603050405020304" pitchFamily="18" charset="0"/>
            </a:endParaRPr>
          </a:p>
        </p:txBody>
      </p:sp>
      <p:sp>
        <p:nvSpPr>
          <p:cNvPr id="51" name="Shape 48"/>
          <p:cNvSpPr/>
          <p:nvPr/>
        </p:nvSpPr>
        <p:spPr>
          <a:xfrm>
            <a:off x="8953500" y="5952490"/>
            <a:ext cx="3810000" cy="9525"/>
          </a:xfrm>
          <a:prstGeom prst="rect">
            <a:avLst/>
          </a:prstGeom>
          <a:solidFill>
            <a:srgbClr val="1D1F20">
              <a:alpha val="16000"/>
            </a:srgbClr>
          </a:solidFill>
          <a:ln/>
        </p:spPr>
      </p:sp>
      <p:sp>
        <p:nvSpPr>
          <p:cNvPr id="52" name="Text 49"/>
          <p:cNvSpPr/>
          <p:nvPr/>
        </p:nvSpPr>
        <p:spPr>
          <a:xfrm>
            <a:off x="8953500" y="526669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Knowledge-graph RAG over legal academic sources</a:t>
            </a:r>
            <a:endParaRPr lang="en-US" sz="1800" dirty="0">
              <a:latin typeface="Times New Roman" panose="02020603050405020304" pitchFamily="18" charset="0"/>
              <a:cs typeface="Times New Roman" panose="02020603050405020304" pitchFamily="18" charset="0"/>
            </a:endParaRPr>
          </a:p>
        </p:txBody>
      </p:sp>
      <p:sp>
        <p:nvSpPr>
          <p:cNvPr id="53" name="Shape 50"/>
          <p:cNvSpPr/>
          <p:nvPr/>
        </p:nvSpPr>
        <p:spPr>
          <a:xfrm>
            <a:off x="12763500" y="5952490"/>
            <a:ext cx="4572000" cy="9525"/>
          </a:xfrm>
          <a:prstGeom prst="rect">
            <a:avLst/>
          </a:prstGeom>
          <a:solidFill>
            <a:srgbClr val="1D1F20">
              <a:alpha val="16000"/>
            </a:srgbClr>
          </a:solidFill>
          <a:ln/>
        </p:spPr>
      </p:sp>
      <p:sp>
        <p:nvSpPr>
          <p:cNvPr id="54" name="Text 51"/>
          <p:cNvSpPr/>
          <p:nvPr/>
        </p:nvSpPr>
        <p:spPr>
          <a:xfrm>
            <a:off x="12763500" y="526669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Better-structured evidence; no adversarial check of claims</a:t>
            </a:r>
            <a:endParaRPr lang="en-US" sz="1800" dirty="0">
              <a:latin typeface="Times New Roman" panose="02020603050405020304" pitchFamily="18" charset="0"/>
              <a:cs typeface="Times New Roman" panose="02020603050405020304" pitchFamily="18" charset="0"/>
            </a:endParaRPr>
          </a:p>
        </p:txBody>
      </p:sp>
      <p:sp>
        <p:nvSpPr>
          <p:cNvPr id="55" name="Shape 52"/>
          <p:cNvSpPr/>
          <p:nvPr/>
        </p:nvSpPr>
        <p:spPr>
          <a:xfrm>
            <a:off x="952500" y="7043420"/>
            <a:ext cx="666750" cy="9525"/>
          </a:xfrm>
          <a:prstGeom prst="rect">
            <a:avLst/>
          </a:prstGeom>
          <a:solidFill>
            <a:srgbClr val="1D1F20">
              <a:alpha val="16000"/>
            </a:srgbClr>
          </a:solidFill>
          <a:ln/>
        </p:spPr>
      </p:sp>
      <p:sp>
        <p:nvSpPr>
          <p:cNvPr id="56" name="Text 53"/>
          <p:cNvSpPr/>
          <p:nvPr/>
        </p:nvSpPr>
        <p:spPr>
          <a:xfrm>
            <a:off x="952500" y="6071870"/>
            <a:ext cx="55245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[10]</a:t>
            </a:r>
            <a:endParaRPr lang="en-US" sz="1800" dirty="0">
              <a:latin typeface="Times New Roman" panose="02020603050405020304" pitchFamily="18" charset="0"/>
              <a:cs typeface="Times New Roman" panose="02020603050405020304" pitchFamily="18" charset="0"/>
            </a:endParaRPr>
          </a:p>
        </p:txBody>
      </p:sp>
      <p:sp>
        <p:nvSpPr>
          <p:cNvPr id="57" name="Shape 54"/>
          <p:cNvSpPr/>
          <p:nvPr/>
        </p:nvSpPr>
        <p:spPr>
          <a:xfrm>
            <a:off x="1619250" y="7043420"/>
            <a:ext cx="2381250" cy="9525"/>
          </a:xfrm>
          <a:prstGeom prst="rect">
            <a:avLst/>
          </a:prstGeom>
          <a:solidFill>
            <a:srgbClr val="1D1F20">
              <a:alpha val="16000"/>
            </a:srgbClr>
          </a:solidFill>
          <a:ln/>
        </p:spPr>
      </p:sp>
      <p:sp>
        <p:nvSpPr>
          <p:cNvPr id="58" name="Text 55"/>
          <p:cNvSpPr/>
          <p:nvPr/>
        </p:nvSpPr>
        <p:spPr>
          <a:xfrm>
            <a:off x="1619250" y="6071870"/>
            <a:ext cx="226695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Huang et al., 2026</a:t>
            </a:r>
            <a:endParaRPr lang="en-US" sz="1800" dirty="0">
              <a:latin typeface="Times New Roman" panose="02020603050405020304" pitchFamily="18" charset="0"/>
              <a:cs typeface="Times New Roman" panose="02020603050405020304" pitchFamily="18" charset="0"/>
            </a:endParaRPr>
          </a:p>
        </p:txBody>
      </p:sp>
      <p:sp>
        <p:nvSpPr>
          <p:cNvPr id="59" name="Shape 56"/>
          <p:cNvSpPr/>
          <p:nvPr/>
        </p:nvSpPr>
        <p:spPr>
          <a:xfrm>
            <a:off x="4000500" y="7043420"/>
            <a:ext cx="4953000" cy="9525"/>
          </a:xfrm>
          <a:prstGeom prst="rect">
            <a:avLst/>
          </a:prstGeom>
          <a:solidFill>
            <a:srgbClr val="1D1F20">
              <a:alpha val="16000"/>
            </a:srgbClr>
          </a:solidFill>
          <a:ln/>
        </p:spPr>
      </p:sp>
      <p:sp>
        <p:nvSpPr>
          <p:cNvPr id="60" name="Text 57"/>
          <p:cNvSpPr/>
          <p:nvPr/>
        </p:nvSpPr>
        <p:spPr>
          <a:xfrm>
            <a:off x="4000500" y="6071870"/>
            <a:ext cx="4911090" cy="89535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Mitigating legal hallucinations via symbolic constraints and analogical precedents (AALawyer) · ACL</a:t>
            </a:r>
            <a:endParaRPr lang="en-US" sz="1800" dirty="0">
              <a:latin typeface="Times New Roman" panose="02020603050405020304" pitchFamily="18" charset="0"/>
              <a:cs typeface="Times New Roman" panose="02020603050405020304" pitchFamily="18" charset="0"/>
            </a:endParaRPr>
          </a:p>
        </p:txBody>
      </p:sp>
      <p:sp>
        <p:nvSpPr>
          <p:cNvPr id="61" name="Shape 58"/>
          <p:cNvSpPr/>
          <p:nvPr/>
        </p:nvSpPr>
        <p:spPr>
          <a:xfrm>
            <a:off x="8953500" y="7043420"/>
            <a:ext cx="3810000" cy="9525"/>
          </a:xfrm>
          <a:prstGeom prst="rect">
            <a:avLst/>
          </a:prstGeom>
          <a:solidFill>
            <a:srgbClr val="1D1F20">
              <a:alpha val="16000"/>
            </a:srgbClr>
          </a:solidFill>
          <a:ln/>
        </p:spPr>
      </p:sp>
      <p:sp>
        <p:nvSpPr>
          <p:cNvPr id="62" name="Text 59"/>
          <p:cNvSpPr/>
          <p:nvPr/>
        </p:nvSpPr>
        <p:spPr>
          <a:xfrm>
            <a:off x="8953500" y="6071870"/>
            <a:ext cx="373380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Symbolic constraints with analogical precedent retrieval</a:t>
            </a:r>
            <a:endParaRPr lang="en-US" sz="1800" dirty="0">
              <a:latin typeface="Times New Roman" panose="02020603050405020304" pitchFamily="18" charset="0"/>
              <a:cs typeface="Times New Roman" panose="02020603050405020304" pitchFamily="18" charset="0"/>
            </a:endParaRPr>
          </a:p>
        </p:txBody>
      </p:sp>
      <p:sp>
        <p:nvSpPr>
          <p:cNvPr id="63" name="Shape 60"/>
          <p:cNvSpPr/>
          <p:nvPr/>
        </p:nvSpPr>
        <p:spPr>
          <a:xfrm>
            <a:off x="12763500" y="7043420"/>
            <a:ext cx="4572000" cy="9525"/>
          </a:xfrm>
          <a:prstGeom prst="rect">
            <a:avLst/>
          </a:prstGeom>
          <a:solidFill>
            <a:srgbClr val="1D1F20">
              <a:alpha val="16000"/>
            </a:srgbClr>
          </a:solidFill>
          <a:ln/>
        </p:spPr>
      </p:sp>
      <p:sp>
        <p:nvSpPr>
          <p:cNvPr id="64" name="Text 61"/>
          <p:cNvSpPr/>
          <p:nvPr/>
        </p:nvSpPr>
        <p:spPr>
          <a:xfrm>
            <a:off x="12763500" y="6071870"/>
            <a:ext cx="470916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Constrains generation; no independent citation veto</a:t>
            </a:r>
            <a:endParaRPr lang="en-US" sz="18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16D19FDA-534C-2786-C887-F411CBA1EA97}"/>
              </a:ext>
            </a:extLst>
          </p:cNvPr>
          <p:cNvSpPr txBox="1"/>
          <p:nvPr/>
        </p:nvSpPr>
        <p:spPr>
          <a:xfrm>
            <a:off x="17513300" y="9604058"/>
            <a:ext cx="331788" cy="374974"/>
          </a:xfrm>
          <a:prstGeom prst="rect">
            <a:avLst/>
          </a:prstGeom>
          <a:noFill/>
        </p:spPr>
        <p:txBody>
          <a:bodyPr wrap="square">
            <a:spAutoFit/>
          </a:bodyPr>
          <a:lstStyle/>
          <a:p>
            <a:pPr marL="0" indent="0" algn="just">
              <a:lnSpc>
                <a:spcPct val="110294"/>
              </a:lnSpc>
              <a:buNone/>
            </a:pPr>
            <a:r>
              <a:rPr lang="en-US" sz="1800" dirty="0">
                <a:solidFill>
                  <a:schemeClr val="bg1">
                    <a:lumMod val="65000"/>
                  </a:schemeClr>
                </a:solidFill>
                <a:latin typeface="Times New Roman" panose="02020603050405020304" pitchFamily="18" charset="0"/>
                <a:cs typeface="Times New Roman" panose="02020603050405020304" pitchFamily="18" charset="0"/>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Detailed Literature Review (contd.)</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Times New Roman" panose="02020603050405020304" pitchFamily="18" charset="0"/>
              </a:rPr>
              <a:t>Papers 11–15 of 27</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16530"/>
            <a:ext cx="666750" cy="15240"/>
          </a:xfrm>
          <a:prstGeom prst="rect">
            <a:avLst/>
          </a:prstGeom>
          <a:solidFill>
            <a:srgbClr val="416180"/>
          </a:solidFill>
          <a:ln/>
        </p:spPr>
      </p:sp>
      <p:sp>
        <p:nvSpPr>
          <p:cNvPr id="6" name="Text 3"/>
          <p:cNvSpPr/>
          <p:nvPr/>
        </p:nvSpPr>
        <p:spPr>
          <a:xfrm>
            <a:off x="952500" y="2305050"/>
            <a:ext cx="55245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NO.</a:t>
            </a:r>
            <a:endParaRPr lang="en-US" sz="1800" dirty="0">
              <a:latin typeface="Times New Roman" panose="02020603050405020304" pitchFamily="18" charset="0"/>
              <a:cs typeface="Times New Roman" panose="02020603050405020304" pitchFamily="18" charset="0"/>
            </a:endParaRPr>
          </a:p>
        </p:txBody>
      </p:sp>
      <p:sp>
        <p:nvSpPr>
          <p:cNvPr id="7" name="Shape 4"/>
          <p:cNvSpPr/>
          <p:nvPr/>
        </p:nvSpPr>
        <p:spPr>
          <a:xfrm>
            <a:off x="1619250" y="2716530"/>
            <a:ext cx="2381250" cy="15240"/>
          </a:xfrm>
          <a:prstGeom prst="rect">
            <a:avLst/>
          </a:prstGeom>
          <a:solidFill>
            <a:srgbClr val="416180"/>
          </a:solidFill>
          <a:ln/>
        </p:spPr>
      </p:sp>
      <p:sp>
        <p:nvSpPr>
          <p:cNvPr id="8" name="Text 5"/>
          <p:cNvSpPr/>
          <p:nvPr/>
        </p:nvSpPr>
        <p:spPr>
          <a:xfrm>
            <a:off x="1619250" y="2305050"/>
            <a:ext cx="2266950" cy="316230"/>
          </a:xfrm>
          <a:prstGeom prst="rect">
            <a:avLst/>
          </a:prstGeom>
          <a:noFill/>
          <a:ln/>
        </p:spPr>
        <p:txBody>
          <a:bodyPr wrap="square" lIns="25400" tIns="25400" rIns="25400" bIns="25400" rtlCol="0" anchor="ctr">
            <a:normAutofit fontScale="85000" lnSpcReduction="1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AUTHOR(S) &amp; YEAR</a:t>
            </a:r>
            <a:endParaRPr lang="en-US" sz="1800" dirty="0">
              <a:latin typeface="Times New Roman" panose="02020603050405020304" pitchFamily="18" charset="0"/>
              <a:cs typeface="Times New Roman" panose="02020603050405020304" pitchFamily="18" charset="0"/>
            </a:endParaRPr>
          </a:p>
        </p:txBody>
      </p:sp>
      <p:sp>
        <p:nvSpPr>
          <p:cNvPr id="9" name="Shape 6"/>
          <p:cNvSpPr/>
          <p:nvPr/>
        </p:nvSpPr>
        <p:spPr>
          <a:xfrm>
            <a:off x="4000500" y="2716530"/>
            <a:ext cx="4953000" cy="15240"/>
          </a:xfrm>
          <a:prstGeom prst="rect">
            <a:avLst/>
          </a:prstGeom>
          <a:solidFill>
            <a:srgbClr val="416180"/>
          </a:solidFill>
          <a:ln/>
        </p:spPr>
      </p:sp>
      <p:sp>
        <p:nvSpPr>
          <p:cNvPr id="10" name="Text 7"/>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TITLE / SOURCE</a:t>
            </a:r>
            <a:endParaRPr lang="en-US" sz="1800" dirty="0">
              <a:latin typeface="Times New Roman" panose="02020603050405020304" pitchFamily="18" charset="0"/>
              <a:cs typeface="Times New Roman" panose="02020603050405020304" pitchFamily="18" charset="0"/>
            </a:endParaRPr>
          </a:p>
        </p:txBody>
      </p:sp>
      <p:sp>
        <p:nvSpPr>
          <p:cNvPr id="11" name="Shape 8"/>
          <p:cNvSpPr/>
          <p:nvPr/>
        </p:nvSpPr>
        <p:spPr>
          <a:xfrm>
            <a:off x="8953500" y="2716530"/>
            <a:ext cx="3810000" cy="15240"/>
          </a:xfrm>
          <a:prstGeom prst="rect">
            <a:avLst/>
          </a:prstGeom>
          <a:solidFill>
            <a:srgbClr val="416180"/>
          </a:solidFill>
          <a:ln/>
        </p:spPr>
      </p:sp>
      <p:sp>
        <p:nvSpPr>
          <p:cNvPr id="12" name="Text 9"/>
          <p:cNvSpPr/>
          <p:nvPr/>
        </p:nvSpPr>
        <p:spPr>
          <a:xfrm>
            <a:off x="8953500" y="2305050"/>
            <a:ext cx="373380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METHOD / APPROACH</a:t>
            </a:r>
            <a:endParaRPr lang="en-US" sz="1800" dirty="0">
              <a:latin typeface="Times New Roman" panose="02020603050405020304" pitchFamily="18" charset="0"/>
              <a:cs typeface="Times New Roman" panose="02020603050405020304" pitchFamily="18" charset="0"/>
            </a:endParaRPr>
          </a:p>
        </p:txBody>
      </p:sp>
      <p:sp>
        <p:nvSpPr>
          <p:cNvPr id="13" name="Shape 10"/>
          <p:cNvSpPr/>
          <p:nvPr/>
        </p:nvSpPr>
        <p:spPr>
          <a:xfrm>
            <a:off x="12763500" y="2716530"/>
            <a:ext cx="4572000" cy="15240"/>
          </a:xfrm>
          <a:prstGeom prst="rect">
            <a:avLst/>
          </a:prstGeom>
          <a:solidFill>
            <a:srgbClr val="416180"/>
          </a:solidFill>
          <a:ln/>
        </p:spPr>
      </p:sp>
      <p:sp>
        <p:nvSpPr>
          <p:cNvPr id="14" name="Text 11"/>
          <p:cNvSpPr/>
          <p:nvPr/>
        </p:nvSpPr>
        <p:spPr>
          <a:xfrm>
            <a:off x="12763500" y="2305050"/>
            <a:ext cx="470916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FINDINGS &amp; RESEARCH GAP</a:t>
            </a:r>
            <a:endParaRPr lang="en-US" sz="1800" dirty="0">
              <a:latin typeface="Times New Roman" panose="02020603050405020304" pitchFamily="18" charset="0"/>
              <a:cs typeface="Times New Roman" panose="02020603050405020304" pitchFamily="18" charset="0"/>
            </a:endParaRPr>
          </a:p>
        </p:txBody>
      </p:sp>
      <p:sp>
        <p:nvSpPr>
          <p:cNvPr id="15" name="Shape 12"/>
          <p:cNvSpPr/>
          <p:nvPr/>
        </p:nvSpPr>
        <p:spPr>
          <a:xfrm>
            <a:off x="952500" y="3536950"/>
            <a:ext cx="666750" cy="9525"/>
          </a:xfrm>
          <a:prstGeom prst="rect">
            <a:avLst/>
          </a:prstGeom>
          <a:solidFill>
            <a:srgbClr val="1D1F20">
              <a:alpha val="16000"/>
            </a:srgbClr>
          </a:solidFill>
          <a:ln/>
        </p:spPr>
      </p:sp>
      <p:sp>
        <p:nvSpPr>
          <p:cNvPr id="16" name="Text 13"/>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[11]</a:t>
            </a:r>
            <a:endParaRPr lang="en-US" sz="1800" dirty="0">
              <a:latin typeface="Times New Roman" panose="02020603050405020304" pitchFamily="18" charset="0"/>
              <a:cs typeface="Times New Roman" panose="02020603050405020304" pitchFamily="18" charset="0"/>
            </a:endParaRPr>
          </a:p>
        </p:txBody>
      </p:sp>
      <p:sp>
        <p:nvSpPr>
          <p:cNvPr id="17" name="Shape 14"/>
          <p:cNvSpPr/>
          <p:nvPr/>
        </p:nvSpPr>
        <p:spPr>
          <a:xfrm>
            <a:off x="1619250" y="3536950"/>
            <a:ext cx="2381250" cy="9525"/>
          </a:xfrm>
          <a:prstGeom prst="rect">
            <a:avLst/>
          </a:prstGeom>
          <a:solidFill>
            <a:srgbClr val="1D1F20">
              <a:alpha val="16000"/>
            </a:srgbClr>
          </a:solidFill>
          <a:ln/>
        </p:spPr>
      </p:sp>
      <p:sp>
        <p:nvSpPr>
          <p:cNvPr id="18" name="Text 15"/>
          <p:cNvSpPr/>
          <p:nvPr/>
        </p:nvSpPr>
        <p:spPr>
          <a:xfrm>
            <a:off x="1619250" y="2846070"/>
            <a:ext cx="22669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Cui et al., 2026</a:t>
            </a:r>
            <a:endParaRPr lang="en-US" sz="1800" dirty="0">
              <a:latin typeface="Times New Roman" panose="02020603050405020304" pitchFamily="18" charset="0"/>
              <a:cs typeface="Times New Roman" panose="02020603050405020304" pitchFamily="18" charset="0"/>
            </a:endParaRPr>
          </a:p>
        </p:txBody>
      </p:sp>
      <p:sp>
        <p:nvSpPr>
          <p:cNvPr id="19" name="Shape 16"/>
          <p:cNvSpPr/>
          <p:nvPr/>
        </p:nvSpPr>
        <p:spPr>
          <a:xfrm>
            <a:off x="4000500" y="3536950"/>
            <a:ext cx="4953000" cy="9525"/>
          </a:xfrm>
          <a:prstGeom prst="rect">
            <a:avLst/>
          </a:prstGeom>
          <a:solidFill>
            <a:srgbClr val="1D1F20">
              <a:alpha val="16000"/>
            </a:srgbClr>
          </a:solidFill>
          <a:ln/>
        </p:spPr>
      </p:sp>
      <p:sp>
        <p:nvSpPr>
          <p:cNvPr id="20" name="Text 17"/>
          <p:cNvSpPr/>
          <p:nvPr/>
        </p:nvSpPr>
        <p:spPr>
          <a:xfrm>
            <a:off x="4000500" y="2846070"/>
            <a:ext cx="491109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ChatLaw: multi-agent legal assistant with role-aligned MoE · Fundamental Research</a:t>
            </a:r>
            <a:endParaRPr lang="en-US" sz="1800" dirty="0">
              <a:latin typeface="Times New Roman" panose="02020603050405020304" pitchFamily="18" charset="0"/>
              <a:cs typeface="Times New Roman" panose="02020603050405020304" pitchFamily="18" charset="0"/>
            </a:endParaRPr>
          </a:p>
        </p:txBody>
      </p:sp>
      <p:sp>
        <p:nvSpPr>
          <p:cNvPr id="21" name="Shape 18"/>
          <p:cNvSpPr/>
          <p:nvPr/>
        </p:nvSpPr>
        <p:spPr>
          <a:xfrm>
            <a:off x="8953500" y="3536950"/>
            <a:ext cx="3810000" cy="9525"/>
          </a:xfrm>
          <a:prstGeom prst="rect">
            <a:avLst/>
          </a:prstGeom>
          <a:solidFill>
            <a:srgbClr val="1D1F20">
              <a:alpha val="16000"/>
            </a:srgbClr>
          </a:solidFill>
          <a:ln/>
        </p:spPr>
      </p:sp>
      <p:sp>
        <p:nvSpPr>
          <p:cNvPr id="22" name="Text 19"/>
          <p:cNvSpPr/>
          <p:nvPr/>
        </p:nvSpPr>
        <p:spPr>
          <a:xfrm>
            <a:off x="8953500" y="2846070"/>
            <a:ext cx="373380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Role-aligned mixture-of-experts legal agents</a:t>
            </a:r>
            <a:endParaRPr lang="en-US" sz="1800" dirty="0">
              <a:latin typeface="Times New Roman" panose="02020603050405020304" pitchFamily="18" charset="0"/>
              <a:cs typeface="Times New Roman" panose="02020603050405020304" pitchFamily="18" charset="0"/>
            </a:endParaRPr>
          </a:p>
        </p:txBody>
      </p:sp>
      <p:sp>
        <p:nvSpPr>
          <p:cNvPr id="23" name="Shape 20"/>
          <p:cNvSpPr/>
          <p:nvPr/>
        </p:nvSpPr>
        <p:spPr>
          <a:xfrm>
            <a:off x="12763500" y="3536950"/>
            <a:ext cx="4572000" cy="9525"/>
          </a:xfrm>
          <a:prstGeom prst="rect">
            <a:avLst/>
          </a:prstGeom>
          <a:solidFill>
            <a:srgbClr val="1D1F20">
              <a:alpha val="16000"/>
            </a:srgbClr>
          </a:solidFill>
          <a:ln/>
        </p:spPr>
      </p:sp>
      <p:sp>
        <p:nvSpPr>
          <p:cNvPr id="24" name="Text 21"/>
          <p:cNvSpPr/>
          <p:nvPr/>
        </p:nvSpPr>
        <p:spPr>
          <a:xfrm>
            <a:off x="12763500" y="2846070"/>
            <a:ext cx="470916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Role specialisation helps; agents share one evidence pool</a:t>
            </a:r>
            <a:endParaRPr lang="en-US" sz="1800" dirty="0">
              <a:latin typeface="Times New Roman" panose="02020603050405020304" pitchFamily="18" charset="0"/>
              <a:cs typeface="Times New Roman" panose="02020603050405020304" pitchFamily="18" charset="0"/>
            </a:endParaRPr>
          </a:p>
        </p:txBody>
      </p:sp>
      <p:sp>
        <p:nvSpPr>
          <p:cNvPr id="25" name="Shape 22"/>
          <p:cNvSpPr/>
          <p:nvPr/>
        </p:nvSpPr>
        <p:spPr>
          <a:xfrm>
            <a:off x="952500" y="4342130"/>
            <a:ext cx="666750" cy="9525"/>
          </a:xfrm>
          <a:prstGeom prst="rect">
            <a:avLst/>
          </a:prstGeom>
          <a:solidFill>
            <a:srgbClr val="1D1F20">
              <a:alpha val="16000"/>
            </a:srgbClr>
          </a:solidFill>
          <a:ln/>
        </p:spPr>
      </p:sp>
      <p:sp>
        <p:nvSpPr>
          <p:cNvPr id="26" name="Text 23"/>
          <p:cNvSpPr/>
          <p:nvPr/>
        </p:nvSpPr>
        <p:spPr>
          <a:xfrm>
            <a:off x="952500" y="365633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[12]</a:t>
            </a:r>
            <a:endParaRPr lang="en-US" sz="1800" dirty="0">
              <a:latin typeface="Times New Roman" panose="02020603050405020304" pitchFamily="18" charset="0"/>
              <a:cs typeface="Times New Roman" panose="02020603050405020304" pitchFamily="18" charset="0"/>
            </a:endParaRPr>
          </a:p>
        </p:txBody>
      </p:sp>
      <p:sp>
        <p:nvSpPr>
          <p:cNvPr id="27" name="Shape 24"/>
          <p:cNvSpPr/>
          <p:nvPr/>
        </p:nvSpPr>
        <p:spPr>
          <a:xfrm>
            <a:off x="1619250" y="4342130"/>
            <a:ext cx="2381250" cy="9525"/>
          </a:xfrm>
          <a:prstGeom prst="rect">
            <a:avLst/>
          </a:prstGeom>
          <a:solidFill>
            <a:srgbClr val="1D1F20">
              <a:alpha val="16000"/>
            </a:srgbClr>
          </a:solidFill>
          <a:ln/>
        </p:spPr>
      </p:sp>
      <p:sp>
        <p:nvSpPr>
          <p:cNvPr id="28" name="Text 25"/>
          <p:cNvSpPr/>
          <p:nvPr/>
        </p:nvSpPr>
        <p:spPr>
          <a:xfrm>
            <a:off x="1619250" y="365633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Noël et al., 2026</a:t>
            </a:r>
            <a:endParaRPr lang="en-US" sz="1800" dirty="0">
              <a:latin typeface="Times New Roman" panose="02020603050405020304" pitchFamily="18" charset="0"/>
              <a:cs typeface="Times New Roman" panose="02020603050405020304" pitchFamily="18" charset="0"/>
            </a:endParaRPr>
          </a:p>
        </p:txBody>
      </p:sp>
      <p:sp>
        <p:nvSpPr>
          <p:cNvPr id="29" name="Shape 26"/>
          <p:cNvSpPr/>
          <p:nvPr/>
        </p:nvSpPr>
        <p:spPr>
          <a:xfrm>
            <a:off x="4000500" y="4342130"/>
            <a:ext cx="4953000" cy="9525"/>
          </a:xfrm>
          <a:prstGeom prst="rect">
            <a:avLst/>
          </a:prstGeom>
          <a:solidFill>
            <a:srgbClr val="1D1F20">
              <a:alpha val="16000"/>
            </a:srgbClr>
          </a:solidFill>
          <a:ln/>
        </p:spPr>
      </p:sp>
      <p:sp>
        <p:nvSpPr>
          <p:cNvPr id="30" name="Text 27"/>
          <p:cNvSpPr/>
          <p:nvPr/>
        </p:nvSpPr>
        <p:spPr>
          <a:xfrm>
            <a:off x="4000500" y="365633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HalluGraph: auditable hallucination detection for legal RAG · AAAI</a:t>
            </a:r>
            <a:endParaRPr lang="en-US" sz="1800" dirty="0">
              <a:latin typeface="Times New Roman" panose="02020603050405020304" pitchFamily="18" charset="0"/>
              <a:cs typeface="Times New Roman" panose="02020603050405020304" pitchFamily="18" charset="0"/>
            </a:endParaRPr>
          </a:p>
        </p:txBody>
      </p:sp>
      <p:sp>
        <p:nvSpPr>
          <p:cNvPr id="31" name="Shape 28"/>
          <p:cNvSpPr/>
          <p:nvPr/>
        </p:nvSpPr>
        <p:spPr>
          <a:xfrm>
            <a:off x="8953500" y="4342130"/>
            <a:ext cx="3810000" cy="9525"/>
          </a:xfrm>
          <a:prstGeom prst="rect">
            <a:avLst/>
          </a:prstGeom>
          <a:solidFill>
            <a:srgbClr val="1D1F20">
              <a:alpha val="16000"/>
            </a:srgbClr>
          </a:solidFill>
          <a:ln/>
        </p:spPr>
      </p:sp>
      <p:sp>
        <p:nvSpPr>
          <p:cNvPr id="32" name="Text 29"/>
          <p:cNvSpPr/>
          <p:nvPr/>
        </p:nvSpPr>
        <p:spPr>
          <a:xfrm>
            <a:off x="8953500" y="365633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Graph alignment of entities and relations</a:t>
            </a:r>
            <a:endParaRPr lang="en-US" sz="1800" dirty="0">
              <a:latin typeface="Times New Roman" panose="02020603050405020304" pitchFamily="18" charset="0"/>
              <a:cs typeface="Times New Roman" panose="02020603050405020304" pitchFamily="18" charset="0"/>
            </a:endParaRPr>
          </a:p>
        </p:txBody>
      </p:sp>
      <p:sp>
        <p:nvSpPr>
          <p:cNvPr id="33" name="Shape 30"/>
          <p:cNvSpPr/>
          <p:nvPr/>
        </p:nvSpPr>
        <p:spPr>
          <a:xfrm>
            <a:off x="12763500" y="4342130"/>
            <a:ext cx="4572000" cy="9525"/>
          </a:xfrm>
          <a:prstGeom prst="rect">
            <a:avLst/>
          </a:prstGeom>
          <a:solidFill>
            <a:srgbClr val="1D1F20">
              <a:alpha val="16000"/>
            </a:srgbClr>
          </a:solidFill>
          <a:ln/>
        </p:spPr>
      </p:sp>
      <p:sp>
        <p:nvSpPr>
          <p:cNvPr id="34" name="Text 31"/>
          <p:cNvSpPr/>
          <p:nvPr/>
        </p:nvSpPr>
        <p:spPr>
          <a:xfrm>
            <a:off x="12763500" y="365633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Entity and path checks beat embedding similarity; post-hoc audit only</a:t>
            </a:r>
            <a:endParaRPr lang="en-US" sz="1800" dirty="0">
              <a:latin typeface="Times New Roman" panose="02020603050405020304" pitchFamily="18" charset="0"/>
              <a:cs typeface="Times New Roman" panose="02020603050405020304" pitchFamily="18" charset="0"/>
            </a:endParaRPr>
          </a:p>
        </p:txBody>
      </p:sp>
      <p:sp>
        <p:nvSpPr>
          <p:cNvPr id="35" name="Shape 32"/>
          <p:cNvSpPr/>
          <p:nvPr/>
        </p:nvSpPr>
        <p:spPr>
          <a:xfrm>
            <a:off x="952500" y="5147310"/>
            <a:ext cx="666750" cy="9525"/>
          </a:xfrm>
          <a:prstGeom prst="rect">
            <a:avLst/>
          </a:prstGeom>
          <a:solidFill>
            <a:srgbClr val="1D1F20">
              <a:alpha val="16000"/>
            </a:srgbClr>
          </a:solidFill>
          <a:ln/>
        </p:spPr>
      </p:sp>
      <p:sp>
        <p:nvSpPr>
          <p:cNvPr id="36" name="Text 33"/>
          <p:cNvSpPr/>
          <p:nvPr/>
        </p:nvSpPr>
        <p:spPr>
          <a:xfrm>
            <a:off x="952500" y="446151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[13]</a:t>
            </a:r>
            <a:endParaRPr lang="en-US" sz="1800" dirty="0">
              <a:latin typeface="Times New Roman" panose="02020603050405020304" pitchFamily="18" charset="0"/>
              <a:cs typeface="Times New Roman" panose="02020603050405020304" pitchFamily="18" charset="0"/>
            </a:endParaRPr>
          </a:p>
        </p:txBody>
      </p:sp>
      <p:sp>
        <p:nvSpPr>
          <p:cNvPr id="37" name="Shape 34"/>
          <p:cNvSpPr/>
          <p:nvPr/>
        </p:nvSpPr>
        <p:spPr>
          <a:xfrm>
            <a:off x="1619250" y="5147310"/>
            <a:ext cx="2381250" cy="9525"/>
          </a:xfrm>
          <a:prstGeom prst="rect">
            <a:avLst/>
          </a:prstGeom>
          <a:solidFill>
            <a:srgbClr val="1D1F20">
              <a:alpha val="16000"/>
            </a:srgbClr>
          </a:solidFill>
          <a:ln/>
        </p:spPr>
      </p:sp>
      <p:sp>
        <p:nvSpPr>
          <p:cNvPr id="38" name="Text 35"/>
          <p:cNvSpPr/>
          <p:nvPr/>
        </p:nvSpPr>
        <p:spPr>
          <a:xfrm>
            <a:off x="1619250" y="446151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Bose, 2026</a:t>
            </a:r>
            <a:endParaRPr lang="en-US" sz="1800" dirty="0">
              <a:latin typeface="Times New Roman" panose="02020603050405020304" pitchFamily="18" charset="0"/>
              <a:cs typeface="Times New Roman" panose="02020603050405020304" pitchFamily="18" charset="0"/>
            </a:endParaRPr>
          </a:p>
        </p:txBody>
      </p:sp>
      <p:sp>
        <p:nvSpPr>
          <p:cNvPr id="39" name="Shape 36"/>
          <p:cNvSpPr/>
          <p:nvPr/>
        </p:nvSpPr>
        <p:spPr>
          <a:xfrm>
            <a:off x="4000500" y="5147310"/>
            <a:ext cx="4953000" cy="9525"/>
          </a:xfrm>
          <a:prstGeom prst="rect">
            <a:avLst/>
          </a:prstGeom>
          <a:solidFill>
            <a:srgbClr val="1D1F20">
              <a:alpha val="16000"/>
            </a:srgbClr>
          </a:solidFill>
          <a:ln/>
        </p:spPr>
      </p:sp>
      <p:sp>
        <p:nvSpPr>
          <p:cNvPr id="40" name="Text 37"/>
          <p:cNvSpPr/>
          <p:nvPr/>
        </p:nvSpPr>
        <p:spPr>
          <a:xfrm>
            <a:off x="4000500" y="446151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Falkor-IRAC: graph-constrained generation for Indian judicial AI · InIRAC dataset</a:t>
            </a:r>
            <a:endParaRPr lang="en-US" sz="1800" dirty="0">
              <a:latin typeface="Times New Roman" panose="02020603050405020304" pitchFamily="18" charset="0"/>
              <a:cs typeface="Times New Roman" panose="02020603050405020304" pitchFamily="18" charset="0"/>
            </a:endParaRPr>
          </a:p>
        </p:txBody>
      </p:sp>
      <p:sp>
        <p:nvSpPr>
          <p:cNvPr id="41" name="Shape 38"/>
          <p:cNvSpPr/>
          <p:nvPr/>
        </p:nvSpPr>
        <p:spPr>
          <a:xfrm>
            <a:off x="8953500" y="5147310"/>
            <a:ext cx="3810000" cy="9525"/>
          </a:xfrm>
          <a:prstGeom prst="rect">
            <a:avLst/>
          </a:prstGeom>
          <a:solidFill>
            <a:srgbClr val="1D1F20">
              <a:alpha val="16000"/>
            </a:srgbClr>
          </a:solidFill>
          <a:ln/>
        </p:spPr>
      </p:sp>
      <p:sp>
        <p:nvSpPr>
          <p:cNvPr id="42" name="Text 39"/>
          <p:cNvSpPr/>
          <p:nvPr/>
        </p:nvSpPr>
        <p:spPr>
          <a:xfrm>
            <a:off x="8953500" y="446151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Graph-constrained IRAC-structured generation</a:t>
            </a:r>
            <a:endParaRPr lang="en-US" sz="1800" dirty="0">
              <a:latin typeface="Times New Roman" panose="02020603050405020304" pitchFamily="18" charset="0"/>
              <a:cs typeface="Times New Roman" panose="02020603050405020304" pitchFamily="18" charset="0"/>
            </a:endParaRPr>
          </a:p>
        </p:txBody>
      </p:sp>
      <p:sp>
        <p:nvSpPr>
          <p:cNvPr id="43" name="Shape 40"/>
          <p:cNvSpPr/>
          <p:nvPr/>
        </p:nvSpPr>
        <p:spPr>
          <a:xfrm>
            <a:off x="12763500" y="5147310"/>
            <a:ext cx="4572000" cy="9525"/>
          </a:xfrm>
          <a:prstGeom prst="rect">
            <a:avLst/>
          </a:prstGeom>
          <a:solidFill>
            <a:srgbClr val="1D1F20">
              <a:alpha val="16000"/>
            </a:srgbClr>
          </a:solidFill>
          <a:ln/>
        </p:spPr>
      </p:sp>
      <p:sp>
        <p:nvSpPr>
          <p:cNvPr id="44" name="Text 41"/>
          <p:cNvSpPr/>
          <p:nvPr/>
        </p:nvSpPr>
        <p:spPr>
          <a:xfrm>
            <a:off x="12763500" y="4461510"/>
            <a:ext cx="470916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Reduces drift; jurisdiction-specific, no debate</a:t>
            </a:r>
            <a:endParaRPr lang="en-US" sz="1800" dirty="0">
              <a:latin typeface="Times New Roman" panose="02020603050405020304" pitchFamily="18" charset="0"/>
              <a:cs typeface="Times New Roman" panose="02020603050405020304" pitchFamily="18" charset="0"/>
            </a:endParaRPr>
          </a:p>
        </p:txBody>
      </p:sp>
      <p:sp>
        <p:nvSpPr>
          <p:cNvPr id="45" name="Shape 42"/>
          <p:cNvSpPr/>
          <p:nvPr/>
        </p:nvSpPr>
        <p:spPr>
          <a:xfrm>
            <a:off x="952500" y="5952490"/>
            <a:ext cx="666750" cy="9525"/>
          </a:xfrm>
          <a:prstGeom prst="rect">
            <a:avLst/>
          </a:prstGeom>
          <a:solidFill>
            <a:srgbClr val="1D1F20">
              <a:alpha val="16000"/>
            </a:srgbClr>
          </a:solidFill>
          <a:ln/>
        </p:spPr>
      </p:sp>
      <p:sp>
        <p:nvSpPr>
          <p:cNvPr id="46" name="Text 43"/>
          <p:cNvSpPr/>
          <p:nvPr/>
        </p:nvSpPr>
        <p:spPr>
          <a:xfrm>
            <a:off x="952500" y="526669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[14]</a:t>
            </a:r>
            <a:endParaRPr lang="en-US" sz="1800" dirty="0">
              <a:latin typeface="Times New Roman" panose="02020603050405020304" pitchFamily="18" charset="0"/>
              <a:cs typeface="Times New Roman" panose="02020603050405020304" pitchFamily="18" charset="0"/>
            </a:endParaRPr>
          </a:p>
        </p:txBody>
      </p:sp>
      <p:sp>
        <p:nvSpPr>
          <p:cNvPr id="47" name="Shape 44"/>
          <p:cNvSpPr/>
          <p:nvPr/>
        </p:nvSpPr>
        <p:spPr>
          <a:xfrm>
            <a:off x="1619250" y="5952490"/>
            <a:ext cx="2381250" cy="9525"/>
          </a:xfrm>
          <a:prstGeom prst="rect">
            <a:avLst/>
          </a:prstGeom>
          <a:solidFill>
            <a:srgbClr val="1D1F20">
              <a:alpha val="16000"/>
            </a:srgbClr>
          </a:solidFill>
          <a:ln/>
        </p:spPr>
      </p:sp>
      <p:sp>
        <p:nvSpPr>
          <p:cNvPr id="48" name="Text 45"/>
          <p:cNvSpPr/>
          <p:nvPr/>
        </p:nvSpPr>
        <p:spPr>
          <a:xfrm>
            <a:off x="1619250" y="5266690"/>
            <a:ext cx="226695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Meng et al., 2025 (base paper)</a:t>
            </a:r>
            <a:endParaRPr lang="en-US" sz="1800" dirty="0">
              <a:latin typeface="Times New Roman" panose="02020603050405020304" pitchFamily="18" charset="0"/>
              <a:cs typeface="Times New Roman" panose="02020603050405020304" pitchFamily="18" charset="0"/>
            </a:endParaRPr>
          </a:p>
        </p:txBody>
      </p:sp>
      <p:sp>
        <p:nvSpPr>
          <p:cNvPr id="49" name="Shape 46"/>
          <p:cNvSpPr/>
          <p:nvPr/>
        </p:nvSpPr>
        <p:spPr>
          <a:xfrm>
            <a:off x="4000500" y="5952490"/>
            <a:ext cx="4953000" cy="9525"/>
          </a:xfrm>
          <a:prstGeom prst="rect">
            <a:avLst/>
          </a:prstGeom>
          <a:solidFill>
            <a:srgbClr val="1D1F20">
              <a:alpha val="16000"/>
            </a:srgbClr>
          </a:solidFill>
          <a:ln/>
        </p:spPr>
      </p:sp>
      <p:sp>
        <p:nvSpPr>
          <p:cNvPr id="50" name="Text 47"/>
          <p:cNvSpPr/>
          <p:nvPr/>
        </p:nvSpPr>
        <p:spPr>
          <a:xfrm>
            <a:off x="4000500" y="526669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Multi-agent human-in-the-loop framework for legal terminology mapping · AI and Law</a:t>
            </a:r>
            <a:endParaRPr lang="en-US" sz="1800" dirty="0">
              <a:latin typeface="Times New Roman" panose="02020603050405020304" pitchFamily="18" charset="0"/>
              <a:cs typeface="Times New Roman" panose="02020603050405020304" pitchFamily="18" charset="0"/>
            </a:endParaRPr>
          </a:p>
        </p:txBody>
      </p:sp>
      <p:sp>
        <p:nvSpPr>
          <p:cNvPr id="51" name="Shape 48"/>
          <p:cNvSpPr/>
          <p:nvPr/>
        </p:nvSpPr>
        <p:spPr>
          <a:xfrm>
            <a:off x="8953500" y="5952490"/>
            <a:ext cx="3810000" cy="9525"/>
          </a:xfrm>
          <a:prstGeom prst="rect">
            <a:avLst/>
          </a:prstGeom>
          <a:solidFill>
            <a:srgbClr val="1D1F20">
              <a:alpha val="16000"/>
            </a:srgbClr>
          </a:solidFill>
          <a:ln/>
        </p:spPr>
      </p:sp>
      <p:sp>
        <p:nvSpPr>
          <p:cNvPr id="52" name="Text 49"/>
          <p:cNvSpPr/>
          <p:nvPr/>
        </p:nvSpPr>
        <p:spPr>
          <a:xfrm>
            <a:off x="8953500" y="526669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Role-specialised agents with human review</a:t>
            </a:r>
            <a:endParaRPr lang="en-US" sz="1800" dirty="0">
              <a:latin typeface="Times New Roman" panose="02020603050405020304" pitchFamily="18" charset="0"/>
              <a:cs typeface="Times New Roman" panose="02020603050405020304" pitchFamily="18" charset="0"/>
            </a:endParaRPr>
          </a:p>
        </p:txBody>
      </p:sp>
      <p:sp>
        <p:nvSpPr>
          <p:cNvPr id="53" name="Shape 50"/>
          <p:cNvSpPr/>
          <p:nvPr/>
        </p:nvSpPr>
        <p:spPr>
          <a:xfrm>
            <a:off x="12763500" y="5952490"/>
            <a:ext cx="4572000" cy="9525"/>
          </a:xfrm>
          <a:prstGeom prst="rect">
            <a:avLst/>
          </a:prstGeom>
          <a:solidFill>
            <a:srgbClr val="1D1F20">
              <a:alpha val="16000"/>
            </a:srgbClr>
          </a:solidFill>
          <a:ln/>
        </p:spPr>
      </p:sp>
      <p:sp>
        <p:nvSpPr>
          <p:cNvPr id="54" name="Text 51"/>
          <p:cNvSpPr/>
          <p:nvPr/>
        </p:nvSpPr>
        <p:spPr>
          <a:xfrm>
            <a:off x="12763500" y="526669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Motivates LexAgent's role decomposition; no citation verification</a:t>
            </a:r>
            <a:endParaRPr lang="en-US" sz="1800" dirty="0">
              <a:latin typeface="Times New Roman" panose="02020603050405020304" pitchFamily="18" charset="0"/>
              <a:cs typeface="Times New Roman" panose="02020603050405020304" pitchFamily="18" charset="0"/>
            </a:endParaRPr>
          </a:p>
        </p:txBody>
      </p:sp>
      <p:sp>
        <p:nvSpPr>
          <p:cNvPr id="55" name="Shape 52"/>
          <p:cNvSpPr/>
          <p:nvPr/>
        </p:nvSpPr>
        <p:spPr>
          <a:xfrm>
            <a:off x="952500" y="6757670"/>
            <a:ext cx="666750" cy="9525"/>
          </a:xfrm>
          <a:prstGeom prst="rect">
            <a:avLst/>
          </a:prstGeom>
          <a:solidFill>
            <a:srgbClr val="1D1F20">
              <a:alpha val="16000"/>
            </a:srgbClr>
          </a:solidFill>
          <a:ln/>
        </p:spPr>
      </p:sp>
      <p:sp>
        <p:nvSpPr>
          <p:cNvPr id="56" name="Text 53"/>
          <p:cNvSpPr/>
          <p:nvPr/>
        </p:nvSpPr>
        <p:spPr>
          <a:xfrm>
            <a:off x="952500" y="607187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Times New Roman" panose="02020603050405020304" pitchFamily="18" charset="0"/>
              </a:rPr>
              <a:t>[15]</a:t>
            </a:r>
            <a:endParaRPr lang="en-US" sz="1800" dirty="0">
              <a:latin typeface="Times New Roman" panose="02020603050405020304" pitchFamily="18" charset="0"/>
              <a:cs typeface="Times New Roman" panose="02020603050405020304" pitchFamily="18" charset="0"/>
            </a:endParaRPr>
          </a:p>
        </p:txBody>
      </p:sp>
      <p:sp>
        <p:nvSpPr>
          <p:cNvPr id="57" name="Shape 54"/>
          <p:cNvSpPr/>
          <p:nvPr/>
        </p:nvSpPr>
        <p:spPr>
          <a:xfrm>
            <a:off x="1619250" y="6757670"/>
            <a:ext cx="2381250" cy="9525"/>
          </a:xfrm>
          <a:prstGeom prst="rect">
            <a:avLst/>
          </a:prstGeom>
          <a:solidFill>
            <a:srgbClr val="1D1F20">
              <a:alpha val="16000"/>
            </a:srgbClr>
          </a:solidFill>
          <a:ln/>
        </p:spPr>
      </p:sp>
      <p:sp>
        <p:nvSpPr>
          <p:cNvPr id="58" name="Text 55"/>
          <p:cNvSpPr/>
          <p:nvPr/>
        </p:nvSpPr>
        <p:spPr>
          <a:xfrm>
            <a:off x="1619250" y="607187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Times New Roman" panose="02020603050405020304" pitchFamily="18" charset="0"/>
              </a:rPr>
              <a:t>Hu et al., 2025</a:t>
            </a:r>
            <a:endParaRPr lang="en-US" sz="1800" dirty="0">
              <a:latin typeface="Times New Roman" panose="02020603050405020304" pitchFamily="18" charset="0"/>
              <a:cs typeface="Times New Roman" panose="02020603050405020304" pitchFamily="18" charset="0"/>
            </a:endParaRPr>
          </a:p>
        </p:txBody>
      </p:sp>
      <p:sp>
        <p:nvSpPr>
          <p:cNvPr id="59" name="Shape 56"/>
          <p:cNvSpPr/>
          <p:nvPr/>
        </p:nvSpPr>
        <p:spPr>
          <a:xfrm>
            <a:off x="4000500" y="6757670"/>
            <a:ext cx="4953000" cy="9525"/>
          </a:xfrm>
          <a:prstGeom prst="rect">
            <a:avLst/>
          </a:prstGeom>
          <a:solidFill>
            <a:srgbClr val="1D1F20">
              <a:alpha val="16000"/>
            </a:srgbClr>
          </a:solidFill>
          <a:ln/>
        </p:spPr>
      </p:sp>
      <p:sp>
        <p:nvSpPr>
          <p:cNvPr id="60" name="Text 57"/>
          <p:cNvSpPr/>
          <p:nvPr/>
        </p:nvSpPr>
        <p:spPr>
          <a:xfrm>
            <a:off x="4000500" y="607187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Removal of hallucination on hallucination: Debate-Augmented RAG · ACL</a:t>
            </a:r>
            <a:endParaRPr lang="en-US" sz="1800" dirty="0">
              <a:latin typeface="Times New Roman" panose="02020603050405020304" pitchFamily="18" charset="0"/>
              <a:cs typeface="Times New Roman" panose="02020603050405020304" pitchFamily="18" charset="0"/>
            </a:endParaRPr>
          </a:p>
        </p:txBody>
      </p:sp>
      <p:sp>
        <p:nvSpPr>
          <p:cNvPr id="61" name="Shape 58"/>
          <p:cNvSpPr/>
          <p:nvPr/>
        </p:nvSpPr>
        <p:spPr>
          <a:xfrm>
            <a:off x="8953500" y="6757670"/>
            <a:ext cx="3810000" cy="9525"/>
          </a:xfrm>
          <a:prstGeom prst="rect">
            <a:avLst/>
          </a:prstGeom>
          <a:solidFill>
            <a:srgbClr val="1D1F20">
              <a:alpha val="16000"/>
            </a:srgbClr>
          </a:solidFill>
          <a:ln/>
        </p:spPr>
      </p:sp>
      <p:sp>
        <p:nvSpPr>
          <p:cNvPr id="62" name="Text 59"/>
          <p:cNvSpPr/>
          <p:nvPr/>
        </p:nvSpPr>
        <p:spPr>
          <a:xfrm>
            <a:off x="8953500" y="607187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Debate at both retrieval and generation stages</a:t>
            </a:r>
            <a:endParaRPr lang="en-US" sz="1800" dirty="0">
              <a:latin typeface="Times New Roman" panose="02020603050405020304" pitchFamily="18" charset="0"/>
              <a:cs typeface="Times New Roman" panose="02020603050405020304" pitchFamily="18" charset="0"/>
            </a:endParaRPr>
          </a:p>
        </p:txBody>
      </p:sp>
      <p:sp>
        <p:nvSpPr>
          <p:cNvPr id="63" name="Shape 60"/>
          <p:cNvSpPr/>
          <p:nvPr/>
        </p:nvSpPr>
        <p:spPr>
          <a:xfrm>
            <a:off x="12763500" y="6757670"/>
            <a:ext cx="4572000" cy="9525"/>
          </a:xfrm>
          <a:prstGeom prst="rect">
            <a:avLst/>
          </a:prstGeom>
          <a:solidFill>
            <a:srgbClr val="1D1F20">
              <a:alpha val="16000"/>
            </a:srgbClr>
          </a:solidFill>
          <a:ln/>
        </p:spPr>
      </p:sp>
      <p:sp>
        <p:nvSpPr>
          <p:cNvPr id="64" name="Text 61"/>
          <p:cNvSpPr/>
          <p:nvPr/>
        </p:nvSpPr>
        <p:spPr>
          <a:xfrm>
            <a:off x="12763500" y="607187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Times New Roman" panose="02020603050405020304" pitchFamily="18" charset="0"/>
              </a:rPr>
              <a:t>Reduces compounding hallucination; general domain, no legal citation check</a:t>
            </a:r>
            <a:endParaRPr lang="en-US" sz="1800" dirty="0">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EDD7179B-0AFF-41F5-1300-BC4F2D4B8639}"/>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4</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Detailed Literature Review (contd.)</a:t>
            </a:r>
            <a:endParaRPr lang="en-US" sz="4800" dirty="0">
              <a:latin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Papers 16–21 of 27</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16530"/>
            <a:ext cx="666750" cy="15240"/>
          </a:xfrm>
          <a:prstGeom prst="rect">
            <a:avLst/>
          </a:prstGeom>
          <a:solidFill>
            <a:srgbClr val="416180"/>
          </a:solidFill>
          <a:ln/>
        </p:spPr>
      </p:sp>
      <p:sp>
        <p:nvSpPr>
          <p:cNvPr id="6" name="Text 3"/>
          <p:cNvSpPr/>
          <p:nvPr/>
        </p:nvSpPr>
        <p:spPr>
          <a:xfrm>
            <a:off x="952500" y="2305050"/>
            <a:ext cx="55245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7" name="Shape 4"/>
          <p:cNvSpPr/>
          <p:nvPr/>
        </p:nvSpPr>
        <p:spPr>
          <a:xfrm>
            <a:off x="1619250" y="2716530"/>
            <a:ext cx="2381250" cy="15240"/>
          </a:xfrm>
          <a:prstGeom prst="rect">
            <a:avLst/>
          </a:prstGeom>
          <a:solidFill>
            <a:srgbClr val="416180"/>
          </a:solidFill>
          <a:ln/>
        </p:spPr>
      </p:sp>
      <p:sp>
        <p:nvSpPr>
          <p:cNvPr id="8" name="Text 5"/>
          <p:cNvSpPr/>
          <p:nvPr/>
        </p:nvSpPr>
        <p:spPr>
          <a:xfrm>
            <a:off x="1619250" y="2305050"/>
            <a:ext cx="2266950" cy="316230"/>
          </a:xfrm>
          <a:prstGeom prst="rect">
            <a:avLst/>
          </a:prstGeom>
          <a:noFill/>
          <a:ln/>
        </p:spPr>
        <p:txBody>
          <a:bodyPr wrap="square" lIns="25400" tIns="25400" rIns="25400" bIns="25400" rtlCol="0" anchor="ctr">
            <a:normAutofit fontScale="85000" lnSpcReduction="1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AUTHOR(S) &amp; YEAR</a:t>
            </a:r>
            <a:endParaRPr lang="en-US" sz="1800" dirty="0">
              <a:latin typeface="Times New Roman" panose="02020603050405020304" pitchFamily="18" charset="0"/>
            </a:endParaRPr>
          </a:p>
        </p:txBody>
      </p:sp>
      <p:sp>
        <p:nvSpPr>
          <p:cNvPr id="9" name="Shape 6"/>
          <p:cNvSpPr/>
          <p:nvPr/>
        </p:nvSpPr>
        <p:spPr>
          <a:xfrm>
            <a:off x="4000500" y="2716530"/>
            <a:ext cx="4953000" cy="15240"/>
          </a:xfrm>
          <a:prstGeom prst="rect">
            <a:avLst/>
          </a:prstGeom>
          <a:solidFill>
            <a:srgbClr val="416180"/>
          </a:solidFill>
          <a:ln/>
        </p:spPr>
      </p:sp>
      <p:sp>
        <p:nvSpPr>
          <p:cNvPr id="10" name="Text 7"/>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TITLE / SOURCE</a:t>
            </a:r>
            <a:endParaRPr lang="en-US" sz="1800" dirty="0">
              <a:latin typeface="Times New Roman" panose="02020603050405020304" pitchFamily="18" charset="0"/>
            </a:endParaRPr>
          </a:p>
        </p:txBody>
      </p:sp>
      <p:sp>
        <p:nvSpPr>
          <p:cNvPr id="11" name="Shape 8"/>
          <p:cNvSpPr/>
          <p:nvPr/>
        </p:nvSpPr>
        <p:spPr>
          <a:xfrm>
            <a:off x="8953500" y="2716530"/>
            <a:ext cx="3810000" cy="15240"/>
          </a:xfrm>
          <a:prstGeom prst="rect">
            <a:avLst/>
          </a:prstGeom>
          <a:solidFill>
            <a:srgbClr val="416180"/>
          </a:solidFill>
          <a:ln/>
        </p:spPr>
      </p:sp>
      <p:sp>
        <p:nvSpPr>
          <p:cNvPr id="12" name="Text 9"/>
          <p:cNvSpPr/>
          <p:nvPr/>
        </p:nvSpPr>
        <p:spPr>
          <a:xfrm>
            <a:off x="8953500" y="2305050"/>
            <a:ext cx="373380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METHOD / APPROACH</a:t>
            </a:r>
            <a:endParaRPr lang="en-US" sz="1800" dirty="0">
              <a:latin typeface="Times New Roman" panose="02020603050405020304" pitchFamily="18" charset="0"/>
            </a:endParaRPr>
          </a:p>
        </p:txBody>
      </p:sp>
      <p:sp>
        <p:nvSpPr>
          <p:cNvPr id="13" name="Shape 10"/>
          <p:cNvSpPr/>
          <p:nvPr/>
        </p:nvSpPr>
        <p:spPr>
          <a:xfrm>
            <a:off x="12763500" y="2716530"/>
            <a:ext cx="4572000" cy="15240"/>
          </a:xfrm>
          <a:prstGeom prst="rect">
            <a:avLst/>
          </a:prstGeom>
          <a:solidFill>
            <a:srgbClr val="416180"/>
          </a:solidFill>
          <a:ln/>
        </p:spPr>
      </p:sp>
      <p:sp>
        <p:nvSpPr>
          <p:cNvPr id="14" name="Text 11"/>
          <p:cNvSpPr/>
          <p:nvPr/>
        </p:nvSpPr>
        <p:spPr>
          <a:xfrm>
            <a:off x="12763500" y="2305050"/>
            <a:ext cx="470916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FINDINGS &amp; RESEARCH GAP</a:t>
            </a:r>
            <a:endParaRPr lang="en-US" sz="1800" dirty="0">
              <a:latin typeface="Times New Roman" panose="02020603050405020304" pitchFamily="18" charset="0"/>
            </a:endParaRPr>
          </a:p>
        </p:txBody>
      </p:sp>
      <p:sp>
        <p:nvSpPr>
          <p:cNvPr id="15" name="Shape 12"/>
          <p:cNvSpPr/>
          <p:nvPr/>
        </p:nvSpPr>
        <p:spPr>
          <a:xfrm>
            <a:off x="952500" y="3536950"/>
            <a:ext cx="666750" cy="9525"/>
          </a:xfrm>
          <a:prstGeom prst="rect">
            <a:avLst/>
          </a:prstGeom>
          <a:solidFill>
            <a:srgbClr val="1D1F20">
              <a:alpha val="16000"/>
            </a:srgbClr>
          </a:solidFill>
          <a:ln/>
        </p:spPr>
      </p:sp>
      <p:sp>
        <p:nvSpPr>
          <p:cNvPr id="16" name="Text 13"/>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[16]</a:t>
            </a:r>
            <a:endParaRPr lang="en-US" sz="1800" dirty="0">
              <a:latin typeface="Times New Roman" panose="02020603050405020304" pitchFamily="18" charset="0"/>
            </a:endParaRPr>
          </a:p>
        </p:txBody>
      </p:sp>
      <p:sp>
        <p:nvSpPr>
          <p:cNvPr id="17" name="Shape 14"/>
          <p:cNvSpPr/>
          <p:nvPr/>
        </p:nvSpPr>
        <p:spPr>
          <a:xfrm>
            <a:off x="1619250" y="3536950"/>
            <a:ext cx="2381250" cy="9525"/>
          </a:xfrm>
          <a:prstGeom prst="rect">
            <a:avLst/>
          </a:prstGeom>
          <a:solidFill>
            <a:srgbClr val="1D1F20">
              <a:alpha val="16000"/>
            </a:srgbClr>
          </a:solidFill>
          <a:ln/>
        </p:spPr>
      </p:sp>
      <p:sp>
        <p:nvSpPr>
          <p:cNvPr id="18" name="Text 15"/>
          <p:cNvSpPr/>
          <p:nvPr/>
        </p:nvSpPr>
        <p:spPr>
          <a:xfrm>
            <a:off x="1619250" y="2846070"/>
            <a:ext cx="22669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Du et al., 2023</a:t>
            </a:r>
            <a:endParaRPr lang="en-US" sz="1800" dirty="0">
              <a:latin typeface="Times New Roman" panose="02020603050405020304" pitchFamily="18" charset="0"/>
            </a:endParaRPr>
          </a:p>
        </p:txBody>
      </p:sp>
      <p:sp>
        <p:nvSpPr>
          <p:cNvPr id="19" name="Shape 16"/>
          <p:cNvSpPr/>
          <p:nvPr/>
        </p:nvSpPr>
        <p:spPr>
          <a:xfrm>
            <a:off x="4000500" y="3536950"/>
            <a:ext cx="4953000" cy="9525"/>
          </a:xfrm>
          <a:prstGeom prst="rect">
            <a:avLst/>
          </a:prstGeom>
          <a:solidFill>
            <a:srgbClr val="1D1F20">
              <a:alpha val="16000"/>
            </a:srgbClr>
          </a:solidFill>
          <a:ln/>
        </p:spPr>
      </p:sp>
      <p:sp>
        <p:nvSpPr>
          <p:cNvPr id="20" name="Text 17"/>
          <p:cNvSpPr/>
          <p:nvPr/>
        </p:nvSpPr>
        <p:spPr>
          <a:xfrm>
            <a:off x="4000500" y="2846070"/>
            <a:ext cx="491109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Improving factuality and reasoning through multiagent debate · arXiv:2305.14325</a:t>
            </a:r>
            <a:endParaRPr lang="en-US" sz="1800" dirty="0">
              <a:latin typeface="Times New Roman" panose="02020603050405020304" pitchFamily="18" charset="0"/>
            </a:endParaRPr>
          </a:p>
        </p:txBody>
      </p:sp>
      <p:sp>
        <p:nvSpPr>
          <p:cNvPr id="21" name="Shape 18"/>
          <p:cNvSpPr/>
          <p:nvPr/>
        </p:nvSpPr>
        <p:spPr>
          <a:xfrm>
            <a:off x="8953500" y="3536950"/>
            <a:ext cx="3810000" cy="9525"/>
          </a:xfrm>
          <a:prstGeom prst="rect">
            <a:avLst/>
          </a:prstGeom>
          <a:solidFill>
            <a:srgbClr val="1D1F20">
              <a:alpha val="16000"/>
            </a:srgbClr>
          </a:solidFill>
          <a:ln/>
        </p:spPr>
      </p:sp>
      <p:sp>
        <p:nvSpPr>
          <p:cNvPr id="22" name="Text 19"/>
          <p:cNvSpPr/>
          <p:nvPr/>
        </p:nvSpPr>
        <p:spPr>
          <a:xfrm>
            <a:off x="8953500" y="2846070"/>
            <a:ext cx="373380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Several LLM instances debate over rounds</a:t>
            </a:r>
            <a:endParaRPr lang="en-US" sz="1800" dirty="0">
              <a:latin typeface="Times New Roman" panose="02020603050405020304" pitchFamily="18" charset="0"/>
            </a:endParaRPr>
          </a:p>
        </p:txBody>
      </p:sp>
      <p:sp>
        <p:nvSpPr>
          <p:cNvPr id="23" name="Shape 20"/>
          <p:cNvSpPr/>
          <p:nvPr/>
        </p:nvSpPr>
        <p:spPr>
          <a:xfrm>
            <a:off x="12763500" y="3536950"/>
            <a:ext cx="4572000" cy="9525"/>
          </a:xfrm>
          <a:prstGeom prst="rect">
            <a:avLst/>
          </a:prstGeom>
          <a:solidFill>
            <a:srgbClr val="1D1F20">
              <a:alpha val="16000"/>
            </a:srgbClr>
          </a:solidFill>
          <a:ln/>
        </p:spPr>
      </p:sp>
      <p:sp>
        <p:nvSpPr>
          <p:cNvPr id="24" name="Text 21"/>
          <p:cNvSpPr/>
          <p:nvPr/>
        </p:nvSpPr>
        <p:spPr>
          <a:xfrm>
            <a:off x="12763500" y="2846070"/>
            <a:ext cx="470916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Improves factuality; shared context risks false consensus</a:t>
            </a:r>
            <a:endParaRPr lang="en-US" sz="1800" dirty="0">
              <a:latin typeface="Times New Roman" panose="02020603050405020304" pitchFamily="18" charset="0"/>
            </a:endParaRPr>
          </a:p>
        </p:txBody>
      </p:sp>
      <p:sp>
        <p:nvSpPr>
          <p:cNvPr id="25" name="Shape 22"/>
          <p:cNvSpPr/>
          <p:nvPr/>
        </p:nvSpPr>
        <p:spPr>
          <a:xfrm>
            <a:off x="952500" y="4342130"/>
            <a:ext cx="666750" cy="9525"/>
          </a:xfrm>
          <a:prstGeom prst="rect">
            <a:avLst/>
          </a:prstGeom>
          <a:solidFill>
            <a:srgbClr val="1D1F20">
              <a:alpha val="16000"/>
            </a:srgbClr>
          </a:solidFill>
          <a:ln/>
        </p:spPr>
      </p:sp>
      <p:sp>
        <p:nvSpPr>
          <p:cNvPr id="26" name="Text 23"/>
          <p:cNvSpPr/>
          <p:nvPr/>
        </p:nvSpPr>
        <p:spPr>
          <a:xfrm>
            <a:off x="952500" y="365633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[17]</a:t>
            </a:r>
            <a:endParaRPr lang="en-US" sz="1800" dirty="0">
              <a:latin typeface="Times New Roman" panose="02020603050405020304" pitchFamily="18" charset="0"/>
            </a:endParaRPr>
          </a:p>
        </p:txBody>
      </p:sp>
      <p:sp>
        <p:nvSpPr>
          <p:cNvPr id="27" name="Shape 24"/>
          <p:cNvSpPr/>
          <p:nvPr/>
        </p:nvSpPr>
        <p:spPr>
          <a:xfrm>
            <a:off x="1619250" y="4342130"/>
            <a:ext cx="2381250" cy="9525"/>
          </a:xfrm>
          <a:prstGeom prst="rect">
            <a:avLst/>
          </a:prstGeom>
          <a:solidFill>
            <a:srgbClr val="1D1F20">
              <a:alpha val="16000"/>
            </a:srgbClr>
          </a:solidFill>
          <a:ln/>
        </p:spPr>
      </p:sp>
      <p:sp>
        <p:nvSpPr>
          <p:cNvPr id="28" name="Text 25"/>
          <p:cNvSpPr/>
          <p:nvPr/>
        </p:nvSpPr>
        <p:spPr>
          <a:xfrm>
            <a:off x="1619250" y="365633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Liang et al., 2024</a:t>
            </a:r>
            <a:endParaRPr lang="en-US" sz="1800" dirty="0">
              <a:latin typeface="Times New Roman" panose="02020603050405020304" pitchFamily="18" charset="0"/>
            </a:endParaRPr>
          </a:p>
        </p:txBody>
      </p:sp>
      <p:sp>
        <p:nvSpPr>
          <p:cNvPr id="29" name="Shape 26"/>
          <p:cNvSpPr/>
          <p:nvPr/>
        </p:nvSpPr>
        <p:spPr>
          <a:xfrm>
            <a:off x="4000500" y="4342130"/>
            <a:ext cx="4953000" cy="9525"/>
          </a:xfrm>
          <a:prstGeom prst="rect">
            <a:avLst/>
          </a:prstGeom>
          <a:solidFill>
            <a:srgbClr val="1D1F20">
              <a:alpha val="16000"/>
            </a:srgbClr>
          </a:solidFill>
          <a:ln/>
        </p:spPr>
      </p:sp>
      <p:sp>
        <p:nvSpPr>
          <p:cNvPr id="30" name="Text 27"/>
          <p:cNvSpPr/>
          <p:nvPr/>
        </p:nvSpPr>
        <p:spPr>
          <a:xfrm>
            <a:off x="4000500" y="365633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Encouraging divergent thinking through multi-agent debate · arXiv:2305.19118</a:t>
            </a:r>
            <a:endParaRPr lang="en-US" sz="1800" dirty="0">
              <a:latin typeface="Times New Roman" panose="02020603050405020304" pitchFamily="18" charset="0"/>
            </a:endParaRPr>
          </a:p>
        </p:txBody>
      </p:sp>
      <p:sp>
        <p:nvSpPr>
          <p:cNvPr id="31" name="Shape 28"/>
          <p:cNvSpPr/>
          <p:nvPr/>
        </p:nvSpPr>
        <p:spPr>
          <a:xfrm>
            <a:off x="8953500" y="4342130"/>
            <a:ext cx="3810000" cy="9525"/>
          </a:xfrm>
          <a:prstGeom prst="rect">
            <a:avLst/>
          </a:prstGeom>
          <a:solidFill>
            <a:srgbClr val="1D1F20">
              <a:alpha val="16000"/>
            </a:srgbClr>
          </a:solidFill>
          <a:ln/>
        </p:spPr>
      </p:sp>
      <p:sp>
        <p:nvSpPr>
          <p:cNvPr id="32" name="Text 29"/>
          <p:cNvSpPr/>
          <p:nvPr/>
        </p:nvSpPr>
        <p:spPr>
          <a:xfrm>
            <a:off x="8953500" y="365633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Affirmative and negative debaters with a judge</a:t>
            </a:r>
            <a:endParaRPr lang="en-US" sz="1800" dirty="0">
              <a:latin typeface="Times New Roman" panose="02020603050405020304" pitchFamily="18" charset="0"/>
            </a:endParaRPr>
          </a:p>
        </p:txBody>
      </p:sp>
      <p:sp>
        <p:nvSpPr>
          <p:cNvPr id="33" name="Shape 30"/>
          <p:cNvSpPr/>
          <p:nvPr/>
        </p:nvSpPr>
        <p:spPr>
          <a:xfrm>
            <a:off x="12763500" y="4342130"/>
            <a:ext cx="4572000" cy="9525"/>
          </a:xfrm>
          <a:prstGeom prst="rect">
            <a:avLst/>
          </a:prstGeom>
          <a:solidFill>
            <a:srgbClr val="1D1F20">
              <a:alpha val="16000"/>
            </a:srgbClr>
          </a:solidFill>
          <a:ln/>
        </p:spPr>
      </p:sp>
      <p:sp>
        <p:nvSpPr>
          <p:cNvPr id="34" name="Text 31"/>
          <p:cNvSpPr/>
          <p:nvPr/>
        </p:nvSpPr>
        <p:spPr>
          <a:xfrm>
            <a:off x="12763500" y="365633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Counters degeneration of thought; no evidence independence</a:t>
            </a:r>
            <a:endParaRPr lang="en-US" sz="1800" dirty="0">
              <a:latin typeface="Times New Roman" panose="02020603050405020304" pitchFamily="18" charset="0"/>
            </a:endParaRPr>
          </a:p>
        </p:txBody>
      </p:sp>
      <p:sp>
        <p:nvSpPr>
          <p:cNvPr id="35" name="Shape 32"/>
          <p:cNvSpPr/>
          <p:nvPr/>
        </p:nvSpPr>
        <p:spPr>
          <a:xfrm>
            <a:off x="952500" y="5147310"/>
            <a:ext cx="666750" cy="9525"/>
          </a:xfrm>
          <a:prstGeom prst="rect">
            <a:avLst/>
          </a:prstGeom>
          <a:solidFill>
            <a:srgbClr val="1D1F20">
              <a:alpha val="16000"/>
            </a:srgbClr>
          </a:solidFill>
          <a:ln/>
        </p:spPr>
      </p:sp>
      <p:sp>
        <p:nvSpPr>
          <p:cNvPr id="36" name="Text 33"/>
          <p:cNvSpPr/>
          <p:nvPr/>
        </p:nvSpPr>
        <p:spPr>
          <a:xfrm>
            <a:off x="952500" y="446151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[18]</a:t>
            </a:r>
            <a:endParaRPr lang="en-US" sz="1800" dirty="0">
              <a:latin typeface="Times New Roman" panose="02020603050405020304" pitchFamily="18" charset="0"/>
            </a:endParaRPr>
          </a:p>
        </p:txBody>
      </p:sp>
      <p:sp>
        <p:nvSpPr>
          <p:cNvPr id="37" name="Shape 34"/>
          <p:cNvSpPr/>
          <p:nvPr/>
        </p:nvSpPr>
        <p:spPr>
          <a:xfrm>
            <a:off x="1619250" y="5147310"/>
            <a:ext cx="2381250" cy="9525"/>
          </a:xfrm>
          <a:prstGeom prst="rect">
            <a:avLst/>
          </a:prstGeom>
          <a:solidFill>
            <a:srgbClr val="1D1F20">
              <a:alpha val="16000"/>
            </a:srgbClr>
          </a:solidFill>
          <a:ln/>
        </p:spPr>
      </p:sp>
      <p:sp>
        <p:nvSpPr>
          <p:cNvPr id="38" name="Text 35"/>
          <p:cNvSpPr/>
          <p:nvPr/>
        </p:nvSpPr>
        <p:spPr>
          <a:xfrm>
            <a:off x="1619250" y="446151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Guha et al., 2023</a:t>
            </a:r>
            <a:endParaRPr lang="en-US" sz="1800" dirty="0">
              <a:latin typeface="Times New Roman" panose="02020603050405020304" pitchFamily="18" charset="0"/>
            </a:endParaRPr>
          </a:p>
        </p:txBody>
      </p:sp>
      <p:sp>
        <p:nvSpPr>
          <p:cNvPr id="39" name="Shape 36"/>
          <p:cNvSpPr/>
          <p:nvPr/>
        </p:nvSpPr>
        <p:spPr>
          <a:xfrm>
            <a:off x="4000500" y="5147310"/>
            <a:ext cx="4953000" cy="9525"/>
          </a:xfrm>
          <a:prstGeom prst="rect">
            <a:avLst/>
          </a:prstGeom>
          <a:solidFill>
            <a:srgbClr val="1D1F20">
              <a:alpha val="16000"/>
            </a:srgbClr>
          </a:solidFill>
          <a:ln/>
        </p:spPr>
      </p:sp>
      <p:sp>
        <p:nvSpPr>
          <p:cNvPr id="40" name="Text 37"/>
          <p:cNvSpPr/>
          <p:nvPr/>
        </p:nvSpPr>
        <p:spPr>
          <a:xfrm>
            <a:off x="4000500" y="446151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LegalBench: measuring legal reasoning in LLMs · arXiv:2308.11462</a:t>
            </a:r>
            <a:endParaRPr lang="en-US" sz="1800" dirty="0">
              <a:latin typeface="Times New Roman" panose="02020603050405020304" pitchFamily="18" charset="0"/>
            </a:endParaRPr>
          </a:p>
        </p:txBody>
      </p:sp>
      <p:sp>
        <p:nvSpPr>
          <p:cNvPr id="41" name="Shape 38"/>
          <p:cNvSpPr/>
          <p:nvPr/>
        </p:nvSpPr>
        <p:spPr>
          <a:xfrm>
            <a:off x="8953500" y="5147310"/>
            <a:ext cx="3810000" cy="9525"/>
          </a:xfrm>
          <a:prstGeom prst="rect">
            <a:avLst/>
          </a:prstGeom>
          <a:solidFill>
            <a:srgbClr val="1D1F20">
              <a:alpha val="16000"/>
            </a:srgbClr>
          </a:solidFill>
          <a:ln/>
        </p:spPr>
      </p:sp>
      <p:sp>
        <p:nvSpPr>
          <p:cNvPr id="42" name="Text 39"/>
          <p:cNvSpPr/>
          <p:nvPr/>
        </p:nvSpPr>
        <p:spPr>
          <a:xfrm>
            <a:off x="8953500" y="446151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Collaboratively built legal-reasoning task suite</a:t>
            </a:r>
            <a:endParaRPr lang="en-US" sz="1800" dirty="0">
              <a:latin typeface="Times New Roman" panose="02020603050405020304" pitchFamily="18" charset="0"/>
            </a:endParaRPr>
          </a:p>
        </p:txBody>
      </p:sp>
      <p:sp>
        <p:nvSpPr>
          <p:cNvPr id="43" name="Shape 40"/>
          <p:cNvSpPr/>
          <p:nvPr/>
        </p:nvSpPr>
        <p:spPr>
          <a:xfrm>
            <a:off x="12763500" y="5147310"/>
            <a:ext cx="4572000" cy="9525"/>
          </a:xfrm>
          <a:prstGeom prst="rect">
            <a:avLst/>
          </a:prstGeom>
          <a:solidFill>
            <a:srgbClr val="1D1F20">
              <a:alpha val="16000"/>
            </a:srgbClr>
          </a:solidFill>
          <a:ln/>
        </p:spPr>
      </p:sp>
      <p:sp>
        <p:nvSpPr>
          <p:cNvPr id="44" name="Text 41"/>
          <p:cNvSpPr/>
          <p:nvPr/>
        </p:nvSpPr>
        <p:spPr>
          <a:xfrm>
            <a:off x="12763500" y="446151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Standard reasoning scores; no citation-hallucination metric</a:t>
            </a:r>
            <a:endParaRPr lang="en-US" sz="1800" dirty="0">
              <a:latin typeface="Times New Roman" panose="02020603050405020304" pitchFamily="18" charset="0"/>
            </a:endParaRPr>
          </a:p>
        </p:txBody>
      </p:sp>
      <p:sp>
        <p:nvSpPr>
          <p:cNvPr id="45" name="Shape 42"/>
          <p:cNvSpPr/>
          <p:nvPr/>
        </p:nvSpPr>
        <p:spPr>
          <a:xfrm>
            <a:off x="952500" y="5952490"/>
            <a:ext cx="666750" cy="9525"/>
          </a:xfrm>
          <a:prstGeom prst="rect">
            <a:avLst/>
          </a:prstGeom>
          <a:solidFill>
            <a:srgbClr val="1D1F20">
              <a:alpha val="16000"/>
            </a:srgbClr>
          </a:solidFill>
          <a:ln/>
        </p:spPr>
      </p:sp>
      <p:sp>
        <p:nvSpPr>
          <p:cNvPr id="46" name="Text 43"/>
          <p:cNvSpPr/>
          <p:nvPr/>
        </p:nvSpPr>
        <p:spPr>
          <a:xfrm>
            <a:off x="952500" y="526669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[19]</a:t>
            </a:r>
            <a:endParaRPr lang="en-US" sz="1800" dirty="0">
              <a:latin typeface="Times New Roman" panose="02020603050405020304" pitchFamily="18" charset="0"/>
            </a:endParaRPr>
          </a:p>
        </p:txBody>
      </p:sp>
      <p:sp>
        <p:nvSpPr>
          <p:cNvPr id="47" name="Shape 44"/>
          <p:cNvSpPr/>
          <p:nvPr/>
        </p:nvSpPr>
        <p:spPr>
          <a:xfrm>
            <a:off x="1619250" y="5952490"/>
            <a:ext cx="2381250" cy="9525"/>
          </a:xfrm>
          <a:prstGeom prst="rect">
            <a:avLst/>
          </a:prstGeom>
          <a:solidFill>
            <a:srgbClr val="1D1F20">
              <a:alpha val="16000"/>
            </a:srgbClr>
          </a:solidFill>
          <a:ln/>
        </p:spPr>
      </p:sp>
      <p:sp>
        <p:nvSpPr>
          <p:cNvPr id="48" name="Text 45"/>
          <p:cNvSpPr/>
          <p:nvPr/>
        </p:nvSpPr>
        <p:spPr>
          <a:xfrm>
            <a:off x="1619250" y="526669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Yue et al., 2023</a:t>
            </a:r>
            <a:endParaRPr lang="en-US" sz="1800" dirty="0">
              <a:latin typeface="Times New Roman" panose="02020603050405020304" pitchFamily="18" charset="0"/>
            </a:endParaRPr>
          </a:p>
        </p:txBody>
      </p:sp>
      <p:sp>
        <p:nvSpPr>
          <p:cNvPr id="49" name="Shape 46"/>
          <p:cNvSpPr/>
          <p:nvPr/>
        </p:nvSpPr>
        <p:spPr>
          <a:xfrm>
            <a:off x="4000500" y="5952490"/>
            <a:ext cx="4953000" cy="9525"/>
          </a:xfrm>
          <a:prstGeom prst="rect">
            <a:avLst/>
          </a:prstGeom>
          <a:solidFill>
            <a:srgbClr val="1D1F20">
              <a:alpha val="16000"/>
            </a:srgbClr>
          </a:solidFill>
          <a:ln/>
        </p:spPr>
      </p:sp>
      <p:sp>
        <p:nvSpPr>
          <p:cNvPr id="50" name="Text 47"/>
          <p:cNvSpPr/>
          <p:nvPr/>
        </p:nvSpPr>
        <p:spPr>
          <a:xfrm>
            <a:off x="4000500" y="526669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DISC-LawLLM: fine-tuning LLMs for intelligent legal services · arXiv:2309.11325</a:t>
            </a:r>
            <a:endParaRPr lang="en-US" sz="1800" dirty="0">
              <a:latin typeface="Times New Roman" panose="02020603050405020304" pitchFamily="18" charset="0"/>
            </a:endParaRPr>
          </a:p>
        </p:txBody>
      </p:sp>
      <p:sp>
        <p:nvSpPr>
          <p:cNvPr id="51" name="Shape 48"/>
          <p:cNvSpPr/>
          <p:nvPr/>
        </p:nvSpPr>
        <p:spPr>
          <a:xfrm>
            <a:off x="8953500" y="5952490"/>
            <a:ext cx="3810000" cy="9525"/>
          </a:xfrm>
          <a:prstGeom prst="rect">
            <a:avLst/>
          </a:prstGeom>
          <a:solidFill>
            <a:srgbClr val="1D1F20">
              <a:alpha val="16000"/>
            </a:srgbClr>
          </a:solidFill>
          <a:ln/>
        </p:spPr>
      </p:sp>
      <p:sp>
        <p:nvSpPr>
          <p:cNvPr id="52" name="Text 49"/>
          <p:cNvSpPr/>
          <p:nvPr/>
        </p:nvSpPr>
        <p:spPr>
          <a:xfrm>
            <a:off x="8953500" y="526669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Legal instruction tuning plus a retrieval module</a:t>
            </a:r>
            <a:endParaRPr lang="en-US" sz="1800" dirty="0">
              <a:latin typeface="Times New Roman" panose="02020603050405020304" pitchFamily="18" charset="0"/>
            </a:endParaRPr>
          </a:p>
        </p:txBody>
      </p:sp>
      <p:sp>
        <p:nvSpPr>
          <p:cNvPr id="53" name="Shape 50"/>
          <p:cNvSpPr/>
          <p:nvPr/>
        </p:nvSpPr>
        <p:spPr>
          <a:xfrm>
            <a:off x="12763500" y="5952490"/>
            <a:ext cx="4572000" cy="9525"/>
          </a:xfrm>
          <a:prstGeom prst="rect">
            <a:avLst/>
          </a:prstGeom>
          <a:solidFill>
            <a:srgbClr val="1D1F20">
              <a:alpha val="16000"/>
            </a:srgbClr>
          </a:solidFill>
          <a:ln/>
        </p:spPr>
      </p:sp>
      <p:sp>
        <p:nvSpPr>
          <p:cNvPr id="54" name="Text 51"/>
          <p:cNvSpPr/>
          <p:nvPr/>
        </p:nvSpPr>
        <p:spPr>
          <a:xfrm>
            <a:off x="12763500" y="526669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Legal fluency with retrieval; single generator, no citation veto</a:t>
            </a:r>
            <a:endParaRPr lang="en-US" sz="1800" dirty="0">
              <a:latin typeface="Times New Roman" panose="02020603050405020304" pitchFamily="18" charset="0"/>
            </a:endParaRPr>
          </a:p>
        </p:txBody>
      </p:sp>
      <p:sp>
        <p:nvSpPr>
          <p:cNvPr id="55" name="Shape 52"/>
          <p:cNvSpPr/>
          <p:nvPr/>
        </p:nvSpPr>
        <p:spPr>
          <a:xfrm>
            <a:off x="952500" y="6757670"/>
            <a:ext cx="666750" cy="9525"/>
          </a:xfrm>
          <a:prstGeom prst="rect">
            <a:avLst/>
          </a:prstGeom>
          <a:solidFill>
            <a:srgbClr val="1D1F20">
              <a:alpha val="16000"/>
            </a:srgbClr>
          </a:solidFill>
          <a:ln/>
        </p:spPr>
      </p:sp>
      <p:sp>
        <p:nvSpPr>
          <p:cNvPr id="56" name="Text 53"/>
          <p:cNvSpPr/>
          <p:nvPr/>
        </p:nvSpPr>
        <p:spPr>
          <a:xfrm>
            <a:off x="952500" y="607187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[20]</a:t>
            </a:r>
            <a:endParaRPr lang="en-US" sz="1800" dirty="0">
              <a:latin typeface="Times New Roman" panose="02020603050405020304" pitchFamily="18" charset="0"/>
            </a:endParaRPr>
          </a:p>
        </p:txBody>
      </p:sp>
      <p:sp>
        <p:nvSpPr>
          <p:cNvPr id="57" name="Shape 54"/>
          <p:cNvSpPr/>
          <p:nvPr/>
        </p:nvSpPr>
        <p:spPr>
          <a:xfrm>
            <a:off x="1619250" y="6757670"/>
            <a:ext cx="2381250" cy="9525"/>
          </a:xfrm>
          <a:prstGeom prst="rect">
            <a:avLst/>
          </a:prstGeom>
          <a:solidFill>
            <a:srgbClr val="1D1F20">
              <a:alpha val="16000"/>
            </a:srgbClr>
          </a:solidFill>
          <a:ln/>
        </p:spPr>
      </p:sp>
      <p:sp>
        <p:nvSpPr>
          <p:cNvPr id="58" name="Text 55"/>
          <p:cNvSpPr/>
          <p:nvPr/>
        </p:nvSpPr>
        <p:spPr>
          <a:xfrm>
            <a:off x="1619250" y="607187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Dhuliawala et al., 2023</a:t>
            </a:r>
            <a:endParaRPr lang="en-US" sz="1800" dirty="0">
              <a:latin typeface="Times New Roman" panose="02020603050405020304" pitchFamily="18" charset="0"/>
            </a:endParaRPr>
          </a:p>
        </p:txBody>
      </p:sp>
      <p:sp>
        <p:nvSpPr>
          <p:cNvPr id="59" name="Shape 56"/>
          <p:cNvSpPr/>
          <p:nvPr/>
        </p:nvSpPr>
        <p:spPr>
          <a:xfrm>
            <a:off x="4000500" y="6757670"/>
            <a:ext cx="4953000" cy="9525"/>
          </a:xfrm>
          <a:prstGeom prst="rect">
            <a:avLst/>
          </a:prstGeom>
          <a:solidFill>
            <a:srgbClr val="1D1F20">
              <a:alpha val="16000"/>
            </a:srgbClr>
          </a:solidFill>
          <a:ln/>
        </p:spPr>
      </p:sp>
      <p:sp>
        <p:nvSpPr>
          <p:cNvPr id="60" name="Text 57"/>
          <p:cNvSpPr/>
          <p:nvPr/>
        </p:nvSpPr>
        <p:spPr>
          <a:xfrm>
            <a:off x="4000500" y="607187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Chain-of-Verification reduces hallucination in LLMs · arXiv:2309.11495</a:t>
            </a:r>
            <a:endParaRPr lang="en-US" sz="1800" dirty="0">
              <a:latin typeface="Times New Roman" panose="02020603050405020304" pitchFamily="18" charset="0"/>
            </a:endParaRPr>
          </a:p>
        </p:txBody>
      </p:sp>
      <p:sp>
        <p:nvSpPr>
          <p:cNvPr id="61" name="Shape 58"/>
          <p:cNvSpPr/>
          <p:nvPr/>
        </p:nvSpPr>
        <p:spPr>
          <a:xfrm>
            <a:off x="8953500" y="6757670"/>
            <a:ext cx="3810000" cy="9525"/>
          </a:xfrm>
          <a:prstGeom prst="rect">
            <a:avLst/>
          </a:prstGeom>
          <a:solidFill>
            <a:srgbClr val="1D1F20">
              <a:alpha val="16000"/>
            </a:srgbClr>
          </a:solidFill>
          <a:ln/>
        </p:spPr>
      </p:sp>
      <p:sp>
        <p:nvSpPr>
          <p:cNvPr id="62" name="Text 59"/>
          <p:cNvSpPr/>
          <p:nvPr/>
        </p:nvSpPr>
        <p:spPr>
          <a:xfrm>
            <a:off x="8953500" y="607187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Draft, plan verification questions, answer, revise</a:t>
            </a:r>
            <a:endParaRPr lang="en-US" sz="1800" dirty="0">
              <a:latin typeface="Times New Roman" panose="02020603050405020304" pitchFamily="18" charset="0"/>
            </a:endParaRPr>
          </a:p>
        </p:txBody>
      </p:sp>
      <p:sp>
        <p:nvSpPr>
          <p:cNvPr id="63" name="Shape 60"/>
          <p:cNvSpPr/>
          <p:nvPr/>
        </p:nvSpPr>
        <p:spPr>
          <a:xfrm>
            <a:off x="12763500" y="6757670"/>
            <a:ext cx="4572000" cy="9525"/>
          </a:xfrm>
          <a:prstGeom prst="rect">
            <a:avLst/>
          </a:prstGeom>
          <a:solidFill>
            <a:srgbClr val="1D1F20">
              <a:alpha val="16000"/>
            </a:srgbClr>
          </a:solidFill>
          <a:ln/>
        </p:spPr>
      </p:sp>
      <p:sp>
        <p:nvSpPr>
          <p:cNvPr id="64" name="Text 61"/>
          <p:cNvSpPr/>
          <p:nvPr/>
        </p:nvSpPr>
        <p:spPr>
          <a:xfrm>
            <a:off x="12763500" y="607187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Fewer hallucinations; self-checks without external legal sources</a:t>
            </a:r>
            <a:endParaRPr lang="en-US" sz="1800" dirty="0">
              <a:latin typeface="Times New Roman" panose="02020603050405020304" pitchFamily="18" charset="0"/>
            </a:endParaRPr>
          </a:p>
        </p:txBody>
      </p:sp>
      <p:sp>
        <p:nvSpPr>
          <p:cNvPr id="65" name="Shape 62"/>
          <p:cNvSpPr/>
          <p:nvPr/>
        </p:nvSpPr>
        <p:spPr>
          <a:xfrm>
            <a:off x="952500" y="7562850"/>
            <a:ext cx="666750" cy="9525"/>
          </a:xfrm>
          <a:prstGeom prst="rect">
            <a:avLst/>
          </a:prstGeom>
          <a:solidFill>
            <a:srgbClr val="1D1F20">
              <a:alpha val="16000"/>
            </a:srgbClr>
          </a:solidFill>
          <a:ln/>
        </p:spPr>
      </p:sp>
      <p:sp>
        <p:nvSpPr>
          <p:cNvPr id="66" name="Text 63"/>
          <p:cNvSpPr/>
          <p:nvPr/>
        </p:nvSpPr>
        <p:spPr>
          <a:xfrm>
            <a:off x="952500" y="687705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[21]</a:t>
            </a:r>
            <a:endParaRPr lang="en-US" sz="1800" dirty="0">
              <a:latin typeface="Times New Roman" panose="02020603050405020304" pitchFamily="18" charset="0"/>
            </a:endParaRPr>
          </a:p>
        </p:txBody>
      </p:sp>
      <p:sp>
        <p:nvSpPr>
          <p:cNvPr id="67" name="Shape 64"/>
          <p:cNvSpPr/>
          <p:nvPr/>
        </p:nvSpPr>
        <p:spPr>
          <a:xfrm>
            <a:off x="1619250" y="7562850"/>
            <a:ext cx="2381250" cy="9525"/>
          </a:xfrm>
          <a:prstGeom prst="rect">
            <a:avLst/>
          </a:prstGeom>
          <a:solidFill>
            <a:srgbClr val="1D1F20">
              <a:alpha val="16000"/>
            </a:srgbClr>
          </a:solidFill>
          <a:ln/>
        </p:spPr>
      </p:sp>
      <p:sp>
        <p:nvSpPr>
          <p:cNvPr id="68" name="Text 65"/>
          <p:cNvSpPr/>
          <p:nvPr/>
        </p:nvSpPr>
        <p:spPr>
          <a:xfrm>
            <a:off x="1619250" y="687705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Asai et al., 2023</a:t>
            </a:r>
            <a:endParaRPr lang="en-US" sz="1800" dirty="0">
              <a:latin typeface="Times New Roman" panose="02020603050405020304" pitchFamily="18" charset="0"/>
            </a:endParaRPr>
          </a:p>
        </p:txBody>
      </p:sp>
      <p:sp>
        <p:nvSpPr>
          <p:cNvPr id="69" name="Shape 66"/>
          <p:cNvSpPr/>
          <p:nvPr/>
        </p:nvSpPr>
        <p:spPr>
          <a:xfrm>
            <a:off x="4000500" y="7562850"/>
            <a:ext cx="4953000" cy="9525"/>
          </a:xfrm>
          <a:prstGeom prst="rect">
            <a:avLst/>
          </a:prstGeom>
          <a:solidFill>
            <a:srgbClr val="1D1F20">
              <a:alpha val="16000"/>
            </a:srgbClr>
          </a:solidFill>
          <a:ln/>
        </p:spPr>
      </p:sp>
      <p:sp>
        <p:nvSpPr>
          <p:cNvPr id="70" name="Text 67"/>
          <p:cNvSpPr/>
          <p:nvPr/>
        </p:nvSpPr>
        <p:spPr>
          <a:xfrm>
            <a:off x="4000500" y="687705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Self-RAG: retrieve, generate and critique through self-reflection · arXiv:2310.11511</a:t>
            </a:r>
            <a:endParaRPr lang="en-US" sz="1800" dirty="0">
              <a:latin typeface="Times New Roman" panose="02020603050405020304" pitchFamily="18" charset="0"/>
            </a:endParaRPr>
          </a:p>
        </p:txBody>
      </p:sp>
      <p:sp>
        <p:nvSpPr>
          <p:cNvPr id="71" name="Shape 68"/>
          <p:cNvSpPr/>
          <p:nvPr/>
        </p:nvSpPr>
        <p:spPr>
          <a:xfrm>
            <a:off x="8953500" y="7562850"/>
            <a:ext cx="3810000" cy="9525"/>
          </a:xfrm>
          <a:prstGeom prst="rect">
            <a:avLst/>
          </a:prstGeom>
          <a:solidFill>
            <a:srgbClr val="1D1F20">
              <a:alpha val="16000"/>
            </a:srgbClr>
          </a:solidFill>
          <a:ln/>
        </p:spPr>
      </p:sp>
      <p:sp>
        <p:nvSpPr>
          <p:cNvPr id="72" name="Text 69"/>
          <p:cNvSpPr/>
          <p:nvPr/>
        </p:nvSpPr>
        <p:spPr>
          <a:xfrm>
            <a:off x="8953500" y="687705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Reflection tokens trigger retrieval and critique</a:t>
            </a:r>
            <a:endParaRPr lang="en-US" sz="1800" dirty="0">
              <a:latin typeface="Times New Roman" panose="02020603050405020304" pitchFamily="18" charset="0"/>
            </a:endParaRPr>
          </a:p>
        </p:txBody>
      </p:sp>
      <p:sp>
        <p:nvSpPr>
          <p:cNvPr id="73" name="Shape 70"/>
          <p:cNvSpPr/>
          <p:nvPr/>
        </p:nvSpPr>
        <p:spPr>
          <a:xfrm>
            <a:off x="12763500" y="7562850"/>
            <a:ext cx="4572000" cy="9525"/>
          </a:xfrm>
          <a:prstGeom prst="rect">
            <a:avLst/>
          </a:prstGeom>
          <a:solidFill>
            <a:srgbClr val="1D1F20">
              <a:alpha val="16000"/>
            </a:srgbClr>
          </a:solidFill>
          <a:ln/>
        </p:spPr>
      </p:sp>
      <p:sp>
        <p:nvSpPr>
          <p:cNvPr id="74" name="Text 71"/>
          <p:cNvSpPr/>
          <p:nvPr/>
        </p:nvSpPr>
        <p:spPr>
          <a:xfrm>
            <a:off x="12763500" y="687705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Adaptive retrieval; critique comes from the same model</a:t>
            </a:r>
            <a:endParaRPr lang="en-US" sz="1800" dirty="0">
              <a:latin typeface="Times New Roman" panose="02020603050405020304" pitchFamily="18" charset="0"/>
            </a:endParaRPr>
          </a:p>
        </p:txBody>
      </p:sp>
      <p:sp>
        <p:nvSpPr>
          <p:cNvPr id="76" name="TextBox 75">
            <a:extLst>
              <a:ext uri="{FF2B5EF4-FFF2-40B4-BE49-F238E27FC236}">
                <a16:creationId xmlns:a16="http://schemas.microsoft.com/office/drawing/2014/main" id="{53E666A9-E893-7556-C05F-66D12CAD04E2}"/>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5</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Detailed Literature Review (contd.)</a:t>
            </a:r>
            <a:endParaRPr lang="en-US" sz="4800" dirty="0">
              <a:latin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Papers 22–27 of 27</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16530"/>
            <a:ext cx="666750" cy="15240"/>
          </a:xfrm>
          <a:prstGeom prst="rect">
            <a:avLst/>
          </a:prstGeom>
          <a:solidFill>
            <a:srgbClr val="416180"/>
          </a:solidFill>
          <a:ln/>
        </p:spPr>
      </p:sp>
      <p:sp>
        <p:nvSpPr>
          <p:cNvPr id="6" name="Text 3"/>
          <p:cNvSpPr/>
          <p:nvPr/>
        </p:nvSpPr>
        <p:spPr>
          <a:xfrm>
            <a:off x="952500" y="2305050"/>
            <a:ext cx="55245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7" name="Shape 4"/>
          <p:cNvSpPr/>
          <p:nvPr/>
        </p:nvSpPr>
        <p:spPr>
          <a:xfrm>
            <a:off x="1619250" y="2716530"/>
            <a:ext cx="2381250" cy="15240"/>
          </a:xfrm>
          <a:prstGeom prst="rect">
            <a:avLst/>
          </a:prstGeom>
          <a:solidFill>
            <a:srgbClr val="416180"/>
          </a:solidFill>
          <a:ln/>
        </p:spPr>
      </p:sp>
      <p:sp>
        <p:nvSpPr>
          <p:cNvPr id="8" name="Text 5"/>
          <p:cNvSpPr/>
          <p:nvPr/>
        </p:nvSpPr>
        <p:spPr>
          <a:xfrm>
            <a:off x="1619250" y="2305050"/>
            <a:ext cx="2266950" cy="316230"/>
          </a:xfrm>
          <a:prstGeom prst="rect">
            <a:avLst/>
          </a:prstGeom>
          <a:noFill/>
          <a:ln/>
        </p:spPr>
        <p:txBody>
          <a:bodyPr wrap="square" lIns="25400" tIns="25400" rIns="25400" bIns="25400" rtlCol="0" anchor="ctr">
            <a:normAutofit fontScale="85000" lnSpcReduction="1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AUTHOR(S) &amp; YEAR</a:t>
            </a:r>
            <a:endParaRPr lang="en-US" sz="1800" dirty="0">
              <a:latin typeface="Times New Roman" panose="02020603050405020304" pitchFamily="18" charset="0"/>
            </a:endParaRPr>
          </a:p>
        </p:txBody>
      </p:sp>
      <p:sp>
        <p:nvSpPr>
          <p:cNvPr id="9" name="Shape 6"/>
          <p:cNvSpPr/>
          <p:nvPr/>
        </p:nvSpPr>
        <p:spPr>
          <a:xfrm>
            <a:off x="4000500" y="2716530"/>
            <a:ext cx="4953000" cy="15240"/>
          </a:xfrm>
          <a:prstGeom prst="rect">
            <a:avLst/>
          </a:prstGeom>
          <a:solidFill>
            <a:srgbClr val="416180"/>
          </a:solidFill>
          <a:ln/>
        </p:spPr>
      </p:sp>
      <p:sp>
        <p:nvSpPr>
          <p:cNvPr id="10" name="Text 7"/>
          <p:cNvSpPr/>
          <p:nvPr/>
        </p:nvSpPr>
        <p:spPr>
          <a:xfrm>
            <a:off x="4000500" y="2305050"/>
            <a:ext cx="491109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TITLE / SOURCE</a:t>
            </a:r>
            <a:endParaRPr lang="en-US" sz="1800" dirty="0">
              <a:latin typeface="Times New Roman" panose="02020603050405020304" pitchFamily="18" charset="0"/>
            </a:endParaRPr>
          </a:p>
        </p:txBody>
      </p:sp>
      <p:sp>
        <p:nvSpPr>
          <p:cNvPr id="11" name="Shape 8"/>
          <p:cNvSpPr/>
          <p:nvPr/>
        </p:nvSpPr>
        <p:spPr>
          <a:xfrm>
            <a:off x="8953500" y="2716530"/>
            <a:ext cx="3810000" cy="15240"/>
          </a:xfrm>
          <a:prstGeom prst="rect">
            <a:avLst/>
          </a:prstGeom>
          <a:solidFill>
            <a:srgbClr val="416180"/>
          </a:solidFill>
          <a:ln/>
        </p:spPr>
      </p:sp>
      <p:sp>
        <p:nvSpPr>
          <p:cNvPr id="12" name="Text 9"/>
          <p:cNvSpPr/>
          <p:nvPr/>
        </p:nvSpPr>
        <p:spPr>
          <a:xfrm>
            <a:off x="8953500" y="2305050"/>
            <a:ext cx="373380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METHOD / APPROACH</a:t>
            </a:r>
            <a:endParaRPr lang="en-US" sz="1800" dirty="0">
              <a:latin typeface="Times New Roman" panose="02020603050405020304" pitchFamily="18" charset="0"/>
            </a:endParaRPr>
          </a:p>
        </p:txBody>
      </p:sp>
      <p:sp>
        <p:nvSpPr>
          <p:cNvPr id="13" name="Shape 10"/>
          <p:cNvSpPr/>
          <p:nvPr/>
        </p:nvSpPr>
        <p:spPr>
          <a:xfrm>
            <a:off x="12763500" y="2716530"/>
            <a:ext cx="4572000" cy="15240"/>
          </a:xfrm>
          <a:prstGeom prst="rect">
            <a:avLst/>
          </a:prstGeom>
          <a:solidFill>
            <a:srgbClr val="416180"/>
          </a:solidFill>
          <a:ln/>
        </p:spPr>
      </p:sp>
      <p:sp>
        <p:nvSpPr>
          <p:cNvPr id="14" name="Text 11"/>
          <p:cNvSpPr/>
          <p:nvPr/>
        </p:nvSpPr>
        <p:spPr>
          <a:xfrm>
            <a:off x="12763500" y="2305050"/>
            <a:ext cx="4709160" cy="31623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FINDINGS &amp; RESEARCH GAP</a:t>
            </a:r>
            <a:endParaRPr lang="en-US" sz="1800" dirty="0">
              <a:latin typeface="Times New Roman" panose="02020603050405020304" pitchFamily="18" charset="0"/>
            </a:endParaRPr>
          </a:p>
        </p:txBody>
      </p:sp>
      <p:sp>
        <p:nvSpPr>
          <p:cNvPr id="15" name="Shape 12"/>
          <p:cNvSpPr/>
          <p:nvPr/>
        </p:nvSpPr>
        <p:spPr>
          <a:xfrm>
            <a:off x="952500" y="3536950"/>
            <a:ext cx="666750" cy="9525"/>
          </a:xfrm>
          <a:prstGeom prst="rect">
            <a:avLst/>
          </a:prstGeom>
          <a:solidFill>
            <a:srgbClr val="1D1F20">
              <a:alpha val="16000"/>
            </a:srgbClr>
          </a:solidFill>
          <a:ln/>
        </p:spPr>
      </p:sp>
      <p:sp>
        <p:nvSpPr>
          <p:cNvPr id="16" name="Text 13"/>
          <p:cNvSpPr/>
          <p:nvPr/>
        </p:nvSpPr>
        <p:spPr>
          <a:xfrm>
            <a:off x="952500" y="2846070"/>
            <a:ext cx="5524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[22]</a:t>
            </a:r>
            <a:endParaRPr lang="en-US" sz="1800" dirty="0">
              <a:latin typeface="Times New Roman" panose="02020603050405020304" pitchFamily="18" charset="0"/>
            </a:endParaRPr>
          </a:p>
        </p:txBody>
      </p:sp>
      <p:sp>
        <p:nvSpPr>
          <p:cNvPr id="17" name="Shape 14"/>
          <p:cNvSpPr/>
          <p:nvPr/>
        </p:nvSpPr>
        <p:spPr>
          <a:xfrm>
            <a:off x="1619250" y="3536950"/>
            <a:ext cx="2381250" cy="9525"/>
          </a:xfrm>
          <a:prstGeom prst="rect">
            <a:avLst/>
          </a:prstGeom>
          <a:solidFill>
            <a:srgbClr val="1D1F20">
              <a:alpha val="16000"/>
            </a:srgbClr>
          </a:solidFill>
          <a:ln/>
        </p:spPr>
      </p:sp>
      <p:sp>
        <p:nvSpPr>
          <p:cNvPr id="18" name="Text 15"/>
          <p:cNvSpPr/>
          <p:nvPr/>
        </p:nvSpPr>
        <p:spPr>
          <a:xfrm>
            <a:off x="1619250" y="2846070"/>
            <a:ext cx="2266950" cy="61468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Yan et al., 2024</a:t>
            </a:r>
            <a:endParaRPr lang="en-US" sz="1800" dirty="0">
              <a:latin typeface="Times New Roman" panose="02020603050405020304" pitchFamily="18" charset="0"/>
            </a:endParaRPr>
          </a:p>
        </p:txBody>
      </p:sp>
      <p:sp>
        <p:nvSpPr>
          <p:cNvPr id="19" name="Shape 16"/>
          <p:cNvSpPr/>
          <p:nvPr/>
        </p:nvSpPr>
        <p:spPr>
          <a:xfrm>
            <a:off x="4000500" y="3536950"/>
            <a:ext cx="4953000" cy="9525"/>
          </a:xfrm>
          <a:prstGeom prst="rect">
            <a:avLst/>
          </a:prstGeom>
          <a:solidFill>
            <a:srgbClr val="1D1F20">
              <a:alpha val="16000"/>
            </a:srgbClr>
          </a:solidFill>
          <a:ln/>
        </p:spPr>
      </p:sp>
      <p:sp>
        <p:nvSpPr>
          <p:cNvPr id="20" name="Text 17"/>
          <p:cNvSpPr/>
          <p:nvPr/>
        </p:nvSpPr>
        <p:spPr>
          <a:xfrm>
            <a:off x="4000500" y="2846070"/>
            <a:ext cx="491109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Corrective retrieval augmented generation · arXiv:2401.15884</a:t>
            </a:r>
            <a:endParaRPr lang="en-US" sz="1800" dirty="0">
              <a:latin typeface="Times New Roman" panose="02020603050405020304" pitchFamily="18" charset="0"/>
            </a:endParaRPr>
          </a:p>
        </p:txBody>
      </p:sp>
      <p:sp>
        <p:nvSpPr>
          <p:cNvPr id="21" name="Shape 18"/>
          <p:cNvSpPr/>
          <p:nvPr/>
        </p:nvSpPr>
        <p:spPr>
          <a:xfrm>
            <a:off x="8953500" y="3536950"/>
            <a:ext cx="3810000" cy="9525"/>
          </a:xfrm>
          <a:prstGeom prst="rect">
            <a:avLst/>
          </a:prstGeom>
          <a:solidFill>
            <a:srgbClr val="1D1F20">
              <a:alpha val="16000"/>
            </a:srgbClr>
          </a:solidFill>
          <a:ln/>
        </p:spPr>
      </p:sp>
      <p:sp>
        <p:nvSpPr>
          <p:cNvPr id="22" name="Text 19"/>
          <p:cNvSpPr/>
          <p:nvPr/>
        </p:nvSpPr>
        <p:spPr>
          <a:xfrm>
            <a:off x="8953500" y="2846070"/>
            <a:ext cx="373380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Retrieval evaluator triggers corrective actions</a:t>
            </a:r>
            <a:endParaRPr lang="en-US" sz="1800" dirty="0">
              <a:latin typeface="Times New Roman" panose="02020603050405020304" pitchFamily="18" charset="0"/>
            </a:endParaRPr>
          </a:p>
        </p:txBody>
      </p:sp>
      <p:sp>
        <p:nvSpPr>
          <p:cNvPr id="23" name="Shape 20"/>
          <p:cNvSpPr/>
          <p:nvPr/>
        </p:nvSpPr>
        <p:spPr>
          <a:xfrm>
            <a:off x="12763500" y="3536950"/>
            <a:ext cx="4572000" cy="9525"/>
          </a:xfrm>
          <a:prstGeom prst="rect">
            <a:avLst/>
          </a:prstGeom>
          <a:solidFill>
            <a:srgbClr val="1D1F20">
              <a:alpha val="16000"/>
            </a:srgbClr>
          </a:solidFill>
          <a:ln/>
        </p:spPr>
      </p:sp>
      <p:sp>
        <p:nvSpPr>
          <p:cNvPr id="24" name="Text 21"/>
          <p:cNvSpPr/>
          <p:nvPr/>
        </p:nvSpPr>
        <p:spPr>
          <a:xfrm>
            <a:off x="12763500" y="2846070"/>
            <a:ext cx="4709160" cy="61468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Fixes poor retrieval; does not verify the written claim</a:t>
            </a:r>
            <a:endParaRPr lang="en-US" sz="1800" dirty="0">
              <a:latin typeface="Times New Roman" panose="02020603050405020304" pitchFamily="18" charset="0"/>
            </a:endParaRPr>
          </a:p>
        </p:txBody>
      </p:sp>
      <p:sp>
        <p:nvSpPr>
          <p:cNvPr id="25" name="Shape 22"/>
          <p:cNvSpPr/>
          <p:nvPr/>
        </p:nvSpPr>
        <p:spPr>
          <a:xfrm>
            <a:off x="952500" y="4627880"/>
            <a:ext cx="666750" cy="9525"/>
          </a:xfrm>
          <a:prstGeom prst="rect">
            <a:avLst/>
          </a:prstGeom>
          <a:solidFill>
            <a:srgbClr val="1D1F20">
              <a:alpha val="16000"/>
            </a:srgbClr>
          </a:solidFill>
          <a:ln/>
        </p:spPr>
      </p:sp>
      <p:sp>
        <p:nvSpPr>
          <p:cNvPr id="26" name="Text 23"/>
          <p:cNvSpPr/>
          <p:nvPr/>
        </p:nvSpPr>
        <p:spPr>
          <a:xfrm>
            <a:off x="952500" y="3656330"/>
            <a:ext cx="55245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[23]</a:t>
            </a:r>
            <a:endParaRPr lang="en-US" sz="1800" dirty="0">
              <a:latin typeface="Times New Roman" panose="02020603050405020304" pitchFamily="18" charset="0"/>
            </a:endParaRPr>
          </a:p>
        </p:txBody>
      </p:sp>
      <p:sp>
        <p:nvSpPr>
          <p:cNvPr id="27" name="Shape 24"/>
          <p:cNvSpPr/>
          <p:nvPr/>
        </p:nvSpPr>
        <p:spPr>
          <a:xfrm>
            <a:off x="1619250" y="4627880"/>
            <a:ext cx="2381250" cy="9525"/>
          </a:xfrm>
          <a:prstGeom prst="rect">
            <a:avLst/>
          </a:prstGeom>
          <a:solidFill>
            <a:srgbClr val="1D1F20">
              <a:alpha val="16000"/>
            </a:srgbClr>
          </a:solidFill>
          <a:ln/>
        </p:spPr>
      </p:sp>
      <p:sp>
        <p:nvSpPr>
          <p:cNvPr id="28" name="Text 25"/>
          <p:cNvSpPr/>
          <p:nvPr/>
        </p:nvSpPr>
        <p:spPr>
          <a:xfrm>
            <a:off x="1619250" y="3656330"/>
            <a:ext cx="226695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Wang, Q. et al., 2024</a:t>
            </a:r>
            <a:endParaRPr lang="en-US" sz="1800" dirty="0">
              <a:latin typeface="Times New Roman" panose="02020603050405020304" pitchFamily="18" charset="0"/>
            </a:endParaRPr>
          </a:p>
        </p:txBody>
      </p:sp>
      <p:sp>
        <p:nvSpPr>
          <p:cNvPr id="29" name="Shape 26"/>
          <p:cNvSpPr/>
          <p:nvPr/>
        </p:nvSpPr>
        <p:spPr>
          <a:xfrm>
            <a:off x="4000500" y="4627880"/>
            <a:ext cx="4953000" cy="9525"/>
          </a:xfrm>
          <a:prstGeom prst="rect">
            <a:avLst/>
          </a:prstGeom>
          <a:solidFill>
            <a:srgbClr val="1D1F20">
              <a:alpha val="16000"/>
            </a:srgbClr>
          </a:solidFill>
          <a:ln/>
        </p:spPr>
      </p:sp>
      <p:sp>
        <p:nvSpPr>
          <p:cNvPr id="30" name="Text 27"/>
          <p:cNvSpPr/>
          <p:nvPr/>
        </p:nvSpPr>
        <p:spPr>
          <a:xfrm>
            <a:off x="4000500" y="3656330"/>
            <a:ext cx="491109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Rethinking the bounds of LLM reasoning: are multi-agent discussions the key? · arXiv:2402.18272</a:t>
            </a:r>
            <a:endParaRPr lang="en-US" sz="1800" dirty="0">
              <a:latin typeface="Times New Roman" panose="02020603050405020304" pitchFamily="18" charset="0"/>
            </a:endParaRPr>
          </a:p>
        </p:txBody>
      </p:sp>
      <p:sp>
        <p:nvSpPr>
          <p:cNvPr id="31" name="Shape 28"/>
          <p:cNvSpPr/>
          <p:nvPr/>
        </p:nvSpPr>
        <p:spPr>
          <a:xfrm>
            <a:off x="8953500" y="4627880"/>
            <a:ext cx="3810000" cy="9525"/>
          </a:xfrm>
          <a:prstGeom prst="rect">
            <a:avLst/>
          </a:prstGeom>
          <a:solidFill>
            <a:srgbClr val="1D1F20">
              <a:alpha val="16000"/>
            </a:srgbClr>
          </a:solidFill>
          <a:ln/>
        </p:spPr>
      </p:sp>
      <p:sp>
        <p:nvSpPr>
          <p:cNvPr id="32" name="Text 29"/>
          <p:cNvSpPr/>
          <p:nvPr/>
        </p:nvSpPr>
        <p:spPr>
          <a:xfrm>
            <a:off x="8953500" y="3656330"/>
            <a:ext cx="373380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Multi-agent discussion vs. strong single-agent prompts</a:t>
            </a:r>
            <a:endParaRPr lang="en-US" sz="1800" dirty="0">
              <a:latin typeface="Times New Roman" panose="02020603050405020304" pitchFamily="18" charset="0"/>
            </a:endParaRPr>
          </a:p>
        </p:txBody>
      </p:sp>
      <p:sp>
        <p:nvSpPr>
          <p:cNvPr id="33" name="Shape 30"/>
          <p:cNvSpPr/>
          <p:nvPr/>
        </p:nvSpPr>
        <p:spPr>
          <a:xfrm>
            <a:off x="12763500" y="4627880"/>
            <a:ext cx="4572000" cy="9525"/>
          </a:xfrm>
          <a:prstGeom prst="rect">
            <a:avLst/>
          </a:prstGeom>
          <a:solidFill>
            <a:srgbClr val="1D1F20">
              <a:alpha val="16000"/>
            </a:srgbClr>
          </a:solidFill>
          <a:ln/>
        </p:spPr>
      </p:sp>
      <p:sp>
        <p:nvSpPr>
          <p:cNvPr id="34" name="Text 31"/>
          <p:cNvSpPr/>
          <p:nvPr/>
        </p:nvSpPr>
        <p:spPr>
          <a:xfrm>
            <a:off x="12763500" y="3656330"/>
            <a:ext cx="4709160" cy="89535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Gains shrink with good prompts; motivates controlled ablations</a:t>
            </a:r>
            <a:endParaRPr lang="en-US" sz="1800" dirty="0">
              <a:latin typeface="Times New Roman" panose="02020603050405020304" pitchFamily="18" charset="0"/>
            </a:endParaRPr>
          </a:p>
        </p:txBody>
      </p:sp>
      <p:sp>
        <p:nvSpPr>
          <p:cNvPr id="35" name="Shape 32"/>
          <p:cNvSpPr/>
          <p:nvPr/>
        </p:nvSpPr>
        <p:spPr>
          <a:xfrm>
            <a:off x="952500" y="5433060"/>
            <a:ext cx="666750" cy="9525"/>
          </a:xfrm>
          <a:prstGeom prst="rect">
            <a:avLst/>
          </a:prstGeom>
          <a:solidFill>
            <a:srgbClr val="1D1F20">
              <a:alpha val="16000"/>
            </a:srgbClr>
          </a:solidFill>
          <a:ln/>
        </p:spPr>
      </p:sp>
      <p:sp>
        <p:nvSpPr>
          <p:cNvPr id="36" name="Text 33"/>
          <p:cNvSpPr/>
          <p:nvPr/>
        </p:nvSpPr>
        <p:spPr>
          <a:xfrm>
            <a:off x="952500" y="474726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[24]</a:t>
            </a:r>
            <a:endParaRPr lang="en-US" sz="1800" dirty="0">
              <a:latin typeface="Times New Roman" panose="02020603050405020304" pitchFamily="18" charset="0"/>
            </a:endParaRPr>
          </a:p>
        </p:txBody>
      </p:sp>
      <p:sp>
        <p:nvSpPr>
          <p:cNvPr id="37" name="Shape 34"/>
          <p:cNvSpPr/>
          <p:nvPr/>
        </p:nvSpPr>
        <p:spPr>
          <a:xfrm>
            <a:off x="1619250" y="5433060"/>
            <a:ext cx="2381250" cy="9525"/>
          </a:xfrm>
          <a:prstGeom prst="rect">
            <a:avLst/>
          </a:prstGeom>
          <a:solidFill>
            <a:srgbClr val="1D1F20">
              <a:alpha val="16000"/>
            </a:srgbClr>
          </a:solidFill>
          <a:ln/>
        </p:spPr>
      </p:sp>
      <p:sp>
        <p:nvSpPr>
          <p:cNvPr id="38" name="Text 35"/>
          <p:cNvSpPr/>
          <p:nvPr/>
        </p:nvSpPr>
        <p:spPr>
          <a:xfrm>
            <a:off x="1619250" y="474726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Sun et al., 2024</a:t>
            </a:r>
            <a:endParaRPr lang="en-US" sz="1800" dirty="0">
              <a:latin typeface="Times New Roman" panose="02020603050405020304" pitchFamily="18" charset="0"/>
            </a:endParaRPr>
          </a:p>
        </p:txBody>
      </p:sp>
      <p:sp>
        <p:nvSpPr>
          <p:cNvPr id="39" name="Shape 36"/>
          <p:cNvSpPr/>
          <p:nvPr/>
        </p:nvSpPr>
        <p:spPr>
          <a:xfrm>
            <a:off x="4000500" y="5433060"/>
            <a:ext cx="4953000" cy="9525"/>
          </a:xfrm>
          <a:prstGeom prst="rect">
            <a:avLst/>
          </a:prstGeom>
          <a:solidFill>
            <a:srgbClr val="1D1F20">
              <a:alpha val="16000"/>
            </a:srgbClr>
          </a:solidFill>
          <a:ln/>
        </p:spPr>
      </p:sp>
      <p:sp>
        <p:nvSpPr>
          <p:cNvPr id="40" name="Text 37"/>
          <p:cNvSpPr/>
          <p:nvPr/>
        </p:nvSpPr>
        <p:spPr>
          <a:xfrm>
            <a:off x="4000500" y="474726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Detecting LLM hallucination via Markov chain-based multi-agent debate · arXiv:2406.03075</a:t>
            </a:r>
            <a:endParaRPr lang="en-US" sz="1800" dirty="0">
              <a:latin typeface="Times New Roman" panose="02020603050405020304" pitchFamily="18" charset="0"/>
            </a:endParaRPr>
          </a:p>
        </p:txBody>
      </p:sp>
      <p:sp>
        <p:nvSpPr>
          <p:cNvPr id="41" name="Shape 38"/>
          <p:cNvSpPr/>
          <p:nvPr/>
        </p:nvSpPr>
        <p:spPr>
          <a:xfrm>
            <a:off x="8953500" y="5433060"/>
            <a:ext cx="3810000" cy="9525"/>
          </a:xfrm>
          <a:prstGeom prst="rect">
            <a:avLst/>
          </a:prstGeom>
          <a:solidFill>
            <a:srgbClr val="1D1F20">
              <a:alpha val="16000"/>
            </a:srgbClr>
          </a:solidFill>
          <a:ln/>
        </p:spPr>
      </p:sp>
      <p:sp>
        <p:nvSpPr>
          <p:cNvPr id="42" name="Text 39"/>
          <p:cNvSpPr/>
          <p:nvPr/>
        </p:nvSpPr>
        <p:spPr>
          <a:xfrm>
            <a:off x="8953500" y="474726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Claim-level debate modelled as a Markov chain</a:t>
            </a:r>
            <a:endParaRPr lang="en-US" sz="1800" dirty="0">
              <a:latin typeface="Times New Roman" panose="02020603050405020304" pitchFamily="18" charset="0"/>
            </a:endParaRPr>
          </a:p>
        </p:txBody>
      </p:sp>
      <p:sp>
        <p:nvSpPr>
          <p:cNvPr id="43" name="Shape 40"/>
          <p:cNvSpPr/>
          <p:nvPr/>
        </p:nvSpPr>
        <p:spPr>
          <a:xfrm>
            <a:off x="12763500" y="5433060"/>
            <a:ext cx="4572000" cy="9525"/>
          </a:xfrm>
          <a:prstGeom prst="rect">
            <a:avLst/>
          </a:prstGeom>
          <a:solidFill>
            <a:srgbClr val="1D1F20">
              <a:alpha val="16000"/>
            </a:srgbClr>
          </a:solidFill>
          <a:ln/>
        </p:spPr>
      </p:sp>
      <p:sp>
        <p:nvSpPr>
          <p:cNvPr id="44" name="Text 41"/>
          <p:cNvSpPr/>
          <p:nvPr/>
        </p:nvSpPr>
        <p:spPr>
          <a:xfrm>
            <a:off x="12763500" y="4747260"/>
            <a:ext cx="470916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Better detection; no legal citation matching</a:t>
            </a:r>
            <a:endParaRPr lang="en-US" sz="1800" dirty="0">
              <a:latin typeface="Times New Roman" panose="02020603050405020304" pitchFamily="18" charset="0"/>
            </a:endParaRPr>
          </a:p>
        </p:txBody>
      </p:sp>
      <p:sp>
        <p:nvSpPr>
          <p:cNvPr id="45" name="Shape 42"/>
          <p:cNvSpPr/>
          <p:nvPr/>
        </p:nvSpPr>
        <p:spPr>
          <a:xfrm>
            <a:off x="952500" y="6238240"/>
            <a:ext cx="666750" cy="9525"/>
          </a:xfrm>
          <a:prstGeom prst="rect">
            <a:avLst/>
          </a:prstGeom>
          <a:solidFill>
            <a:srgbClr val="1D1F20">
              <a:alpha val="16000"/>
            </a:srgbClr>
          </a:solidFill>
          <a:ln/>
        </p:spPr>
      </p:sp>
      <p:sp>
        <p:nvSpPr>
          <p:cNvPr id="46" name="Text 43"/>
          <p:cNvSpPr/>
          <p:nvPr/>
        </p:nvSpPr>
        <p:spPr>
          <a:xfrm>
            <a:off x="952500" y="555244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[25]</a:t>
            </a:r>
            <a:endParaRPr lang="en-US" sz="1800" dirty="0">
              <a:latin typeface="Times New Roman" panose="02020603050405020304" pitchFamily="18" charset="0"/>
            </a:endParaRPr>
          </a:p>
        </p:txBody>
      </p:sp>
      <p:sp>
        <p:nvSpPr>
          <p:cNvPr id="47" name="Shape 44"/>
          <p:cNvSpPr/>
          <p:nvPr/>
        </p:nvSpPr>
        <p:spPr>
          <a:xfrm>
            <a:off x="1619250" y="6238240"/>
            <a:ext cx="2381250" cy="9525"/>
          </a:xfrm>
          <a:prstGeom prst="rect">
            <a:avLst/>
          </a:prstGeom>
          <a:solidFill>
            <a:srgbClr val="1D1F20">
              <a:alpha val="16000"/>
            </a:srgbClr>
          </a:solidFill>
          <a:ln/>
        </p:spPr>
      </p:sp>
      <p:sp>
        <p:nvSpPr>
          <p:cNvPr id="48" name="Text 45"/>
          <p:cNvSpPr/>
          <p:nvPr/>
        </p:nvSpPr>
        <p:spPr>
          <a:xfrm>
            <a:off x="1619250" y="555244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Zhou et al., 2024</a:t>
            </a:r>
            <a:endParaRPr lang="en-US" sz="1800" dirty="0">
              <a:latin typeface="Times New Roman" panose="02020603050405020304" pitchFamily="18" charset="0"/>
            </a:endParaRPr>
          </a:p>
        </p:txBody>
      </p:sp>
      <p:sp>
        <p:nvSpPr>
          <p:cNvPr id="49" name="Shape 46"/>
          <p:cNvSpPr/>
          <p:nvPr/>
        </p:nvSpPr>
        <p:spPr>
          <a:xfrm>
            <a:off x="4000500" y="6238240"/>
            <a:ext cx="4953000" cy="9525"/>
          </a:xfrm>
          <a:prstGeom prst="rect">
            <a:avLst/>
          </a:prstGeom>
          <a:solidFill>
            <a:srgbClr val="1D1F20">
              <a:alpha val="16000"/>
            </a:srgbClr>
          </a:solidFill>
          <a:ln/>
        </p:spPr>
      </p:sp>
      <p:sp>
        <p:nvSpPr>
          <p:cNvPr id="50" name="Text 47"/>
          <p:cNvSpPr/>
          <p:nvPr/>
        </p:nvSpPr>
        <p:spPr>
          <a:xfrm>
            <a:off x="4000500" y="555244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LawGPT: a Chinese legal knowledge-enhanced LLM · arXiv:2406.04614</a:t>
            </a:r>
            <a:endParaRPr lang="en-US" sz="1800" dirty="0">
              <a:latin typeface="Times New Roman" panose="02020603050405020304" pitchFamily="18" charset="0"/>
            </a:endParaRPr>
          </a:p>
        </p:txBody>
      </p:sp>
      <p:sp>
        <p:nvSpPr>
          <p:cNvPr id="51" name="Shape 48"/>
          <p:cNvSpPr/>
          <p:nvPr/>
        </p:nvSpPr>
        <p:spPr>
          <a:xfrm>
            <a:off x="8953500" y="6238240"/>
            <a:ext cx="3810000" cy="9525"/>
          </a:xfrm>
          <a:prstGeom prst="rect">
            <a:avLst/>
          </a:prstGeom>
          <a:solidFill>
            <a:srgbClr val="1D1F20">
              <a:alpha val="16000"/>
            </a:srgbClr>
          </a:solidFill>
          <a:ln/>
        </p:spPr>
      </p:sp>
      <p:sp>
        <p:nvSpPr>
          <p:cNvPr id="52" name="Text 49"/>
          <p:cNvSpPr/>
          <p:nvPr/>
        </p:nvSpPr>
        <p:spPr>
          <a:xfrm>
            <a:off x="8953500" y="555244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Legal-knowledge pre-training and instruction tuning</a:t>
            </a:r>
            <a:endParaRPr lang="en-US" sz="1800" dirty="0">
              <a:latin typeface="Times New Roman" panose="02020603050405020304" pitchFamily="18" charset="0"/>
            </a:endParaRPr>
          </a:p>
        </p:txBody>
      </p:sp>
      <p:sp>
        <p:nvSpPr>
          <p:cNvPr id="53" name="Shape 50"/>
          <p:cNvSpPr/>
          <p:nvPr/>
        </p:nvSpPr>
        <p:spPr>
          <a:xfrm>
            <a:off x="12763500" y="6238240"/>
            <a:ext cx="4572000" cy="9525"/>
          </a:xfrm>
          <a:prstGeom prst="rect">
            <a:avLst/>
          </a:prstGeom>
          <a:solidFill>
            <a:srgbClr val="1D1F20">
              <a:alpha val="16000"/>
            </a:srgbClr>
          </a:solidFill>
          <a:ln/>
        </p:spPr>
      </p:sp>
      <p:sp>
        <p:nvSpPr>
          <p:cNvPr id="54" name="Text 51"/>
          <p:cNvSpPr/>
          <p:nvPr/>
        </p:nvSpPr>
        <p:spPr>
          <a:xfrm>
            <a:off x="12763500" y="5552440"/>
            <a:ext cx="470916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Domain fluency; no independent citation check</a:t>
            </a:r>
            <a:endParaRPr lang="en-US" sz="1800" dirty="0">
              <a:latin typeface="Times New Roman" panose="02020603050405020304" pitchFamily="18" charset="0"/>
            </a:endParaRPr>
          </a:p>
        </p:txBody>
      </p:sp>
      <p:sp>
        <p:nvSpPr>
          <p:cNvPr id="55" name="Shape 52"/>
          <p:cNvSpPr/>
          <p:nvPr/>
        </p:nvSpPr>
        <p:spPr>
          <a:xfrm>
            <a:off x="952500" y="7043420"/>
            <a:ext cx="666750" cy="9525"/>
          </a:xfrm>
          <a:prstGeom prst="rect">
            <a:avLst/>
          </a:prstGeom>
          <a:solidFill>
            <a:srgbClr val="1D1F20">
              <a:alpha val="16000"/>
            </a:srgbClr>
          </a:solidFill>
          <a:ln/>
        </p:spPr>
      </p:sp>
      <p:sp>
        <p:nvSpPr>
          <p:cNvPr id="56" name="Text 53"/>
          <p:cNvSpPr/>
          <p:nvPr/>
        </p:nvSpPr>
        <p:spPr>
          <a:xfrm>
            <a:off x="952500" y="635762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[26]</a:t>
            </a:r>
            <a:endParaRPr lang="en-US" sz="1800" dirty="0">
              <a:latin typeface="Times New Roman" panose="02020603050405020304" pitchFamily="18" charset="0"/>
            </a:endParaRPr>
          </a:p>
        </p:txBody>
      </p:sp>
      <p:sp>
        <p:nvSpPr>
          <p:cNvPr id="57" name="Shape 54"/>
          <p:cNvSpPr/>
          <p:nvPr/>
        </p:nvSpPr>
        <p:spPr>
          <a:xfrm>
            <a:off x="1619250" y="7043420"/>
            <a:ext cx="2381250" cy="9525"/>
          </a:xfrm>
          <a:prstGeom prst="rect">
            <a:avLst/>
          </a:prstGeom>
          <a:solidFill>
            <a:srgbClr val="1D1F20">
              <a:alpha val="16000"/>
            </a:srgbClr>
          </a:solidFill>
          <a:ln/>
        </p:spPr>
      </p:sp>
      <p:sp>
        <p:nvSpPr>
          <p:cNvPr id="58" name="Text 55"/>
          <p:cNvSpPr/>
          <p:nvPr/>
        </p:nvSpPr>
        <p:spPr>
          <a:xfrm>
            <a:off x="1619250" y="6357620"/>
            <a:ext cx="22669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Li et al., 2024</a:t>
            </a:r>
            <a:endParaRPr lang="en-US" sz="1800" dirty="0">
              <a:latin typeface="Times New Roman" panose="02020603050405020304" pitchFamily="18" charset="0"/>
            </a:endParaRPr>
          </a:p>
        </p:txBody>
      </p:sp>
      <p:sp>
        <p:nvSpPr>
          <p:cNvPr id="59" name="Shape 56"/>
          <p:cNvSpPr/>
          <p:nvPr/>
        </p:nvSpPr>
        <p:spPr>
          <a:xfrm>
            <a:off x="4000500" y="7043420"/>
            <a:ext cx="4953000" cy="9525"/>
          </a:xfrm>
          <a:prstGeom prst="rect">
            <a:avLst/>
          </a:prstGeom>
          <a:solidFill>
            <a:srgbClr val="1D1F20">
              <a:alpha val="16000"/>
            </a:srgbClr>
          </a:solidFill>
          <a:ln/>
        </p:spPr>
      </p:sp>
      <p:sp>
        <p:nvSpPr>
          <p:cNvPr id="60" name="Text 57"/>
          <p:cNvSpPr/>
          <p:nvPr/>
        </p:nvSpPr>
        <p:spPr>
          <a:xfrm>
            <a:off x="4000500" y="635762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LegalAgentBench: evaluating LLM agents in the legal domain · arXiv:2412.17259</a:t>
            </a:r>
            <a:endParaRPr lang="en-US" sz="1800" dirty="0">
              <a:latin typeface="Times New Roman" panose="02020603050405020304" pitchFamily="18" charset="0"/>
            </a:endParaRPr>
          </a:p>
        </p:txBody>
      </p:sp>
      <p:sp>
        <p:nvSpPr>
          <p:cNvPr id="61" name="Shape 58"/>
          <p:cNvSpPr/>
          <p:nvPr/>
        </p:nvSpPr>
        <p:spPr>
          <a:xfrm>
            <a:off x="8953500" y="7043420"/>
            <a:ext cx="3810000" cy="9525"/>
          </a:xfrm>
          <a:prstGeom prst="rect">
            <a:avLst/>
          </a:prstGeom>
          <a:solidFill>
            <a:srgbClr val="1D1F20">
              <a:alpha val="16000"/>
            </a:srgbClr>
          </a:solidFill>
          <a:ln/>
        </p:spPr>
      </p:sp>
      <p:sp>
        <p:nvSpPr>
          <p:cNvPr id="62" name="Text 59"/>
          <p:cNvSpPr/>
          <p:nvPr/>
        </p:nvSpPr>
        <p:spPr>
          <a:xfrm>
            <a:off x="8953500" y="635762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Tool-using agent benchmark on legal tasks</a:t>
            </a:r>
            <a:endParaRPr lang="en-US" sz="1800" dirty="0">
              <a:latin typeface="Times New Roman" panose="02020603050405020304" pitchFamily="18" charset="0"/>
            </a:endParaRPr>
          </a:p>
        </p:txBody>
      </p:sp>
      <p:sp>
        <p:nvSpPr>
          <p:cNvPr id="63" name="Shape 60"/>
          <p:cNvSpPr/>
          <p:nvPr/>
        </p:nvSpPr>
        <p:spPr>
          <a:xfrm>
            <a:off x="12763500" y="7043420"/>
            <a:ext cx="4572000" cy="9525"/>
          </a:xfrm>
          <a:prstGeom prst="rect">
            <a:avLst/>
          </a:prstGeom>
          <a:solidFill>
            <a:srgbClr val="1D1F20">
              <a:alpha val="16000"/>
            </a:srgbClr>
          </a:solidFill>
          <a:ln/>
        </p:spPr>
      </p:sp>
      <p:sp>
        <p:nvSpPr>
          <p:cNvPr id="64" name="Text 61"/>
          <p:cNvSpPr/>
          <p:nvPr/>
        </p:nvSpPr>
        <p:spPr>
          <a:xfrm>
            <a:off x="12763500" y="6357620"/>
            <a:ext cx="470916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Evaluates agents; no re-hallucination measure</a:t>
            </a:r>
            <a:endParaRPr lang="en-US" sz="1800" dirty="0">
              <a:latin typeface="Times New Roman" panose="02020603050405020304" pitchFamily="18" charset="0"/>
            </a:endParaRPr>
          </a:p>
        </p:txBody>
      </p:sp>
      <p:sp>
        <p:nvSpPr>
          <p:cNvPr id="65" name="Shape 62"/>
          <p:cNvSpPr/>
          <p:nvPr/>
        </p:nvSpPr>
        <p:spPr>
          <a:xfrm>
            <a:off x="952500" y="7848600"/>
            <a:ext cx="666750" cy="9525"/>
          </a:xfrm>
          <a:prstGeom prst="rect">
            <a:avLst/>
          </a:prstGeom>
          <a:solidFill>
            <a:srgbClr val="1D1F20">
              <a:alpha val="16000"/>
            </a:srgbClr>
          </a:solidFill>
          <a:ln/>
        </p:spPr>
      </p:sp>
      <p:sp>
        <p:nvSpPr>
          <p:cNvPr id="66" name="Text 63"/>
          <p:cNvSpPr/>
          <p:nvPr/>
        </p:nvSpPr>
        <p:spPr>
          <a:xfrm>
            <a:off x="952500" y="7162800"/>
            <a:ext cx="552450" cy="609600"/>
          </a:xfrm>
          <a:prstGeom prst="rect">
            <a:avLst/>
          </a:prstGeom>
          <a:noFill/>
          <a:ln/>
        </p:spPr>
        <p:txBody>
          <a:bodyPr wrap="square" lIns="25400" tIns="25400" rIns="25400" bIns="25400" rtlCol="0" anchor="t">
            <a:normAutofit/>
          </a:bodyPr>
          <a:lstStyle/>
          <a:p>
            <a:pPr marL="0" indent="0" algn="just">
              <a:lnSpc>
                <a:spcPct val="110294"/>
              </a:lnSpc>
              <a:buNone/>
            </a:pPr>
            <a:r>
              <a:rPr lang="en-US" sz="1800" b="1" dirty="0">
                <a:solidFill>
                  <a:srgbClr val="416180"/>
                </a:solidFill>
                <a:latin typeface="Times New Roman" panose="02020603050405020304" pitchFamily="18" charset="0"/>
                <a:ea typeface="Arial" pitchFamily="34" charset="-122"/>
                <a:cs typeface="Arial" pitchFamily="34" charset="-120"/>
              </a:rPr>
              <a:t>[27]</a:t>
            </a:r>
            <a:endParaRPr lang="en-US" sz="1800" dirty="0">
              <a:latin typeface="Times New Roman" panose="02020603050405020304" pitchFamily="18" charset="0"/>
            </a:endParaRPr>
          </a:p>
        </p:txBody>
      </p:sp>
      <p:sp>
        <p:nvSpPr>
          <p:cNvPr id="67" name="Shape 64"/>
          <p:cNvSpPr/>
          <p:nvPr/>
        </p:nvSpPr>
        <p:spPr>
          <a:xfrm>
            <a:off x="1619250" y="7848600"/>
            <a:ext cx="2381250" cy="9525"/>
          </a:xfrm>
          <a:prstGeom prst="rect">
            <a:avLst/>
          </a:prstGeom>
          <a:solidFill>
            <a:srgbClr val="1D1F20">
              <a:alpha val="16000"/>
            </a:srgbClr>
          </a:solidFill>
          <a:ln/>
        </p:spPr>
      </p:sp>
      <p:sp>
        <p:nvSpPr>
          <p:cNvPr id="68" name="Text 65"/>
          <p:cNvSpPr/>
          <p:nvPr/>
        </p:nvSpPr>
        <p:spPr>
          <a:xfrm>
            <a:off x="1619250" y="7162800"/>
            <a:ext cx="226695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b="1" dirty="0">
                <a:solidFill>
                  <a:srgbClr val="1D1F20"/>
                </a:solidFill>
                <a:latin typeface="Times New Roman" panose="02020603050405020304" pitchFamily="18" charset="0"/>
                <a:ea typeface="Arial" pitchFamily="34" charset="-122"/>
                <a:cs typeface="Arial" pitchFamily="34" charset="-120"/>
              </a:rPr>
              <a:t>Chowdhury et al., 2026</a:t>
            </a:r>
            <a:endParaRPr lang="en-US" sz="1800" dirty="0">
              <a:latin typeface="Times New Roman" panose="02020603050405020304" pitchFamily="18" charset="0"/>
            </a:endParaRPr>
          </a:p>
        </p:txBody>
      </p:sp>
      <p:sp>
        <p:nvSpPr>
          <p:cNvPr id="69" name="Shape 66"/>
          <p:cNvSpPr/>
          <p:nvPr/>
        </p:nvSpPr>
        <p:spPr>
          <a:xfrm>
            <a:off x="4000500" y="7848600"/>
            <a:ext cx="4953000" cy="9525"/>
          </a:xfrm>
          <a:prstGeom prst="rect">
            <a:avLst/>
          </a:prstGeom>
          <a:solidFill>
            <a:srgbClr val="1D1F20">
              <a:alpha val="16000"/>
            </a:srgbClr>
          </a:solidFill>
          <a:ln/>
        </p:spPr>
      </p:sp>
      <p:sp>
        <p:nvSpPr>
          <p:cNvPr id="70" name="Text 67"/>
          <p:cNvSpPr/>
          <p:nvPr/>
        </p:nvSpPr>
        <p:spPr>
          <a:xfrm>
            <a:off x="4000500" y="7162800"/>
            <a:ext cx="491109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Courtroom-style multi-agent debate with progressive RAG (PROCLAIM) · arXiv:2603.28488</a:t>
            </a:r>
            <a:endParaRPr lang="en-US" sz="1800" dirty="0">
              <a:latin typeface="Times New Roman" panose="02020603050405020304" pitchFamily="18" charset="0"/>
            </a:endParaRPr>
          </a:p>
        </p:txBody>
      </p:sp>
      <p:sp>
        <p:nvSpPr>
          <p:cNvPr id="71" name="Shape 68"/>
          <p:cNvSpPr/>
          <p:nvPr/>
        </p:nvSpPr>
        <p:spPr>
          <a:xfrm>
            <a:off x="8953500" y="7848600"/>
            <a:ext cx="3810000" cy="9525"/>
          </a:xfrm>
          <a:prstGeom prst="rect">
            <a:avLst/>
          </a:prstGeom>
          <a:solidFill>
            <a:srgbClr val="1D1F20">
              <a:alpha val="16000"/>
            </a:srgbClr>
          </a:solidFill>
          <a:ln/>
        </p:spPr>
      </p:sp>
      <p:sp>
        <p:nvSpPr>
          <p:cNvPr id="72" name="Text 69"/>
          <p:cNvSpPr/>
          <p:nvPr/>
        </p:nvSpPr>
        <p:spPr>
          <a:xfrm>
            <a:off x="8953500" y="7162800"/>
            <a:ext cx="373380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Courtroom roles with progressive retrieval</a:t>
            </a:r>
            <a:endParaRPr lang="en-US" sz="1800" dirty="0">
              <a:latin typeface="Times New Roman" panose="02020603050405020304" pitchFamily="18" charset="0"/>
            </a:endParaRPr>
          </a:p>
        </p:txBody>
      </p:sp>
      <p:sp>
        <p:nvSpPr>
          <p:cNvPr id="73" name="Shape 70"/>
          <p:cNvSpPr/>
          <p:nvPr/>
        </p:nvSpPr>
        <p:spPr>
          <a:xfrm>
            <a:off x="12763500" y="7848600"/>
            <a:ext cx="4572000" cy="9525"/>
          </a:xfrm>
          <a:prstGeom prst="rect">
            <a:avLst/>
          </a:prstGeom>
          <a:solidFill>
            <a:srgbClr val="1D1F20">
              <a:alpha val="16000"/>
            </a:srgbClr>
          </a:solidFill>
          <a:ln/>
        </p:spPr>
      </p:sp>
      <p:sp>
        <p:nvSpPr>
          <p:cNvPr id="74" name="Text 71"/>
          <p:cNvSpPr/>
          <p:nvPr/>
        </p:nvSpPr>
        <p:spPr>
          <a:xfrm>
            <a:off x="12763500" y="7162800"/>
            <a:ext cx="4709160" cy="609600"/>
          </a:xfrm>
          <a:prstGeom prst="rect">
            <a:avLst/>
          </a:prstGeom>
          <a:noFill/>
          <a:ln/>
        </p:spPr>
        <p:txBody>
          <a:bodyPr wrap="square" lIns="25400" tIns="25400" rIns="25400" bIns="25400" rtlCol="0" anchor="t">
            <a:normAutofit lnSpcReduction="100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Adversarial roles and staged evidence; no citation verifier</a:t>
            </a:r>
            <a:endParaRPr lang="en-US" sz="1800" dirty="0">
              <a:latin typeface="Times New Roman" panose="02020603050405020304" pitchFamily="18" charset="0"/>
            </a:endParaRPr>
          </a:p>
        </p:txBody>
      </p:sp>
      <p:sp>
        <p:nvSpPr>
          <p:cNvPr id="76" name="TextBox 75">
            <a:extLst>
              <a:ext uri="{FF2B5EF4-FFF2-40B4-BE49-F238E27FC236}">
                <a16:creationId xmlns:a16="http://schemas.microsoft.com/office/drawing/2014/main" id="{4BDBB0CC-C9AC-F21C-0226-D4ED7F484705}"/>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6</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Detailed Literature Review (contd.)</a:t>
            </a:r>
            <a:endParaRPr lang="en-US" sz="4800" dirty="0">
              <a:latin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Literature Landscape: Five Method Families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654300"/>
            <a:ext cx="2857500" cy="10160"/>
          </a:xfrm>
          <a:prstGeom prst="rect">
            <a:avLst/>
          </a:prstGeom>
          <a:solidFill>
            <a:srgbClr val="1D1F20"/>
          </a:solidFill>
          <a:ln/>
        </p:spPr>
      </p:sp>
      <p:sp>
        <p:nvSpPr>
          <p:cNvPr id="6" name="Text 3"/>
          <p:cNvSpPr/>
          <p:nvPr/>
        </p:nvSpPr>
        <p:spPr>
          <a:xfrm>
            <a:off x="952500" y="2228850"/>
            <a:ext cx="2676525"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FAMILY</a:t>
            </a:r>
            <a:endParaRPr lang="en-US" sz="1800" dirty="0">
              <a:latin typeface="Times New Roman" panose="02020603050405020304" pitchFamily="18" charset="0"/>
            </a:endParaRPr>
          </a:p>
        </p:txBody>
      </p:sp>
      <p:sp>
        <p:nvSpPr>
          <p:cNvPr id="7" name="Shape 4"/>
          <p:cNvSpPr/>
          <p:nvPr/>
        </p:nvSpPr>
        <p:spPr>
          <a:xfrm>
            <a:off x="3810000" y="2654300"/>
            <a:ext cx="4191000" cy="10160"/>
          </a:xfrm>
          <a:prstGeom prst="rect">
            <a:avLst/>
          </a:prstGeom>
          <a:solidFill>
            <a:srgbClr val="1D1F20"/>
          </a:solidFill>
          <a:ln/>
        </p:spPr>
      </p:sp>
      <p:sp>
        <p:nvSpPr>
          <p:cNvPr id="8" name="Text 5"/>
          <p:cNvSpPr/>
          <p:nvPr/>
        </p:nvSpPr>
        <p:spPr>
          <a:xfrm>
            <a:off x="3810000" y="2228850"/>
            <a:ext cx="405003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PAPERS</a:t>
            </a:r>
            <a:endParaRPr lang="en-US" sz="1800" dirty="0">
              <a:latin typeface="Times New Roman" panose="02020603050405020304" pitchFamily="18" charset="0"/>
            </a:endParaRPr>
          </a:p>
        </p:txBody>
      </p:sp>
      <p:sp>
        <p:nvSpPr>
          <p:cNvPr id="9" name="Shape 6"/>
          <p:cNvSpPr/>
          <p:nvPr/>
        </p:nvSpPr>
        <p:spPr>
          <a:xfrm>
            <a:off x="8001000" y="2654300"/>
            <a:ext cx="4906963" cy="10160"/>
          </a:xfrm>
          <a:prstGeom prst="rect">
            <a:avLst/>
          </a:prstGeom>
          <a:solidFill>
            <a:srgbClr val="1D1F20"/>
          </a:solidFill>
          <a:ln/>
        </p:spPr>
      </p:sp>
      <p:sp>
        <p:nvSpPr>
          <p:cNvPr id="10" name="Text 7"/>
          <p:cNvSpPr/>
          <p:nvPr/>
        </p:nvSpPr>
        <p:spPr>
          <a:xfrm>
            <a:off x="8001000" y="2228850"/>
            <a:ext cx="4787472"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CONTRIBUTION</a:t>
            </a:r>
            <a:endParaRPr lang="en-US" sz="1800" dirty="0">
              <a:latin typeface="Times New Roman" panose="02020603050405020304" pitchFamily="18" charset="0"/>
            </a:endParaRPr>
          </a:p>
        </p:txBody>
      </p:sp>
      <p:sp>
        <p:nvSpPr>
          <p:cNvPr id="11" name="Shape 8"/>
          <p:cNvSpPr/>
          <p:nvPr/>
        </p:nvSpPr>
        <p:spPr>
          <a:xfrm>
            <a:off x="12907962" y="2654300"/>
            <a:ext cx="4427537" cy="10160"/>
          </a:xfrm>
          <a:prstGeom prst="rect">
            <a:avLst/>
          </a:prstGeom>
          <a:solidFill>
            <a:srgbClr val="1D1F20"/>
          </a:solidFill>
          <a:ln/>
        </p:spPr>
      </p:sp>
      <p:sp>
        <p:nvSpPr>
          <p:cNvPr id="12" name="Text 9"/>
          <p:cNvSpPr/>
          <p:nvPr/>
        </p:nvSpPr>
        <p:spPr>
          <a:xfrm>
            <a:off x="12907962" y="2228850"/>
            <a:ext cx="4560363"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416180"/>
                </a:solidFill>
                <a:latin typeface="Times New Roman" panose="02020603050405020304" pitchFamily="18" charset="0"/>
                <a:ea typeface="Arial" pitchFamily="34" charset="-122"/>
                <a:cs typeface="Arial" pitchFamily="34" charset="-120"/>
              </a:rPr>
              <a:t>GAP FOR LEGAL QA</a:t>
            </a:r>
            <a:endParaRPr lang="en-US" sz="1800" dirty="0">
              <a:latin typeface="Times New Roman" panose="02020603050405020304" pitchFamily="18" charset="0"/>
            </a:endParaRPr>
          </a:p>
        </p:txBody>
      </p:sp>
      <p:sp>
        <p:nvSpPr>
          <p:cNvPr id="13" name="Shape 10"/>
          <p:cNvSpPr/>
          <p:nvPr/>
        </p:nvSpPr>
        <p:spPr>
          <a:xfrm>
            <a:off x="952500" y="3653790"/>
            <a:ext cx="2857500" cy="9525"/>
          </a:xfrm>
          <a:prstGeom prst="rect">
            <a:avLst/>
          </a:prstGeom>
          <a:solidFill>
            <a:srgbClr val="1D1F20">
              <a:alpha val="16000"/>
            </a:srgbClr>
          </a:solidFill>
          <a:ln/>
        </p:spPr>
      </p:sp>
      <p:sp>
        <p:nvSpPr>
          <p:cNvPr id="14" name="Text 11"/>
          <p:cNvSpPr/>
          <p:nvPr/>
        </p:nvSpPr>
        <p:spPr>
          <a:xfrm>
            <a:off x="952500" y="2835910"/>
            <a:ext cx="2676525" cy="684530"/>
          </a:xfrm>
          <a:prstGeom prst="rect">
            <a:avLst/>
          </a:prstGeom>
          <a:noFill/>
          <a:ln/>
        </p:spPr>
        <p:txBody>
          <a:bodyPr wrap="square" lIns="25400" tIns="25400" rIns="25400" bIns="25400" rtlCol="0" anchor="t">
            <a:normAutofit/>
          </a:bodyPr>
          <a:lstStyle/>
          <a:p>
            <a:pPr marL="0" indent="0" algn="just">
              <a:lnSpc>
                <a:spcPct val="116071"/>
              </a:lnSpc>
              <a:buNone/>
            </a:pPr>
            <a:r>
              <a:rPr lang="en-US" sz="2250" b="1" dirty="0">
                <a:solidFill>
                  <a:srgbClr val="1D1F20"/>
                </a:solidFill>
                <a:latin typeface="Times New Roman" panose="02020603050405020304" pitchFamily="18" charset="0"/>
                <a:ea typeface="Arial" pitchFamily="34" charset="-122"/>
                <a:cs typeface="Arial" pitchFamily="34" charset="-120"/>
              </a:rPr>
              <a:t>Domain legal LLMs</a:t>
            </a:r>
            <a:endParaRPr lang="en-US" sz="2250" dirty="0">
              <a:latin typeface="Times New Roman" panose="02020603050405020304" pitchFamily="18" charset="0"/>
            </a:endParaRPr>
          </a:p>
        </p:txBody>
      </p:sp>
      <p:sp>
        <p:nvSpPr>
          <p:cNvPr id="15" name="Shape 12"/>
          <p:cNvSpPr/>
          <p:nvPr/>
        </p:nvSpPr>
        <p:spPr>
          <a:xfrm>
            <a:off x="3810000" y="3653790"/>
            <a:ext cx="4191000" cy="9525"/>
          </a:xfrm>
          <a:prstGeom prst="rect">
            <a:avLst/>
          </a:prstGeom>
          <a:solidFill>
            <a:srgbClr val="1D1F20">
              <a:alpha val="16000"/>
            </a:srgbClr>
          </a:solidFill>
          <a:ln/>
        </p:spPr>
      </p:sp>
      <p:sp>
        <p:nvSpPr>
          <p:cNvPr id="16" name="Text 13"/>
          <p:cNvSpPr/>
          <p:nvPr/>
        </p:nvSpPr>
        <p:spPr>
          <a:xfrm>
            <a:off x="3810000" y="2835910"/>
            <a:ext cx="4050030" cy="68453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Lawformer [1], DISC-LawLLM [19], LawGPT [25]</a:t>
            </a:r>
            <a:endParaRPr lang="en-US" sz="1950" dirty="0">
              <a:latin typeface="Times New Roman" panose="02020603050405020304" pitchFamily="18" charset="0"/>
            </a:endParaRPr>
          </a:p>
        </p:txBody>
      </p:sp>
      <p:sp>
        <p:nvSpPr>
          <p:cNvPr id="17" name="Shape 14"/>
          <p:cNvSpPr/>
          <p:nvPr/>
        </p:nvSpPr>
        <p:spPr>
          <a:xfrm>
            <a:off x="8001000" y="3653790"/>
            <a:ext cx="4906963" cy="9525"/>
          </a:xfrm>
          <a:prstGeom prst="rect">
            <a:avLst/>
          </a:prstGeom>
          <a:solidFill>
            <a:srgbClr val="1D1F20">
              <a:alpha val="16000"/>
            </a:srgbClr>
          </a:solidFill>
          <a:ln/>
        </p:spPr>
      </p:sp>
      <p:sp>
        <p:nvSpPr>
          <p:cNvPr id="18" name="Text 15"/>
          <p:cNvSpPr/>
          <p:nvPr/>
        </p:nvSpPr>
        <p:spPr>
          <a:xfrm>
            <a:off x="8001000" y="2835910"/>
            <a:ext cx="4787472" cy="68453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Legal fluency; DISC-LawLLM adds retrieval</a:t>
            </a:r>
            <a:endParaRPr lang="en-US" sz="1950" dirty="0">
              <a:latin typeface="Times New Roman" panose="02020603050405020304" pitchFamily="18" charset="0"/>
            </a:endParaRPr>
          </a:p>
        </p:txBody>
      </p:sp>
      <p:sp>
        <p:nvSpPr>
          <p:cNvPr id="19" name="Shape 16"/>
          <p:cNvSpPr/>
          <p:nvPr/>
        </p:nvSpPr>
        <p:spPr>
          <a:xfrm>
            <a:off x="12907962" y="3653790"/>
            <a:ext cx="4427537" cy="9525"/>
          </a:xfrm>
          <a:prstGeom prst="rect">
            <a:avLst/>
          </a:prstGeom>
          <a:solidFill>
            <a:srgbClr val="1D1F20">
              <a:alpha val="16000"/>
            </a:srgbClr>
          </a:solidFill>
          <a:ln/>
        </p:spPr>
      </p:sp>
      <p:sp>
        <p:nvSpPr>
          <p:cNvPr id="20" name="Text 17"/>
          <p:cNvSpPr/>
          <p:nvPr/>
        </p:nvSpPr>
        <p:spPr>
          <a:xfrm>
            <a:off x="12907962" y="2835910"/>
            <a:ext cx="4560363" cy="68453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Single generator; no independent citation veto</a:t>
            </a:r>
            <a:endParaRPr lang="en-US" sz="1950" dirty="0">
              <a:latin typeface="Times New Roman" panose="02020603050405020304" pitchFamily="18" charset="0"/>
            </a:endParaRPr>
          </a:p>
        </p:txBody>
      </p:sp>
      <p:sp>
        <p:nvSpPr>
          <p:cNvPr id="21" name="Shape 18"/>
          <p:cNvSpPr/>
          <p:nvPr/>
        </p:nvSpPr>
        <p:spPr>
          <a:xfrm>
            <a:off x="952500" y="4645660"/>
            <a:ext cx="2857500" cy="9525"/>
          </a:xfrm>
          <a:prstGeom prst="rect">
            <a:avLst/>
          </a:prstGeom>
          <a:solidFill>
            <a:srgbClr val="1D1F20">
              <a:alpha val="16000"/>
            </a:srgbClr>
          </a:solidFill>
          <a:ln/>
        </p:spPr>
      </p:sp>
      <p:sp>
        <p:nvSpPr>
          <p:cNvPr id="22" name="Text 19"/>
          <p:cNvSpPr/>
          <p:nvPr/>
        </p:nvSpPr>
        <p:spPr>
          <a:xfrm>
            <a:off x="952500" y="3830320"/>
            <a:ext cx="2676525" cy="681990"/>
          </a:xfrm>
          <a:prstGeom prst="rect">
            <a:avLst/>
          </a:prstGeom>
          <a:noFill/>
          <a:ln/>
        </p:spPr>
        <p:txBody>
          <a:bodyPr wrap="square" lIns="25400" tIns="25400" rIns="25400" bIns="25400" rtlCol="0" anchor="t">
            <a:normAutofit/>
          </a:bodyPr>
          <a:lstStyle/>
          <a:p>
            <a:pPr marL="0" indent="0" algn="just">
              <a:lnSpc>
                <a:spcPct val="116071"/>
              </a:lnSpc>
              <a:buNone/>
            </a:pPr>
            <a:r>
              <a:rPr lang="en-US" sz="2250" b="1" dirty="0">
                <a:solidFill>
                  <a:srgbClr val="1D1F20"/>
                </a:solidFill>
                <a:latin typeface="Times New Roman" panose="02020603050405020304" pitchFamily="18" charset="0"/>
                <a:ea typeface="Arial" pitchFamily="34" charset="-122"/>
                <a:cs typeface="Arial" pitchFamily="34" charset="-120"/>
              </a:rPr>
              <a:t>Legal benchmarks</a:t>
            </a:r>
            <a:endParaRPr lang="en-US" sz="2250" dirty="0">
              <a:latin typeface="Times New Roman" panose="02020603050405020304" pitchFamily="18" charset="0"/>
            </a:endParaRPr>
          </a:p>
        </p:txBody>
      </p:sp>
      <p:sp>
        <p:nvSpPr>
          <p:cNvPr id="23" name="Shape 20"/>
          <p:cNvSpPr/>
          <p:nvPr/>
        </p:nvSpPr>
        <p:spPr>
          <a:xfrm>
            <a:off x="3810000" y="4645660"/>
            <a:ext cx="4191000" cy="9525"/>
          </a:xfrm>
          <a:prstGeom prst="rect">
            <a:avLst/>
          </a:prstGeom>
          <a:solidFill>
            <a:srgbClr val="1D1F20">
              <a:alpha val="16000"/>
            </a:srgbClr>
          </a:solidFill>
          <a:ln/>
        </p:spPr>
      </p:sp>
      <p:sp>
        <p:nvSpPr>
          <p:cNvPr id="24" name="Text 21"/>
          <p:cNvSpPr/>
          <p:nvPr/>
        </p:nvSpPr>
        <p:spPr>
          <a:xfrm>
            <a:off x="3810000" y="3830320"/>
            <a:ext cx="405003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LegalBench [18], LawBench [7], LexGLUE [3], LegalAgentBench [26]</a:t>
            </a:r>
            <a:endParaRPr lang="en-US" sz="1950" dirty="0">
              <a:latin typeface="Times New Roman" panose="02020603050405020304" pitchFamily="18" charset="0"/>
            </a:endParaRPr>
          </a:p>
        </p:txBody>
      </p:sp>
      <p:sp>
        <p:nvSpPr>
          <p:cNvPr id="25" name="Shape 22"/>
          <p:cNvSpPr/>
          <p:nvPr/>
        </p:nvSpPr>
        <p:spPr>
          <a:xfrm>
            <a:off x="8001000" y="4645660"/>
            <a:ext cx="4906963" cy="9525"/>
          </a:xfrm>
          <a:prstGeom prst="rect">
            <a:avLst/>
          </a:prstGeom>
          <a:solidFill>
            <a:srgbClr val="1D1F20">
              <a:alpha val="16000"/>
            </a:srgbClr>
          </a:solidFill>
          <a:ln/>
        </p:spPr>
      </p:sp>
      <p:sp>
        <p:nvSpPr>
          <p:cNvPr id="26" name="Text 23"/>
          <p:cNvSpPr/>
          <p:nvPr/>
        </p:nvSpPr>
        <p:spPr>
          <a:xfrm>
            <a:off x="8001000" y="3830320"/>
            <a:ext cx="4787472"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Standard scoring of legal knowledge, reasoning and agents</a:t>
            </a:r>
            <a:endParaRPr lang="en-US" sz="1950" dirty="0">
              <a:latin typeface="Times New Roman" panose="02020603050405020304" pitchFamily="18" charset="0"/>
            </a:endParaRPr>
          </a:p>
        </p:txBody>
      </p:sp>
      <p:sp>
        <p:nvSpPr>
          <p:cNvPr id="27" name="Shape 24"/>
          <p:cNvSpPr/>
          <p:nvPr/>
        </p:nvSpPr>
        <p:spPr>
          <a:xfrm>
            <a:off x="12907962" y="4645660"/>
            <a:ext cx="4427537" cy="9525"/>
          </a:xfrm>
          <a:prstGeom prst="rect">
            <a:avLst/>
          </a:prstGeom>
          <a:solidFill>
            <a:srgbClr val="1D1F20">
              <a:alpha val="16000"/>
            </a:srgbClr>
          </a:solidFill>
          <a:ln/>
        </p:spPr>
      </p:sp>
      <p:sp>
        <p:nvSpPr>
          <p:cNvPr id="28" name="Text 25"/>
          <p:cNvSpPr/>
          <p:nvPr/>
        </p:nvSpPr>
        <p:spPr>
          <a:xfrm>
            <a:off x="12907962" y="3830320"/>
            <a:ext cx="4560363"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No measure of citation refusal or re-hallucination</a:t>
            </a:r>
            <a:endParaRPr lang="en-US" sz="1950" dirty="0">
              <a:latin typeface="Times New Roman" panose="02020603050405020304" pitchFamily="18" charset="0"/>
            </a:endParaRPr>
          </a:p>
        </p:txBody>
      </p:sp>
      <p:sp>
        <p:nvSpPr>
          <p:cNvPr id="29" name="Shape 26"/>
          <p:cNvSpPr/>
          <p:nvPr/>
        </p:nvSpPr>
        <p:spPr>
          <a:xfrm>
            <a:off x="952500" y="5637530"/>
            <a:ext cx="2857500" cy="9525"/>
          </a:xfrm>
          <a:prstGeom prst="rect">
            <a:avLst/>
          </a:prstGeom>
          <a:solidFill>
            <a:srgbClr val="1D1F20">
              <a:alpha val="16000"/>
            </a:srgbClr>
          </a:solidFill>
          <a:ln/>
        </p:spPr>
      </p:sp>
      <p:sp>
        <p:nvSpPr>
          <p:cNvPr id="30" name="Text 27"/>
          <p:cNvSpPr/>
          <p:nvPr/>
        </p:nvSpPr>
        <p:spPr>
          <a:xfrm>
            <a:off x="952500" y="4822190"/>
            <a:ext cx="2676525" cy="681990"/>
          </a:xfrm>
          <a:prstGeom prst="rect">
            <a:avLst/>
          </a:prstGeom>
          <a:noFill/>
          <a:ln/>
        </p:spPr>
        <p:txBody>
          <a:bodyPr wrap="square" lIns="25400" tIns="25400" rIns="25400" bIns="25400" rtlCol="0" anchor="t">
            <a:normAutofit fontScale="92500" lnSpcReduction="20000"/>
          </a:bodyPr>
          <a:lstStyle/>
          <a:p>
            <a:pPr marL="0" indent="0" algn="just">
              <a:lnSpc>
                <a:spcPct val="116071"/>
              </a:lnSpc>
              <a:buNone/>
            </a:pPr>
            <a:r>
              <a:rPr lang="en-US" sz="2250" b="1" dirty="0">
                <a:solidFill>
                  <a:srgbClr val="1D1F20"/>
                </a:solidFill>
                <a:latin typeface="Times New Roman" panose="02020603050405020304" pitchFamily="18" charset="0"/>
                <a:ea typeface="Arial" pitchFamily="34" charset="-122"/>
                <a:cs typeface="Arial" pitchFamily="34" charset="-120"/>
              </a:rPr>
              <a:t>RAG and hybrid retrieval</a:t>
            </a:r>
            <a:endParaRPr lang="en-US" sz="2250" dirty="0">
              <a:latin typeface="Times New Roman" panose="02020603050405020304" pitchFamily="18" charset="0"/>
            </a:endParaRPr>
          </a:p>
        </p:txBody>
      </p:sp>
      <p:sp>
        <p:nvSpPr>
          <p:cNvPr id="31" name="Shape 28"/>
          <p:cNvSpPr/>
          <p:nvPr/>
        </p:nvSpPr>
        <p:spPr>
          <a:xfrm>
            <a:off x="3810000" y="5637530"/>
            <a:ext cx="4191000" cy="9525"/>
          </a:xfrm>
          <a:prstGeom prst="rect">
            <a:avLst/>
          </a:prstGeom>
          <a:solidFill>
            <a:srgbClr val="1D1F20">
              <a:alpha val="16000"/>
            </a:srgbClr>
          </a:solidFill>
          <a:ln/>
        </p:spPr>
      </p:sp>
      <p:sp>
        <p:nvSpPr>
          <p:cNvPr id="32" name="Text 29"/>
          <p:cNvSpPr/>
          <p:nvPr/>
        </p:nvSpPr>
        <p:spPr>
          <a:xfrm>
            <a:off x="3810000" y="4822190"/>
            <a:ext cx="405003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RAG [2], CRAG [22], Self-RAG [21], LeAK-GraphRAG [9], AALawyer [10]</a:t>
            </a:r>
            <a:endParaRPr lang="en-US" sz="1950" dirty="0">
              <a:latin typeface="Times New Roman" panose="02020603050405020304" pitchFamily="18" charset="0"/>
            </a:endParaRPr>
          </a:p>
        </p:txBody>
      </p:sp>
      <p:sp>
        <p:nvSpPr>
          <p:cNvPr id="33" name="Shape 30"/>
          <p:cNvSpPr/>
          <p:nvPr/>
        </p:nvSpPr>
        <p:spPr>
          <a:xfrm>
            <a:off x="8001000" y="5637530"/>
            <a:ext cx="4906963" cy="9525"/>
          </a:xfrm>
          <a:prstGeom prst="rect">
            <a:avLst/>
          </a:prstGeom>
          <a:solidFill>
            <a:srgbClr val="1D1F20">
              <a:alpha val="16000"/>
            </a:srgbClr>
          </a:solidFill>
          <a:ln/>
        </p:spPr>
      </p:sp>
      <p:sp>
        <p:nvSpPr>
          <p:cNvPr id="34" name="Text 31"/>
          <p:cNvSpPr/>
          <p:nvPr/>
        </p:nvSpPr>
        <p:spPr>
          <a:xfrm>
            <a:off x="8001000" y="4822190"/>
            <a:ext cx="4787472"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Grounds generation; corrects or constrains retrieval</a:t>
            </a:r>
            <a:endParaRPr lang="en-US" sz="1950" dirty="0">
              <a:latin typeface="Times New Roman" panose="02020603050405020304" pitchFamily="18" charset="0"/>
            </a:endParaRPr>
          </a:p>
        </p:txBody>
      </p:sp>
      <p:sp>
        <p:nvSpPr>
          <p:cNvPr id="35" name="Shape 32"/>
          <p:cNvSpPr/>
          <p:nvPr/>
        </p:nvSpPr>
        <p:spPr>
          <a:xfrm>
            <a:off x="12907962" y="5637530"/>
            <a:ext cx="4427537" cy="9525"/>
          </a:xfrm>
          <a:prstGeom prst="rect">
            <a:avLst/>
          </a:prstGeom>
          <a:solidFill>
            <a:srgbClr val="1D1F20">
              <a:alpha val="16000"/>
            </a:srgbClr>
          </a:solidFill>
          <a:ln/>
        </p:spPr>
      </p:sp>
      <p:sp>
        <p:nvSpPr>
          <p:cNvPr id="36" name="Text 33"/>
          <p:cNvSpPr/>
          <p:nvPr/>
        </p:nvSpPr>
        <p:spPr>
          <a:xfrm>
            <a:off x="12907962" y="4822190"/>
            <a:ext cx="4560363"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Better evidence, but no adversarial check of the written claim</a:t>
            </a:r>
            <a:endParaRPr lang="en-US" sz="1950" dirty="0">
              <a:latin typeface="Times New Roman" panose="02020603050405020304" pitchFamily="18" charset="0"/>
            </a:endParaRPr>
          </a:p>
        </p:txBody>
      </p:sp>
      <p:sp>
        <p:nvSpPr>
          <p:cNvPr id="37" name="Shape 34"/>
          <p:cNvSpPr/>
          <p:nvPr/>
        </p:nvSpPr>
        <p:spPr>
          <a:xfrm>
            <a:off x="952500" y="6951345"/>
            <a:ext cx="2857500" cy="9525"/>
          </a:xfrm>
          <a:prstGeom prst="rect">
            <a:avLst/>
          </a:prstGeom>
          <a:solidFill>
            <a:srgbClr val="1D1F20">
              <a:alpha val="16000"/>
            </a:srgbClr>
          </a:solidFill>
          <a:ln/>
        </p:spPr>
      </p:sp>
      <p:sp>
        <p:nvSpPr>
          <p:cNvPr id="38" name="Text 35"/>
          <p:cNvSpPr/>
          <p:nvPr/>
        </p:nvSpPr>
        <p:spPr>
          <a:xfrm>
            <a:off x="952500" y="5814060"/>
            <a:ext cx="2676525" cy="1003935"/>
          </a:xfrm>
          <a:prstGeom prst="rect">
            <a:avLst/>
          </a:prstGeom>
          <a:noFill/>
          <a:ln/>
        </p:spPr>
        <p:txBody>
          <a:bodyPr wrap="square" lIns="25400" tIns="25400" rIns="25400" bIns="25400" rtlCol="0" anchor="t">
            <a:normAutofit/>
          </a:bodyPr>
          <a:lstStyle/>
          <a:p>
            <a:pPr marL="0" indent="0" algn="just">
              <a:lnSpc>
                <a:spcPct val="116071"/>
              </a:lnSpc>
              <a:buNone/>
            </a:pPr>
            <a:r>
              <a:rPr lang="en-US" sz="2250" b="1" dirty="0">
                <a:solidFill>
                  <a:srgbClr val="1D1F20"/>
                </a:solidFill>
                <a:latin typeface="Times New Roman" panose="02020603050405020304" pitchFamily="18" charset="0"/>
                <a:ea typeface="Arial" pitchFamily="34" charset="-122"/>
                <a:cs typeface="Arial" pitchFamily="34" charset="-120"/>
              </a:rPr>
              <a:t>Detection and graph checks</a:t>
            </a:r>
            <a:endParaRPr lang="en-US" sz="2250" dirty="0">
              <a:latin typeface="Times New Roman" panose="02020603050405020304" pitchFamily="18" charset="0"/>
            </a:endParaRPr>
          </a:p>
        </p:txBody>
      </p:sp>
      <p:sp>
        <p:nvSpPr>
          <p:cNvPr id="39" name="Shape 36"/>
          <p:cNvSpPr/>
          <p:nvPr/>
        </p:nvSpPr>
        <p:spPr>
          <a:xfrm>
            <a:off x="3810000" y="6951345"/>
            <a:ext cx="4191000" cy="9525"/>
          </a:xfrm>
          <a:prstGeom prst="rect">
            <a:avLst/>
          </a:prstGeom>
          <a:solidFill>
            <a:srgbClr val="1D1F20">
              <a:alpha val="16000"/>
            </a:srgbClr>
          </a:solidFill>
          <a:ln/>
        </p:spPr>
      </p:sp>
      <p:sp>
        <p:nvSpPr>
          <p:cNvPr id="40" name="Text 37"/>
          <p:cNvSpPr/>
          <p:nvPr/>
        </p:nvSpPr>
        <p:spPr>
          <a:xfrm>
            <a:off x="3810000" y="5814060"/>
            <a:ext cx="4050030" cy="100393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Self-consistency [4], CoVe [20], HalluDetect [8], HalluGraph [12], Falkor-IRAC [13]</a:t>
            </a:r>
            <a:endParaRPr lang="en-US" sz="1950" dirty="0">
              <a:latin typeface="Times New Roman" panose="02020603050405020304" pitchFamily="18" charset="0"/>
            </a:endParaRPr>
          </a:p>
        </p:txBody>
      </p:sp>
      <p:sp>
        <p:nvSpPr>
          <p:cNvPr id="41" name="Shape 38"/>
          <p:cNvSpPr/>
          <p:nvPr/>
        </p:nvSpPr>
        <p:spPr>
          <a:xfrm>
            <a:off x="8001000" y="6951345"/>
            <a:ext cx="4906963" cy="9525"/>
          </a:xfrm>
          <a:prstGeom prst="rect">
            <a:avLst/>
          </a:prstGeom>
          <a:solidFill>
            <a:srgbClr val="1D1F20">
              <a:alpha val="16000"/>
            </a:srgbClr>
          </a:solidFill>
          <a:ln/>
        </p:spPr>
      </p:sp>
      <p:sp>
        <p:nvSpPr>
          <p:cNvPr id="42" name="Text 39"/>
          <p:cNvSpPr/>
          <p:nvPr/>
        </p:nvSpPr>
        <p:spPr>
          <a:xfrm>
            <a:off x="8001000" y="5814060"/>
            <a:ext cx="4787472" cy="100393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Entity and path checks beat embedding similarity</a:t>
            </a:r>
            <a:endParaRPr lang="en-US" sz="1950" dirty="0">
              <a:latin typeface="Times New Roman" panose="02020603050405020304" pitchFamily="18" charset="0"/>
            </a:endParaRPr>
          </a:p>
        </p:txBody>
      </p:sp>
      <p:sp>
        <p:nvSpPr>
          <p:cNvPr id="43" name="Shape 40"/>
          <p:cNvSpPr/>
          <p:nvPr/>
        </p:nvSpPr>
        <p:spPr>
          <a:xfrm>
            <a:off x="12907962" y="6951345"/>
            <a:ext cx="4427537" cy="9525"/>
          </a:xfrm>
          <a:prstGeom prst="rect">
            <a:avLst/>
          </a:prstGeom>
          <a:solidFill>
            <a:srgbClr val="1D1F20">
              <a:alpha val="16000"/>
            </a:srgbClr>
          </a:solidFill>
          <a:ln/>
        </p:spPr>
      </p:sp>
      <p:sp>
        <p:nvSpPr>
          <p:cNvPr id="44" name="Text 41"/>
          <p:cNvSpPr/>
          <p:nvPr/>
        </p:nvSpPr>
        <p:spPr>
          <a:xfrm>
            <a:off x="12907962" y="5814060"/>
            <a:ext cx="4560363" cy="100393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Post-hoc audit; no memory of past fabrications</a:t>
            </a:r>
            <a:endParaRPr lang="en-US" sz="1950" dirty="0">
              <a:latin typeface="Times New Roman" panose="02020603050405020304" pitchFamily="18" charset="0"/>
            </a:endParaRPr>
          </a:p>
        </p:txBody>
      </p:sp>
      <p:sp>
        <p:nvSpPr>
          <p:cNvPr id="45" name="Shape 42"/>
          <p:cNvSpPr/>
          <p:nvPr/>
        </p:nvSpPr>
        <p:spPr>
          <a:xfrm>
            <a:off x="952500" y="8265160"/>
            <a:ext cx="2857500" cy="9525"/>
          </a:xfrm>
          <a:prstGeom prst="rect">
            <a:avLst/>
          </a:prstGeom>
          <a:solidFill>
            <a:srgbClr val="1D1F20">
              <a:alpha val="16000"/>
            </a:srgbClr>
          </a:solidFill>
          <a:ln/>
        </p:spPr>
      </p:sp>
      <p:sp>
        <p:nvSpPr>
          <p:cNvPr id="46" name="Text 43"/>
          <p:cNvSpPr/>
          <p:nvPr/>
        </p:nvSpPr>
        <p:spPr>
          <a:xfrm>
            <a:off x="952500" y="7127875"/>
            <a:ext cx="2676525" cy="1003935"/>
          </a:xfrm>
          <a:prstGeom prst="rect">
            <a:avLst/>
          </a:prstGeom>
          <a:noFill/>
          <a:ln/>
        </p:spPr>
        <p:txBody>
          <a:bodyPr wrap="square" lIns="25400" tIns="25400" rIns="25400" bIns="25400" rtlCol="0" anchor="t">
            <a:normAutofit/>
          </a:bodyPr>
          <a:lstStyle/>
          <a:p>
            <a:pPr marL="0" indent="0" algn="just">
              <a:lnSpc>
                <a:spcPct val="116071"/>
              </a:lnSpc>
              <a:buNone/>
            </a:pPr>
            <a:r>
              <a:rPr lang="en-US" sz="2250" b="1" dirty="0">
                <a:solidFill>
                  <a:srgbClr val="1D1F20"/>
                </a:solidFill>
                <a:latin typeface="Times New Roman" panose="02020603050405020304" pitchFamily="18" charset="0"/>
                <a:ea typeface="Arial" pitchFamily="34" charset="-122"/>
                <a:cs typeface="Arial" pitchFamily="34" charset="-120"/>
              </a:rPr>
              <a:t>Multi-agent debate</a:t>
            </a:r>
            <a:endParaRPr lang="en-US" sz="2250" dirty="0">
              <a:latin typeface="Times New Roman" panose="02020603050405020304" pitchFamily="18" charset="0"/>
            </a:endParaRPr>
          </a:p>
        </p:txBody>
      </p:sp>
      <p:sp>
        <p:nvSpPr>
          <p:cNvPr id="47" name="Shape 44"/>
          <p:cNvSpPr/>
          <p:nvPr/>
        </p:nvSpPr>
        <p:spPr>
          <a:xfrm>
            <a:off x="3810000" y="8265160"/>
            <a:ext cx="4191000" cy="9525"/>
          </a:xfrm>
          <a:prstGeom prst="rect">
            <a:avLst/>
          </a:prstGeom>
          <a:solidFill>
            <a:srgbClr val="1D1F20">
              <a:alpha val="16000"/>
            </a:srgbClr>
          </a:solidFill>
          <a:ln/>
        </p:spPr>
      </p:sp>
      <p:sp>
        <p:nvSpPr>
          <p:cNvPr id="48" name="Text 45"/>
          <p:cNvSpPr/>
          <p:nvPr/>
        </p:nvSpPr>
        <p:spPr>
          <a:xfrm>
            <a:off x="3810000" y="7127875"/>
            <a:ext cx="4050030" cy="100393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Du [16], MAD [17], Smit [5], Wang [23], Sun [24], ChatLaw [11], PROCLAIM [27]</a:t>
            </a:r>
            <a:endParaRPr lang="en-US" sz="1950" dirty="0">
              <a:latin typeface="Times New Roman" panose="02020603050405020304" pitchFamily="18" charset="0"/>
            </a:endParaRPr>
          </a:p>
        </p:txBody>
      </p:sp>
      <p:sp>
        <p:nvSpPr>
          <p:cNvPr id="49" name="Shape 46"/>
          <p:cNvSpPr/>
          <p:nvPr/>
        </p:nvSpPr>
        <p:spPr>
          <a:xfrm>
            <a:off x="8001000" y="8265160"/>
            <a:ext cx="4906963" cy="9525"/>
          </a:xfrm>
          <a:prstGeom prst="rect">
            <a:avLst/>
          </a:prstGeom>
          <a:solidFill>
            <a:srgbClr val="1D1F20">
              <a:alpha val="16000"/>
            </a:srgbClr>
          </a:solidFill>
          <a:ln/>
        </p:spPr>
      </p:sp>
      <p:sp>
        <p:nvSpPr>
          <p:cNvPr id="50" name="Text 47"/>
          <p:cNvSpPr/>
          <p:nvPr/>
        </p:nvSpPr>
        <p:spPr>
          <a:xfrm>
            <a:off x="8001000" y="7127875"/>
            <a:ext cx="4787472" cy="100393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Adversarial roles and progressive retrieval reduce false consensus</a:t>
            </a:r>
            <a:endParaRPr lang="en-US" sz="1950" dirty="0">
              <a:latin typeface="Times New Roman" panose="02020603050405020304" pitchFamily="18" charset="0"/>
            </a:endParaRPr>
          </a:p>
        </p:txBody>
      </p:sp>
      <p:sp>
        <p:nvSpPr>
          <p:cNvPr id="51" name="Shape 48"/>
          <p:cNvSpPr/>
          <p:nvPr/>
        </p:nvSpPr>
        <p:spPr>
          <a:xfrm>
            <a:off x="12907962" y="8265160"/>
            <a:ext cx="4427537" cy="9525"/>
          </a:xfrm>
          <a:prstGeom prst="rect">
            <a:avLst/>
          </a:prstGeom>
          <a:solidFill>
            <a:srgbClr val="1D1F20">
              <a:alpha val="16000"/>
            </a:srgbClr>
          </a:solidFill>
          <a:ln/>
        </p:spPr>
      </p:sp>
      <p:sp>
        <p:nvSpPr>
          <p:cNvPr id="52" name="Text 49"/>
          <p:cNvSpPr/>
          <p:nvPr/>
        </p:nvSpPr>
        <p:spPr>
          <a:xfrm>
            <a:off x="12907962" y="7127875"/>
            <a:ext cx="4560363" cy="100393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Configuration-sensitive; no legal citation matcher</a:t>
            </a:r>
            <a:endParaRPr lang="en-US" sz="1950" dirty="0">
              <a:latin typeface="Times New Roman" panose="02020603050405020304" pitchFamily="18" charset="0"/>
            </a:endParaRPr>
          </a:p>
        </p:txBody>
      </p:sp>
      <p:sp>
        <p:nvSpPr>
          <p:cNvPr id="53" name="Text 50"/>
          <p:cNvSpPr/>
          <p:nvPr/>
        </p:nvSpPr>
        <p:spPr>
          <a:xfrm>
            <a:off x="952500" y="9551670"/>
            <a:ext cx="17140143"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Base paper [14] Meng et al., 2025: role-specialised human–AI legal workflow, which motivates LexAgent's role decomposition. Problem evidence: Dahl et al. [6].</a:t>
            </a:r>
            <a:endParaRPr lang="en-US" sz="1800" dirty="0">
              <a:latin typeface="Times New Roman" panose="02020603050405020304" pitchFamily="18" charset="0"/>
            </a:endParaRPr>
          </a:p>
        </p:txBody>
      </p:sp>
      <p:sp>
        <p:nvSpPr>
          <p:cNvPr id="55" name="TextBox 54">
            <a:extLst>
              <a:ext uri="{FF2B5EF4-FFF2-40B4-BE49-F238E27FC236}">
                <a16:creationId xmlns:a16="http://schemas.microsoft.com/office/drawing/2014/main" id="{179A630D-CBFC-0454-4FCC-BDA0679721A0}"/>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7</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Detailed Literature Review (contd.)</a:t>
            </a:r>
            <a:endParaRPr lang="en-US" sz="4800" dirty="0">
              <a:latin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Comparison of the Closest Systems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34310"/>
            <a:ext cx="2857500" cy="10160"/>
          </a:xfrm>
          <a:prstGeom prst="rect">
            <a:avLst/>
          </a:prstGeom>
          <a:solidFill>
            <a:srgbClr val="1D1F20"/>
          </a:solidFill>
          <a:ln/>
        </p:spPr>
      </p:sp>
      <p:sp>
        <p:nvSpPr>
          <p:cNvPr id="6" name="Text 3"/>
          <p:cNvSpPr/>
          <p:nvPr/>
        </p:nvSpPr>
        <p:spPr>
          <a:xfrm>
            <a:off x="952500" y="2076450"/>
            <a:ext cx="2752725" cy="581660"/>
          </a:xfrm>
          <a:prstGeom prst="rect">
            <a:avLst/>
          </a:prstGeom>
          <a:noFill/>
          <a:ln/>
        </p:spPr>
        <p:txBody>
          <a:bodyPr wrap="square" lIns="25400" tIns="25400" rIns="25400" bIns="25400" rtlCol="0" anchor="b">
            <a:normAutofit/>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SYSTEM · DOMAIN</a:t>
            </a:r>
            <a:endParaRPr lang="en-US" sz="1800" dirty="0">
              <a:latin typeface="Times New Roman" panose="02020603050405020304" pitchFamily="18" charset="0"/>
            </a:endParaRPr>
          </a:p>
        </p:txBody>
      </p:sp>
      <p:sp>
        <p:nvSpPr>
          <p:cNvPr id="7" name="Shape 4"/>
          <p:cNvSpPr/>
          <p:nvPr/>
        </p:nvSpPr>
        <p:spPr>
          <a:xfrm>
            <a:off x="3810000" y="2734310"/>
            <a:ext cx="3238500" cy="10160"/>
          </a:xfrm>
          <a:prstGeom prst="rect">
            <a:avLst/>
          </a:prstGeom>
          <a:solidFill>
            <a:srgbClr val="1D1F20"/>
          </a:solidFill>
          <a:ln/>
        </p:spPr>
      </p:sp>
      <p:sp>
        <p:nvSpPr>
          <p:cNvPr id="8" name="Text 5"/>
          <p:cNvSpPr/>
          <p:nvPr/>
        </p:nvSpPr>
        <p:spPr>
          <a:xfrm>
            <a:off x="3810000" y="2076450"/>
            <a:ext cx="3145155" cy="581660"/>
          </a:xfrm>
          <a:prstGeom prst="rect">
            <a:avLst/>
          </a:prstGeom>
          <a:noFill/>
          <a:ln/>
        </p:spPr>
        <p:txBody>
          <a:bodyPr wrap="square" lIns="25400" tIns="25400" rIns="25400" bIns="25400" rtlCol="0" anchor="b">
            <a:normAutofit/>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ARCHITECTURE</a:t>
            </a:r>
            <a:endParaRPr lang="en-US" sz="1800" dirty="0">
              <a:latin typeface="Times New Roman" panose="02020603050405020304" pitchFamily="18" charset="0"/>
            </a:endParaRPr>
          </a:p>
        </p:txBody>
      </p:sp>
      <p:sp>
        <p:nvSpPr>
          <p:cNvPr id="9" name="Shape 6"/>
          <p:cNvSpPr/>
          <p:nvPr/>
        </p:nvSpPr>
        <p:spPr>
          <a:xfrm>
            <a:off x="7048500" y="2734310"/>
            <a:ext cx="2149634" cy="10160"/>
          </a:xfrm>
          <a:prstGeom prst="rect">
            <a:avLst/>
          </a:prstGeom>
          <a:solidFill>
            <a:srgbClr val="1D1F20"/>
          </a:solidFill>
          <a:ln/>
        </p:spPr>
      </p:sp>
      <p:sp>
        <p:nvSpPr>
          <p:cNvPr id="10" name="Text 7"/>
          <p:cNvSpPr/>
          <p:nvPr/>
        </p:nvSpPr>
        <p:spPr>
          <a:xfrm>
            <a:off x="7048500" y="2076450"/>
            <a:ext cx="2035334" cy="581660"/>
          </a:xfrm>
          <a:prstGeom prst="rect">
            <a:avLst/>
          </a:prstGeom>
          <a:noFill/>
          <a:ln/>
        </p:spPr>
        <p:txBody>
          <a:bodyPr wrap="square" lIns="25400" tIns="25400" rIns="25400" bIns="25400" rtlCol="0" anchor="b">
            <a:normAutofit lnSpcReduction="10000"/>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ADVERSARIAL DEBATE</a:t>
            </a:r>
            <a:endParaRPr lang="en-US" sz="1800" dirty="0">
              <a:latin typeface="Times New Roman" panose="02020603050405020304" pitchFamily="18" charset="0"/>
            </a:endParaRPr>
          </a:p>
        </p:txBody>
      </p:sp>
      <p:sp>
        <p:nvSpPr>
          <p:cNvPr id="11" name="Shape 8"/>
          <p:cNvSpPr/>
          <p:nvPr/>
        </p:nvSpPr>
        <p:spPr>
          <a:xfrm>
            <a:off x="9198134" y="2734310"/>
            <a:ext cx="2604453" cy="10160"/>
          </a:xfrm>
          <a:prstGeom prst="rect">
            <a:avLst/>
          </a:prstGeom>
          <a:solidFill>
            <a:srgbClr val="1D1F20"/>
          </a:solidFill>
          <a:ln/>
        </p:spPr>
      </p:sp>
      <p:sp>
        <p:nvSpPr>
          <p:cNvPr id="12" name="Text 9"/>
          <p:cNvSpPr/>
          <p:nvPr/>
        </p:nvSpPr>
        <p:spPr>
          <a:xfrm>
            <a:off x="9198134" y="2076450"/>
            <a:ext cx="2492086" cy="581660"/>
          </a:xfrm>
          <a:prstGeom prst="rect">
            <a:avLst/>
          </a:prstGeom>
          <a:noFill/>
          <a:ln/>
        </p:spPr>
        <p:txBody>
          <a:bodyPr wrap="square" lIns="25400" tIns="25400" rIns="25400" bIns="25400" rtlCol="0" anchor="b">
            <a:normAutofit lnSpcReduction="10000"/>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IN-LOOP CITATION CHECK</a:t>
            </a:r>
            <a:endParaRPr lang="en-US" sz="1800" dirty="0">
              <a:latin typeface="Times New Roman" panose="02020603050405020304" pitchFamily="18" charset="0"/>
            </a:endParaRPr>
          </a:p>
        </p:txBody>
      </p:sp>
      <p:sp>
        <p:nvSpPr>
          <p:cNvPr id="13" name="Shape 10"/>
          <p:cNvSpPr/>
          <p:nvPr/>
        </p:nvSpPr>
        <p:spPr>
          <a:xfrm>
            <a:off x="11802587" y="2734310"/>
            <a:ext cx="3112452" cy="10160"/>
          </a:xfrm>
          <a:prstGeom prst="rect">
            <a:avLst/>
          </a:prstGeom>
          <a:solidFill>
            <a:srgbClr val="1D1F20"/>
          </a:solidFill>
          <a:ln/>
        </p:spPr>
      </p:sp>
      <p:sp>
        <p:nvSpPr>
          <p:cNvPr id="14" name="Text 11"/>
          <p:cNvSpPr/>
          <p:nvPr/>
        </p:nvSpPr>
        <p:spPr>
          <a:xfrm>
            <a:off x="11802587" y="2076450"/>
            <a:ext cx="3015326" cy="581660"/>
          </a:xfrm>
          <a:prstGeom prst="rect">
            <a:avLst/>
          </a:prstGeom>
          <a:noFill/>
          <a:ln/>
        </p:spPr>
        <p:txBody>
          <a:bodyPr wrap="square" lIns="25400" tIns="25400" rIns="25400" bIns="25400" rtlCol="0" anchor="b">
            <a:normAutofit fontScale="92500" lnSpcReduction="10000"/>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HYBRID / STRUCTURED RETRIEVAL</a:t>
            </a:r>
            <a:endParaRPr lang="en-US" sz="1800" dirty="0">
              <a:latin typeface="Times New Roman" panose="02020603050405020304" pitchFamily="18" charset="0"/>
            </a:endParaRPr>
          </a:p>
        </p:txBody>
      </p:sp>
      <p:sp>
        <p:nvSpPr>
          <p:cNvPr id="15" name="Shape 12"/>
          <p:cNvSpPr/>
          <p:nvPr/>
        </p:nvSpPr>
        <p:spPr>
          <a:xfrm>
            <a:off x="14915038" y="2734310"/>
            <a:ext cx="2420461" cy="10160"/>
          </a:xfrm>
          <a:prstGeom prst="rect">
            <a:avLst/>
          </a:prstGeom>
          <a:solidFill>
            <a:srgbClr val="1D1F20"/>
          </a:solidFill>
          <a:ln/>
        </p:spPr>
      </p:sp>
      <p:sp>
        <p:nvSpPr>
          <p:cNvPr id="16" name="Text 13"/>
          <p:cNvSpPr/>
          <p:nvPr/>
        </p:nvSpPr>
        <p:spPr>
          <a:xfrm>
            <a:off x="14915038" y="2076450"/>
            <a:ext cx="2496661" cy="581660"/>
          </a:xfrm>
          <a:prstGeom prst="rect">
            <a:avLst/>
          </a:prstGeom>
          <a:noFill/>
          <a:ln/>
        </p:spPr>
        <p:txBody>
          <a:bodyPr wrap="square" lIns="25400" tIns="25400" rIns="25400" bIns="25400" rtlCol="0" anchor="b">
            <a:normAutofit lnSpcReduction="10000"/>
          </a:bodyPr>
          <a:lstStyle/>
          <a:p>
            <a:pPr marL="0" indent="0" algn="just">
              <a:lnSpc>
                <a:spcPct val="105882"/>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CROSS-SESSION MEMORY</a:t>
            </a:r>
            <a:endParaRPr lang="en-US" sz="1800" dirty="0">
              <a:latin typeface="Times New Roman" panose="02020603050405020304" pitchFamily="18" charset="0"/>
            </a:endParaRPr>
          </a:p>
        </p:txBody>
      </p:sp>
      <p:sp>
        <p:nvSpPr>
          <p:cNvPr id="17" name="Shape 14"/>
          <p:cNvSpPr/>
          <p:nvPr/>
        </p:nvSpPr>
        <p:spPr>
          <a:xfrm>
            <a:off x="952500" y="3470910"/>
            <a:ext cx="2857500" cy="9525"/>
          </a:xfrm>
          <a:prstGeom prst="rect">
            <a:avLst/>
          </a:prstGeom>
          <a:solidFill>
            <a:srgbClr val="1D1F20">
              <a:alpha val="16000"/>
            </a:srgbClr>
          </a:solidFill>
          <a:ln/>
        </p:spPr>
      </p:sp>
      <p:sp>
        <p:nvSpPr>
          <p:cNvPr id="18" name="Text 15"/>
          <p:cNvSpPr/>
          <p:nvPr/>
        </p:nvSpPr>
        <p:spPr>
          <a:xfrm>
            <a:off x="952500" y="281622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ChatLaw [11]</a:t>
            </a:r>
            <a:endParaRPr lang="en-US" sz="1950" dirty="0">
              <a:latin typeface="Times New Roman" panose="02020603050405020304" pitchFamily="18" charset="0"/>
            </a:endParaRPr>
          </a:p>
        </p:txBody>
      </p:sp>
      <p:sp>
        <p:nvSpPr>
          <p:cNvPr id="19" name="Text 16"/>
          <p:cNvSpPr/>
          <p:nvPr/>
        </p:nvSpPr>
        <p:spPr>
          <a:xfrm>
            <a:off x="952500" y="313245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Chinese law</a:t>
            </a:r>
            <a:endParaRPr lang="en-US" sz="1800" dirty="0">
              <a:latin typeface="Times New Roman" panose="02020603050405020304" pitchFamily="18" charset="0"/>
            </a:endParaRPr>
          </a:p>
        </p:txBody>
      </p:sp>
      <p:sp>
        <p:nvSpPr>
          <p:cNvPr id="20" name="Shape 17"/>
          <p:cNvSpPr/>
          <p:nvPr/>
        </p:nvSpPr>
        <p:spPr>
          <a:xfrm>
            <a:off x="3810000" y="3470910"/>
            <a:ext cx="3238500" cy="9525"/>
          </a:xfrm>
          <a:prstGeom prst="rect">
            <a:avLst/>
          </a:prstGeom>
          <a:solidFill>
            <a:srgbClr val="1D1F20">
              <a:alpha val="16000"/>
            </a:srgbClr>
          </a:solidFill>
          <a:ln/>
        </p:spPr>
      </p:sp>
      <p:sp>
        <p:nvSpPr>
          <p:cNvPr id="21" name="Text 18"/>
          <p:cNvSpPr/>
          <p:nvPr/>
        </p:nvSpPr>
        <p:spPr>
          <a:xfrm>
            <a:off x="3810000" y="2811145"/>
            <a:ext cx="3145155" cy="63119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RA-MoE, cooperative SOP</a:t>
            </a:r>
            <a:endParaRPr lang="en-US" sz="1800" dirty="0">
              <a:latin typeface="Times New Roman" panose="02020603050405020304" pitchFamily="18" charset="0"/>
            </a:endParaRPr>
          </a:p>
        </p:txBody>
      </p:sp>
      <p:sp>
        <p:nvSpPr>
          <p:cNvPr id="22" name="Shape 19"/>
          <p:cNvSpPr/>
          <p:nvPr/>
        </p:nvSpPr>
        <p:spPr>
          <a:xfrm>
            <a:off x="7048500" y="3470910"/>
            <a:ext cx="2149634" cy="9525"/>
          </a:xfrm>
          <a:prstGeom prst="rect">
            <a:avLst/>
          </a:prstGeom>
          <a:solidFill>
            <a:srgbClr val="1D1F20">
              <a:alpha val="16000"/>
            </a:srgbClr>
          </a:solidFill>
          <a:ln/>
        </p:spPr>
      </p:sp>
      <p:sp>
        <p:nvSpPr>
          <p:cNvPr id="23" name="Shape 20"/>
          <p:cNvSpPr/>
          <p:nvPr/>
        </p:nvSpPr>
        <p:spPr>
          <a:xfrm>
            <a:off x="7048500" y="3006725"/>
            <a:ext cx="209550" cy="209550"/>
          </a:xfrm>
          <a:prstGeom prst="rect">
            <a:avLst/>
          </a:prstGeom>
          <a:ln w="15240">
            <a:solidFill>
              <a:srgbClr val="98989B"/>
            </a:solidFill>
            <a:prstDash val="solid"/>
          </a:ln>
        </p:spPr>
      </p:sp>
      <p:sp>
        <p:nvSpPr>
          <p:cNvPr id="24" name="Text 21"/>
          <p:cNvSpPr/>
          <p:nvPr/>
        </p:nvSpPr>
        <p:spPr>
          <a:xfrm>
            <a:off x="7372350" y="297434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25" name="Shape 22"/>
          <p:cNvSpPr/>
          <p:nvPr/>
        </p:nvSpPr>
        <p:spPr>
          <a:xfrm>
            <a:off x="9198134" y="3470910"/>
            <a:ext cx="2604453" cy="9525"/>
          </a:xfrm>
          <a:prstGeom prst="rect">
            <a:avLst/>
          </a:prstGeom>
          <a:solidFill>
            <a:srgbClr val="1D1F20">
              <a:alpha val="16000"/>
            </a:srgbClr>
          </a:solidFill>
          <a:ln/>
        </p:spPr>
      </p:sp>
      <p:sp>
        <p:nvSpPr>
          <p:cNvPr id="26" name="Shape 23"/>
          <p:cNvSpPr/>
          <p:nvPr/>
        </p:nvSpPr>
        <p:spPr>
          <a:xfrm>
            <a:off x="9198134" y="3006725"/>
            <a:ext cx="209550" cy="209550"/>
          </a:xfrm>
          <a:prstGeom prst="rect">
            <a:avLst/>
          </a:prstGeom>
          <a:ln w="15240">
            <a:solidFill>
              <a:srgbClr val="98989B"/>
            </a:solidFill>
            <a:prstDash val="solid"/>
          </a:ln>
        </p:spPr>
      </p:sp>
      <p:sp>
        <p:nvSpPr>
          <p:cNvPr id="27" name="Text 24"/>
          <p:cNvSpPr/>
          <p:nvPr/>
        </p:nvSpPr>
        <p:spPr>
          <a:xfrm>
            <a:off x="9521984" y="2974340"/>
            <a:ext cx="1930654"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Semantic entropy</a:t>
            </a:r>
            <a:endParaRPr lang="en-US" sz="1800" dirty="0">
              <a:latin typeface="Times New Roman" panose="02020603050405020304" pitchFamily="18" charset="0"/>
            </a:endParaRPr>
          </a:p>
        </p:txBody>
      </p:sp>
      <p:sp>
        <p:nvSpPr>
          <p:cNvPr id="28" name="Shape 25"/>
          <p:cNvSpPr/>
          <p:nvPr/>
        </p:nvSpPr>
        <p:spPr>
          <a:xfrm>
            <a:off x="11802587" y="3470910"/>
            <a:ext cx="3112452" cy="9525"/>
          </a:xfrm>
          <a:prstGeom prst="rect">
            <a:avLst/>
          </a:prstGeom>
          <a:solidFill>
            <a:srgbClr val="1D1F20">
              <a:alpha val="16000"/>
            </a:srgbClr>
          </a:solidFill>
          <a:ln/>
        </p:spPr>
      </p:sp>
      <p:sp>
        <p:nvSpPr>
          <p:cNvPr id="29" name="Shape 26"/>
          <p:cNvSpPr/>
          <p:nvPr/>
        </p:nvSpPr>
        <p:spPr>
          <a:xfrm>
            <a:off x="11802587" y="3006725"/>
            <a:ext cx="209550" cy="209550"/>
          </a:xfrm>
          <a:prstGeom prst="rect">
            <a:avLst/>
          </a:prstGeom>
          <a:solidFill>
            <a:srgbClr val="5980A6"/>
          </a:solidFill>
          <a:ln w="15240">
            <a:solidFill>
              <a:srgbClr val="5980A6"/>
            </a:solidFill>
            <a:prstDash val="solid"/>
          </a:ln>
        </p:spPr>
      </p:sp>
      <p:sp>
        <p:nvSpPr>
          <p:cNvPr id="30" name="Text 27"/>
          <p:cNvSpPr/>
          <p:nvPr/>
        </p:nvSpPr>
        <p:spPr>
          <a:xfrm>
            <a:off x="12126437" y="2974340"/>
            <a:ext cx="1497409"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Retrieval + KG</a:t>
            </a:r>
            <a:endParaRPr lang="en-US" sz="1800" dirty="0">
              <a:latin typeface="Times New Roman" panose="02020603050405020304" pitchFamily="18" charset="0"/>
            </a:endParaRPr>
          </a:p>
        </p:txBody>
      </p:sp>
      <p:sp>
        <p:nvSpPr>
          <p:cNvPr id="31" name="Shape 28"/>
          <p:cNvSpPr/>
          <p:nvPr/>
        </p:nvSpPr>
        <p:spPr>
          <a:xfrm>
            <a:off x="14915038" y="3470910"/>
            <a:ext cx="2420461" cy="9525"/>
          </a:xfrm>
          <a:prstGeom prst="rect">
            <a:avLst/>
          </a:prstGeom>
          <a:solidFill>
            <a:srgbClr val="1D1F20">
              <a:alpha val="16000"/>
            </a:srgbClr>
          </a:solidFill>
          <a:ln/>
        </p:spPr>
      </p:sp>
      <p:sp>
        <p:nvSpPr>
          <p:cNvPr id="32" name="Shape 29"/>
          <p:cNvSpPr/>
          <p:nvPr/>
        </p:nvSpPr>
        <p:spPr>
          <a:xfrm>
            <a:off x="14915038" y="3006725"/>
            <a:ext cx="209550" cy="209550"/>
          </a:xfrm>
          <a:prstGeom prst="rect">
            <a:avLst/>
          </a:prstGeom>
          <a:ln w="15240">
            <a:solidFill>
              <a:srgbClr val="98989B"/>
            </a:solidFill>
            <a:prstDash val="solid"/>
          </a:ln>
        </p:spPr>
      </p:sp>
      <p:sp>
        <p:nvSpPr>
          <p:cNvPr id="33" name="Text 30"/>
          <p:cNvSpPr/>
          <p:nvPr/>
        </p:nvSpPr>
        <p:spPr>
          <a:xfrm>
            <a:off x="15238888" y="297434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34" name="Shape 31"/>
          <p:cNvSpPr/>
          <p:nvPr/>
        </p:nvSpPr>
        <p:spPr>
          <a:xfrm>
            <a:off x="952500" y="4199890"/>
            <a:ext cx="2857500" cy="9525"/>
          </a:xfrm>
          <a:prstGeom prst="rect">
            <a:avLst/>
          </a:prstGeom>
          <a:solidFill>
            <a:srgbClr val="1D1F20">
              <a:alpha val="16000"/>
            </a:srgbClr>
          </a:solidFill>
          <a:ln/>
        </p:spPr>
      </p:sp>
      <p:sp>
        <p:nvSpPr>
          <p:cNvPr id="35" name="Text 32"/>
          <p:cNvSpPr/>
          <p:nvPr/>
        </p:nvSpPr>
        <p:spPr>
          <a:xfrm>
            <a:off x="952500" y="354520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HalluGraph [12]</a:t>
            </a:r>
            <a:endParaRPr lang="en-US" sz="1950" dirty="0">
              <a:latin typeface="Times New Roman" panose="02020603050405020304" pitchFamily="18" charset="0"/>
            </a:endParaRPr>
          </a:p>
        </p:txBody>
      </p:sp>
      <p:sp>
        <p:nvSpPr>
          <p:cNvPr id="36" name="Text 33"/>
          <p:cNvSpPr/>
          <p:nvPr/>
        </p:nvSpPr>
        <p:spPr>
          <a:xfrm>
            <a:off x="952500" y="386143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Legal RAG</a:t>
            </a:r>
            <a:endParaRPr lang="en-US" sz="1800" dirty="0">
              <a:latin typeface="Times New Roman" panose="02020603050405020304" pitchFamily="18" charset="0"/>
            </a:endParaRPr>
          </a:p>
        </p:txBody>
      </p:sp>
      <p:sp>
        <p:nvSpPr>
          <p:cNvPr id="37" name="Shape 34"/>
          <p:cNvSpPr/>
          <p:nvPr/>
        </p:nvSpPr>
        <p:spPr>
          <a:xfrm>
            <a:off x="3810000" y="4199890"/>
            <a:ext cx="3238500" cy="9525"/>
          </a:xfrm>
          <a:prstGeom prst="rect">
            <a:avLst/>
          </a:prstGeom>
          <a:solidFill>
            <a:srgbClr val="1D1F20">
              <a:alpha val="16000"/>
            </a:srgbClr>
          </a:solidFill>
          <a:ln/>
        </p:spPr>
      </p:sp>
      <p:sp>
        <p:nvSpPr>
          <p:cNvPr id="38" name="Text 35"/>
          <p:cNvSpPr/>
          <p:nvPr/>
        </p:nvSpPr>
        <p:spPr>
          <a:xfrm>
            <a:off x="3810000" y="354266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Graph-alignment auditor</a:t>
            </a:r>
            <a:endParaRPr lang="en-US" sz="1800" dirty="0">
              <a:latin typeface="Times New Roman" panose="02020603050405020304" pitchFamily="18" charset="0"/>
            </a:endParaRPr>
          </a:p>
        </p:txBody>
      </p:sp>
      <p:sp>
        <p:nvSpPr>
          <p:cNvPr id="39" name="Shape 36"/>
          <p:cNvSpPr/>
          <p:nvPr/>
        </p:nvSpPr>
        <p:spPr>
          <a:xfrm>
            <a:off x="7048500" y="4199890"/>
            <a:ext cx="2149634" cy="9525"/>
          </a:xfrm>
          <a:prstGeom prst="rect">
            <a:avLst/>
          </a:prstGeom>
          <a:solidFill>
            <a:srgbClr val="1D1F20">
              <a:alpha val="16000"/>
            </a:srgbClr>
          </a:solidFill>
          <a:ln/>
        </p:spPr>
      </p:sp>
      <p:sp>
        <p:nvSpPr>
          <p:cNvPr id="40" name="Shape 37"/>
          <p:cNvSpPr/>
          <p:nvPr/>
        </p:nvSpPr>
        <p:spPr>
          <a:xfrm>
            <a:off x="7048500" y="3735705"/>
            <a:ext cx="209550" cy="209550"/>
          </a:xfrm>
          <a:prstGeom prst="rect">
            <a:avLst/>
          </a:prstGeom>
          <a:ln w="15240">
            <a:solidFill>
              <a:srgbClr val="98989B"/>
            </a:solidFill>
            <a:prstDash val="solid"/>
          </a:ln>
        </p:spPr>
      </p:sp>
      <p:sp>
        <p:nvSpPr>
          <p:cNvPr id="41" name="Text 38"/>
          <p:cNvSpPr/>
          <p:nvPr/>
        </p:nvSpPr>
        <p:spPr>
          <a:xfrm>
            <a:off x="7372350" y="370332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42" name="Shape 39"/>
          <p:cNvSpPr/>
          <p:nvPr/>
        </p:nvSpPr>
        <p:spPr>
          <a:xfrm>
            <a:off x="9198134" y="4199890"/>
            <a:ext cx="2604453" cy="9525"/>
          </a:xfrm>
          <a:prstGeom prst="rect">
            <a:avLst/>
          </a:prstGeom>
          <a:solidFill>
            <a:srgbClr val="1D1F20">
              <a:alpha val="16000"/>
            </a:srgbClr>
          </a:solidFill>
          <a:ln/>
        </p:spPr>
      </p:sp>
      <p:sp>
        <p:nvSpPr>
          <p:cNvPr id="43" name="Shape 40"/>
          <p:cNvSpPr/>
          <p:nvPr/>
        </p:nvSpPr>
        <p:spPr>
          <a:xfrm>
            <a:off x="9198134" y="3735705"/>
            <a:ext cx="209550" cy="209550"/>
          </a:xfrm>
          <a:prstGeom prst="rect">
            <a:avLst/>
          </a:prstGeom>
          <a:ln w="15240">
            <a:solidFill>
              <a:srgbClr val="98989B"/>
            </a:solidFill>
            <a:prstDash val="solid"/>
          </a:ln>
        </p:spPr>
      </p:sp>
      <p:sp>
        <p:nvSpPr>
          <p:cNvPr id="44" name="Text 41"/>
          <p:cNvSpPr/>
          <p:nvPr/>
        </p:nvSpPr>
        <p:spPr>
          <a:xfrm>
            <a:off x="9521984" y="3703320"/>
            <a:ext cx="1772094"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Post-generation</a:t>
            </a:r>
            <a:endParaRPr lang="en-US" sz="1800" dirty="0">
              <a:latin typeface="Times New Roman" panose="02020603050405020304" pitchFamily="18" charset="0"/>
            </a:endParaRPr>
          </a:p>
        </p:txBody>
      </p:sp>
      <p:sp>
        <p:nvSpPr>
          <p:cNvPr id="45" name="Shape 42"/>
          <p:cNvSpPr/>
          <p:nvPr/>
        </p:nvSpPr>
        <p:spPr>
          <a:xfrm>
            <a:off x="11802587" y="4199890"/>
            <a:ext cx="3112452" cy="9525"/>
          </a:xfrm>
          <a:prstGeom prst="rect">
            <a:avLst/>
          </a:prstGeom>
          <a:solidFill>
            <a:srgbClr val="1D1F20">
              <a:alpha val="16000"/>
            </a:srgbClr>
          </a:solidFill>
          <a:ln/>
        </p:spPr>
      </p:sp>
      <p:sp>
        <p:nvSpPr>
          <p:cNvPr id="46" name="Shape 43"/>
          <p:cNvSpPr/>
          <p:nvPr/>
        </p:nvSpPr>
        <p:spPr>
          <a:xfrm>
            <a:off x="11802587" y="3735705"/>
            <a:ext cx="209550" cy="209550"/>
          </a:xfrm>
          <a:prstGeom prst="rect">
            <a:avLst/>
          </a:prstGeom>
          <a:ln w="15240">
            <a:solidFill>
              <a:srgbClr val="98989B"/>
            </a:solidFill>
            <a:prstDash val="solid"/>
          </a:ln>
        </p:spPr>
      </p:sp>
      <p:sp>
        <p:nvSpPr>
          <p:cNvPr id="47" name="Text 44"/>
          <p:cNvSpPr/>
          <p:nvPr/>
        </p:nvSpPr>
        <p:spPr>
          <a:xfrm>
            <a:off x="12126437" y="370332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48" name="Shape 45"/>
          <p:cNvSpPr/>
          <p:nvPr/>
        </p:nvSpPr>
        <p:spPr>
          <a:xfrm>
            <a:off x="14915038" y="4199890"/>
            <a:ext cx="2420461" cy="9525"/>
          </a:xfrm>
          <a:prstGeom prst="rect">
            <a:avLst/>
          </a:prstGeom>
          <a:solidFill>
            <a:srgbClr val="1D1F20">
              <a:alpha val="16000"/>
            </a:srgbClr>
          </a:solidFill>
          <a:ln/>
        </p:spPr>
      </p:sp>
      <p:sp>
        <p:nvSpPr>
          <p:cNvPr id="49" name="Shape 46"/>
          <p:cNvSpPr/>
          <p:nvPr/>
        </p:nvSpPr>
        <p:spPr>
          <a:xfrm>
            <a:off x="14915038" y="3735705"/>
            <a:ext cx="209550" cy="209550"/>
          </a:xfrm>
          <a:prstGeom prst="rect">
            <a:avLst/>
          </a:prstGeom>
          <a:ln w="15240">
            <a:solidFill>
              <a:srgbClr val="98989B"/>
            </a:solidFill>
            <a:prstDash val="solid"/>
          </a:ln>
        </p:spPr>
      </p:sp>
      <p:sp>
        <p:nvSpPr>
          <p:cNvPr id="50" name="Text 47"/>
          <p:cNvSpPr/>
          <p:nvPr/>
        </p:nvSpPr>
        <p:spPr>
          <a:xfrm>
            <a:off x="15238888" y="370332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51" name="Shape 48"/>
          <p:cNvSpPr/>
          <p:nvPr/>
        </p:nvSpPr>
        <p:spPr>
          <a:xfrm>
            <a:off x="952500" y="4928870"/>
            <a:ext cx="2857500" cy="9525"/>
          </a:xfrm>
          <a:prstGeom prst="rect">
            <a:avLst/>
          </a:prstGeom>
          <a:solidFill>
            <a:srgbClr val="1D1F20">
              <a:alpha val="16000"/>
            </a:srgbClr>
          </a:solidFill>
          <a:ln/>
        </p:spPr>
      </p:sp>
      <p:sp>
        <p:nvSpPr>
          <p:cNvPr id="52" name="Text 49"/>
          <p:cNvSpPr/>
          <p:nvPr/>
        </p:nvSpPr>
        <p:spPr>
          <a:xfrm>
            <a:off x="952500" y="427418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HalluDetect [8]</a:t>
            </a:r>
            <a:endParaRPr lang="en-US" sz="1950" dirty="0">
              <a:latin typeface="Times New Roman" panose="02020603050405020304" pitchFamily="18" charset="0"/>
            </a:endParaRPr>
          </a:p>
        </p:txBody>
      </p:sp>
      <p:sp>
        <p:nvSpPr>
          <p:cNvPr id="53" name="Text 50"/>
          <p:cNvSpPr/>
          <p:nvPr/>
        </p:nvSpPr>
        <p:spPr>
          <a:xfrm>
            <a:off x="952500" y="459041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Indian consumer law</a:t>
            </a:r>
            <a:endParaRPr lang="en-US" sz="1800" dirty="0">
              <a:latin typeface="Times New Roman" panose="02020603050405020304" pitchFamily="18" charset="0"/>
            </a:endParaRPr>
          </a:p>
        </p:txBody>
      </p:sp>
      <p:sp>
        <p:nvSpPr>
          <p:cNvPr id="54" name="Shape 51"/>
          <p:cNvSpPr/>
          <p:nvPr/>
        </p:nvSpPr>
        <p:spPr>
          <a:xfrm>
            <a:off x="3810000" y="4928870"/>
            <a:ext cx="3238500" cy="9525"/>
          </a:xfrm>
          <a:prstGeom prst="rect">
            <a:avLst/>
          </a:prstGeom>
          <a:solidFill>
            <a:srgbClr val="1D1F20">
              <a:alpha val="16000"/>
            </a:srgbClr>
          </a:solidFill>
          <a:ln/>
        </p:spPr>
      </p:sp>
      <p:sp>
        <p:nvSpPr>
          <p:cNvPr id="55" name="Text 52"/>
          <p:cNvSpPr/>
          <p:nvPr/>
        </p:nvSpPr>
        <p:spPr>
          <a:xfrm>
            <a:off x="3810000" y="427164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Detector + cooperative agents</a:t>
            </a:r>
            <a:endParaRPr lang="en-US" sz="1800" dirty="0">
              <a:latin typeface="Times New Roman" panose="02020603050405020304" pitchFamily="18" charset="0"/>
            </a:endParaRPr>
          </a:p>
        </p:txBody>
      </p:sp>
      <p:sp>
        <p:nvSpPr>
          <p:cNvPr id="56" name="Shape 53"/>
          <p:cNvSpPr/>
          <p:nvPr/>
        </p:nvSpPr>
        <p:spPr>
          <a:xfrm>
            <a:off x="7048500" y="4928870"/>
            <a:ext cx="2149634" cy="9525"/>
          </a:xfrm>
          <a:prstGeom prst="rect">
            <a:avLst/>
          </a:prstGeom>
          <a:solidFill>
            <a:srgbClr val="1D1F20">
              <a:alpha val="16000"/>
            </a:srgbClr>
          </a:solidFill>
          <a:ln/>
        </p:spPr>
      </p:sp>
      <p:sp>
        <p:nvSpPr>
          <p:cNvPr id="57" name="Shape 54"/>
          <p:cNvSpPr/>
          <p:nvPr/>
        </p:nvSpPr>
        <p:spPr>
          <a:xfrm>
            <a:off x="7048500" y="4464685"/>
            <a:ext cx="209550" cy="209550"/>
          </a:xfrm>
          <a:prstGeom prst="rect">
            <a:avLst/>
          </a:prstGeom>
          <a:ln w="15240">
            <a:solidFill>
              <a:srgbClr val="98989B"/>
            </a:solidFill>
            <a:prstDash val="solid"/>
          </a:ln>
        </p:spPr>
      </p:sp>
      <p:sp>
        <p:nvSpPr>
          <p:cNvPr id="58" name="Text 55"/>
          <p:cNvSpPr/>
          <p:nvPr/>
        </p:nvSpPr>
        <p:spPr>
          <a:xfrm>
            <a:off x="7372350" y="443230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59" name="Shape 56"/>
          <p:cNvSpPr/>
          <p:nvPr/>
        </p:nvSpPr>
        <p:spPr>
          <a:xfrm>
            <a:off x="9198134" y="4928870"/>
            <a:ext cx="2604453" cy="9525"/>
          </a:xfrm>
          <a:prstGeom prst="rect">
            <a:avLst/>
          </a:prstGeom>
          <a:solidFill>
            <a:srgbClr val="1D1F20">
              <a:alpha val="16000"/>
            </a:srgbClr>
          </a:solidFill>
          <a:ln/>
        </p:spPr>
      </p:sp>
      <p:sp>
        <p:nvSpPr>
          <p:cNvPr id="60" name="Shape 57"/>
          <p:cNvSpPr/>
          <p:nvPr/>
        </p:nvSpPr>
        <p:spPr>
          <a:xfrm>
            <a:off x="9198134" y="4464685"/>
            <a:ext cx="209550" cy="209550"/>
          </a:xfrm>
          <a:prstGeom prst="rect">
            <a:avLst/>
          </a:prstGeom>
          <a:ln w="15240">
            <a:solidFill>
              <a:srgbClr val="98989B"/>
            </a:solidFill>
            <a:prstDash val="solid"/>
          </a:ln>
        </p:spPr>
      </p:sp>
      <p:sp>
        <p:nvSpPr>
          <p:cNvPr id="61" name="Text 58"/>
          <p:cNvSpPr/>
          <p:nvPr/>
        </p:nvSpPr>
        <p:spPr>
          <a:xfrm>
            <a:off x="9521984" y="4432300"/>
            <a:ext cx="1772094"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Post-generation</a:t>
            </a:r>
            <a:endParaRPr lang="en-US" sz="1800" dirty="0">
              <a:latin typeface="Times New Roman" panose="02020603050405020304" pitchFamily="18" charset="0"/>
            </a:endParaRPr>
          </a:p>
        </p:txBody>
      </p:sp>
      <p:sp>
        <p:nvSpPr>
          <p:cNvPr id="62" name="Shape 59"/>
          <p:cNvSpPr/>
          <p:nvPr/>
        </p:nvSpPr>
        <p:spPr>
          <a:xfrm>
            <a:off x="11802587" y="4928870"/>
            <a:ext cx="3112452" cy="9525"/>
          </a:xfrm>
          <a:prstGeom prst="rect">
            <a:avLst/>
          </a:prstGeom>
          <a:solidFill>
            <a:srgbClr val="1D1F20">
              <a:alpha val="16000"/>
            </a:srgbClr>
          </a:solidFill>
          <a:ln/>
        </p:spPr>
      </p:sp>
      <p:sp>
        <p:nvSpPr>
          <p:cNvPr id="63" name="Shape 60"/>
          <p:cNvSpPr/>
          <p:nvPr/>
        </p:nvSpPr>
        <p:spPr>
          <a:xfrm>
            <a:off x="11802587" y="4464685"/>
            <a:ext cx="209550" cy="209550"/>
          </a:xfrm>
          <a:prstGeom prst="rect">
            <a:avLst/>
          </a:prstGeom>
          <a:gradFill rotWithShape="1">
            <a:gsLst>
              <a:gs pos="50000">
                <a:srgbClr val="5980A6">
                  <a:alpha val="100000"/>
                </a:srgbClr>
              </a:gs>
              <a:gs pos="50000">
                <a:srgbClr val="5980A6">
                  <a:alpha val="0"/>
                </a:srgbClr>
              </a:gs>
            </a:gsLst>
            <a:lin ang="0" scaled="0"/>
          </a:gradFill>
          <a:ln w="15240">
            <a:solidFill>
              <a:srgbClr val="5980A6"/>
            </a:solidFill>
            <a:prstDash val="solid"/>
          </a:ln>
        </p:spPr>
      </p:sp>
      <p:sp>
        <p:nvSpPr>
          <p:cNvPr id="64" name="Text 61"/>
          <p:cNvSpPr/>
          <p:nvPr/>
        </p:nvSpPr>
        <p:spPr>
          <a:xfrm>
            <a:off x="12126437" y="4432300"/>
            <a:ext cx="148623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RAG chatbots</a:t>
            </a:r>
            <a:endParaRPr lang="en-US" sz="1800" dirty="0">
              <a:latin typeface="Times New Roman" panose="02020603050405020304" pitchFamily="18" charset="0"/>
            </a:endParaRPr>
          </a:p>
        </p:txBody>
      </p:sp>
      <p:sp>
        <p:nvSpPr>
          <p:cNvPr id="65" name="Shape 62"/>
          <p:cNvSpPr/>
          <p:nvPr/>
        </p:nvSpPr>
        <p:spPr>
          <a:xfrm>
            <a:off x="14915038" y="4928870"/>
            <a:ext cx="2420461" cy="9525"/>
          </a:xfrm>
          <a:prstGeom prst="rect">
            <a:avLst/>
          </a:prstGeom>
          <a:solidFill>
            <a:srgbClr val="1D1F20">
              <a:alpha val="16000"/>
            </a:srgbClr>
          </a:solidFill>
          <a:ln/>
        </p:spPr>
      </p:sp>
      <p:sp>
        <p:nvSpPr>
          <p:cNvPr id="66" name="Shape 63"/>
          <p:cNvSpPr/>
          <p:nvPr/>
        </p:nvSpPr>
        <p:spPr>
          <a:xfrm>
            <a:off x="14915038" y="4464685"/>
            <a:ext cx="209550" cy="209550"/>
          </a:xfrm>
          <a:prstGeom prst="rect">
            <a:avLst/>
          </a:prstGeom>
          <a:ln w="15240">
            <a:solidFill>
              <a:srgbClr val="98989B"/>
            </a:solidFill>
            <a:prstDash val="solid"/>
          </a:ln>
        </p:spPr>
      </p:sp>
      <p:sp>
        <p:nvSpPr>
          <p:cNvPr id="67" name="Text 64"/>
          <p:cNvSpPr/>
          <p:nvPr/>
        </p:nvSpPr>
        <p:spPr>
          <a:xfrm>
            <a:off x="15238888" y="443230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68" name="Shape 65"/>
          <p:cNvSpPr/>
          <p:nvPr/>
        </p:nvSpPr>
        <p:spPr>
          <a:xfrm>
            <a:off x="952500" y="5657850"/>
            <a:ext cx="2857500" cy="9525"/>
          </a:xfrm>
          <a:prstGeom prst="rect">
            <a:avLst/>
          </a:prstGeom>
          <a:solidFill>
            <a:srgbClr val="1D1F20">
              <a:alpha val="16000"/>
            </a:srgbClr>
          </a:solidFill>
          <a:ln/>
        </p:spPr>
      </p:sp>
      <p:sp>
        <p:nvSpPr>
          <p:cNvPr id="69" name="Text 66"/>
          <p:cNvSpPr/>
          <p:nvPr/>
        </p:nvSpPr>
        <p:spPr>
          <a:xfrm>
            <a:off x="952500" y="500316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LeAK-GraphRAG [9]</a:t>
            </a:r>
            <a:endParaRPr lang="en-US" sz="1950" dirty="0">
              <a:latin typeface="Times New Roman" panose="02020603050405020304" pitchFamily="18" charset="0"/>
            </a:endParaRPr>
          </a:p>
        </p:txBody>
      </p:sp>
      <p:sp>
        <p:nvSpPr>
          <p:cNvPr id="70" name="Text 67"/>
          <p:cNvSpPr/>
          <p:nvPr/>
        </p:nvSpPr>
        <p:spPr>
          <a:xfrm>
            <a:off x="952500" y="531939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Chinese legal papers</a:t>
            </a:r>
            <a:endParaRPr lang="en-US" sz="1800" dirty="0">
              <a:latin typeface="Times New Roman" panose="02020603050405020304" pitchFamily="18" charset="0"/>
            </a:endParaRPr>
          </a:p>
        </p:txBody>
      </p:sp>
      <p:sp>
        <p:nvSpPr>
          <p:cNvPr id="71" name="Shape 68"/>
          <p:cNvSpPr/>
          <p:nvPr/>
        </p:nvSpPr>
        <p:spPr>
          <a:xfrm>
            <a:off x="3810000" y="5657850"/>
            <a:ext cx="3238500" cy="9525"/>
          </a:xfrm>
          <a:prstGeom prst="rect">
            <a:avLst/>
          </a:prstGeom>
          <a:solidFill>
            <a:srgbClr val="1D1F20">
              <a:alpha val="16000"/>
            </a:srgbClr>
          </a:solidFill>
          <a:ln/>
        </p:spPr>
      </p:sp>
      <p:sp>
        <p:nvSpPr>
          <p:cNvPr id="72" name="Text 69"/>
          <p:cNvSpPr/>
          <p:nvPr/>
        </p:nvSpPr>
        <p:spPr>
          <a:xfrm>
            <a:off x="3810000" y="500062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GraphRAG</a:t>
            </a:r>
            <a:endParaRPr lang="en-US" sz="1800" dirty="0">
              <a:latin typeface="Times New Roman" panose="02020603050405020304" pitchFamily="18" charset="0"/>
            </a:endParaRPr>
          </a:p>
        </p:txBody>
      </p:sp>
      <p:sp>
        <p:nvSpPr>
          <p:cNvPr id="73" name="Shape 70"/>
          <p:cNvSpPr/>
          <p:nvPr/>
        </p:nvSpPr>
        <p:spPr>
          <a:xfrm>
            <a:off x="7048500" y="5657850"/>
            <a:ext cx="2149634" cy="9525"/>
          </a:xfrm>
          <a:prstGeom prst="rect">
            <a:avLst/>
          </a:prstGeom>
          <a:solidFill>
            <a:srgbClr val="1D1F20">
              <a:alpha val="16000"/>
            </a:srgbClr>
          </a:solidFill>
          <a:ln/>
        </p:spPr>
      </p:sp>
      <p:sp>
        <p:nvSpPr>
          <p:cNvPr id="74" name="Shape 71"/>
          <p:cNvSpPr/>
          <p:nvPr/>
        </p:nvSpPr>
        <p:spPr>
          <a:xfrm>
            <a:off x="7048500" y="5193665"/>
            <a:ext cx="209550" cy="209550"/>
          </a:xfrm>
          <a:prstGeom prst="rect">
            <a:avLst/>
          </a:prstGeom>
          <a:ln w="15240">
            <a:solidFill>
              <a:srgbClr val="98989B"/>
            </a:solidFill>
            <a:prstDash val="solid"/>
          </a:ln>
        </p:spPr>
      </p:sp>
      <p:sp>
        <p:nvSpPr>
          <p:cNvPr id="75" name="Text 72"/>
          <p:cNvSpPr/>
          <p:nvPr/>
        </p:nvSpPr>
        <p:spPr>
          <a:xfrm>
            <a:off x="7372350" y="516128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76" name="Shape 73"/>
          <p:cNvSpPr/>
          <p:nvPr/>
        </p:nvSpPr>
        <p:spPr>
          <a:xfrm>
            <a:off x="9198134" y="5657850"/>
            <a:ext cx="2604453" cy="9525"/>
          </a:xfrm>
          <a:prstGeom prst="rect">
            <a:avLst/>
          </a:prstGeom>
          <a:solidFill>
            <a:srgbClr val="1D1F20">
              <a:alpha val="16000"/>
            </a:srgbClr>
          </a:solidFill>
          <a:ln/>
        </p:spPr>
      </p:sp>
      <p:sp>
        <p:nvSpPr>
          <p:cNvPr id="77" name="Shape 74"/>
          <p:cNvSpPr/>
          <p:nvPr/>
        </p:nvSpPr>
        <p:spPr>
          <a:xfrm>
            <a:off x="9198134" y="5193665"/>
            <a:ext cx="209550" cy="209550"/>
          </a:xfrm>
          <a:prstGeom prst="rect">
            <a:avLst/>
          </a:prstGeom>
          <a:ln w="15240">
            <a:solidFill>
              <a:srgbClr val="98989B"/>
            </a:solidFill>
            <a:prstDash val="solid"/>
          </a:ln>
        </p:spPr>
      </p:sp>
      <p:sp>
        <p:nvSpPr>
          <p:cNvPr id="78" name="Text 75"/>
          <p:cNvSpPr/>
          <p:nvPr/>
        </p:nvSpPr>
        <p:spPr>
          <a:xfrm>
            <a:off x="9521984" y="516128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79" name="Shape 76"/>
          <p:cNvSpPr/>
          <p:nvPr/>
        </p:nvSpPr>
        <p:spPr>
          <a:xfrm>
            <a:off x="11802587" y="5657850"/>
            <a:ext cx="3112452" cy="9525"/>
          </a:xfrm>
          <a:prstGeom prst="rect">
            <a:avLst/>
          </a:prstGeom>
          <a:solidFill>
            <a:srgbClr val="1D1F20">
              <a:alpha val="16000"/>
            </a:srgbClr>
          </a:solidFill>
          <a:ln/>
        </p:spPr>
      </p:sp>
      <p:sp>
        <p:nvSpPr>
          <p:cNvPr id="80" name="Shape 77"/>
          <p:cNvSpPr/>
          <p:nvPr/>
        </p:nvSpPr>
        <p:spPr>
          <a:xfrm>
            <a:off x="11802587" y="5193665"/>
            <a:ext cx="209550" cy="209550"/>
          </a:xfrm>
          <a:prstGeom prst="rect">
            <a:avLst/>
          </a:prstGeom>
          <a:solidFill>
            <a:srgbClr val="5980A6"/>
          </a:solidFill>
          <a:ln w="15240">
            <a:solidFill>
              <a:srgbClr val="5980A6"/>
            </a:solidFill>
            <a:prstDash val="solid"/>
          </a:ln>
        </p:spPr>
      </p:sp>
      <p:sp>
        <p:nvSpPr>
          <p:cNvPr id="81" name="Text 78"/>
          <p:cNvSpPr/>
          <p:nvPr/>
        </p:nvSpPr>
        <p:spPr>
          <a:xfrm>
            <a:off x="12126437" y="5161280"/>
            <a:ext cx="1709928"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Vector + Cypher</a:t>
            </a:r>
            <a:endParaRPr lang="en-US" sz="1800" dirty="0">
              <a:latin typeface="Times New Roman" panose="02020603050405020304" pitchFamily="18" charset="0"/>
            </a:endParaRPr>
          </a:p>
        </p:txBody>
      </p:sp>
      <p:sp>
        <p:nvSpPr>
          <p:cNvPr id="82" name="Shape 79"/>
          <p:cNvSpPr/>
          <p:nvPr/>
        </p:nvSpPr>
        <p:spPr>
          <a:xfrm>
            <a:off x="14915038" y="5657850"/>
            <a:ext cx="2420461" cy="9525"/>
          </a:xfrm>
          <a:prstGeom prst="rect">
            <a:avLst/>
          </a:prstGeom>
          <a:solidFill>
            <a:srgbClr val="1D1F20">
              <a:alpha val="16000"/>
            </a:srgbClr>
          </a:solidFill>
          <a:ln/>
        </p:spPr>
      </p:sp>
      <p:sp>
        <p:nvSpPr>
          <p:cNvPr id="83" name="Shape 80"/>
          <p:cNvSpPr/>
          <p:nvPr/>
        </p:nvSpPr>
        <p:spPr>
          <a:xfrm>
            <a:off x="14915038" y="5193665"/>
            <a:ext cx="209550" cy="209550"/>
          </a:xfrm>
          <a:prstGeom prst="rect">
            <a:avLst/>
          </a:prstGeom>
          <a:ln w="15240">
            <a:solidFill>
              <a:srgbClr val="98989B"/>
            </a:solidFill>
            <a:prstDash val="solid"/>
          </a:ln>
        </p:spPr>
      </p:sp>
      <p:sp>
        <p:nvSpPr>
          <p:cNvPr id="84" name="Text 81"/>
          <p:cNvSpPr/>
          <p:nvPr/>
        </p:nvSpPr>
        <p:spPr>
          <a:xfrm>
            <a:off x="15238888" y="516128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85" name="Shape 82"/>
          <p:cNvSpPr/>
          <p:nvPr/>
        </p:nvSpPr>
        <p:spPr>
          <a:xfrm>
            <a:off x="952500" y="6386830"/>
            <a:ext cx="2857500" cy="9525"/>
          </a:xfrm>
          <a:prstGeom prst="rect">
            <a:avLst/>
          </a:prstGeom>
          <a:solidFill>
            <a:srgbClr val="1D1F20">
              <a:alpha val="16000"/>
            </a:srgbClr>
          </a:solidFill>
          <a:ln/>
        </p:spPr>
      </p:sp>
      <p:sp>
        <p:nvSpPr>
          <p:cNvPr id="86" name="Text 83"/>
          <p:cNvSpPr/>
          <p:nvPr/>
        </p:nvSpPr>
        <p:spPr>
          <a:xfrm>
            <a:off x="952500" y="573214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AALawyer [10]</a:t>
            </a:r>
            <a:endParaRPr lang="en-US" sz="1950" dirty="0">
              <a:latin typeface="Times New Roman" panose="02020603050405020304" pitchFamily="18" charset="0"/>
            </a:endParaRPr>
          </a:p>
        </p:txBody>
      </p:sp>
      <p:sp>
        <p:nvSpPr>
          <p:cNvPr id="87" name="Text 84"/>
          <p:cNvSpPr/>
          <p:nvPr/>
        </p:nvSpPr>
        <p:spPr>
          <a:xfrm>
            <a:off x="952500" y="604837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Chinese criminal law</a:t>
            </a:r>
            <a:endParaRPr lang="en-US" sz="1800" dirty="0">
              <a:latin typeface="Times New Roman" panose="02020603050405020304" pitchFamily="18" charset="0"/>
            </a:endParaRPr>
          </a:p>
        </p:txBody>
      </p:sp>
      <p:sp>
        <p:nvSpPr>
          <p:cNvPr id="88" name="Shape 85"/>
          <p:cNvSpPr/>
          <p:nvPr/>
        </p:nvSpPr>
        <p:spPr>
          <a:xfrm>
            <a:off x="3810000" y="6386830"/>
            <a:ext cx="3238500" cy="9525"/>
          </a:xfrm>
          <a:prstGeom prst="rect">
            <a:avLst/>
          </a:prstGeom>
          <a:solidFill>
            <a:srgbClr val="1D1F20">
              <a:alpha val="16000"/>
            </a:srgbClr>
          </a:solidFill>
          <a:ln/>
        </p:spPr>
      </p:sp>
      <p:sp>
        <p:nvSpPr>
          <p:cNvPr id="89" name="Text 86"/>
          <p:cNvSpPr/>
          <p:nvPr/>
        </p:nvSpPr>
        <p:spPr>
          <a:xfrm>
            <a:off x="3810000" y="572960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Dual RAG (SCR + APR)</a:t>
            </a:r>
            <a:endParaRPr lang="en-US" sz="1800" dirty="0">
              <a:latin typeface="Times New Roman" panose="02020603050405020304" pitchFamily="18" charset="0"/>
            </a:endParaRPr>
          </a:p>
        </p:txBody>
      </p:sp>
      <p:sp>
        <p:nvSpPr>
          <p:cNvPr id="90" name="Shape 87"/>
          <p:cNvSpPr/>
          <p:nvPr/>
        </p:nvSpPr>
        <p:spPr>
          <a:xfrm>
            <a:off x="7048500" y="6386830"/>
            <a:ext cx="2149634" cy="9525"/>
          </a:xfrm>
          <a:prstGeom prst="rect">
            <a:avLst/>
          </a:prstGeom>
          <a:solidFill>
            <a:srgbClr val="1D1F20">
              <a:alpha val="16000"/>
            </a:srgbClr>
          </a:solidFill>
          <a:ln/>
        </p:spPr>
      </p:sp>
      <p:sp>
        <p:nvSpPr>
          <p:cNvPr id="91" name="Shape 88"/>
          <p:cNvSpPr/>
          <p:nvPr/>
        </p:nvSpPr>
        <p:spPr>
          <a:xfrm>
            <a:off x="7048500" y="5922645"/>
            <a:ext cx="209550" cy="209550"/>
          </a:xfrm>
          <a:prstGeom prst="rect">
            <a:avLst/>
          </a:prstGeom>
          <a:ln w="15240">
            <a:solidFill>
              <a:srgbClr val="98989B"/>
            </a:solidFill>
            <a:prstDash val="solid"/>
          </a:ln>
        </p:spPr>
      </p:sp>
      <p:sp>
        <p:nvSpPr>
          <p:cNvPr id="92" name="Text 89"/>
          <p:cNvSpPr/>
          <p:nvPr/>
        </p:nvSpPr>
        <p:spPr>
          <a:xfrm>
            <a:off x="7372350" y="589026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93" name="Shape 90"/>
          <p:cNvSpPr/>
          <p:nvPr/>
        </p:nvSpPr>
        <p:spPr>
          <a:xfrm>
            <a:off x="9198134" y="6386830"/>
            <a:ext cx="2604453" cy="9525"/>
          </a:xfrm>
          <a:prstGeom prst="rect">
            <a:avLst/>
          </a:prstGeom>
          <a:solidFill>
            <a:srgbClr val="1D1F20">
              <a:alpha val="16000"/>
            </a:srgbClr>
          </a:solidFill>
          <a:ln/>
        </p:spPr>
      </p:sp>
      <p:sp>
        <p:nvSpPr>
          <p:cNvPr id="94" name="Shape 91"/>
          <p:cNvSpPr/>
          <p:nvPr/>
        </p:nvSpPr>
        <p:spPr>
          <a:xfrm>
            <a:off x="9198134" y="5922645"/>
            <a:ext cx="209550" cy="209550"/>
          </a:xfrm>
          <a:prstGeom prst="rect">
            <a:avLst/>
          </a:prstGeom>
          <a:ln w="15240">
            <a:solidFill>
              <a:srgbClr val="98989B"/>
            </a:solidFill>
            <a:prstDash val="solid"/>
          </a:ln>
        </p:spPr>
      </p:sp>
      <p:sp>
        <p:nvSpPr>
          <p:cNvPr id="95" name="Text 92"/>
          <p:cNvSpPr/>
          <p:nvPr/>
        </p:nvSpPr>
        <p:spPr>
          <a:xfrm>
            <a:off x="9521984" y="5890260"/>
            <a:ext cx="2279555"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Constrained retrieval</a:t>
            </a:r>
            <a:endParaRPr lang="en-US" sz="1800" dirty="0">
              <a:latin typeface="Times New Roman" panose="02020603050405020304" pitchFamily="18" charset="0"/>
            </a:endParaRPr>
          </a:p>
        </p:txBody>
      </p:sp>
      <p:sp>
        <p:nvSpPr>
          <p:cNvPr id="96" name="Shape 93"/>
          <p:cNvSpPr/>
          <p:nvPr/>
        </p:nvSpPr>
        <p:spPr>
          <a:xfrm>
            <a:off x="11802587" y="6386830"/>
            <a:ext cx="3112452" cy="9525"/>
          </a:xfrm>
          <a:prstGeom prst="rect">
            <a:avLst/>
          </a:prstGeom>
          <a:solidFill>
            <a:srgbClr val="1D1F20">
              <a:alpha val="16000"/>
            </a:srgbClr>
          </a:solidFill>
          <a:ln/>
        </p:spPr>
      </p:sp>
      <p:sp>
        <p:nvSpPr>
          <p:cNvPr id="97" name="Shape 94"/>
          <p:cNvSpPr/>
          <p:nvPr/>
        </p:nvSpPr>
        <p:spPr>
          <a:xfrm>
            <a:off x="11802587" y="5922645"/>
            <a:ext cx="209550" cy="209550"/>
          </a:xfrm>
          <a:prstGeom prst="rect">
            <a:avLst/>
          </a:prstGeom>
          <a:solidFill>
            <a:srgbClr val="5980A6"/>
          </a:solidFill>
          <a:ln w="15240">
            <a:solidFill>
              <a:srgbClr val="5980A6"/>
            </a:solidFill>
            <a:prstDash val="solid"/>
          </a:ln>
        </p:spPr>
      </p:sp>
      <p:sp>
        <p:nvSpPr>
          <p:cNvPr id="98" name="Text 95"/>
          <p:cNvSpPr/>
          <p:nvPr/>
        </p:nvSpPr>
        <p:spPr>
          <a:xfrm>
            <a:off x="12126437" y="5890260"/>
            <a:ext cx="2325132"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Symbolic + analogical</a:t>
            </a:r>
            <a:endParaRPr lang="en-US" sz="1800" dirty="0">
              <a:latin typeface="Times New Roman" panose="02020603050405020304" pitchFamily="18" charset="0"/>
            </a:endParaRPr>
          </a:p>
        </p:txBody>
      </p:sp>
      <p:sp>
        <p:nvSpPr>
          <p:cNvPr id="99" name="Shape 96"/>
          <p:cNvSpPr/>
          <p:nvPr/>
        </p:nvSpPr>
        <p:spPr>
          <a:xfrm>
            <a:off x="14915038" y="6386830"/>
            <a:ext cx="2420461" cy="9525"/>
          </a:xfrm>
          <a:prstGeom prst="rect">
            <a:avLst/>
          </a:prstGeom>
          <a:solidFill>
            <a:srgbClr val="1D1F20">
              <a:alpha val="16000"/>
            </a:srgbClr>
          </a:solidFill>
          <a:ln/>
        </p:spPr>
      </p:sp>
      <p:sp>
        <p:nvSpPr>
          <p:cNvPr id="100" name="Shape 97"/>
          <p:cNvSpPr/>
          <p:nvPr/>
        </p:nvSpPr>
        <p:spPr>
          <a:xfrm>
            <a:off x="14915038" y="5922645"/>
            <a:ext cx="209550" cy="209550"/>
          </a:xfrm>
          <a:prstGeom prst="rect">
            <a:avLst/>
          </a:prstGeom>
          <a:ln w="15240">
            <a:solidFill>
              <a:srgbClr val="98989B"/>
            </a:solidFill>
            <a:prstDash val="solid"/>
          </a:ln>
        </p:spPr>
      </p:sp>
      <p:sp>
        <p:nvSpPr>
          <p:cNvPr id="101" name="Text 98"/>
          <p:cNvSpPr/>
          <p:nvPr/>
        </p:nvSpPr>
        <p:spPr>
          <a:xfrm>
            <a:off x="15238888" y="589026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102" name="Shape 99"/>
          <p:cNvSpPr/>
          <p:nvPr/>
        </p:nvSpPr>
        <p:spPr>
          <a:xfrm>
            <a:off x="952500" y="7115810"/>
            <a:ext cx="2857500" cy="9525"/>
          </a:xfrm>
          <a:prstGeom prst="rect">
            <a:avLst/>
          </a:prstGeom>
          <a:solidFill>
            <a:srgbClr val="1D1F20">
              <a:alpha val="16000"/>
            </a:srgbClr>
          </a:solidFill>
          <a:ln/>
        </p:spPr>
      </p:sp>
      <p:sp>
        <p:nvSpPr>
          <p:cNvPr id="103" name="Text 100"/>
          <p:cNvSpPr/>
          <p:nvPr/>
        </p:nvSpPr>
        <p:spPr>
          <a:xfrm>
            <a:off x="952500" y="646112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Falkor-IRAC [13]</a:t>
            </a:r>
            <a:endParaRPr lang="en-US" sz="1950" dirty="0">
              <a:latin typeface="Times New Roman" panose="02020603050405020304" pitchFamily="18" charset="0"/>
            </a:endParaRPr>
          </a:p>
        </p:txBody>
      </p:sp>
      <p:sp>
        <p:nvSpPr>
          <p:cNvPr id="104" name="Text 101"/>
          <p:cNvSpPr/>
          <p:nvPr/>
        </p:nvSpPr>
        <p:spPr>
          <a:xfrm>
            <a:off x="952500" y="677735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Indian judgments</a:t>
            </a:r>
            <a:endParaRPr lang="en-US" sz="1800" dirty="0">
              <a:latin typeface="Times New Roman" panose="02020603050405020304" pitchFamily="18" charset="0"/>
            </a:endParaRPr>
          </a:p>
        </p:txBody>
      </p:sp>
      <p:sp>
        <p:nvSpPr>
          <p:cNvPr id="105" name="Shape 102"/>
          <p:cNvSpPr/>
          <p:nvPr/>
        </p:nvSpPr>
        <p:spPr>
          <a:xfrm>
            <a:off x="3810000" y="7115810"/>
            <a:ext cx="3238500" cy="9525"/>
          </a:xfrm>
          <a:prstGeom prst="rect">
            <a:avLst/>
          </a:prstGeom>
          <a:solidFill>
            <a:srgbClr val="1D1F20">
              <a:alpha val="16000"/>
            </a:srgbClr>
          </a:solidFill>
          <a:ln/>
        </p:spPr>
      </p:sp>
      <p:sp>
        <p:nvSpPr>
          <p:cNvPr id="106" name="Text 103"/>
          <p:cNvSpPr/>
          <p:nvPr/>
        </p:nvSpPr>
        <p:spPr>
          <a:xfrm>
            <a:off x="3810000" y="645858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IRAC graph + verifier veto</a:t>
            </a:r>
            <a:endParaRPr lang="en-US" sz="1800" dirty="0">
              <a:latin typeface="Times New Roman" panose="02020603050405020304" pitchFamily="18" charset="0"/>
            </a:endParaRPr>
          </a:p>
        </p:txBody>
      </p:sp>
      <p:sp>
        <p:nvSpPr>
          <p:cNvPr id="107" name="Shape 104"/>
          <p:cNvSpPr/>
          <p:nvPr/>
        </p:nvSpPr>
        <p:spPr>
          <a:xfrm>
            <a:off x="7048500" y="7115810"/>
            <a:ext cx="2149634" cy="9525"/>
          </a:xfrm>
          <a:prstGeom prst="rect">
            <a:avLst/>
          </a:prstGeom>
          <a:solidFill>
            <a:srgbClr val="1D1F20">
              <a:alpha val="16000"/>
            </a:srgbClr>
          </a:solidFill>
          <a:ln/>
        </p:spPr>
      </p:sp>
      <p:sp>
        <p:nvSpPr>
          <p:cNvPr id="108" name="Shape 105"/>
          <p:cNvSpPr/>
          <p:nvPr/>
        </p:nvSpPr>
        <p:spPr>
          <a:xfrm>
            <a:off x="7048500" y="6651625"/>
            <a:ext cx="209550" cy="209550"/>
          </a:xfrm>
          <a:prstGeom prst="rect">
            <a:avLst/>
          </a:prstGeom>
          <a:ln w="15240">
            <a:solidFill>
              <a:srgbClr val="98989B"/>
            </a:solidFill>
            <a:prstDash val="solid"/>
          </a:ln>
        </p:spPr>
      </p:sp>
      <p:sp>
        <p:nvSpPr>
          <p:cNvPr id="109" name="Text 106"/>
          <p:cNvSpPr/>
          <p:nvPr/>
        </p:nvSpPr>
        <p:spPr>
          <a:xfrm>
            <a:off x="7372350" y="6619240"/>
            <a:ext cx="1794446"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Single generator</a:t>
            </a:r>
            <a:endParaRPr lang="en-US" sz="1800" dirty="0">
              <a:latin typeface="Times New Roman" panose="02020603050405020304" pitchFamily="18" charset="0"/>
            </a:endParaRPr>
          </a:p>
        </p:txBody>
      </p:sp>
      <p:sp>
        <p:nvSpPr>
          <p:cNvPr id="110" name="Shape 107"/>
          <p:cNvSpPr/>
          <p:nvPr/>
        </p:nvSpPr>
        <p:spPr>
          <a:xfrm>
            <a:off x="9198134" y="7115810"/>
            <a:ext cx="2604453" cy="9525"/>
          </a:xfrm>
          <a:prstGeom prst="rect">
            <a:avLst/>
          </a:prstGeom>
          <a:solidFill>
            <a:srgbClr val="1D1F20">
              <a:alpha val="16000"/>
            </a:srgbClr>
          </a:solidFill>
          <a:ln/>
        </p:spPr>
      </p:sp>
      <p:sp>
        <p:nvSpPr>
          <p:cNvPr id="111" name="Shape 108"/>
          <p:cNvSpPr/>
          <p:nvPr/>
        </p:nvSpPr>
        <p:spPr>
          <a:xfrm>
            <a:off x="9198134" y="6651625"/>
            <a:ext cx="209550" cy="209550"/>
          </a:xfrm>
          <a:prstGeom prst="rect">
            <a:avLst/>
          </a:prstGeom>
          <a:gradFill rotWithShape="1">
            <a:gsLst>
              <a:gs pos="50000">
                <a:srgbClr val="5980A6">
                  <a:alpha val="100000"/>
                </a:srgbClr>
              </a:gs>
              <a:gs pos="50000">
                <a:srgbClr val="5980A6">
                  <a:alpha val="0"/>
                </a:srgbClr>
              </a:gs>
            </a:gsLst>
            <a:lin ang="0" scaled="0"/>
          </a:gradFill>
          <a:ln w="15240">
            <a:solidFill>
              <a:srgbClr val="5980A6"/>
            </a:solidFill>
            <a:prstDash val="solid"/>
          </a:ln>
        </p:spPr>
      </p:sp>
      <p:sp>
        <p:nvSpPr>
          <p:cNvPr id="112" name="Text 109"/>
          <p:cNvSpPr/>
          <p:nvPr/>
        </p:nvSpPr>
        <p:spPr>
          <a:xfrm>
            <a:off x="9521984" y="6619240"/>
            <a:ext cx="207175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Veto after proposal</a:t>
            </a:r>
            <a:endParaRPr lang="en-US" sz="1800" dirty="0">
              <a:latin typeface="Times New Roman" panose="02020603050405020304" pitchFamily="18" charset="0"/>
            </a:endParaRPr>
          </a:p>
        </p:txBody>
      </p:sp>
      <p:sp>
        <p:nvSpPr>
          <p:cNvPr id="113" name="Shape 110"/>
          <p:cNvSpPr/>
          <p:nvPr/>
        </p:nvSpPr>
        <p:spPr>
          <a:xfrm>
            <a:off x="11802587" y="7115810"/>
            <a:ext cx="3112452" cy="9525"/>
          </a:xfrm>
          <a:prstGeom prst="rect">
            <a:avLst/>
          </a:prstGeom>
          <a:solidFill>
            <a:srgbClr val="1D1F20">
              <a:alpha val="16000"/>
            </a:srgbClr>
          </a:solidFill>
          <a:ln/>
        </p:spPr>
      </p:sp>
      <p:sp>
        <p:nvSpPr>
          <p:cNvPr id="114" name="Shape 111"/>
          <p:cNvSpPr/>
          <p:nvPr/>
        </p:nvSpPr>
        <p:spPr>
          <a:xfrm>
            <a:off x="11802587" y="6651625"/>
            <a:ext cx="209550" cy="209550"/>
          </a:xfrm>
          <a:prstGeom prst="rect">
            <a:avLst/>
          </a:prstGeom>
          <a:gradFill rotWithShape="1">
            <a:gsLst>
              <a:gs pos="50000">
                <a:srgbClr val="5980A6">
                  <a:alpha val="100000"/>
                </a:srgbClr>
              </a:gs>
              <a:gs pos="50000">
                <a:srgbClr val="5980A6">
                  <a:alpha val="0"/>
                </a:srgbClr>
              </a:gs>
            </a:gsLst>
            <a:lin ang="0" scaled="0"/>
          </a:gradFill>
          <a:ln w="15240">
            <a:solidFill>
              <a:srgbClr val="5980A6"/>
            </a:solidFill>
            <a:prstDash val="solid"/>
          </a:ln>
        </p:spPr>
      </p:sp>
      <p:sp>
        <p:nvSpPr>
          <p:cNvPr id="115" name="Text 112"/>
          <p:cNvSpPr/>
          <p:nvPr/>
        </p:nvSpPr>
        <p:spPr>
          <a:xfrm>
            <a:off x="12126437" y="6619240"/>
            <a:ext cx="1673955"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Symbolic graph</a:t>
            </a:r>
            <a:endParaRPr lang="en-US" sz="1800" dirty="0">
              <a:latin typeface="Times New Roman" panose="02020603050405020304" pitchFamily="18" charset="0"/>
            </a:endParaRPr>
          </a:p>
        </p:txBody>
      </p:sp>
      <p:sp>
        <p:nvSpPr>
          <p:cNvPr id="116" name="Shape 113"/>
          <p:cNvSpPr/>
          <p:nvPr/>
        </p:nvSpPr>
        <p:spPr>
          <a:xfrm>
            <a:off x="14915038" y="7115810"/>
            <a:ext cx="2420461" cy="9525"/>
          </a:xfrm>
          <a:prstGeom prst="rect">
            <a:avLst/>
          </a:prstGeom>
          <a:solidFill>
            <a:srgbClr val="1D1F20">
              <a:alpha val="16000"/>
            </a:srgbClr>
          </a:solidFill>
          <a:ln/>
        </p:spPr>
      </p:sp>
      <p:sp>
        <p:nvSpPr>
          <p:cNvPr id="117" name="Shape 114"/>
          <p:cNvSpPr/>
          <p:nvPr/>
        </p:nvSpPr>
        <p:spPr>
          <a:xfrm>
            <a:off x="14915038" y="6651625"/>
            <a:ext cx="209550" cy="209550"/>
          </a:xfrm>
          <a:prstGeom prst="rect">
            <a:avLst/>
          </a:prstGeom>
          <a:ln w="15240">
            <a:solidFill>
              <a:srgbClr val="98989B"/>
            </a:solidFill>
            <a:prstDash val="solid"/>
          </a:ln>
        </p:spPr>
      </p:sp>
      <p:sp>
        <p:nvSpPr>
          <p:cNvPr id="118" name="Text 115"/>
          <p:cNvSpPr/>
          <p:nvPr/>
        </p:nvSpPr>
        <p:spPr>
          <a:xfrm>
            <a:off x="15238888" y="661924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119" name="Shape 116"/>
          <p:cNvSpPr/>
          <p:nvPr/>
        </p:nvSpPr>
        <p:spPr>
          <a:xfrm>
            <a:off x="952500" y="7842250"/>
            <a:ext cx="2857500" cy="10160"/>
          </a:xfrm>
          <a:prstGeom prst="rect">
            <a:avLst/>
          </a:prstGeom>
          <a:solidFill>
            <a:srgbClr val="1D1F20"/>
          </a:solidFill>
          <a:ln/>
        </p:spPr>
      </p:sp>
      <p:sp>
        <p:nvSpPr>
          <p:cNvPr id="120" name="Text 117"/>
          <p:cNvSpPr/>
          <p:nvPr/>
        </p:nvSpPr>
        <p:spPr>
          <a:xfrm>
            <a:off x="952500" y="7190105"/>
            <a:ext cx="293370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1D1F20"/>
                </a:solidFill>
                <a:latin typeface="Times New Roman" panose="02020603050405020304" pitchFamily="18" charset="0"/>
                <a:ea typeface="Arial" pitchFamily="34" charset="-122"/>
                <a:cs typeface="Arial" pitchFamily="34" charset="-120"/>
              </a:rPr>
              <a:t>PROCLAIM [27]</a:t>
            </a:r>
            <a:endParaRPr lang="en-US" sz="1950" dirty="0">
              <a:latin typeface="Times New Roman" panose="02020603050405020304" pitchFamily="18" charset="0"/>
            </a:endParaRPr>
          </a:p>
        </p:txBody>
      </p:sp>
      <p:sp>
        <p:nvSpPr>
          <p:cNvPr id="121" name="Text 118"/>
          <p:cNvSpPr/>
          <p:nvPr/>
        </p:nvSpPr>
        <p:spPr>
          <a:xfrm>
            <a:off x="952500" y="7506335"/>
            <a:ext cx="293370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Biomedical claims</a:t>
            </a:r>
            <a:endParaRPr lang="en-US" sz="1800" dirty="0">
              <a:latin typeface="Times New Roman" panose="02020603050405020304" pitchFamily="18" charset="0"/>
            </a:endParaRPr>
          </a:p>
        </p:txBody>
      </p:sp>
      <p:sp>
        <p:nvSpPr>
          <p:cNvPr id="122" name="Shape 119"/>
          <p:cNvSpPr/>
          <p:nvPr/>
        </p:nvSpPr>
        <p:spPr>
          <a:xfrm>
            <a:off x="3810000" y="7842250"/>
            <a:ext cx="3238500" cy="10160"/>
          </a:xfrm>
          <a:prstGeom prst="rect">
            <a:avLst/>
          </a:prstGeom>
          <a:solidFill>
            <a:srgbClr val="1D1F20"/>
          </a:solidFill>
          <a:ln/>
        </p:spPr>
      </p:sp>
      <p:sp>
        <p:nvSpPr>
          <p:cNvPr id="123" name="Text 120"/>
          <p:cNvSpPr/>
          <p:nvPr/>
        </p:nvSpPr>
        <p:spPr>
          <a:xfrm>
            <a:off x="3810000" y="7187565"/>
            <a:ext cx="3145155" cy="62611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Courtroom MAD + P-RAG</a:t>
            </a:r>
            <a:endParaRPr lang="en-US" sz="1800" dirty="0">
              <a:latin typeface="Times New Roman" panose="02020603050405020304" pitchFamily="18" charset="0"/>
            </a:endParaRPr>
          </a:p>
        </p:txBody>
      </p:sp>
      <p:sp>
        <p:nvSpPr>
          <p:cNvPr id="124" name="Shape 121"/>
          <p:cNvSpPr/>
          <p:nvPr/>
        </p:nvSpPr>
        <p:spPr>
          <a:xfrm>
            <a:off x="7048500" y="7842250"/>
            <a:ext cx="2149634" cy="10160"/>
          </a:xfrm>
          <a:prstGeom prst="rect">
            <a:avLst/>
          </a:prstGeom>
          <a:solidFill>
            <a:srgbClr val="1D1F20"/>
          </a:solidFill>
          <a:ln/>
        </p:spPr>
      </p:sp>
      <p:sp>
        <p:nvSpPr>
          <p:cNvPr id="125" name="Shape 122"/>
          <p:cNvSpPr/>
          <p:nvPr/>
        </p:nvSpPr>
        <p:spPr>
          <a:xfrm>
            <a:off x="7048500" y="7380605"/>
            <a:ext cx="209550" cy="209550"/>
          </a:xfrm>
          <a:prstGeom prst="rect">
            <a:avLst/>
          </a:prstGeom>
          <a:solidFill>
            <a:srgbClr val="5980A6"/>
          </a:solidFill>
          <a:ln w="15240">
            <a:solidFill>
              <a:srgbClr val="5980A6"/>
            </a:solidFill>
            <a:prstDash val="solid"/>
          </a:ln>
        </p:spPr>
      </p:sp>
      <p:sp>
        <p:nvSpPr>
          <p:cNvPr id="126" name="Text 123"/>
          <p:cNvSpPr/>
          <p:nvPr/>
        </p:nvSpPr>
        <p:spPr>
          <a:xfrm>
            <a:off x="7372350" y="7348220"/>
            <a:ext cx="174485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Yes · ≈11× tokens</a:t>
            </a:r>
            <a:endParaRPr lang="en-US" sz="1800" dirty="0">
              <a:latin typeface="Times New Roman" panose="02020603050405020304" pitchFamily="18" charset="0"/>
            </a:endParaRPr>
          </a:p>
        </p:txBody>
      </p:sp>
      <p:sp>
        <p:nvSpPr>
          <p:cNvPr id="127" name="Shape 124"/>
          <p:cNvSpPr/>
          <p:nvPr/>
        </p:nvSpPr>
        <p:spPr>
          <a:xfrm>
            <a:off x="9198134" y="7842250"/>
            <a:ext cx="2604453" cy="10160"/>
          </a:xfrm>
          <a:prstGeom prst="rect">
            <a:avLst/>
          </a:prstGeom>
          <a:solidFill>
            <a:srgbClr val="1D1F20"/>
          </a:solidFill>
          <a:ln/>
        </p:spPr>
      </p:sp>
      <p:sp>
        <p:nvSpPr>
          <p:cNvPr id="128" name="Shape 125"/>
          <p:cNvSpPr/>
          <p:nvPr/>
        </p:nvSpPr>
        <p:spPr>
          <a:xfrm>
            <a:off x="9198134" y="7380605"/>
            <a:ext cx="209550" cy="209550"/>
          </a:xfrm>
          <a:prstGeom prst="rect">
            <a:avLst/>
          </a:prstGeom>
          <a:ln w="15240">
            <a:solidFill>
              <a:srgbClr val="98989B"/>
            </a:solidFill>
            <a:prstDash val="solid"/>
          </a:ln>
        </p:spPr>
      </p:sp>
      <p:sp>
        <p:nvSpPr>
          <p:cNvPr id="129" name="Text 126"/>
          <p:cNvSpPr/>
          <p:nvPr/>
        </p:nvSpPr>
        <p:spPr>
          <a:xfrm>
            <a:off x="9521984" y="7211060"/>
            <a:ext cx="2166303" cy="586740"/>
          </a:xfrm>
          <a:prstGeom prst="rect">
            <a:avLst/>
          </a:prstGeom>
          <a:noFill/>
          <a:ln/>
        </p:spPr>
        <p:txBody>
          <a:bodyPr wrap="square" lIns="25400" tIns="25400" rIns="25400" bIns="25400" rtlCol="0" anchor="t">
            <a:normAutofit/>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Evidence, not citations</a:t>
            </a:r>
            <a:endParaRPr lang="en-US" sz="1800" dirty="0">
              <a:latin typeface="Times New Roman" panose="02020603050405020304" pitchFamily="18" charset="0"/>
            </a:endParaRPr>
          </a:p>
        </p:txBody>
      </p:sp>
      <p:sp>
        <p:nvSpPr>
          <p:cNvPr id="130" name="Shape 127"/>
          <p:cNvSpPr/>
          <p:nvPr/>
        </p:nvSpPr>
        <p:spPr>
          <a:xfrm>
            <a:off x="11802587" y="7842250"/>
            <a:ext cx="3112452" cy="10160"/>
          </a:xfrm>
          <a:prstGeom prst="rect">
            <a:avLst/>
          </a:prstGeom>
          <a:solidFill>
            <a:srgbClr val="1D1F20"/>
          </a:solidFill>
          <a:ln/>
        </p:spPr>
      </p:sp>
      <p:sp>
        <p:nvSpPr>
          <p:cNvPr id="131" name="Shape 128"/>
          <p:cNvSpPr/>
          <p:nvPr/>
        </p:nvSpPr>
        <p:spPr>
          <a:xfrm>
            <a:off x="11802587" y="7380605"/>
            <a:ext cx="209550" cy="209550"/>
          </a:xfrm>
          <a:prstGeom prst="rect">
            <a:avLst/>
          </a:prstGeom>
          <a:gradFill rotWithShape="1">
            <a:gsLst>
              <a:gs pos="50000">
                <a:srgbClr val="5980A6">
                  <a:alpha val="100000"/>
                </a:srgbClr>
              </a:gs>
              <a:gs pos="50000">
                <a:srgbClr val="5980A6">
                  <a:alpha val="0"/>
                </a:srgbClr>
              </a:gs>
            </a:gsLst>
            <a:lin ang="0" scaled="0"/>
          </a:gradFill>
          <a:ln w="15240">
            <a:solidFill>
              <a:srgbClr val="5980A6"/>
            </a:solidFill>
            <a:prstDash val="solid"/>
          </a:ln>
        </p:spPr>
      </p:sp>
      <p:sp>
        <p:nvSpPr>
          <p:cNvPr id="132" name="Text 129"/>
          <p:cNvSpPr/>
          <p:nvPr/>
        </p:nvSpPr>
        <p:spPr>
          <a:xfrm>
            <a:off x="12126437" y="7348220"/>
            <a:ext cx="1173639"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P-RAG only</a:t>
            </a:r>
            <a:endParaRPr lang="en-US" sz="1800" dirty="0">
              <a:latin typeface="Times New Roman" panose="02020603050405020304" pitchFamily="18" charset="0"/>
            </a:endParaRPr>
          </a:p>
        </p:txBody>
      </p:sp>
      <p:sp>
        <p:nvSpPr>
          <p:cNvPr id="133" name="Shape 130"/>
          <p:cNvSpPr/>
          <p:nvPr/>
        </p:nvSpPr>
        <p:spPr>
          <a:xfrm>
            <a:off x="14915038" y="7842250"/>
            <a:ext cx="2420461" cy="10160"/>
          </a:xfrm>
          <a:prstGeom prst="rect">
            <a:avLst/>
          </a:prstGeom>
          <a:solidFill>
            <a:srgbClr val="1D1F20"/>
          </a:solidFill>
          <a:ln/>
        </p:spPr>
      </p:sp>
      <p:sp>
        <p:nvSpPr>
          <p:cNvPr id="134" name="Shape 131"/>
          <p:cNvSpPr/>
          <p:nvPr/>
        </p:nvSpPr>
        <p:spPr>
          <a:xfrm>
            <a:off x="14915038" y="7380605"/>
            <a:ext cx="209550" cy="209550"/>
          </a:xfrm>
          <a:prstGeom prst="rect">
            <a:avLst/>
          </a:prstGeom>
          <a:ln w="15240">
            <a:solidFill>
              <a:srgbClr val="98989B"/>
            </a:solidFill>
            <a:prstDash val="solid"/>
          </a:ln>
        </p:spPr>
      </p:sp>
      <p:sp>
        <p:nvSpPr>
          <p:cNvPr id="135" name="Text 132"/>
          <p:cNvSpPr/>
          <p:nvPr/>
        </p:nvSpPr>
        <p:spPr>
          <a:xfrm>
            <a:off x="15238888" y="7348220"/>
            <a:ext cx="3552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136" name="Shape 133"/>
          <p:cNvSpPr/>
          <p:nvPr/>
        </p:nvSpPr>
        <p:spPr>
          <a:xfrm>
            <a:off x="952500" y="7852410"/>
            <a:ext cx="16383000" cy="772160"/>
          </a:xfrm>
          <a:prstGeom prst="rect">
            <a:avLst/>
          </a:prstGeom>
          <a:solidFill>
            <a:srgbClr val="EEF6FF"/>
          </a:solidFill>
          <a:ln/>
        </p:spPr>
      </p:sp>
      <p:sp>
        <p:nvSpPr>
          <p:cNvPr id="137" name="Shape 134"/>
          <p:cNvSpPr/>
          <p:nvPr/>
        </p:nvSpPr>
        <p:spPr>
          <a:xfrm>
            <a:off x="952500" y="8614410"/>
            <a:ext cx="2857500" cy="10160"/>
          </a:xfrm>
          <a:prstGeom prst="rect">
            <a:avLst/>
          </a:prstGeom>
          <a:solidFill>
            <a:srgbClr val="1D1F20"/>
          </a:solidFill>
          <a:ln/>
        </p:spPr>
      </p:sp>
      <p:sp>
        <p:nvSpPr>
          <p:cNvPr id="138" name="Text 135"/>
          <p:cNvSpPr/>
          <p:nvPr/>
        </p:nvSpPr>
        <p:spPr>
          <a:xfrm>
            <a:off x="1104900" y="7943215"/>
            <a:ext cx="2766060" cy="335280"/>
          </a:xfrm>
          <a:prstGeom prst="rect">
            <a:avLst/>
          </a:prstGeom>
          <a:noFill/>
          <a:ln/>
        </p:spPr>
        <p:txBody>
          <a:bodyPr wrap="square" lIns="25400" tIns="25400" rIns="25400" bIns="25400" rtlCol="0" anchor="t">
            <a:normAutofit lnSpcReduction="10000"/>
          </a:bodyPr>
          <a:lstStyle/>
          <a:p>
            <a:pPr marL="0" indent="0" algn="just">
              <a:lnSpc>
                <a:spcPct val="104464"/>
              </a:lnSpc>
              <a:buNone/>
            </a:pPr>
            <a:r>
              <a:rPr lang="en-US" sz="1950" b="1" dirty="0">
                <a:solidFill>
                  <a:srgbClr val="2C455D"/>
                </a:solidFill>
                <a:latin typeface="Times New Roman" panose="02020603050405020304" pitchFamily="18" charset="0"/>
                <a:ea typeface="Arial" pitchFamily="34" charset="-122"/>
                <a:cs typeface="Arial" pitchFamily="34" charset="-120"/>
              </a:rPr>
              <a:t>LexAgent (ours)</a:t>
            </a:r>
            <a:endParaRPr lang="en-US" sz="1950" dirty="0">
              <a:latin typeface="Times New Roman" panose="02020603050405020304" pitchFamily="18" charset="0"/>
            </a:endParaRPr>
          </a:p>
        </p:txBody>
      </p:sp>
      <p:sp>
        <p:nvSpPr>
          <p:cNvPr id="139" name="Text 136"/>
          <p:cNvSpPr/>
          <p:nvPr/>
        </p:nvSpPr>
        <p:spPr>
          <a:xfrm>
            <a:off x="1104900" y="8259445"/>
            <a:ext cx="276606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2C455D"/>
                </a:solidFill>
                <a:latin typeface="Times New Roman" panose="02020603050405020304" pitchFamily="18" charset="0"/>
                <a:ea typeface="Arial" pitchFamily="34" charset="-122"/>
                <a:cs typeface="Arial" pitchFamily="34" charset="-120"/>
              </a:rPr>
              <a:t>U.S. federal case law</a:t>
            </a:r>
            <a:endParaRPr lang="en-US" sz="1800" dirty="0">
              <a:latin typeface="Times New Roman" panose="02020603050405020304" pitchFamily="18" charset="0"/>
            </a:endParaRPr>
          </a:p>
        </p:txBody>
      </p:sp>
      <p:sp>
        <p:nvSpPr>
          <p:cNvPr id="140" name="Shape 137"/>
          <p:cNvSpPr/>
          <p:nvPr/>
        </p:nvSpPr>
        <p:spPr>
          <a:xfrm>
            <a:off x="3810000" y="8614410"/>
            <a:ext cx="3238500" cy="10160"/>
          </a:xfrm>
          <a:prstGeom prst="rect">
            <a:avLst/>
          </a:prstGeom>
          <a:solidFill>
            <a:srgbClr val="1D1F20"/>
          </a:solidFill>
          <a:ln/>
        </p:spPr>
      </p:sp>
      <p:sp>
        <p:nvSpPr>
          <p:cNvPr id="141" name="Text 138"/>
          <p:cNvSpPr/>
          <p:nvPr/>
        </p:nvSpPr>
        <p:spPr>
          <a:xfrm>
            <a:off x="3810000" y="7938135"/>
            <a:ext cx="3145155" cy="628650"/>
          </a:xfrm>
          <a:prstGeom prst="rect">
            <a:avLst/>
          </a:prstGeom>
          <a:noFill/>
          <a:ln/>
        </p:spPr>
        <p:txBody>
          <a:bodyPr wrap="square" lIns="25400" tIns="25400" rIns="25400" bIns="25400" rtlCol="0" anchor="ctr">
            <a:normAutofit/>
          </a:bodyPr>
          <a:lstStyle/>
          <a:p>
            <a:pPr marL="0" indent="0" algn="just">
              <a:lnSpc>
                <a:spcPct val="105882"/>
              </a:lnSpc>
              <a:buNone/>
            </a:pPr>
            <a:r>
              <a:rPr lang="en-US" sz="1800" dirty="0">
                <a:solidFill>
                  <a:srgbClr val="1D2D3D"/>
                </a:solidFill>
                <a:latin typeface="Times New Roman" panose="02020603050405020304" pitchFamily="18" charset="0"/>
                <a:ea typeface="Arial" pitchFamily="34" charset="-122"/>
                <a:cs typeface="Arial" pitchFamily="34" charset="-120"/>
              </a:rPr>
              <a:t>4-agent debate on one T4 GPU</a:t>
            </a:r>
            <a:endParaRPr lang="en-US" sz="1800" dirty="0">
              <a:latin typeface="Times New Roman" panose="02020603050405020304" pitchFamily="18" charset="0"/>
            </a:endParaRPr>
          </a:p>
        </p:txBody>
      </p:sp>
      <p:sp>
        <p:nvSpPr>
          <p:cNvPr id="142" name="Shape 139"/>
          <p:cNvSpPr/>
          <p:nvPr/>
        </p:nvSpPr>
        <p:spPr>
          <a:xfrm>
            <a:off x="7048500" y="8614410"/>
            <a:ext cx="2149634" cy="10160"/>
          </a:xfrm>
          <a:prstGeom prst="rect">
            <a:avLst/>
          </a:prstGeom>
          <a:solidFill>
            <a:srgbClr val="1D1F20"/>
          </a:solidFill>
          <a:ln/>
        </p:spPr>
      </p:sp>
      <p:sp>
        <p:nvSpPr>
          <p:cNvPr id="143" name="Shape 140"/>
          <p:cNvSpPr/>
          <p:nvPr/>
        </p:nvSpPr>
        <p:spPr>
          <a:xfrm>
            <a:off x="7048500" y="8133715"/>
            <a:ext cx="209550" cy="209550"/>
          </a:xfrm>
          <a:prstGeom prst="rect">
            <a:avLst/>
          </a:prstGeom>
          <a:solidFill>
            <a:srgbClr val="416180"/>
          </a:solidFill>
          <a:ln w="15240">
            <a:solidFill>
              <a:srgbClr val="416180"/>
            </a:solidFill>
            <a:prstDash val="solid"/>
          </a:ln>
        </p:spPr>
      </p:sp>
      <p:sp>
        <p:nvSpPr>
          <p:cNvPr id="144" name="Text 141"/>
          <p:cNvSpPr/>
          <p:nvPr/>
        </p:nvSpPr>
        <p:spPr>
          <a:xfrm>
            <a:off x="7372350" y="7964170"/>
            <a:ext cx="1711484" cy="586740"/>
          </a:xfrm>
          <a:prstGeom prst="rect">
            <a:avLst/>
          </a:prstGeom>
          <a:noFill/>
          <a:ln/>
        </p:spPr>
        <p:txBody>
          <a:bodyPr wrap="square" lIns="25400" tIns="25400" rIns="25400" bIns="25400" rtlCol="0" anchor="t">
            <a:normAutofit/>
          </a:bodyPr>
          <a:lstStyle/>
          <a:p>
            <a:pPr marL="0" indent="0" algn="just">
              <a:lnSpc>
                <a:spcPct val="105882"/>
              </a:lnSpc>
              <a:buNone/>
            </a:pPr>
            <a:r>
              <a:rPr lang="en-US" sz="1800" dirty="0">
                <a:solidFill>
                  <a:srgbClr val="1D2D3D"/>
                </a:solidFill>
                <a:latin typeface="Times New Roman" panose="02020603050405020304" pitchFamily="18" charset="0"/>
                <a:ea typeface="Arial" pitchFamily="34" charset="-122"/>
                <a:cs typeface="Arial" pitchFamily="34" charset="-120"/>
              </a:rPr>
              <a:t>Evidence-disjoint</a:t>
            </a:r>
            <a:endParaRPr lang="en-US" sz="1800" dirty="0">
              <a:latin typeface="Times New Roman" panose="02020603050405020304" pitchFamily="18" charset="0"/>
            </a:endParaRPr>
          </a:p>
        </p:txBody>
      </p:sp>
      <p:sp>
        <p:nvSpPr>
          <p:cNvPr id="145" name="Shape 142"/>
          <p:cNvSpPr/>
          <p:nvPr/>
        </p:nvSpPr>
        <p:spPr>
          <a:xfrm>
            <a:off x="9198134" y="8614410"/>
            <a:ext cx="2604453" cy="10160"/>
          </a:xfrm>
          <a:prstGeom prst="rect">
            <a:avLst/>
          </a:prstGeom>
          <a:solidFill>
            <a:srgbClr val="1D1F20"/>
          </a:solidFill>
          <a:ln/>
        </p:spPr>
      </p:sp>
      <p:sp>
        <p:nvSpPr>
          <p:cNvPr id="146" name="Shape 143"/>
          <p:cNvSpPr/>
          <p:nvPr/>
        </p:nvSpPr>
        <p:spPr>
          <a:xfrm>
            <a:off x="9198134" y="8133715"/>
            <a:ext cx="209550" cy="209550"/>
          </a:xfrm>
          <a:prstGeom prst="rect">
            <a:avLst/>
          </a:prstGeom>
          <a:solidFill>
            <a:srgbClr val="416180"/>
          </a:solidFill>
          <a:ln w="15240">
            <a:solidFill>
              <a:srgbClr val="416180"/>
            </a:solidFill>
            <a:prstDash val="solid"/>
          </a:ln>
        </p:spPr>
      </p:sp>
      <p:sp>
        <p:nvSpPr>
          <p:cNvPr id="147" name="Text 144"/>
          <p:cNvSpPr/>
          <p:nvPr/>
        </p:nvSpPr>
        <p:spPr>
          <a:xfrm>
            <a:off x="9521984" y="8101330"/>
            <a:ext cx="1153636" cy="312420"/>
          </a:xfrm>
          <a:prstGeom prst="rect">
            <a:avLst/>
          </a:prstGeom>
          <a:noFill/>
          <a:ln/>
        </p:spPr>
        <p:txBody>
          <a:bodyPr wrap="square" lIns="25400" tIns="25400" rIns="25400" bIns="25400" rtlCol="0" anchor="t">
            <a:normAutofit fontScale="85000" lnSpcReduction="10000"/>
          </a:bodyPr>
          <a:lstStyle/>
          <a:p>
            <a:pPr marL="0" indent="0" algn="just">
              <a:lnSpc>
                <a:spcPct val="105882"/>
              </a:lnSpc>
              <a:buNone/>
            </a:pPr>
            <a:r>
              <a:rPr lang="en-US" sz="1800" dirty="0">
                <a:solidFill>
                  <a:srgbClr val="1D2D3D"/>
                </a:solidFill>
                <a:latin typeface="Times New Roman" panose="02020603050405020304" pitchFamily="18" charset="0"/>
                <a:ea typeface="Arial" pitchFamily="34" charset="-122"/>
                <a:cs typeface="Arial" pitchFamily="34" charset="-120"/>
              </a:rPr>
              <a:t>CCS = E × S</a:t>
            </a:r>
            <a:endParaRPr lang="en-US" sz="1800" dirty="0">
              <a:latin typeface="Times New Roman" panose="02020603050405020304" pitchFamily="18" charset="0"/>
            </a:endParaRPr>
          </a:p>
        </p:txBody>
      </p:sp>
      <p:sp>
        <p:nvSpPr>
          <p:cNvPr id="148" name="Shape 145"/>
          <p:cNvSpPr/>
          <p:nvPr/>
        </p:nvSpPr>
        <p:spPr>
          <a:xfrm>
            <a:off x="11802587" y="8614410"/>
            <a:ext cx="3112452" cy="10160"/>
          </a:xfrm>
          <a:prstGeom prst="rect">
            <a:avLst/>
          </a:prstGeom>
          <a:solidFill>
            <a:srgbClr val="1D1F20"/>
          </a:solidFill>
          <a:ln/>
        </p:spPr>
      </p:sp>
      <p:sp>
        <p:nvSpPr>
          <p:cNvPr id="149" name="Shape 146"/>
          <p:cNvSpPr/>
          <p:nvPr/>
        </p:nvSpPr>
        <p:spPr>
          <a:xfrm>
            <a:off x="11802587" y="8133715"/>
            <a:ext cx="209550" cy="209550"/>
          </a:xfrm>
          <a:prstGeom prst="rect">
            <a:avLst/>
          </a:prstGeom>
          <a:solidFill>
            <a:srgbClr val="416180"/>
          </a:solidFill>
          <a:ln w="15240">
            <a:solidFill>
              <a:srgbClr val="416180"/>
            </a:solidFill>
            <a:prstDash val="solid"/>
          </a:ln>
        </p:spPr>
      </p:sp>
      <p:sp>
        <p:nvSpPr>
          <p:cNvPr id="150" name="Text 147"/>
          <p:cNvSpPr/>
          <p:nvPr/>
        </p:nvSpPr>
        <p:spPr>
          <a:xfrm>
            <a:off x="12126437" y="8101330"/>
            <a:ext cx="2140029"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2D3D"/>
                </a:solidFill>
                <a:latin typeface="Times New Roman" panose="02020603050405020304" pitchFamily="18" charset="0"/>
                <a:ea typeface="Arial" pitchFamily="34" charset="-122"/>
                <a:cs typeface="Arial" pitchFamily="34" charset="-120"/>
              </a:rPr>
              <a:t>BM25 + Legal-BERT</a:t>
            </a:r>
            <a:endParaRPr lang="en-US" sz="1800" dirty="0">
              <a:latin typeface="Times New Roman" panose="02020603050405020304" pitchFamily="18" charset="0"/>
            </a:endParaRPr>
          </a:p>
        </p:txBody>
      </p:sp>
      <p:sp>
        <p:nvSpPr>
          <p:cNvPr id="151" name="Shape 148"/>
          <p:cNvSpPr/>
          <p:nvPr/>
        </p:nvSpPr>
        <p:spPr>
          <a:xfrm>
            <a:off x="14915038" y="8614410"/>
            <a:ext cx="2420461" cy="10160"/>
          </a:xfrm>
          <a:prstGeom prst="rect">
            <a:avLst/>
          </a:prstGeom>
          <a:solidFill>
            <a:srgbClr val="1D1F20"/>
          </a:solidFill>
          <a:ln/>
        </p:spPr>
      </p:sp>
      <p:sp>
        <p:nvSpPr>
          <p:cNvPr id="152" name="Shape 149"/>
          <p:cNvSpPr/>
          <p:nvPr/>
        </p:nvSpPr>
        <p:spPr>
          <a:xfrm>
            <a:off x="14915038" y="8133715"/>
            <a:ext cx="209550" cy="209550"/>
          </a:xfrm>
          <a:prstGeom prst="rect">
            <a:avLst/>
          </a:prstGeom>
          <a:solidFill>
            <a:srgbClr val="416180"/>
          </a:solidFill>
          <a:ln w="15240">
            <a:solidFill>
              <a:srgbClr val="416180"/>
            </a:solidFill>
            <a:prstDash val="solid"/>
          </a:ln>
        </p:spPr>
      </p:sp>
      <p:sp>
        <p:nvSpPr>
          <p:cNvPr id="153" name="Text 150"/>
          <p:cNvSpPr/>
          <p:nvPr/>
        </p:nvSpPr>
        <p:spPr>
          <a:xfrm>
            <a:off x="15238888" y="7964170"/>
            <a:ext cx="2020411"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1D2D3D"/>
                </a:solidFill>
                <a:latin typeface="Times New Roman" panose="02020603050405020304" pitchFamily="18" charset="0"/>
                <a:ea typeface="Arial" pitchFamily="34" charset="-122"/>
                <a:cs typeface="Arial" pitchFamily="34" charset="-120"/>
              </a:rPr>
              <a:t>Verdict + risk memory</a:t>
            </a:r>
            <a:endParaRPr lang="en-US" sz="1800" dirty="0">
              <a:latin typeface="Times New Roman" panose="02020603050405020304" pitchFamily="18" charset="0"/>
            </a:endParaRPr>
          </a:p>
        </p:txBody>
      </p:sp>
      <p:sp>
        <p:nvSpPr>
          <p:cNvPr id="154" name="Shape 151"/>
          <p:cNvSpPr/>
          <p:nvPr/>
        </p:nvSpPr>
        <p:spPr>
          <a:xfrm>
            <a:off x="952500" y="9633585"/>
            <a:ext cx="190500" cy="190500"/>
          </a:xfrm>
          <a:prstGeom prst="rect">
            <a:avLst/>
          </a:prstGeom>
          <a:solidFill>
            <a:srgbClr val="5980A6"/>
          </a:solidFill>
          <a:ln w="15240">
            <a:solidFill>
              <a:srgbClr val="5980A6"/>
            </a:solidFill>
            <a:prstDash val="solid"/>
          </a:ln>
        </p:spPr>
      </p:sp>
      <p:sp>
        <p:nvSpPr>
          <p:cNvPr id="155" name="Text 152"/>
          <p:cNvSpPr/>
          <p:nvPr/>
        </p:nvSpPr>
        <p:spPr>
          <a:xfrm>
            <a:off x="1238250" y="9551670"/>
            <a:ext cx="421481"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Yes</a:t>
            </a:r>
            <a:endParaRPr lang="en-US" sz="1800" dirty="0">
              <a:latin typeface="Times New Roman" panose="02020603050405020304" pitchFamily="18" charset="0"/>
            </a:endParaRPr>
          </a:p>
        </p:txBody>
      </p:sp>
      <p:sp>
        <p:nvSpPr>
          <p:cNvPr id="156" name="Shape 153"/>
          <p:cNvSpPr/>
          <p:nvPr/>
        </p:nvSpPr>
        <p:spPr>
          <a:xfrm>
            <a:off x="1964531" y="9633585"/>
            <a:ext cx="190500" cy="190500"/>
          </a:xfrm>
          <a:prstGeom prst="rect">
            <a:avLst/>
          </a:prstGeom>
          <a:gradFill rotWithShape="1">
            <a:gsLst>
              <a:gs pos="50000">
                <a:srgbClr val="5980A6">
                  <a:alpha val="100000"/>
                </a:srgbClr>
              </a:gs>
              <a:gs pos="50000">
                <a:srgbClr val="5980A6">
                  <a:alpha val="0"/>
                </a:srgbClr>
              </a:gs>
            </a:gsLst>
            <a:lin ang="0" scaled="0"/>
          </a:gradFill>
          <a:ln w="15240">
            <a:solidFill>
              <a:srgbClr val="5980A6"/>
            </a:solidFill>
            <a:prstDash val="solid"/>
          </a:ln>
        </p:spPr>
      </p:sp>
      <p:sp>
        <p:nvSpPr>
          <p:cNvPr id="157" name="Text 154"/>
          <p:cNvSpPr/>
          <p:nvPr/>
        </p:nvSpPr>
        <p:spPr>
          <a:xfrm>
            <a:off x="2250281" y="9551670"/>
            <a:ext cx="724853"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Partial</a:t>
            </a:r>
            <a:endParaRPr lang="en-US" sz="1800" dirty="0">
              <a:latin typeface="Times New Roman" panose="02020603050405020304" pitchFamily="18" charset="0"/>
            </a:endParaRPr>
          </a:p>
        </p:txBody>
      </p:sp>
      <p:sp>
        <p:nvSpPr>
          <p:cNvPr id="158" name="Shape 155"/>
          <p:cNvSpPr/>
          <p:nvPr/>
        </p:nvSpPr>
        <p:spPr>
          <a:xfrm>
            <a:off x="3279934" y="9633585"/>
            <a:ext cx="190500" cy="190500"/>
          </a:xfrm>
          <a:prstGeom prst="rect">
            <a:avLst/>
          </a:prstGeom>
          <a:ln w="15240">
            <a:solidFill>
              <a:srgbClr val="98989B"/>
            </a:solidFill>
            <a:prstDash val="solid"/>
          </a:ln>
        </p:spPr>
      </p:sp>
      <p:sp>
        <p:nvSpPr>
          <p:cNvPr id="159" name="Text 156"/>
          <p:cNvSpPr/>
          <p:nvPr/>
        </p:nvSpPr>
        <p:spPr>
          <a:xfrm>
            <a:off x="3565684" y="9551670"/>
            <a:ext cx="355282"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160" name="Text 157"/>
          <p:cNvSpPr/>
          <p:nvPr/>
        </p:nvSpPr>
        <p:spPr>
          <a:xfrm>
            <a:off x="4225766" y="9551670"/>
            <a:ext cx="11018139"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In-loop check = corpus matching of citations during debate, not post-hoc scoring of a finished answer.</a:t>
            </a:r>
            <a:endParaRPr lang="en-US" sz="1800" dirty="0">
              <a:latin typeface="Times New Roman" panose="02020603050405020304" pitchFamily="18" charset="0"/>
            </a:endParaRPr>
          </a:p>
        </p:txBody>
      </p:sp>
      <p:sp>
        <p:nvSpPr>
          <p:cNvPr id="162" name="TextBox 161">
            <a:extLst>
              <a:ext uri="{FF2B5EF4-FFF2-40B4-BE49-F238E27FC236}">
                <a16:creationId xmlns:a16="http://schemas.microsoft.com/office/drawing/2014/main" id="{5054B927-CAAF-B53A-D866-5F9E3706E0DA}"/>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8</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075672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Detailed Literature Review (contd.)</a:t>
            </a:r>
            <a:endParaRPr lang="en-US" sz="4800" dirty="0">
              <a:latin typeface="Times New Roman" panose="02020603050405020304" pitchFamily="18" charset="0"/>
            </a:endParaRPr>
          </a:p>
        </p:txBody>
      </p:sp>
      <p:sp>
        <p:nvSpPr>
          <p:cNvPr id="3" name="Text 1"/>
          <p:cNvSpPr/>
          <p:nvPr/>
        </p:nvSpPr>
        <p:spPr>
          <a:xfrm>
            <a:off x="952500" y="1554480"/>
            <a:ext cx="1075672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Research Gaps Identified and LexAgent Response</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30500"/>
            <a:ext cx="5897880" cy="10160"/>
          </a:xfrm>
          <a:prstGeom prst="rect">
            <a:avLst/>
          </a:prstGeom>
          <a:solidFill>
            <a:srgbClr val="1D1F20"/>
          </a:solidFill>
          <a:ln/>
        </p:spPr>
      </p:sp>
      <p:sp>
        <p:nvSpPr>
          <p:cNvPr id="6" name="Text 3"/>
          <p:cNvSpPr/>
          <p:nvPr/>
        </p:nvSpPr>
        <p:spPr>
          <a:xfrm>
            <a:off x="952500" y="2305050"/>
            <a:ext cx="5770017"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GAP IN THE LITERATURE</a:t>
            </a:r>
            <a:endParaRPr lang="en-US" sz="1800" dirty="0">
              <a:latin typeface="Times New Roman" panose="02020603050405020304" pitchFamily="18" charset="0"/>
            </a:endParaRPr>
          </a:p>
        </p:txBody>
      </p:sp>
      <p:sp>
        <p:nvSpPr>
          <p:cNvPr id="7" name="Shape 4"/>
          <p:cNvSpPr/>
          <p:nvPr/>
        </p:nvSpPr>
        <p:spPr>
          <a:xfrm>
            <a:off x="6850380" y="2730500"/>
            <a:ext cx="5570220" cy="10160"/>
          </a:xfrm>
          <a:prstGeom prst="rect">
            <a:avLst/>
          </a:prstGeom>
          <a:solidFill>
            <a:srgbClr val="1D1F20"/>
          </a:solidFill>
          <a:ln/>
        </p:spPr>
      </p:sp>
      <p:sp>
        <p:nvSpPr>
          <p:cNvPr id="8" name="Text 5"/>
          <p:cNvSpPr/>
          <p:nvPr/>
        </p:nvSpPr>
        <p:spPr>
          <a:xfrm>
            <a:off x="6850380" y="2305050"/>
            <a:ext cx="5432526"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416180"/>
                </a:solidFill>
                <a:latin typeface="Times New Roman" panose="02020603050405020304" pitchFamily="18" charset="0"/>
                <a:ea typeface="Arial" pitchFamily="34" charset="-122"/>
                <a:cs typeface="Arial" pitchFamily="34" charset="-120"/>
              </a:rPr>
              <a:t>LEXAGENT RESPONSE</a:t>
            </a:r>
            <a:endParaRPr lang="en-US" sz="1800" dirty="0">
              <a:latin typeface="Times New Roman" panose="02020603050405020304" pitchFamily="18" charset="0"/>
            </a:endParaRPr>
          </a:p>
        </p:txBody>
      </p:sp>
      <p:sp>
        <p:nvSpPr>
          <p:cNvPr id="9" name="Shape 6"/>
          <p:cNvSpPr/>
          <p:nvPr/>
        </p:nvSpPr>
        <p:spPr>
          <a:xfrm>
            <a:off x="12420600" y="2730500"/>
            <a:ext cx="4914900" cy="10160"/>
          </a:xfrm>
          <a:prstGeom prst="rect">
            <a:avLst/>
          </a:prstGeom>
          <a:solidFill>
            <a:srgbClr val="1D1F20"/>
          </a:solidFill>
          <a:ln/>
        </p:spPr>
      </p:sp>
      <p:sp>
        <p:nvSpPr>
          <p:cNvPr id="10" name="Text 7"/>
          <p:cNvSpPr/>
          <p:nvPr/>
        </p:nvSpPr>
        <p:spPr>
          <a:xfrm>
            <a:off x="12420600" y="2305050"/>
            <a:ext cx="5062347"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VALIDATION STILL NEEDED</a:t>
            </a:r>
            <a:endParaRPr lang="en-US" sz="1800" dirty="0">
              <a:latin typeface="Times New Roman" panose="02020603050405020304" pitchFamily="18" charset="0"/>
            </a:endParaRPr>
          </a:p>
        </p:txBody>
      </p:sp>
      <p:sp>
        <p:nvSpPr>
          <p:cNvPr id="11" name="Shape 8"/>
          <p:cNvSpPr/>
          <p:nvPr/>
        </p:nvSpPr>
        <p:spPr>
          <a:xfrm>
            <a:off x="952500" y="3768090"/>
            <a:ext cx="5897880" cy="9525"/>
          </a:xfrm>
          <a:prstGeom prst="rect">
            <a:avLst/>
          </a:prstGeom>
          <a:solidFill>
            <a:srgbClr val="1D1F20">
              <a:alpha val="16000"/>
            </a:srgbClr>
          </a:solidFill>
          <a:ln/>
        </p:spPr>
      </p:sp>
      <p:sp>
        <p:nvSpPr>
          <p:cNvPr id="12" name="Text 9"/>
          <p:cNvSpPr/>
          <p:nvPr/>
        </p:nvSpPr>
        <p:spPr>
          <a:xfrm>
            <a:off x="952500" y="2931160"/>
            <a:ext cx="5770017" cy="68453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Retrieval can introduce misleading evidence [15, 21, 22]</a:t>
            </a:r>
            <a:endParaRPr lang="en-US" sz="1950" dirty="0">
              <a:latin typeface="Times New Roman" panose="02020603050405020304" pitchFamily="18" charset="0"/>
            </a:endParaRPr>
          </a:p>
        </p:txBody>
      </p:sp>
      <p:sp>
        <p:nvSpPr>
          <p:cNvPr id="13" name="Shape 10"/>
          <p:cNvSpPr/>
          <p:nvPr/>
        </p:nvSpPr>
        <p:spPr>
          <a:xfrm>
            <a:off x="6850380" y="3768090"/>
            <a:ext cx="5570220" cy="9525"/>
          </a:xfrm>
          <a:prstGeom prst="rect">
            <a:avLst/>
          </a:prstGeom>
          <a:solidFill>
            <a:srgbClr val="1D1F20">
              <a:alpha val="16000"/>
            </a:srgbClr>
          </a:solidFill>
          <a:ln/>
        </p:spPr>
      </p:sp>
      <p:sp>
        <p:nvSpPr>
          <p:cNvPr id="14" name="Text 11"/>
          <p:cNvSpPr/>
          <p:nvPr/>
        </p:nvSpPr>
        <p:spPr>
          <a:xfrm>
            <a:off x="6850380" y="2931160"/>
            <a:ext cx="5432526" cy="68453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Hybrid retrieval + reflection-driven query expansion</a:t>
            </a:r>
            <a:endParaRPr lang="en-US" sz="1950" dirty="0">
              <a:latin typeface="Times New Roman" panose="02020603050405020304" pitchFamily="18" charset="0"/>
            </a:endParaRPr>
          </a:p>
        </p:txBody>
      </p:sp>
      <p:sp>
        <p:nvSpPr>
          <p:cNvPr id="15" name="Shape 12"/>
          <p:cNvSpPr/>
          <p:nvPr/>
        </p:nvSpPr>
        <p:spPr>
          <a:xfrm>
            <a:off x="12420600" y="3768090"/>
            <a:ext cx="4914900" cy="9525"/>
          </a:xfrm>
          <a:prstGeom prst="rect">
            <a:avLst/>
          </a:prstGeom>
          <a:solidFill>
            <a:srgbClr val="1D1F20">
              <a:alpha val="16000"/>
            </a:srgbClr>
          </a:solidFill>
          <a:ln/>
        </p:spPr>
      </p:sp>
      <p:sp>
        <p:nvSpPr>
          <p:cNvPr id="16" name="Text 13"/>
          <p:cNvSpPr/>
          <p:nvPr/>
        </p:nvSpPr>
        <p:spPr>
          <a:xfrm>
            <a:off x="12420600" y="2931160"/>
            <a:ext cx="5062347" cy="68453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Recall of target cases and passages</a:t>
            </a:r>
            <a:endParaRPr lang="en-US" sz="1950" dirty="0">
              <a:latin typeface="Times New Roman" panose="02020603050405020304" pitchFamily="18" charset="0"/>
            </a:endParaRPr>
          </a:p>
        </p:txBody>
      </p:sp>
      <p:sp>
        <p:nvSpPr>
          <p:cNvPr id="17" name="Shape 14"/>
          <p:cNvSpPr/>
          <p:nvPr/>
        </p:nvSpPr>
        <p:spPr>
          <a:xfrm>
            <a:off x="952500" y="4798060"/>
            <a:ext cx="5897880" cy="9525"/>
          </a:xfrm>
          <a:prstGeom prst="rect">
            <a:avLst/>
          </a:prstGeom>
          <a:solidFill>
            <a:srgbClr val="1D1F20">
              <a:alpha val="16000"/>
            </a:srgbClr>
          </a:solidFill>
          <a:ln/>
        </p:spPr>
      </p:sp>
      <p:sp>
        <p:nvSpPr>
          <p:cNvPr id="18" name="Text 15"/>
          <p:cNvSpPr/>
          <p:nvPr/>
        </p:nvSpPr>
        <p:spPr>
          <a:xfrm>
            <a:off x="952500" y="3963670"/>
            <a:ext cx="5770017" cy="68199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Debate repeats shared errors [5, 17]</a:t>
            </a:r>
            <a:endParaRPr lang="en-US" sz="1950" dirty="0">
              <a:latin typeface="Times New Roman" panose="02020603050405020304" pitchFamily="18" charset="0"/>
            </a:endParaRPr>
          </a:p>
        </p:txBody>
      </p:sp>
      <p:sp>
        <p:nvSpPr>
          <p:cNvPr id="19" name="Shape 16"/>
          <p:cNvSpPr/>
          <p:nvPr/>
        </p:nvSpPr>
        <p:spPr>
          <a:xfrm>
            <a:off x="6850380" y="4798060"/>
            <a:ext cx="5570220" cy="9525"/>
          </a:xfrm>
          <a:prstGeom prst="rect">
            <a:avLst/>
          </a:prstGeom>
          <a:solidFill>
            <a:srgbClr val="1D1F20">
              <a:alpha val="16000"/>
            </a:srgbClr>
          </a:solidFill>
          <a:ln/>
        </p:spPr>
      </p:sp>
      <p:sp>
        <p:nvSpPr>
          <p:cNvPr id="20" name="Text 17"/>
          <p:cNvSpPr/>
          <p:nvPr/>
        </p:nvSpPr>
        <p:spPr>
          <a:xfrm>
            <a:off x="6850380" y="3963670"/>
            <a:ext cx="5432526"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Defense counter-retrieval excludes Prosecutor evidence</a:t>
            </a:r>
            <a:endParaRPr lang="en-US" sz="1950" dirty="0">
              <a:latin typeface="Times New Roman" panose="02020603050405020304" pitchFamily="18" charset="0"/>
            </a:endParaRPr>
          </a:p>
        </p:txBody>
      </p:sp>
      <p:sp>
        <p:nvSpPr>
          <p:cNvPr id="21" name="Shape 18"/>
          <p:cNvSpPr/>
          <p:nvPr/>
        </p:nvSpPr>
        <p:spPr>
          <a:xfrm>
            <a:off x="12420600" y="4798060"/>
            <a:ext cx="4914900" cy="9525"/>
          </a:xfrm>
          <a:prstGeom prst="rect">
            <a:avLst/>
          </a:prstGeom>
          <a:solidFill>
            <a:srgbClr val="1D1F20">
              <a:alpha val="16000"/>
            </a:srgbClr>
          </a:solidFill>
          <a:ln/>
        </p:spPr>
      </p:sp>
      <p:sp>
        <p:nvSpPr>
          <p:cNvPr id="22" name="Text 19"/>
          <p:cNvSpPr/>
          <p:nvPr/>
        </p:nvSpPr>
        <p:spPr>
          <a:xfrm>
            <a:off x="12420600" y="3963670"/>
            <a:ext cx="5062347" cy="68199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Shared vs. disjoint evidence comparison</a:t>
            </a:r>
            <a:endParaRPr lang="en-US" sz="1950" dirty="0">
              <a:latin typeface="Times New Roman" panose="02020603050405020304" pitchFamily="18" charset="0"/>
            </a:endParaRPr>
          </a:p>
        </p:txBody>
      </p:sp>
      <p:sp>
        <p:nvSpPr>
          <p:cNvPr id="23" name="Shape 20"/>
          <p:cNvSpPr/>
          <p:nvPr/>
        </p:nvSpPr>
        <p:spPr>
          <a:xfrm>
            <a:off x="952500" y="5506085"/>
            <a:ext cx="5897880" cy="9525"/>
          </a:xfrm>
          <a:prstGeom prst="rect">
            <a:avLst/>
          </a:prstGeom>
          <a:solidFill>
            <a:srgbClr val="1D1F20">
              <a:alpha val="16000"/>
            </a:srgbClr>
          </a:solidFill>
          <a:ln/>
        </p:spPr>
      </p:sp>
      <p:sp>
        <p:nvSpPr>
          <p:cNvPr id="24" name="Text 21"/>
          <p:cNvSpPr/>
          <p:nvPr/>
        </p:nvSpPr>
        <p:spPr>
          <a:xfrm>
            <a:off x="952500" y="4993640"/>
            <a:ext cx="5770017"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A real case may not support the claim [6, 12]</a:t>
            </a:r>
            <a:endParaRPr lang="en-US" sz="1950" dirty="0">
              <a:latin typeface="Times New Roman" panose="02020603050405020304" pitchFamily="18" charset="0"/>
            </a:endParaRPr>
          </a:p>
        </p:txBody>
      </p:sp>
      <p:sp>
        <p:nvSpPr>
          <p:cNvPr id="25" name="Shape 22"/>
          <p:cNvSpPr/>
          <p:nvPr/>
        </p:nvSpPr>
        <p:spPr>
          <a:xfrm>
            <a:off x="6850380" y="5506085"/>
            <a:ext cx="5570220" cy="9525"/>
          </a:xfrm>
          <a:prstGeom prst="rect">
            <a:avLst/>
          </a:prstGeom>
          <a:solidFill>
            <a:srgbClr val="1D1F20">
              <a:alpha val="16000"/>
            </a:srgbClr>
          </a:solidFill>
          <a:ln/>
        </p:spPr>
      </p:sp>
      <p:sp>
        <p:nvSpPr>
          <p:cNvPr id="26" name="Text 23"/>
          <p:cNvSpPr/>
          <p:nvPr/>
        </p:nvSpPr>
        <p:spPr>
          <a:xfrm>
            <a:off x="6850380" y="4993640"/>
            <a:ext cx="5432526"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Separate case existence from holding support</a:t>
            </a:r>
            <a:endParaRPr lang="en-US" sz="1950" dirty="0">
              <a:latin typeface="Times New Roman" panose="02020603050405020304" pitchFamily="18" charset="0"/>
            </a:endParaRPr>
          </a:p>
        </p:txBody>
      </p:sp>
      <p:sp>
        <p:nvSpPr>
          <p:cNvPr id="27" name="Shape 24"/>
          <p:cNvSpPr/>
          <p:nvPr/>
        </p:nvSpPr>
        <p:spPr>
          <a:xfrm>
            <a:off x="12420600" y="5506085"/>
            <a:ext cx="4914900" cy="9525"/>
          </a:xfrm>
          <a:prstGeom prst="rect">
            <a:avLst/>
          </a:prstGeom>
          <a:solidFill>
            <a:srgbClr val="1D1F20">
              <a:alpha val="16000"/>
            </a:srgbClr>
          </a:solidFill>
          <a:ln/>
        </p:spPr>
      </p:sp>
      <p:sp>
        <p:nvSpPr>
          <p:cNvPr id="28" name="Text 25"/>
          <p:cNvSpPr/>
          <p:nvPr/>
        </p:nvSpPr>
        <p:spPr>
          <a:xfrm>
            <a:off x="12420600" y="4993640"/>
            <a:ext cx="5062347"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Hard-negative stress tests, expert labels</a:t>
            </a:r>
            <a:endParaRPr lang="en-US" sz="1950" dirty="0">
              <a:latin typeface="Times New Roman" panose="02020603050405020304" pitchFamily="18" charset="0"/>
            </a:endParaRPr>
          </a:p>
        </p:txBody>
      </p:sp>
      <p:sp>
        <p:nvSpPr>
          <p:cNvPr id="29" name="Shape 26"/>
          <p:cNvSpPr/>
          <p:nvPr/>
        </p:nvSpPr>
        <p:spPr>
          <a:xfrm>
            <a:off x="952500" y="6536055"/>
            <a:ext cx="5897880" cy="9525"/>
          </a:xfrm>
          <a:prstGeom prst="rect">
            <a:avLst/>
          </a:prstGeom>
          <a:solidFill>
            <a:srgbClr val="1D1F20">
              <a:alpha val="16000"/>
            </a:srgbClr>
          </a:solidFill>
          <a:ln/>
        </p:spPr>
      </p:sp>
      <p:sp>
        <p:nvSpPr>
          <p:cNvPr id="30" name="Text 27"/>
          <p:cNvSpPr/>
          <p:nvPr/>
        </p:nvSpPr>
        <p:spPr>
          <a:xfrm>
            <a:off x="952500" y="5701665"/>
            <a:ext cx="5770017" cy="68199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Agreement and confidence can mislead [5, 6]</a:t>
            </a:r>
            <a:endParaRPr lang="en-US" sz="1950" dirty="0">
              <a:latin typeface="Times New Roman" panose="02020603050405020304" pitchFamily="18" charset="0"/>
            </a:endParaRPr>
          </a:p>
        </p:txBody>
      </p:sp>
      <p:sp>
        <p:nvSpPr>
          <p:cNvPr id="31" name="Shape 28"/>
          <p:cNvSpPr/>
          <p:nvPr/>
        </p:nvSpPr>
        <p:spPr>
          <a:xfrm>
            <a:off x="6850380" y="6536055"/>
            <a:ext cx="5570220" cy="9525"/>
          </a:xfrm>
          <a:prstGeom prst="rect">
            <a:avLst/>
          </a:prstGeom>
          <a:solidFill>
            <a:srgbClr val="1D1F20">
              <a:alpha val="16000"/>
            </a:srgbClr>
          </a:solidFill>
          <a:ln/>
        </p:spPr>
      </p:sp>
      <p:sp>
        <p:nvSpPr>
          <p:cNvPr id="32" name="Text 29"/>
          <p:cNvSpPr/>
          <p:nvPr/>
        </p:nvSpPr>
        <p:spPr>
          <a:xfrm>
            <a:off x="6850380" y="5701665"/>
            <a:ext cx="5432526"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Citation-aware controller; Judge limited to verified list</a:t>
            </a:r>
            <a:endParaRPr lang="en-US" sz="1950" dirty="0">
              <a:latin typeface="Times New Roman" panose="02020603050405020304" pitchFamily="18" charset="0"/>
            </a:endParaRPr>
          </a:p>
        </p:txBody>
      </p:sp>
      <p:sp>
        <p:nvSpPr>
          <p:cNvPr id="33" name="Shape 30"/>
          <p:cNvSpPr/>
          <p:nvPr/>
        </p:nvSpPr>
        <p:spPr>
          <a:xfrm>
            <a:off x="12420600" y="6536055"/>
            <a:ext cx="4914900" cy="9525"/>
          </a:xfrm>
          <a:prstGeom prst="rect">
            <a:avLst/>
          </a:prstGeom>
          <a:solidFill>
            <a:srgbClr val="1D1F20">
              <a:alpha val="16000"/>
            </a:srgbClr>
          </a:solidFill>
          <a:ln/>
        </p:spPr>
      </p:sp>
      <p:sp>
        <p:nvSpPr>
          <p:cNvPr id="34" name="Text 31"/>
          <p:cNvSpPr/>
          <p:nvPr/>
        </p:nvSpPr>
        <p:spPr>
          <a:xfrm>
            <a:off x="12420600" y="5701665"/>
            <a:ext cx="5062347" cy="68199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Calibration and abstention</a:t>
            </a:r>
            <a:endParaRPr lang="en-US" sz="1950" dirty="0">
              <a:latin typeface="Times New Roman" panose="02020603050405020304" pitchFamily="18" charset="0"/>
            </a:endParaRPr>
          </a:p>
        </p:txBody>
      </p:sp>
      <p:sp>
        <p:nvSpPr>
          <p:cNvPr id="35" name="Shape 32"/>
          <p:cNvSpPr/>
          <p:nvPr/>
        </p:nvSpPr>
        <p:spPr>
          <a:xfrm>
            <a:off x="952500" y="7244080"/>
            <a:ext cx="5897880" cy="9525"/>
          </a:xfrm>
          <a:prstGeom prst="rect">
            <a:avLst/>
          </a:prstGeom>
          <a:solidFill>
            <a:srgbClr val="1D1F20">
              <a:alpha val="16000"/>
            </a:srgbClr>
          </a:solidFill>
          <a:ln/>
        </p:spPr>
      </p:sp>
      <p:sp>
        <p:nvSpPr>
          <p:cNvPr id="36" name="Text 33"/>
          <p:cNvSpPr/>
          <p:nvPr/>
        </p:nvSpPr>
        <p:spPr>
          <a:xfrm>
            <a:off x="952500" y="6731635"/>
            <a:ext cx="5770017"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No system remembers rejected citations [13, 27]</a:t>
            </a:r>
            <a:endParaRPr lang="en-US" sz="1950" dirty="0">
              <a:latin typeface="Times New Roman" panose="02020603050405020304" pitchFamily="18" charset="0"/>
            </a:endParaRPr>
          </a:p>
        </p:txBody>
      </p:sp>
      <p:sp>
        <p:nvSpPr>
          <p:cNvPr id="37" name="Shape 34"/>
          <p:cNvSpPr/>
          <p:nvPr/>
        </p:nvSpPr>
        <p:spPr>
          <a:xfrm>
            <a:off x="6850380" y="7244080"/>
            <a:ext cx="5570220" cy="9525"/>
          </a:xfrm>
          <a:prstGeom prst="rect">
            <a:avLst/>
          </a:prstGeom>
          <a:solidFill>
            <a:srgbClr val="1D1F20">
              <a:alpha val="16000"/>
            </a:srgbClr>
          </a:solidFill>
          <a:ln/>
        </p:spPr>
      </p:sp>
      <p:sp>
        <p:nvSpPr>
          <p:cNvPr id="38" name="Text 35"/>
          <p:cNvSpPr/>
          <p:nvPr/>
        </p:nvSpPr>
        <p:spPr>
          <a:xfrm>
            <a:off x="6850380" y="6731635"/>
            <a:ext cx="5432526"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Verdict cache + proposition-level risk memory</a:t>
            </a:r>
            <a:endParaRPr lang="en-US" sz="1950" dirty="0">
              <a:latin typeface="Times New Roman" panose="02020603050405020304" pitchFamily="18" charset="0"/>
            </a:endParaRPr>
          </a:p>
        </p:txBody>
      </p:sp>
      <p:sp>
        <p:nvSpPr>
          <p:cNvPr id="39" name="Shape 36"/>
          <p:cNvSpPr/>
          <p:nvPr/>
        </p:nvSpPr>
        <p:spPr>
          <a:xfrm>
            <a:off x="12420600" y="7244080"/>
            <a:ext cx="4914900" cy="9525"/>
          </a:xfrm>
          <a:prstGeom prst="rect">
            <a:avLst/>
          </a:prstGeom>
          <a:solidFill>
            <a:srgbClr val="1D1F20">
              <a:alpha val="16000"/>
            </a:srgbClr>
          </a:solidFill>
          <a:ln/>
        </p:spPr>
      </p:sp>
      <p:sp>
        <p:nvSpPr>
          <p:cNvPr id="40" name="Text 37"/>
          <p:cNvSpPr/>
          <p:nvPr/>
        </p:nvSpPr>
        <p:spPr>
          <a:xfrm>
            <a:off x="12420600" y="6731635"/>
            <a:ext cx="5062347"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Paraphrase tests, cache isolation</a:t>
            </a:r>
            <a:endParaRPr lang="en-US" sz="1950" dirty="0">
              <a:latin typeface="Times New Roman" panose="02020603050405020304" pitchFamily="18" charset="0"/>
            </a:endParaRPr>
          </a:p>
        </p:txBody>
      </p:sp>
      <p:sp>
        <p:nvSpPr>
          <p:cNvPr id="42" name="TextBox 41">
            <a:extLst>
              <a:ext uri="{FF2B5EF4-FFF2-40B4-BE49-F238E27FC236}">
                <a16:creationId xmlns:a16="http://schemas.microsoft.com/office/drawing/2014/main" id="{DA25F246-FD23-F5B2-1DB8-A65D2C592FF6}"/>
              </a:ext>
            </a:extLst>
          </p:cNvPr>
          <p:cNvSpPr txBox="1"/>
          <p:nvPr/>
        </p:nvSpPr>
        <p:spPr>
          <a:xfrm>
            <a:off x="17513300" y="9589770"/>
            <a:ext cx="3317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9</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3"/>
        </a:solidFill>
        <a:effectLst/>
      </p:bgPr>
    </p:bg>
    <p:spTree>
      <p:nvGrpSpPr>
        <p:cNvPr id="1" name="">
          <a:extLst>
            <a:ext uri="{FF2B5EF4-FFF2-40B4-BE49-F238E27FC236}">
              <a16:creationId xmlns:a16="http://schemas.microsoft.com/office/drawing/2014/main" id="{BC7FB880-33CA-D223-5CEB-157437D6D2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597F9E-7E10-7F86-6BDB-D3477CE37B2F}"/>
              </a:ext>
            </a:extLst>
          </p:cNvPr>
          <p:cNvSpPr/>
          <p:nvPr/>
        </p:nvSpPr>
        <p:spPr>
          <a:xfrm>
            <a:off x="952500" y="838200"/>
            <a:ext cx="9202737"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Introduction &amp; Problem Recap</a:t>
            </a:r>
            <a:endParaRPr lang="en-US" sz="48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468558A9-B1E4-DDEE-79FE-5AD72BF89B52}"/>
              </a:ext>
            </a:extLst>
          </p:cNvPr>
          <p:cNvSpPr/>
          <p:nvPr/>
        </p:nvSpPr>
        <p:spPr>
          <a:xfrm>
            <a:off x="952500" y="1554480"/>
            <a:ext cx="9202737"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Times New Roman" panose="02020603050405020304" pitchFamily="18" charset="0"/>
              </a:rPr>
              <a:t>Problem and Objective</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a:extLst>
              <a:ext uri="{FF2B5EF4-FFF2-40B4-BE49-F238E27FC236}">
                <a16:creationId xmlns:a16="http://schemas.microsoft.com/office/drawing/2014/main" id="{901E31F8-B513-95C0-D064-B7D9A6529D35}"/>
              </a:ext>
            </a:extLst>
          </p:cNvPr>
          <p:cNvPicPr>
            <a:picLocks noChangeAspect="1"/>
          </p:cNvPicPr>
          <p:nvPr/>
        </p:nvPicPr>
        <p:blipFill>
          <a:blip r:embed="rId3"/>
          <a:stretch>
            <a:fillRect/>
          </a:stretch>
        </p:blipFill>
        <p:spPr>
          <a:xfrm>
            <a:off x="15219998" y="838200"/>
            <a:ext cx="2115503" cy="800100"/>
          </a:xfrm>
          <a:prstGeom prst="rect">
            <a:avLst/>
          </a:prstGeom>
        </p:spPr>
      </p:pic>
      <p:sp>
        <p:nvSpPr>
          <p:cNvPr id="5" name="Shape 2">
            <a:extLst>
              <a:ext uri="{FF2B5EF4-FFF2-40B4-BE49-F238E27FC236}">
                <a16:creationId xmlns:a16="http://schemas.microsoft.com/office/drawing/2014/main" id="{71B10EE6-27F1-570C-9F8E-933B89B34DBC}"/>
              </a:ext>
            </a:extLst>
          </p:cNvPr>
          <p:cNvSpPr/>
          <p:nvPr/>
        </p:nvSpPr>
        <p:spPr>
          <a:xfrm>
            <a:off x="952500" y="2305050"/>
            <a:ext cx="6943725" cy="6915150"/>
          </a:xfrm>
          <a:prstGeom prst="rect">
            <a:avLst/>
          </a:prstGeom>
          <a:ln w="5080">
            <a:solidFill>
              <a:srgbClr val="1D1F20">
                <a:alpha val="16000"/>
              </a:srgbClr>
            </a:solidFill>
            <a:prstDash val="solid"/>
          </a:ln>
        </p:spPr>
      </p:sp>
      <p:sp>
        <p:nvSpPr>
          <p:cNvPr id="6" name="Text 3">
            <a:extLst>
              <a:ext uri="{FF2B5EF4-FFF2-40B4-BE49-F238E27FC236}">
                <a16:creationId xmlns:a16="http://schemas.microsoft.com/office/drawing/2014/main" id="{E13BB72D-74CC-E589-FBFB-4456D5D8BFC8}"/>
              </a:ext>
            </a:extLst>
          </p:cNvPr>
          <p:cNvSpPr/>
          <p:nvPr/>
        </p:nvSpPr>
        <p:spPr>
          <a:xfrm>
            <a:off x="1490980" y="3898582"/>
            <a:ext cx="6453442" cy="1752600"/>
          </a:xfrm>
          <a:prstGeom prst="rect">
            <a:avLst/>
          </a:prstGeom>
          <a:noFill/>
          <a:ln/>
        </p:spPr>
        <p:txBody>
          <a:bodyPr wrap="square" lIns="25400" tIns="25400" rIns="25400" bIns="25400" rtlCol="0" anchor="t">
            <a:normAutofit fontScale="92500"/>
          </a:bodyPr>
          <a:lstStyle/>
          <a:p>
            <a:pPr marL="0" indent="0" algn="just">
              <a:lnSpc>
                <a:spcPct val="80357"/>
              </a:lnSpc>
              <a:buNone/>
            </a:pPr>
            <a:r>
              <a:rPr lang="en-US" sz="15000" b="1" kern="0" spc="-300" dirty="0">
                <a:solidFill>
                  <a:srgbClr val="5980A6"/>
                </a:solidFill>
                <a:latin typeface="Times New Roman" panose="02020603050405020304" pitchFamily="18" charset="0"/>
                <a:ea typeface="Arial" pitchFamily="34" charset="-122"/>
                <a:cs typeface="Times New Roman" panose="02020603050405020304" pitchFamily="18" charset="0"/>
              </a:rPr>
              <a:t>58–88%</a:t>
            </a:r>
            <a:endParaRPr lang="en-US" sz="15000"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1A81DE1B-C381-06AE-586A-51ADDCD3ABF5}"/>
              </a:ext>
            </a:extLst>
          </p:cNvPr>
          <p:cNvSpPr/>
          <p:nvPr/>
        </p:nvSpPr>
        <p:spPr>
          <a:xfrm>
            <a:off x="1490980" y="5879782"/>
            <a:ext cx="6042768" cy="809625"/>
          </a:xfrm>
          <a:prstGeom prst="rect">
            <a:avLst/>
          </a:prstGeom>
          <a:noFill/>
          <a:ln/>
        </p:spPr>
        <p:txBody>
          <a:bodyPr wrap="square" lIns="25400" tIns="25400" rIns="25400" bIns="25400" rtlCol="0" anchor="t">
            <a:normAutofit lnSpcReduction="10000"/>
          </a:bodyPr>
          <a:lstStyle/>
          <a:p>
            <a:pPr marL="0" indent="0" algn="just">
              <a:lnSpc>
                <a:spcPct val="120536"/>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Hallucination rate of public LLMs on direct, verifiable questions about U.S. federal cases</a:t>
            </a:r>
            <a:endParaRPr lang="en-US" sz="2250" dirty="0">
              <a:latin typeface="Times New Roman" panose="02020603050405020304" pitchFamily="18" charset="0"/>
              <a:cs typeface="Times New Roman" panose="02020603050405020304" pitchFamily="18" charset="0"/>
            </a:endParaRPr>
          </a:p>
        </p:txBody>
      </p:sp>
      <p:sp>
        <p:nvSpPr>
          <p:cNvPr id="8" name="Text 5">
            <a:extLst>
              <a:ext uri="{FF2B5EF4-FFF2-40B4-BE49-F238E27FC236}">
                <a16:creationId xmlns:a16="http://schemas.microsoft.com/office/drawing/2014/main" id="{9EFBC6D6-4DD3-FDD9-F923-D9E420A9B122}"/>
              </a:ext>
            </a:extLst>
          </p:cNvPr>
          <p:cNvSpPr/>
          <p:nvPr/>
        </p:nvSpPr>
        <p:spPr>
          <a:xfrm>
            <a:off x="1490980" y="6918007"/>
            <a:ext cx="6042768" cy="746760"/>
          </a:xfrm>
          <a:prstGeom prst="rect">
            <a:avLst/>
          </a:prstGeom>
          <a:noFill/>
          <a:ln/>
        </p:spPr>
        <p:txBody>
          <a:bodyPr wrap="square" lIns="25400" tIns="25400" rIns="25400" bIns="25400" rtlCol="0" anchor="t">
            <a:normAutofit lnSpcReduction="10000"/>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Times New Roman" panose="02020603050405020304" pitchFamily="18" charset="0"/>
              </a:rPr>
              <a:t>GPT-4 58% · GPT-3.5 69% · PaLM 2 72% · Llama 2 88% — Dahl et al., 2024 [6]</a:t>
            </a:r>
            <a:endParaRPr lang="en-US" sz="1800" dirty="0">
              <a:latin typeface="Times New Roman" panose="02020603050405020304" pitchFamily="18" charset="0"/>
              <a:cs typeface="Times New Roman" panose="02020603050405020304" pitchFamily="18" charset="0"/>
            </a:endParaRPr>
          </a:p>
        </p:txBody>
      </p:sp>
      <p:sp>
        <p:nvSpPr>
          <p:cNvPr id="9" name="Shape 6">
            <a:extLst>
              <a:ext uri="{FF2B5EF4-FFF2-40B4-BE49-F238E27FC236}">
                <a16:creationId xmlns:a16="http://schemas.microsoft.com/office/drawing/2014/main" id="{55BE4AB0-A93A-84C1-100F-44B8FEA4AF3A}"/>
              </a:ext>
            </a:extLst>
          </p:cNvPr>
          <p:cNvSpPr/>
          <p:nvPr/>
        </p:nvSpPr>
        <p:spPr>
          <a:xfrm>
            <a:off x="8848725" y="3212306"/>
            <a:ext cx="8486775" cy="9525"/>
          </a:xfrm>
          <a:prstGeom prst="rect">
            <a:avLst/>
          </a:prstGeom>
          <a:solidFill>
            <a:srgbClr val="1D1F20">
              <a:alpha val="16000"/>
            </a:srgbClr>
          </a:solidFill>
          <a:ln/>
        </p:spPr>
      </p:sp>
      <p:sp>
        <p:nvSpPr>
          <p:cNvPr id="10" name="Text 7">
            <a:extLst>
              <a:ext uri="{FF2B5EF4-FFF2-40B4-BE49-F238E27FC236}">
                <a16:creationId xmlns:a16="http://schemas.microsoft.com/office/drawing/2014/main" id="{D36A9AE7-46FA-CB6F-251F-769E0DE8F7E3}"/>
              </a:ext>
            </a:extLst>
          </p:cNvPr>
          <p:cNvSpPr/>
          <p:nvPr/>
        </p:nvSpPr>
        <p:spPr>
          <a:xfrm>
            <a:off x="8848725" y="3407886"/>
            <a:ext cx="9335453"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Times New Roman" panose="02020603050405020304" pitchFamily="18" charset="0"/>
              </a:rPr>
              <a:t>PROBLEM</a:t>
            </a:r>
            <a:endParaRPr lang="en-US" sz="1950" dirty="0">
              <a:latin typeface="Times New Roman" panose="02020603050405020304" pitchFamily="18" charset="0"/>
              <a:cs typeface="Times New Roman" panose="02020603050405020304" pitchFamily="18" charset="0"/>
            </a:endParaRPr>
          </a:p>
        </p:txBody>
      </p:sp>
      <p:sp>
        <p:nvSpPr>
          <p:cNvPr id="11" name="Text 8">
            <a:extLst>
              <a:ext uri="{FF2B5EF4-FFF2-40B4-BE49-F238E27FC236}">
                <a16:creationId xmlns:a16="http://schemas.microsoft.com/office/drawing/2014/main" id="{8C3D75B5-659B-6EE7-429A-2EB3E5AA31C7}"/>
              </a:ext>
            </a:extLst>
          </p:cNvPr>
          <p:cNvSpPr/>
          <p:nvPr/>
        </p:nvSpPr>
        <p:spPr>
          <a:xfrm>
            <a:off x="8848725" y="3886994"/>
            <a:ext cx="8741378" cy="809625"/>
          </a:xfrm>
          <a:prstGeom prst="rect">
            <a:avLst/>
          </a:prstGeom>
          <a:noFill/>
          <a:ln/>
        </p:spPr>
        <p:txBody>
          <a:bodyPr wrap="square" lIns="25400" tIns="25400" rIns="25400" bIns="25400" rtlCol="0" anchor="t">
            <a:normAutofit lnSpcReduction="10000"/>
          </a:bodyPr>
          <a:lstStyle/>
          <a:p>
            <a:pPr marL="0" indent="0" algn="just">
              <a:lnSpc>
                <a:spcPct val="120536"/>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Legal answers can contain invented cases, wrong citation identities and holdings that a real case does not support.</a:t>
            </a:r>
            <a:endParaRPr lang="en-US" sz="2250" dirty="0">
              <a:latin typeface="Times New Roman" panose="02020603050405020304" pitchFamily="18" charset="0"/>
              <a:cs typeface="Times New Roman" panose="02020603050405020304" pitchFamily="18" charset="0"/>
            </a:endParaRPr>
          </a:p>
        </p:txBody>
      </p:sp>
      <p:sp>
        <p:nvSpPr>
          <p:cNvPr id="12" name="Shape 9">
            <a:extLst>
              <a:ext uri="{FF2B5EF4-FFF2-40B4-BE49-F238E27FC236}">
                <a16:creationId xmlns:a16="http://schemas.microsoft.com/office/drawing/2014/main" id="{03F4DF8C-5CE5-DEEC-47A4-70FD5E09C4B3}"/>
              </a:ext>
            </a:extLst>
          </p:cNvPr>
          <p:cNvSpPr/>
          <p:nvPr/>
        </p:nvSpPr>
        <p:spPr>
          <a:xfrm>
            <a:off x="8848725" y="5039519"/>
            <a:ext cx="8486775" cy="9525"/>
          </a:xfrm>
          <a:prstGeom prst="rect">
            <a:avLst/>
          </a:prstGeom>
          <a:solidFill>
            <a:srgbClr val="1D1F20">
              <a:alpha val="16000"/>
            </a:srgbClr>
          </a:solidFill>
          <a:ln/>
        </p:spPr>
      </p:sp>
      <p:sp>
        <p:nvSpPr>
          <p:cNvPr id="13" name="Text 10">
            <a:extLst>
              <a:ext uri="{FF2B5EF4-FFF2-40B4-BE49-F238E27FC236}">
                <a16:creationId xmlns:a16="http://schemas.microsoft.com/office/drawing/2014/main" id="{922CB786-3B62-0FA1-26EB-C05F5A266D69}"/>
              </a:ext>
            </a:extLst>
          </p:cNvPr>
          <p:cNvSpPr/>
          <p:nvPr/>
        </p:nvSpPr>
        <p:spPr>
          <a:xfrm>
            <a:off x="8848725" y="5235099"/>
            <a:ext cx="9335453"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Times New Roman" panose="02020603050405020304" pitchFamily="18" charset="0"/>
              </a:rPr>
              <a:t>OBJECTIVE</a:t>
            </a:r>
            <a:endParaRPr lang="en-US" sz="1950" dirty="0">
              <a:latin typeface="Times New Roman" panose="02020603050405020304" pitchFamily="18" charset="0"/>
              <a:cs typeface="Times New Roman" panose="02020603050405020304" pitchFamily="18" charset="0"/>
            </a:endParaRPr>
          </a:p>
        </p:txBody>
      </p:sp>
      <p:sp>
        <p:nvSpPr>
          <p:cNvPr id="14" name="Text 11">
            <a:extLst>
              <a:ext uri="{FF2B5EF4-FFF2-40B4-BE49-F238E27FC236}">
                <a16:creationId xmlns:a16="http://schemas.microsoft.com/office/drawing/2014/main" id="{CC70943F-6F31-7838-8F7D-1997AAA2B5D7}"/>
              </a:ext>
            </a:extLst>
          </p:cNvPr>
          <p:cNvSpPr/>
          <p:nvPr/>
        </p:nvSpPr>
        <p:spPr>
          <a:xfrm>
            <a:off x="8848725" y="5714206"/>
            <a:ext cx="8741378" cy="809625"/>
          </a:xfrm>
          <a:prstGeom prst="rect">
            <a:avLst/>
          </a:prstGeom>
          <a:noFill/>
          <a:ln/>
        </p:spPr>
        <p:txBody>
          <a:bodyPr wrap="square" lIns="25400" tIns="25400" rIns="25400" bIns="25400" rtlCol="0" anchor="t">
            <a:normAutofit lnSpcReduction="10000"/>
          </a:bodyPr>
          <a:lstStyle/>
          <a:p>
            <a:pPr marL="0" indent="0" algn="just">
              <a:lnSpc>
                <a:spcPct val="120536"/>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Combine legal retrieval, adversarial debate and citation verification to reduce unsupported legal answers.</a:t>
            </a:r>
            <a:endParaRPr lang="en-US" sz="2250" dirty="0">
              <a:latin typeface="Times New Roman" panose="02020603050405020304" pitchFamily="18" charset="0"/>
              <a:cs typeface="Times New Roman" panose="02020603050405020304" pitchFamily="18" charset="0"/>
            </a:endParaRPr>
          </a:p>
        </p:txBody>
      </p:sp>
      <p:sp>
        <p:nvSpPr>
          <p:cNvPr id="15" name="Shape 12">
            <a:extLst>
              <a:ext uri="{FF2B5EF4-FFF2-40B4-BE49-F238E27FC236}">
                <a16:creationId xmlns:a16="http://schemas.microsoft.com/office/drawing/2014/main" id="{6C4EC842-B821-5CE2-8F46-0786F0E98060}"/>
              </a:ext>
            </a:extLst>
          </p:cNvPr>
          <p:cNvSpPr/>
          <p:nvPr/>
        </p:nvSpPr>
        <p:spPr>
          <a:xfrm>
            <a:off x="8848725" y="6866731"/>
            <a:ext cx="8486775" cy="9525"/>
          </a:xfrm>
          <a:prstGeom prst="rect">
            <a:avLst/>
          </a:prstGeom>
          <a:solidFill>
            <a:srgbClr val="1D1F20">
              <a:alpha val="16000"/>
            </a:srgbClr>
          </a:solidFill>
          <a:ln/>
        </p:spPr>
      </p:sp>
      <p:sp>
        <p:nvSpPr>
          <p:cNvPr id="16" name="Text 13">
            <a:extLst>
              <a:ext uri="{FF2B5EF4-FFF2-40B4-BE49-F238E27FC236}">
                <a16:creationId xmlns:a16="http://schemas.microsoft.com/office/drawing/2014/main" id="{33487400-B663-0A66-90AA-8A5F9F63DACB}"/>
              </a:ext>
            </a:extLst>
          </p:cNvPr>
          <p:cNvSpPr/>
          <p:nvPr/>
        </p:nvSpPr>
        <p:spPr>
          <a:xfrm>
            <a:off x="8848725" y="7062311"/>
            <a:ext cx="9335453"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Times New Roman" panose="02020603050405020304" pitchFamily="18" charset="0"/>
              </a:rPr>
              <a:t>CURRENT SCOPE</a:t>
            </a:r>
            <a:endParaRPr lang="en-US" sz="1950" dirty="0">
              <a:latin typeface="Times New Roman" panose="02020603050405020304" pitchFamily="18" charset="0"/>
              <a:cs typeface="Times New Roman" panose="02020603050405020304" pitchFamily="18" charset="0"/>
            </a:endParaRPr>
          </a:p>
        </p:txBody>
      </p:sp>
      <p:sp>
        <p:nvSpPr>
          <p:cNvPr id="17" name="Text 14">
            <a:extLst>
              <a:ext uri="{FF2B5EF4-FFF2-40B4-BE49-F238E27FC236}">
                <a16:creationId xmlns:a16="http://schemas.microsoft.com/office/drawing/2014/main" id="{D1B8E544-4538-F7E8-B395-911376395863}"/>
              </a:ext>
            </a:extLst>
          </p:cNvPr>
          <p:cNvSpPr/>
          <p:nvPr/>
        </p:nvSpPr>
        <p:spPr>
          <a:xfrm>
            <a:off x="8848725" y="7541419"/>
            <a:ext cx="8741378" cy="809625"/>
          </a:xfrm>
          <a:prstGeom prst="rect">
            <a:avLst/>
          </a:prstGeom>
          <a:noFill/>
          <a:ln/>
        </p:spPr>
        <p:txBody>
          <a:bodyPr wrap="square" lIns="25400" tIns="25400" rIns="25400" bIns="25400" rtlCol="0" anchor="t">
            <a:normAutofit lnSpcReduction="10000"/>
          </a:bodyPr>
          <a:lstStyle/>
          <a:p>
            <a:pPr marL="0" indent="0" algn="just">
              <a:lnSpc>
                <a:spcPct val="120536"/>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U.S. federal case law from Harvard CAP. Prosecutor, Defense, Reflection and Judge share one 4-bit Mistral-7B on a single T4 GPU.</a:t>
            </a:r>
            <a:endParaRPr lang="en-US" sz="225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710FFF1-BC1E-AF30-4823-35B51033A809}"/>
              </a:ext>
            </a:extLst>
          </p:cNvPr>
          <p:cNvSpPr txBox="1"/>
          <p:nvPr/>
        </p:nvSpPr>
        <p:spPr>
          <a:xfrm>
            <a:off x="17499011" y="9589770"/>
            <a:ext cx="488951"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10</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3622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710003"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Introduction &amp; Problem Recap (contd.)</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952500" y="1554480"/>
            <a:ext cx="11710003"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Times New Roman" panose="02020603050405020304" pitchFamily="18" charset="0"/>
              </a:rPr>
              <a:t>Objectives and Research Questions</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30500"/>
            <a:ext cx="762000" cy="10160"/>
          </a:xfrm>
          <a:prstGeom prst="rect">
            <a:avLst/>
          </a:prstGeom>
          <a:solidFill>
            <a:srgbClr val="1D1F20"/>
          </a:solidFill>
          <a:ln/>
        </p:spPr>
      </p:sp>
      <p:sp>
        <p:nvSpPr>
          <p:cNvPr id="6" name="Text 3"/>
          <p:cNvSpPr/>
          <p:nvPr/>
        </p:nvSpPr>
        <p:spPr>
          <a:xfrm>
            <a:off x="952500" y="2305050"/>
            <a:ext cx="60960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7" name="Shape 4"/>
          <p:cNvSpPr/>
          <p:nvPr/>
        </p:nvSpPr>
        <p:spPr>
          <a:xfrm>
            <a:off x="1714500" y="2730500"/>
            <a:ext cx="6096000" cy="10160"/>
          </a:xfrm>
          <a:prstGeom prst="rect">
            <a:avLst/>
          </a:prstGeom>
          <a:solidFill>
            <a:srgbClr val="1D1F20"/>
          </a:solidFill>
          <a:ln/>
        </p:spPr>
      </p:sp>
      <p:sp>
        <p:nvSpPr>
          <p:cNvPr id="8" name="Text 5"/>
          <p:cNvSpPr/>
          <p:nvPr/>
        </p:nvSpPr>
        <p:spPr>
          <a:xfrm>
            <a:off x="1714500" y="2305050"/>
            <a:ext cx="605028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OBJECTIVE</a:t>
            </a:r>
            <a:endParaRPr lang="en-US" sz="1800" dirty="0">
              <a:latin typeface="Times New Roman" panose="02020603050405020304" pitchFamily="18" charset="0"/>
              <a:cs typeface="Times New Roman" panose="02020603050405020304" pitchFamily="18" charset="0"/>
            </a:endParaRPr>
          </a:p>
        </p:txBody>
      </p:sp>
      <p:sp>
        <p:nvSpPr>
          <p:cNvPr id="9" name="Shape 6"/>
          <p:cNvSpPr/>
          <p:nvPr/>
        </p:nvSpPr>
        <p:spPr>
          <a:xfrm>
            <a:off x="7810500" y="2730500"/>
            <a:ext cx="9525000" cy="10160"/>
          </a:xfrm>
          <a:prstGeom prst="rect">
            <a:avLst/>
          </a:prstGeom>
          <a:solidFill>
            <a:srgbClr val="1D1F20"/>
          </a:solidFill>
          <a:ln/>
        </p:spPr>
      </p:sp>
      <p:sp>
        <p:nvSpPr>
          <p:cNvPr id="10" name="Text 7"/>
          <p:cNvSpPr/>
          <p:nvPr/>
        </p:nvSpPr>
        <p:spPr>
          <a:xfrm>
            <a:off x="7810500" y="2305050"/>
            <a:ext cx="958215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RESEARCH QUESTION</a:t>
            </a:r>
            <a:endParaRPr lang="en-US" sz="1800" dirty="0">
              <a:latin typeface="Times New Roman" panose="02020603050405020304" pitchFamily="18" charset="0"/>
              <a:cs typeface="Times New Roman" panose="02020603050405020304" pitchFamily="18" charset="0"/>
            </a:endParaRPr>
          </a:p>
        </p:txBody>
      </p:sp>
      <p:sp>
        <p:nvSpPr>
          <p:cNvPr id="11" name="Shape 8"/>
          <p:cNvSpPr/>
          <p:nvPr/>
        </p:nvSpPr>
        <p:spPr>
          <a:xfrm>
            <a:off x="952500" y="3943350"/>
            <a:ext cx="762000" cy="9525"/>
          </a:xfrm>
          <a:prstGeom prst="rect">
            <a:avLst/>
          </a:prstGeom>
          <a:solidFill>
            <a:srgbClr val="1D1F20">
              <a:alpha val="16000"/>
            </a:srgbClr>
          </a:solidFill>
          <a:ln/>
        </p:spPr>
      </p:sp>
      <p:sp>
        <p:nvSpPr>
          <p:cNvPr id="12" name="Text 9"/>
          <p:cNvSpPr/>
          <p:nvPr/>
        </p:nvSpPr>
        <p:spPr>
          <a:xfrm>
            <a:off x="952500" y="2969260"/>
            <a:ext cx="609600" cy="783590"/>
          </a:xfrm>
          <a:prstGeom prst="rect">
            <a:avLst/>
          </a:prstGeom>
          <a:noFill/>
          <a:ln/>
        </p:spPr>
        <p:txBody>
          <a:bodyPr wrap="square" lIns="25400" tIns="25400" rIns="25400" bIns="25400" rtlCol="0" anchor="ctr">
            <a:normAutofit/>
          </a:bodyPr>
          <a:lstStyle/>
          <a:p>
            <a:pPr marL="0" indent="0" algn="just">
              <a:lnSpc>
                <a:spcPct val="116071"/>
              </a:lnSpc>
              <a:buNone/>
            </a:pPr>
            <a:r>
              <a:rPr lang="en-US" sz="2250" b="1" dirty="0">
                <a:solidFill>
                  <a:srgbClr val="416180"/>
                </a:solidFill>
                <a:latin typeface="Times New Roman" panose="02020603050405020304" pitchFamily="18" charset="0"/>
                <a:ea typeface="Arial" pitchFamily="34" charset="-122"/>
                <a:cs typeface="Times New Roman" panose="02020603050405020304" pitchFamily="18" charset="0"/>
              </a:rPr>
              <a:t>O1</a:t>
            </a:r>
            <a:endParaRPr lang="en-US" sz="2250" dirty="0">
              <a:latin typeface="Times New Roman" panose="02020603050405020304" pitchFamily="18" charset="0"/>
              <a:cs typeface="Times New Roman" panose="02020603050405020304" pitchFamily="18" charset="0"/>
            </a:endParaRPr>
          </a:p>
        </p:txBody>
      </p:sp>
      <p:sp>
        <p:nvSpPr>
          <p:cNvPr id="13" name="Shape 10"/>
          <p:cNvSpPr/>
          <p:nvPr/>
        </p:nvSpPr>
        <p:spPr>
          <a:xfrm>
            <a:off x="1714500" y="3943350"/>
            <a:ext cx="6096000" cy="9525"/>
          </a:xfrm>
          <a:prstGeom prst="rect">
            <a:avLst/>
          </a:prstGeom>
          <a:solidFill>
            <a:srgbClr val="1D1F20">
              <a:alpha val="16000"/>
            </a:srgbClr>
          </a:solidFill>
          <a:ln/>
        </p:spPr>
      </p:sp>
      <p:sp>
        <p:nvSpPr>
          <p:cNvPr id="14" name="Text 11"/>
          <p:cNvSpPr/>
          <p:nvPr/>
        </p:nvSpPr>
        <p:spPr>
          <a:xfrm>
            <a:off x="1714500" y="2969260"/>
            <a:ext cx="6050280" cy="783590"/>
          </a:xfrm>
          <a:prstGeom prst="rect">
            <a:avLst/>
          </a:prstGeom>
          <a:noFill/>
          <a:ln/>
        </p:spPr>
        <p:txBody>
          <a:bodyPr wrap="square" lIns="25400" tIns="25400" rIns="25400" bIns="25400" rtlCol="0" anchor="ctr">
            <a:normAutofit/>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Ground answers in legal sources</a:t>
            </a:r>
            <a:endParaRPr lang="en-US" sz="2250" dirty="0">
              <a:latin typeface="Times New Roman" panose="02020603050405020304" pitchFamily="18" charset="0"/>
              <a:cs typeface="Times New Roman" panose="02020603050405020304" pitchFamily="18" charset="0"/>
            </a:endParaRPr>
          </a:p>
        </p:txBody>
      </p:sp>
      <p:sp>
        <p:nvSpPr>
          <p:cNvPr id="15" name="Shape 12"/>
          <p:cNvSpPr/>
          <p:nvPr/>
        </p:nvSpPr>
        <p:spPr>
          <a:xfrm>
            <a:off x="7810500" y="3943350"/>
            <a:ext cx="9525000" cy="9525"/>
          </a:xfrm>
          <a:prstGeom prst="rect">
            <a:avLst/>
          </a:prstGeom>
          <a:solidFill>
            <a:srgbClr val="1D1F20">
              <a:alpha val="16000"/>
            </a:srgbClr>
          </a:solidFill>
          <a:ln/>
        </p:spPr>
      </p:sp>
      <p:sp>
        <p:nvSpPr>
          <p:cNvPr id="16" name="Text 13"/>
          <p:cNvSpPr/>
          <p:nvPr/>
        </p:nvSpPr>
        <p:spPr>
          <a:xfrm>
            <a:off x="7810500" y="2969260"/>
            <a:ext cx="9582150" cy="783590"/>
          </a:xfrm>
          <a:prstGeom prst="rect">
            <a:avLst/>
          </a:prstGeom>
          <a:noFill/>
          <a:ln/>
        </p:spPr>
        <p:txBody>
          <a:bodyPr wrap="square" lIns="25400" tIns="25400" rIns="25400" bIns="25400" rtlCol="0" anchor="ctr">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Does hybrid retrieval recover the target authority and the passage supporting its holding?</a:t>
            </a:r>
            <a:endParaRPr lang="en-US" sz="2250" dirty="0">
              <a:latin typeface="Times New Roman" panose="02020603050405020304" pitchFamily="18" charset="0"/>
              <a:cs typeface="Times New Roman" panose="02020603050405020304" pitchFamily="18" charset="0"/>
            </a:endParaRPr>
          </a:p>
        </p:txBody>
      </p:sp>
      <p:sp>
        <p:nvSpPr>
          <p:cNvPr id="17" name="Shape 14"/>
          <p:cNvSpPr/>
          <p:nvPr/>
        </p:nvSpPr>
        <p:spPr>
          <a:xfrm>
            <a:off x="952500" y="5148580"/>
            <a:ext cx="762000" cy="9525"/>
          </a:xfrm>
          <a:prstGeom prst="rect">
            <a:avLst/>
          </a:prstGeom>
          <a:solidFill>
            <a:srgbClr val="1D1F20">
              <a:alpha val="16000"/>
            </a:srgbClr>
          </a:solidFill>
          <a:ln/>
        </p:spPr>
      </p:sp>
      <p:sp>
        <p:nvSpPr>
          <p:cNvPr id="18" name="Text 15"/>
          <p:cNvSpPr/>
          <p:nvPr/>
        </p:nvSpPr>
        <p:spPr>
          <a:xfrm>
            <a:off x="952500" y="4177030"/>
            <a:ext cx="60960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b="1" dirty="0">
                <a:solidFill>
                  <a:srgbClr val="416180"/>
                </a:solidFill>
                <a:latin typeface="Times New Roman" panose="02020603050405020304" pitchFamily="18" charset="0"/>
                <a:ea typeface="Arial" pitchFamily="34" charset="-122"/>
                <a:cs typeface="Times New Roman" panose="02020603050405020304" pitchFamily="18" charset="0"/>
              </a:rPr>
              <a:t>O2</a:t>
            </a:r>
            <a:endParaRPr lang="en-US" sz="2250" dirty="0">
              <a:latin typeface="Times New Roman" panose="02020603050405020304" pitchFamily="18" charset="0"/>
              <a:cs typeface="Times New Roman" panose="02020603050405020304" pitchFamily="18" charset="0"/>
            </a:endParaRPr>
          </a:p>
        </p:txBody>
      </p:sp>
      <p:sp>
        <p:nvSpPr>
          <p:cNvPr id="19" name="Shape 16"/>
          <p:cNvSpPr/>
          <p:nvPr/>
        </p:nvSpPr>
        <p:spPr>
          <a:xfrm>
            <a:off x="1714500" y="5148580"/>
            <a:ext cx="6096000" cy="9525"/>
          </a:xfrm>
          <a:prstGeom prst="rect">
            <a:avLst/>
          </a:prstGeom>
          <a:solidFill>
            <a:srgbClr val="1D1F20">
              <a:alpha val="16000"/>
            </a:srgbClr>
          </a:solidFill>
          <a:ln/>
        </p:spPr>
      </p:sp>
      <p:sp>
        <p:nvSpPr>
          <p:cNvPr id="20" name="Text 17"/>
          <p:cNvSpPr/>
          <p:nvPr/>
        </p:nvSpPr>
        <p:spPr>
          <a:xfrm>
            <a:off x="1714500" y="4177030"/>
            <a:ext cx="605028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Create an evidence-diverse debate</a:t>
            </a:r>
            <a:endParaRPr lang="en-US" sz="2250" dirty="0">
              <a:latin typeface="Times New Roman" panose="02020603050405020304" pitchFamily="18" charset="0"/>
              <a:cs typeface="Times New Roman" panose="02020603050405020304" pitchFamily="18" charset="0"/>
            </a:endParaRPr>
          </a:p>
        </p:txBody>
      </p:sp>
      <p:sp>
        <p:nvSpPr>
          <p:cNvPr id="21" name="Shape 18"/>
          <p:cNvSpPr/>
          <p:nvPr/>
        </p:nvSpPr>
        <p:spPr>
          <a:xfrm>
            <a:off x="7810500" y="5148580"/>
            <a:ext cx="9525000" cy="9525"/>
          </a:xfrm>
          <a:prstGeom prst="rect">
            <a:avLst/>
          </a:prstGeom>
          <a:solidFill>
            <a:srgbClr val="1D1F20">
              <a:alpha val="16000"/>
            </a:srgbClr>
          </a:solidFill>
          <a:ln/>
        </p:spPr>
      </p:sp>
      <p:sp>
        <p:nvSpPr>
          <p:cNvPr id="22" name="Text 19"/>
          <p:cNvSpPr/>
          <p:nvPr/>
        </p:nvSpPr>
        <p:spPr>
          <a:xfrm>
            <a:off x="7810500" y="4177030"/>
            <a:ext cx="9582150" cy="781050"/>
          </a:xfrm>
          <a:prstGeom prst="rect">
            <a:avLst/>
          </a:prstGeom>
          <a:noFill/>
          <a:ln/>
        </p:spPr>
        <p:txBody>
          <a:bodyPr wrap="square" lIns="25400" tIns="25400" rIns="25400" bIns="25400" rtlCol="0" anchor="ctr">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Does independent Defense retrieval reveal errors that shared-context debate misses?</a:t>
            </a:r>
            <a:endParaRPr lang="en-US" sz="2250" dirty="0">
              <a:latin typeface="Times New Roman" panose="02020603050405020304" pitchFamily="18" charset="0"/>
              <a:cs typeface="Times New Roman" panose="02020603050405020304" pitchFamily="18" charset="0"/>
            </a:endParaRPr>
          </a:p>
        </p:txBody>
      </p:sp>
      <p:sp>
        <p:nvSpPr>
          <p:cNvPr id="23" name="Shape 20"/>
          <p:cNvSpPr/>
          <p:nvPr/>
        </p:nvSpPr>
        <p:spPr>
          <a:xfrm>
            <a:off x="952500" y="6353810"/>
            <a:ext cx="762000" cy="9525"/>
          </a:xfrm>
          <a:prstGeom prst="rect">
            <a:avLst/>
          </a:prstGeom>
          <a:solidFill>
            <a:srgbClr val="1D1F20">
              <a:alpha val="16000"/>
            </a:srgbClr>
          </a:solidFill>
          <a:ln/>
        </p:spPr>
      </p:sp>
      <p:sp>
        <p:nvSpPr>
          <p:cNvPr id="24" name="Text 21"/>
          <p:cNvSpPr/>
          <p:nvPr/>
        </p:nvSpPr>
        <p:spPr>
          <a:xfrm>
            <a:off x="952500" y="5382260"/>
            <a:ext cx="60960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b="1" dirty="0">
                <a:solidFill>
                  <a:srgbClr val="416180"/>
                </a:solidFill>
                <a:latin typeface="Times New Roman" panose="02020603050405020304" pitchFamily="18" charset="0"/>
                <a:ea typeface="Arial" pitchFamily="34" charset="-122"/>
                <a:cs typeface="Times New Roman" panose="02020603050405020304" pitchFamily="18" charset="0"/>
              </a:rPr>
              <a:t>O3</a:t>
            </a:r>
            <a:endParaRPr lang="en-US" sz="2250" dirty="0">
              <a:latin typeface="Times New Roman" panose="02020603050405020304" pitchFamily="18" charset="0"/>
              <a:cs typeface="Times New Roman" panose="02020603050405020304" pitchFamily="18" charset="0"/>
            </a:endParaRPr>
          </a:p>
        </p:txBody>
      </p:sp>
      <p:sp>
        <p:nvSpPr>
          <p:cNvPr id="25" name="Shape 22"/>
          <p:cNvSpPr/>
          <p:nvPr/>
        </p:nvSpPr>
        <p:spPr>
          <a:xfrm>
            <a:off x="1714500" y="6353810"/>
            <a:ext cx="6096000" cy="9525"/>
          </a:xfrm>
          <a:prstGeom prst="rect">
            <a:avLst/>
          </a:prstGeom>
          <a:solidFill>
            <a:srgbClr val="1D1F20">
              <a:alpha val="16000"/>
            </a:srgbClr>
          </a:solidFill>
          <a:ln/>
        </p:spPr>
      </p:sp>
      <p:sp>
        <p:nvSpPr>
          <p:cNvPr id="26" name="Text 23"/>
          <p:cNvSpPr/>
          <p:nvPr/>
        </p:nvSpPr>
        <p:spPr>
          <a:xfrm>
            <a:off x="1714500" y="5382260"/>
            <a:ext cx="605028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Verify each cited proposition</a:t>
            </a:r>
            <a:endParaRPr lang="en-US" sz="2250" dirty="0">
              <a:latin typeface="Times New Roman" panose="02020603050405020304" pitchFamily="18" charset="0"/>
              <a:cs typeface="Times New Roman" panose="02020603050405020304" pitchFamily="18" charset="0"/>
            </a:endParaRPr>
          </a:p>
        </p:txBody>
      </p:sp>
      <p:sp>
        <p:nvSpPr>
          <p:cNvPr id="27" name="Shape 24"/>
          <p:cNvSpPr/>
          <p:nvPr/>
        </p:nvSpPr>
        <p:spPr>
          <a:xfrm>
            <a:off x="7810500" y="6353810"/>
            <a:ext cx="9525000" cy="9525"/>
          </a:xfrm>
          <a:prstGeom prst="rect">
            <a:avLst/>
          </a:prstGeom>
          <a:solidFill>
            <a:srgbClr val="1D1F20">
              <a:alpha val="16000"/>
            </a:srgbClr>
          </a:solidFill>
          <a:ln/>
        </p:spPr>
      </p:sp>
      <p:sp>
        <p:nvSpPr>
          <p:cNvPr id="28" name="Text 25"/>
          <p:cNvSpPr/>
          <p:nvPr/>
        </p:nvSpPr>
        <p:spPr>
          <a:xfrm>
            <a:off x="7810500" y="5382260"/>
            <a:ext cx="9582150" cy="781050"/>
          </a:xfrm>
          <a:prstGeom prst="rect">
            <a:avLst/>
          </a:prstGeom>
          <a:noFill/>
          <a:ln/>
        </p:spPr>
        <p:txBody>
          <a:bodyPr wrap="square" lIns="25400" tIns="25400" rIns="25400" bIns="25400" rtlCol="0" anchor="ctr">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Can the verifier separate existence, support, fabrication and missing corpus coverage?</a:t>
            </a:r>
            <a:endParaRPr lang="en-US" sz="2250" dirty="0">
              <a:latin typeface="Times New Roman" panose="02020603050405020304" pitchFamily="18" charset="0"/>
              <a:cs typeface="Times New Roman" panose="02020603050405020304" pitchFamily="18" charset="0"/>
            </a:endParaRPr>
          </a:p>
        </p:txBody>
      </p:sp>
      <p:sp>
        <p:nvSpPr>
          <p:cNvPr id="29" name="Shape 26"/>
          <p:cNvSpPr/>
          <p:nvPr/>
        </p:nvSpPr>
        <p:spPr>
          <a:xfrm>
            <a:off x="952500" y="7559040"/>
            <a:ext cx="762000" cy="9525"/>
          </a:xfrm>
          <a:prstGeom prst="rect">
            <a:avLst/>
          </a:prstGeom>
          <a:solidFill>
            <a:srgbClr val="1D1F20">
              <a:alpha val="16000"/>
            </a:srgbClr>
          </a:solidFill>
          <a:ln/>
        </p:spPr>
      </p:sp>
      <p:sp>
        <p:nvSpPr>
          <p:cNvPr id="30" name="Text 27"/>
          <p:cNvSpPr/>
          <p:nvPr/>
        </p:nvSpPr>
        <p:spPr>
          <a:xfrm>
            <a:off x="952500" y="6587490"/>
            <a:ext cx="60960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b="1" dirty="0">
                <a:solidFill>
                  <a:srgbClr val="416180"/>
                </a:solidFill>
                <a:latin typeface="Times New Roman" panose="02020603050405020304" pitchFamily="18" charset="0"/>
                <a:ea typeface="Arial" pitchFamily="34" charset="-122"/>
                <a:cs typeface="Times New Roman" panose="02020603050405020304" pitchFamily="18" charset="0"/>
              </a:rPr>
              <a:t>O4</a:t>
            </a:r>
            <a:endParaRPr lang="en-US" sz="2250" dirty="0">
              <a:latin typeface="Times New Roman" panose="02020603050405020304" pitchFamily="18" charset="0"/>
              <a:cs typeface="Times New Roman" panose="02020603050405020304" pitchFamily="18" charset="0"/>
            </a:endParaRPr>
          </a:p>
        </p:txBody>
      </p:sp>
      <p:sp>
        <p:nvSpPr>
          <p:cNvPr id="31" name="Shape 28"/>
          <p:cNvSpPr/>
          <p:nvPr/>
        </p:nvSpPr>
        <p:spPr>
          <a:xfrm>
            <a:off x="1714500" y="7559040"/>
            <a:ext cx="6096000" cy="9525"/>
          </a:xfrm>
          <a:prstGeom prst="rect">
            <a:avLst/>
          </a:prstGeom>
          <a:solidFill>
            <a:srgbClr val="1D1F20">
              <a:alpha val="16000"/>
            </a:srgbClr>
          </a:solidFill>
          <a:ln/>
        </p:spPr>
      </p:sp>
      <p:sp>
        <p:nvSpPr>
          <p:cNvPr id="32" name="Text 29"/>
          <p:cNvSpPr/>
          <p:nvPr/>
        </p:nvSpPr>
        <p:spPr>
          <a:xfrm>
            <a:off x="1714500" y="6587490"/>
            <a:ext cx="605028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Control debate effort</a:t>
            </a:r>
            <a:endParaRPr lang="en-US" sz="2250" dirty="0">
              <a:latin typeface="Times New Roman" panose="02020603050405020304" pitchFamily="18" charset="0"/>
              <a:cs typeface="Times New Roman" panose="02020603050405020304" pitchFamily="18" charset="0"/>
            </a:endParaRPr>
          </a:p>
        </p:txBody>
      </p:sp>
      <p:sp>
        <p:nvSpPr>
          <p:cNvPr id="33" name="Shape 30"/>
          <p:cNvSpPr/>
          <p:nvPr/>
        </p:nvSpPr>
        <p:spPr>
          <a:xfrm>
            <a:off x="7810500" y="7559040"/>
            <a:ext cx="9525000" cy="9525"/>
          </a:xfrm>
          <a:prstGeom prst="rect">
            <a:avLst/>
          </a:prstGeom>
          <a:solidFill>
            <a:srgbClr val="1D1F20">
              <a:alpha val="16000"/>
            </a:srgbClr>
          </a:solidFill>
          <a:ln/>
        </p:spPr>
      </p:sp>
      <p:sp>
        <p:nvSpPr>
          <p:cNvPr id="34" name="Text 31"/>
          <p:cNvSpPr/>
          <p:nvPr/>
        </p:nvSpPr>
        <p:spPr>
          <a:xfrm>
            <a:off x="7810500" y="6587490"/>
            <a:ext cx="9582150" cy="781050"/>
          </a:xfrm>
          <a:prstGeom prst="rect">
            <a:avLst/>
          </a:prstGeom>
          <a:noFill/>
          <a:ln/>
        </p:spPr>
        <p:txBody>
          <a:bodyPr wrap="square" lIns="25400" tIns="25400" rIns="25400" bIns="25400" rtlCol="0" anchor="ctr">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Does dynamic stopping improve quality per unit of latency over a fixed-round baseline?</a:t>
            </a:r>
            <a:endParaRPr lang="en-US" sz="2250" dirty="0">
              <a:latin typeface="Times New Roman" panose="02020603050405020304" pitchFamily="18" charset="0"/>
              <a:cs typeface="Times New Roman" panose="02020603050405020304" pitchFamily="18" charset="0"/>
            </a:endParaRPr>
          </a:p>
        </p:txBody>
      </p:sp>
      <p:sp>
        <p:nvSpPr>
          <p:cNvPr id="35" name="Shape 32"/>
          <p:cNvSpPr/>
          <p:nvPr/>
        </p:nvSpPr>
        <p:spPr>
          <a:xfrm>
            <a:off x="952500" y="8764270"/>
            <a:ext cx="762000" cy="9525"/>
          </a:xfrm>
          <a:prstGeom prst="rect">
            <a:avLst/>
          </a:prstGeom>
          <a:solidFill>
            <a:srgbClr val="1D1F20">
              <a:alpha val="16000"/>
            </a:srgbClr>
          </a:solidFill>
          <a:ln/>
        </p:spPr>
      </p:sp>
      <p:sp>
        <p:nvSpPr>
          <p:cNvPr id="36" name="Text 33"/>
          <p:cNvSpPr/>
          <p:nvPr/>
        </p:nvSpPr>
        <p:spPr>
          <a:xfrm>
            <a:off x="952500" y="7792720"/>
            <a:ext cx="60960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b="1" dirty="0">
                <a:solidFill>
                  <a:srgbClr val="416180"/>
                </a:solidFill>
                <a:latin typeface="Times New Roman" panose="02020603050405020304" pitchFamily="18" charset="0"/>
                <a:ea typeface="Arial" pitchFamily="34" charset="-122"/>
                <a:cs typeface="Times New Roman" panose="02020603050405020304" pitchFamily="18" charset="0"/>
              </a:rPr>
              <a:t>O5</a:t>
            </a:r>
            <a:endParaRPr lang="en-US" sz="2250" dirty="0">
              <a:latin typeface="Times New Roman" panose="02020603050405020304" pitchFamily="18" charset="0"/>
              <a:cs typeface="Times New Roman" panose="02020603050405020304" pitchFamily="18" charset="0"/>
            </a:endParaRPr>
          </a:p>
        </p:txBody>
      </p:sp>
      <p:sp>
        <p:nvSpPr>
          <p:cNvPr id="37" name="Shape 34"/>
          <p:cNvSpPr/>
          <p:nvPr/>
        </p:nvSpPr>
        <p:spPr>
          <a:xfrm>
            <a:off x="1714500" y="8764270"/>
            <a:ext cx="6096000" cy="9525"/>
          </a:xfrm>
          <a:prstGeom prst="rect">
            <a:avLst/>
          </a:prstGeom>
          <a:solidFill>
            <a:srgbClr val="1D1F20">
              <a:alpha val="16000"/>
            </a:srgbClr>
          </a:solidFill>
          <a:ln/>
        </p:spPr>
      </p:sp>
      <p:sp>
        <p:nvSpPr>
          <p:cNvPr id="38" name="Text 35"/>
          <p:cNvSpPr/>
          <p:nvPr/>
        </p:nvSpPr>
        <p:spPr>
          <a:xfrm>
            <a:off x="1714500" y="7792720"/>
            <a:ext cx="6050280" cy="781050"/>
          </a:xfrm>
          <a:prstGeom prst="rect">
            <a:avLst/>
          </a:prstGeom>
          <a:noFill/>
          <a:ln/>
        </p:spPr>
        <p:txBody>
          <a:bodyPr wrap="square" lIns="25400" tIns="25400" rIns="25400" bIns="25400" rtlCol="0" anchor="ctr">
            <a:normAutofit/>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Evaluate reproducibly</a:t>
            </a:r>
            <a:endParaRPr lang="en-US" sz="2250" dirty="0">
              <a:latin typeface="Times New Roman" panose="02020603050405020304" pitchFamily="18" charset="0"/>
              <a:cs typeface="Times New Roman" panose="02020603050405020304" pitchFamily="18" charset="0"/>
            </a:endParaRPr>
          </a:p>
        </p:txBody>
      </p:sp>
      <p:sp>
        <p:nvSpPr>
          <p:cNvPr id="39" name="Shape 36"/>
          <p:cNvSpPr/>
          <p:nvPr/>
        </p:nvSpPr>
        <p:spPr>
          <a:xfrm>
            <a:off x="7810500" y="8764270"/>
            <a:ext cx="9525000" cy="9525"/>
          </a:xfrm>
          <a:prstGeom prst="rect">
            <a:avLst/>
          </a:prstGeom>
          <a:solidFill>
            <a:srgbClr val="1D1F20">
              <a:alpha val="16000"/>
            </a:srgbClr>
          </a:solidFill>
          <a:ln/>
        </p:spPr>
      </p:sp>
      <p:sp>
        <p:nvSpPr>
          <p:cNvPr id="40" name="Text 37"/>
          <p:cNvSpPr/>
          <p:nvPr/>
        </p:nvSpPr>
        <p:spPr>
          <a:xfrm>
            <a:off x="7810500" y="7792720"/>
            <a:ext cx="9582150" cy="781050"/>
          </a:xfrm>
          <a:prstGeom prst="rect">
            <a:avLst/>
          </a:prstGeom>
          <a:noFill/>
          <a:ln/>
        </p:spPr>
        <p:txBody>
          <a:bodyPr wrap="square" lIns="25400" tIns="25400" rIns="25400" bIns="25400" rtlCol="0" anchor="ctr">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Do gains persist on held-out cases with a fixed corpus, isolated memory and checked labels?</a:t>
            </a:r>
            <a:endParaRPr lang="en-US" sz="225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1EC38461-8373-9076-B0A7-936021EE7E4E}"/>
              </a:ext>
            </a:extLst>
          </p:cNvPr>
          <p:cNvSpPr txBox="1"/>
          <p:nvPr/>
        </p:nvSpPr>
        <p:spPr>
          <a:xfrm>
            <a:off x="17499011" y="9589770"/>
            <a:ext cx="488951"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11</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710003"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Times New Roman" panose="02020603050405020304" pitchFamily="18" charset="0"/>
              </a:rPr>
              <a:t>Introduction &amp; Problem Recap (contd.)</a:t>
            </a:r>
            <a:endParaRPr lang="en-US" sz="4800" dirty="0">
              <a:latin typeface="Times New Roman" panose="02020603050405020304" pitchFamily="18" charset="0"/>
              <a:cs typeface="Times New Roman" panose="02020603050405020304" pitchFamily="18" charset="0"/>
            </a:endParaRPr>
          </a:p>
        </p:txBody>
      </p:sp>
      <p:sp>
        <p:nvSpPr>
          <p:cNvPr id="3" name="Text 1"/>
          <p:cNvSpPr/>
          <p:nvPr/>
        </p:nvSpPr>
        <p:spPr>
          <a:xfrm>
            <a:off x="952500" y="1554480"/>
            <a:ext cx="11710003"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cs typeface="Times New Roman" panose="02020603050405020304" pitchFamily="18" charset="0"/>
              </a:rPr>
              <a:t>Improvements and Further Proposed </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27960"/>
            <a:ext cx="6858000" cy="15240"/>
          </a:xfrm>
          <a:prstGeom prst="rect">
            <a:avLst/>
          </a:prstGeom>
          <a:solidFill>
            <a:srgbClr val="416180"/>
          </a:solidFill>
          <a:ln/>
        </p:spPr>
      </p:sp>
      <p:sp>
        <p:nvSpPr>
          <p:cNvPr id="6" name="Text 3"/>
          <p:cNvSpPr/>
          <p:nvPr/>
        </p:nvSpPr>
        <p:spPr>
          <a:xfrm>
            <a:off x="952500" y="2305050"/>
            <a:ext cx="6873240" cy="32766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AT REVIEW-I</a:t>
            </a:r>
            <a:endParaRPr lang="en-US" sz="1800" dirty="0">
              <a:latin typeface="Times New Roman" panose="02020603050405020304" pitchFamily="18" charset="0"/>
              <a:cs typeface="Times New Roman" panose="02020603050405020304" pitchFamily="18" charset="0"/>
            </a:endParaRPr>
          </a:p>
        </p:txBody>
      </p:sp>
      <p:sp>
        <p:nvSpPr>
          <p:cNvPr id="7" name="Shape 4"/>
          <p:cNvSpPr/>
          <p:nvPr/>
        </p:nvSpPr>
        <p:spPr>
          <a:xfrm>
            <a:off x="7810500" y="2727960"/>
            <a:ext cx="9525000" cy="15240"/>
          </a:xfrm>
          <a:prstGeom prst="rect">
            <a:avLst/>
          </a:prstGeom>
          <a:solidFill>
            <a:srgbClr val="416180"/>
          </a:solidFill>
          <a:ln/>
        </p:spPr>
      </p:sp>
      <p:sp>
        <p:nvSpPr>
          <p:cNvPr id="8" name="Text 5"/>
          <p:cNvSpPr/>
          <p:nvPr/>
        </p:nvSpPr>
        <p:spPr>
          <a:xfrm>
            <a:off x="7810500" y="2305050"/>
            <a:ext cx="9810750" cy="32766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Times New Roman" panose="02020603050405020304" pitchFamily="18" charset="0"/>
              </a:rPr>
              <a:t>REFINEMENT FOR REVIEW-II</a:t>
            </a:r>
            <a:endParaRPr lang="en-US" sz="1800" dirty="0">
              <a:latin typeface="Times New Roman" panose="02020603050405020304" pitchFamily="18" charset="0"/>
              <a:cs typeface="Times New Roman" panose="02020603050405020304" pitchFamily="18" charset="0"/>
            </a:endParaRPr>
          </a:p>
        </p:txBody>
      </p:sp>
      <p:sp>
        <p:nvSpPr>
          <p:cNvPr id="13" name="Shape 10"/>
          <p:cNvSpPr/>
          <p:nvPr/>
        </p:nvSpPr>
        <p:spPr>
          <a:xfrm>
            <a:off x="952500" y="3444240"/>
            <a:ext cx="6858000" cy="9525"/>
          </a:xfrm>
          <a:prstGeom prst="rect">
            <a:avLst/>
          </a:prstGeom>
          <a:solidFill>
            <a:srgbClr val="1D1F20">
              <a:alpha val="16000"/>
            </a:srgbClr>
          </a:solidFill>
          <a:ln/>
        </p:spPr>
      </p:sp>
      <p:sp>
        <p:nvSpPr>
          <p:cNvPr id="14" name="Text 11"/>
          <p:cNvSpPr/>
          <p:nvPr/>
        </p:nvSpPr>
        <p:spPr>
          <a:xfrm>
            <a:off x="952500" y="2901315"/>
            <a:ext cx="675894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5D5D60"/>
                </a:solidFill>
                <a:latin typeface="Times New Roman" panose="02020603050405020304" pitchFamily="18" charset="0"/>
                <a:ea typeface="Arial" pitchFamily="34" charset="-122"/>
                <a:cs typeface="Times New Roman" panose="02020603050405020304" pitchFamily="18" charset="0"/>
              </a:rPr>
              <a:t>Weighted-sum citation score</a:t>
            </a:r>
            <a:endParaRPr lang="en-US" sz="2250" dirty="0">
              <a:latin typeface="Times New Roman" panose="02020603050405020304" pitchFamily="18" charset="0"/>
              <a:cs typeface="Times New Roman" panose="02020603050405020304" pitchFamily="18" charset="0"/>
            </a:endParaRPr>
          </a:p>
        </p:txBody>
      </p:sp>
      <p:sp>
        <p:nvSpPr>
          <p:cNvPr id="15" name="Shape 12"/>
          <p:cNvSpPr/>
          <p:nvPr/>
        </p:nvSpPr>
        <p:spPr>
          <a:xfrm>
            <a:off x="7810500" y="3444240"/>
            <a:ext cx="9525000" cy="9525"/>
          </a:xfrm>
          <a:prstGeom prst="rect">
            <a:avLst/>
          </a:prstGeom>
          <a:solidFill>
            <a:srgbClr val="1D1F20">
              <a:alpha val="16000"/>
            </a:srgbClr>
          </a:solidFill>
          <a:ln/>
        </p:spPr>
      </p:sp>
      <p:sp>
        <p:nvSpPr>
          <p:cNvPr id="16" name="Text 13"/>
          <p:cNvSpPr/>
          <p:nvPr/>
        </p:nvSpPr>
        <p:spPr>
          <a:xfrm>
            <a:off x="7810500" y="2901315"/>
            <a:ext cx="981075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Factorized CCS = Existence × Support with a five-way verdict</a:t>
            </a:r>
            <a:endParaRPr lang="en-US" sz="2250" dirty="0">
              <a:latin typeface="Times New Roman" panose="02020603050405020304" pitchFamily="18" charset="0"/>
              <a:cs typeface="Times New Roman" panose="02020603050405020304" pitchFamily="18" charset="0"/>
            </a:endParaRPr>
          </a:p>
        </p:txBody>
      </p:sp>
      <p:sp>
        <p:nvSpPr>
          <p:cNvPr id="17" name="Shape 14"/>
          <p:cNvSpPr/>
          <p:nvPr/>
        </p:nvSpPr>
        <p:spPr>
          <a:xfrm>
            <a:off x="952500" y="4163695"/>
            <a:ext cx="6858000" cy="9525"/>
          </a:xfrm>
          <a:prstGeom prst="rect">
            <a:avLst/>
          </a:prstGeom>
          <a:solidFill>
            <a:srgbClr val="1D1F20">
              <a:alpha val="16000"/>
            </a:srgbClr>
          </a:solidFill>
          <a:ln/>
        </p:spPr>
      </p:sp>
      <p:sp>
        <p:nvSpPr>
          <p:cNvPr id="18" name="Text 15"/>
          <p:cNvSpPr/>
          <p:nvPr/>
        </p:nvSpPr>
        <p:spPr>
          <a:xfrm>
            <a:off x="952500" y="3620770"/>
            <a:ext cx="675894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5D5D60"/>
                </a:solidFill>
                <a:latin typeface="Times New Roman" panose="02020603050405020304" pitchFamily="18" charset="0"/>
                <a:ea typeface="Arial" pitchFamily="34" charset="-122"/>
                <a:cs typeface="Times New Roman" panose="02020603050405020304" pitchFamily="18" charset="0"/>
              </a:rPr>
              <a:t>Shared-context Defense</a:t>
            </a:r>
            <a:endParaRPr lang="en-US" sz="2250" dirty="0">
              <a:latin typeface="Times New Roman" panose="02020603050405020304" pitchFamily="18" charset="0"/>
              <a:cs typeface="Times New Roman" panose="02020603050405020304" pitchFamily="18" charset="0"/>
            </a:endParaRPr>
          </a:p>
        </p:txBody>
      </p:sp>
      <p:sp>
        <p:nvSpPr>
          <p:cNvPr id="19" name="Shape 16"/>
          <p:cNvSpPr/>
          <p:nvPr/>
        </p:nvSpPr>
        <p:spPr>
          <a:xfrm>
            <a:off x="7810500" y="4163695"/>
            <a:ext cx="9525000" cy="9525"/>
          </a:xfrm>
          <a:prstGeom prst="rect">
            <a:avLst/>
          </a:prstGeom>
          <a:solidFill>
            <a:srgbClr val="1D1F20">
              <a:alpha val="16000"/>
            </a:srgbClr>
          </a:solidFill>
          <a:ln/>
        </p:spPr>
      </p:sp>
      <p:sp>
        <p:nvSpPr>
          <p:cNvPr id="20" name="Text 17"/>
          <p:cNvSpPr/>
          <p:nvPr/>
        </p:nvSpPr>
        <p:spPr>
          <a:xfrm>
            <a:off x="7810500" y="3620770"/>
            <a:ext cx="981075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Evidence-disjoint Defense retrieves its own counter-evidence</a:t>
            </a:r>
            <a:endParaRPr lang="en-US" sz="2250" dirty="0">
              <a:latin typeface="Times New Roman" panose="02020603050405020304" pitchFamily="18" charset="0"/>
              <a:cs typeface="Times New Roman" panose="02020603050405020304" pitchFamily="18" charset="0"/>
            </a:endParaRPr>
          </a:p>
        </p:txBody>
      </p:sp>
      <p:sp>
        <p:nvSpPr>
          <p:cNvPr id="21" name="Shape 18"/>
          <p:cNvSpPr/>
          <p:nvPr/>
        </p:nvSpPr>
        <p:spPr>
          <a:xfrm>
            <a:off x="952500" y="4883150"/>
            <a:ext cx="6858000" cy="9525"/>
          </a:xfrm>
          <a:prstGeom prst="rect">
            <a:avLst/>
          </a:prstGeom>
          <a:solidFill>
            <a:srgbClr val="1D1F20">
              <a:alpha val="16000"/>
            </a:srgbClr>
          </a:solidFill>
          <a:ln/>
        </p:spPr>
      </p:sp>
      <p:sp>
        <p:nvSpPr>
          <p:cNvPr id="22" name="Text 19"/>
          <p:cNvSpPr/>
          <p:nvPr/>
        </p:nvSpPr>
        <p:spPr>
          <a:xfrm>
            <a:off x="952500" y="4340225"/>
            <a:ext cx="675894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5D5D60"/>
                </a:solidFill>
                <a:latin typeface="Times New Roman" panose="02020603050405020304" pitchFamily="18" charset="0"/>
                <a:ea typeface="Arial" pitchFamily="34" charset="-122"/>
                <a:cs typeface="Times New Roman" panose="02020603050405020304" pitchFamily="18" charset="0"/>
              </a:rPr>
              <a:t>Hand-picked 0.40 / 0.75 cut-offs</a:t>
            </a:r>
            <a:endParaRPr lang="en-US" sz="2250" dirty="0">
              <a:latin typeface="Times New Roman" panose="02020603050405020304" pitchFamily="18" charset="0"/>
              <a:cs typeface="Times New Roman" panose="02020603050405020304" pitchFamily="18" charset="0"/>
            </a:endParaRPr>
          </a:p>
        </p:txBody>
      </p:sp>
      <p:sp>
        <p:nvSpPr>
          <p:cNvPr id="23" name="Shape 20"/>
          <p:cNvSpPr/>
          <p:nvPr/>
        </p:nvSpPr>
        <p:spPr>
          <a:xfrm>
            <a:off x="7810500" y="4883150"/>
            <a:ext cx="9525000" cy="9525"/>
          </a:xfrm>
          <a:prstGeom prst="rect">
            <a:avLst/>
          </a:prstGeom>
          <a:solidFill>
            <a:srgbClr val="1D1F20">
              <a:alpha val="16000"/>
            </a:srgbClr>
          </a:solidFill>
          <a:ln/>
        </p:spPr>
      </p:sp>
      <p:sp>
        <p:nvSpPr>
          <p:cNvPr id="24" name="Text 21"/>
          <p:cNvSpPr/>
          <p:nvPr/>
        </p:nvSpPr>
        <p:spPr>
          <a:xfrm>
            <a:off x="7810500" y="4340225"/>
            <a:ext cx="981075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latin typeface="Times New Roman" panose="02020603050405020304" pitchFamily="18" charset="0"/>
                <a:cs typeface="Times New Roman" panose="02020603050405020304" pitchFamily="18" charset="0"/>
              </a:rPr>
              <a:t>Based on CCS</a:t>
            </a:r>
          </a:p>
        </p:txBody>
      </p:sp>
      <p:sp>
        <p:nvSpPr>
          <p:cNvPr id="25" name="Shape 22"/>
          <p:cNvSpPr/>
          <p:nvPr/>
        </p:nvSpPr>
        <p:spPr>
          <a:xfrm>
            <a:off x="952500" y="5602605"/>
            <a:ext cx="6858000" cy="9525"/>
          </a:xfrm>
          <a:prstGeom prst="rect">
            <a:avLst/>
          </a:prstGeom>
          <a:solidFill>
            <a:srgbClr val="1D1F20">
              <a:alpha val="16000"/>
            </a:srgbClr>
          </a:solidFill>
          <a:ln/>
        </p:spPr>
      </p:sp>
      <p:sp>
        <p:nvSpPr>
          <p:cNvPr id="26" name="Text 23"/>
          <p:cNvSpPr/>
          <p:nvPr/>
        </p:nvSpPr>
        <p:spPr>
          <a:xfrm>
            <a:off x="952500" y="5059680"/>
            <a:ext cx="675894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5D5D60"/>
                </a:solidFill>
                <a:latin typeface="Times New Roman" panose="02020603050405020304" pitchFamily="18" charset="0"/>
                <a:ea typeface="Arial" pitchFamily="34" charset="-122"/>
                <a:cs typeface="Times New Roman" panose="02020603050405020304" pitchFamily="18" charset="0"/>
              </a:rPr>
              <a:t>Name-level risk list</a:t>
            </a:r>
            <a:endParaRPr lang="en-US" sz="2250" dirty="0">
              <a:latin typeface="Times New Roman" panose="02020603050405020304" pitchFamily="18" charset="0"/>
              <a:cs typeface="Times New Roman" panose="02020603050405020304" pitchFamily="18" charset="0"/>
            </a:endParaRPr>
          </a:p>
        </p:txBody>
      </p:sp>
      <p:sp>
        <p:nvSpPr>
          <p:cNvPr id="27" name="Shape 24"/>
          <p:cNvSpPr/>
          <p:nvPr/>
        </p:nvSpPr>
        <p:spPr>
          <a:xfrm>
            <a:off x="7810500" y="5602605"/>
            <a:ext cx="9525000" cy="9525"/>
          </a:xfrm>
          <a:prstGeom prst="rect">
            <a:avLst/>
          </a:prstGeom>
          <a:solidFill>
            <a:srgbClr val="1D1F20">
              <a:alpha val="16000"/>
            </a:srgbClr>
          </a:solidFill>
          <a:ln/>
        </p:spPr>
      </p:sp>
      <p:sp>
        <p:nvSpPr>
          <p:cNvPr id="28" name="Text 25"/>
          <p:cNvSpPr/>
          <p:nvPr/>
        </p:nvSpPr>
        <p:spPr>
          <a:xfrm>
            <a:off x="7810500" y="5059680"/>
            <a:ext cx="981075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Self-correcting memory of (case, wrong holding) pairs</a:t>
            </a:r>
            <a:endParaRPr lang="en-US" sz="2250" dirty="0">
              <a:latin typeface="Times New Roman" panose="02020603050405020304" pitchFamily="18" charset="0"/>
              <a:cs typeface="Times New Roman" panose="02020603050405020304" pitchFamily="18" charset="0"/>
            </a:endParaRPr>
          </a:p>
        </p:txBody>
      </p:sp>
      <p:sp>
        <p:nvSpPr>
          <p:cNvPr id="29" name="Shape 26"/>
          <p:cNvSpPr/>
          <p:nvPr/>
        </p:nvSpPr>
        <p:spPr>
          <a:xfrm>
            <a:off x="952500" y="6322060"/>
            <a:ext cx="6858000" cy="9525"/>
          </a:xfrm>
          <a:prstGeom prst="rect">
            <a:avLst/>
          </a:prstGeom>
          <a:solidFill>
            <a:srgbClr val="1D1F20">
              <a:alpha val="16000"/>
            </a:srgbClr>
          </a:solidFill>
          <a:ln/>
        </p:spPr>
      </p:sp>
      <p:sp>
        <p:nvSpPr>
          <p:cNvPr id="30" name="Text 27"/>
          <p:cNvSpPr/>
          <p:nvPr/>
        </p:nvSpPr>
        <p:spPr>
          <a:xfrm>
            <a:off x="952500" y="5779135"/>
            <a:ext cx="675894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5D5D60"/>
                </a:solidFill>
                <a:latin typeface="Times New Roman" panose="02020603050405020304" pitchFamily="18" charset="0"/>
                <a:ea typeface="Arial" pitchFamily="34" charset="-122"/>
                <a:cs typeface="Times New Roman" panose="02020603050405020304" pitchFamily="18" charset="0"/>
              </a:rPr>
              <a:t>End-to-end RAGAS only</a:t>
            </a:r>
            <a:endParaRPr lang="en-US" sz="2250" dirty="0">
              <a:latin typeface="Times New Roman" panose="02020603050405020304" pitchFamily="18" charset="0"/>
              <a:cs typeface="Times New Roman" panose="02020603050405020304" pitchFamily="18" charset="0"/>
            </a:endParaRPr>
          </a:p>
        </p:txBody>
      </p:sp>
      <p:sp>
        <p:nvSpPr>
          <p:cNvPr id="31" name="Shape 28"/>
          <p:cNvSpPr/>
          <p:nvPr/>
        </p:nvSpPr>
        <p:spPr>
          <a:xfrm>
            <a:off x="7810500" y="6322060"/>
            <a:ext cx="9525000" cy="9525"/>
          </a:xfrm>
          <a:prstGeom prst="rect">
            <a:avLst/>
          </a:prstGeom>
          <a:solidFill>
            <a:srgbClr val="1D1F20">
              <a:alpha val="16000"/>
            </a:srgbClr>
          </a:solidFill>
          <a:ln/>
        </p:spPr>
      </p:sp>
      <p:sp>
        <p:nvSpPr>
          <p:cNvPr id="32" name="Text 29"/>
          <p:cNvSpPr/>
          <p:nvPr/>
        </p:nvSpPr>
        <p:spPr>
          <a:xfrm>
            <a:off x="7810500" y="5779135"/>
            <a:ext cx="9810750" cy="409575"/>
          </a:xfrm>
          <a:prstGeom prst="rect">
            <a:avLst/>
          </a:prstGeom>
          <a:noFill/>
          <a:ln/>
        </p:spPr>
        <p:txBody>
          <a:bodyPr wrap="square" lIns="25400" tIns="25400" rIns="25400" bIns="25400" rtlCol="0" anchor="t">
            <a:normAutofit lnSpcReduction="10000"/>
          </a:bodyPr>
          <a:lstStyle/>
          <a:p>
            <a:pPr marL="0" indent="0" algn="just">
              <a:lnSpc>
                <a:spcPct val="116071"/>
              </a:lnSpc>
              <a:buNone/>
            </a:pPr>
            <a:r>
              <a:rPr lang="en-US" sz="2250" dirty="0">
                <a:solidFill>
                  <a:srgbClr val="1D1F20"/>
                </a:solidFill>
                <a:latin typeface="Times New Roman" panose="02020603050405020304" pitchFamily="18" charset="0"/>
                <a:ea typeface="Arial" pitchFamily="34" charset="-122"/>
                <a:cs typeface="Times New Roman" panose="02020603050405020304" pitchFamily="18" charset="0"/>
              </a:rPr>
              <a:t>40-citation stress test and four-variant ablation study</a:t>
            </a:r>
            <a:endParaRPr lang="en-US" sz="225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6F80CB8E-3F2D-BD91-209C-4186F5B8AF4D}"/>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12</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9118394"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a:t>
            </a:r>
            <a:endParaRPr lang="en-US" sz="4800" dirty="0">
              <a:latin typeface="Times New Roman" panose="02020603050405020304" pitchFamily="18" charset="0"/>
            </a:endParaRPr>
          </a:p>
        </p:txBody>
      </p:sp>
      <p:sp>
        <p:nvSpPr>
          <p:cNvPr id="3" name="Text 1"/>
          <p:cNvSpPr/>
          <p:nvPr/>
        </p:nvSpPr>
        <p:spPr>
          <a:xfrm>
            <a:off x="952500" y="1554480"/>
            <a:ext cx="9118394"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System Architecture</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2500" y="2228850"/>
            <a:ext cx="16383000" cy="6286500"/>
          </a:xfrm>
          <a:prstGeom prst="rect">
            <a:avLst/>
          </a:prstGeom>
        </p:spPr>
      </p:pic>
      <p:sp>
        <p:nvSpPr>
          <p:cNvPr id="6" name="Shape 2"/>
          <p:cNvSpPr/>
          <p:nvPr/>
        </p:nvSpPr>
        <p:spPr>
          <a:xfrm>
            <a:off x="3238500" y="2228850"/>
            <a:ext cx="4381500" cy="1143000"/>
          </a:xfrm>
          <a:prstGeom prst="rect">
            <a:avLst/>
          </a:prstGeom>
          <a:solidFill>
            <a:srgbClr val="FDE8CB"/>
          </a:solidFill>
          <a:ln w="10160">
            <a:solidFill>
              <a:srgbClr val="A97416"/>
            </a:solidFill>
            <a:prstDash val="solid"/>
          </a:ln>
        </p:spPr>
      </p:sp>
      <p:sp>
        <p:nvSpPr>
          <p:cNvPr id="7" name="Text 3"/>
          <p:cNvSpPr/>
          <p:nvPr/>
        </p:nvSpPr>
        <p:spPr>
          <a:xfrm>
            <a:off x="3439160" y="2337435"/>
            <a:ext cx="4378198" cy="358140"/>
          </a:xfrm>
          <a:prstGeom prst="rect">
            <a:avLst/>
          </a:prstGeom>
          <a:noFill/>
          <a:ln/>
        </p:spPr>
        <p:txBody>
          <a:bodyPr wrap="square" lIns="25400" tIns="25400" rIns="25400" bIns="25400" rtlCol="0" anchor="t">
            <a:normAutofit lnSpcReduction="10000"/>
          </a:bodyPr>
          <a:lstStyle/>
          <a:p>
            <a:pPr marL="0" indent="0" algn="just">
              <a:lnSpc>
                <a:spcPct val="92647"/>
              </a:lnSpc>
              <a:buNone/>
            </a:pPr>
            <a:r>
              <a:rPr lang="en-US" sz="2400" b="1" dirty="0">
                <a:solidFill>
                  <a:srgbClr val="633600"/>
                </a:solidFill>
                <a:latin typeface="Times New Roman" panose="02020603050405020304" pitchFamily="18" charset="0"/>
                <a:ea typeface="Arial" pitchFamily="34" charset="-122"/>
                <a:cs typeface="Arial" pitchFamily="34" charset="-120"/>
              </a:rPr>
              <a:t>Memory store</a:t>
            </a:r>
            <a:endParaRPr lang="en-US" sz="2400" dirty="0">
              <a:latin typeface="Times New Roman" panose="02020603050405020304" pitchFamily="18" charset="0"/>
            </a:endParaRPr>
          </a:p>
        </p:txBody>
      </p:sp>
      <p:sp>
        <p:nvSpPr>
          <p:cNvPr id="8" name="Text 4"/>
          <p:cNvSpPr/>
          <p:nvPr/>
        </p:nvSpPr>
        <p:spPr>
          <a:xfrm>
            <a:off x="3439160" y="2714625"/>
            <a:ext cx="4099585"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Verdict cache (similarity &gt; 0.92) · citation-risk index</a:t>
            </a:r>
            <a:endParaRPr lang="en-US" sz="1800" dirty="0">
              <a:latin typeface="Times New Roman" panose="02020603050405020304" pitchFamily="18" charset="0"/>
            </a:endParaRPr>
          </a:p>
        </p:txBody>
      </p:sp>
      <p:sp>
        <p:nvSpPr>
          <p:cNvPr id="9" name="Shape 5"/>
          <p:cNvSpPr/>
          <p:nvPr/>
        </p:nvSpPr>
        <p:spPr>
          <a:xfrm>
            <a:off x="952500" y="4229100"/>
            <a:ext cx="1619250" cy="1428750"/>
          </a:xfrm>
          <a:prstGeom prst="rect">
            <a:avLst/>
          </a:prstGeom>
          <a:solidFill>
            <a:srgbClr val="D5EEFF"/>
          </a:solidFill>
          <a:ln w="10160">
            <a:solidFill>
              <a:srgbClr val="4284C5"/>
            </a:solidFill>
            <a:prstDash val="solid"/>
          </a:ln>
        </p:spPr>
      </p:sp>
      <p:sp>
        <p:nvSpPr>
          <p:cNvPr id="10" name="Text 6"/>
          <p:cNvSpPr/>
          <p:nvPr/>
        </p:nvSpPr>
        <p:spPr>
          <a:xfrm>
            <a:off x="1153160" y="4480560"/>
            <a:ext cx="1339723" cy="358140"/>
          </a:xfrm>
          <a:prstGeom prst="rect">
            <a:avLst/>
          </a:prstGeom>
          <a:noFill/>
          <a:ln/>
        </p:spPr>
        <p:txBody>
          <a:bodyPr wrap="square" lIns="25400" tIns="25400" rIns="25400" bIns="25400" rtlCol="0" anchor="t">
            <a:normAutofit fontScale="85000" lnSpcReduction="10000"/>
          </a:bodyPr>
          <a:lstStyle/>
          <a:p>
            <a:pPr marL="0" indent="0" algn="just">
              <a:lnSpc>
                <a:spcPct val="92647"/>
              </a:lnSpc>
              <a:buNone/>
            </a:pPr>
            <a:r>
              <a:rPr lang="en-US" sz="2400" b="1" dirty="0">
                <a:solidFill>
                  <a:srgbClr val="00447A"/>
                </a:solidFill>
                <a:latin typeface="Times New Roman" panose="02020603050405020304" pitchFamily="18" charset="0"/>
                <a:ea typeface="Arial" pitchFamily="34" charset="-122"/>
                <a:cs typeface="Arial" pitchFamily="34" charset="-120"/>
              </a:rPr>
              <a:t>User query</a:t>
            </a:r>
            <a:endParaRPr lang="en-US" sz="2400" dirty="0">
              <a:latin typeface="Times New Roman" panose="02020603050405020304" pitchFamily="18" charset="0"/>
            </a:endParaRPr>
          </a:p>
        </p:txBody>
      </p:sp>
      <p:sp>
        <p:nvSpPr>
          <p:cNvPr id="11" name="Text 7"/>
          <p:cNvSpPr/>
          <p:nvPr/>
        </p:nvSpPr>
        <p:spPr>
          <a:xfrm>
            <a:off x="1153160" y="4857750"/>
            <a:ext cx="129413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Legal question</a:t>
            </a:r>
            <a:endParaRPr lang="en-US" sz="1800" dirty="0">
              <a:latin typeface="Times New Roman" panose="02020603050405020304" pitchFamily="18" charset="0"/>
            </a:endParaRPr>
          </a:p>
        </p:txBody>
      </p:sp>
      <p:sp>
        <p:nvSpPr>
          <p:cNvPr id="12" name="Shape 8"/>
          <p:cNvSpPr/>
          <p:nvPr/>
        </p:nvSpPr>
        <p:spPr>
          <a:xfrm>
            <a:off x="3238500" y="4229100"/>
            <a:ext cx="1905000" cy="1428750"/>
          </a:xfrm>
          <a:prstGeom prst="rect">
            <a:avLst/>
          </a:prstGeom>
          <a:solidFill>
            <a:srgbClr val="FDE8CB"/>
          </a:solidFill>
          <a:ln w="10160">
            <a:solidFill>
              <a:srgbClr val="A97416"/>
            </a:solidFill>
            <a:prstDash val="solid"/>
          </a:ln>
        </p:spPr>
      </p:sp>
      <p:sp>
        <p:nvSpPr>
          <p:cNvPr id="13" name="Text 9"/>
          <p:cNvSpPr/>
          <p:nvPr/>
        </p:nvSpPr>
        <p:spPr>
          <a:xfrm>
            <a:off x="3439160" y="4320540"/>
            <a:ext cx="1579880" cy="678180"/>
          </a:xfrm>
          <a:prstGeom prst="rect">
            <a:avLst/>
          </a:prstGeom>
          <a:noFill/>
          <a:ln/>
        </p:spPr>
        <p:txBody>
          <a:bodyPr wrap="square" lIns="25400" tIns="25400" rIns="25400" bIns="25400" rtlCol="0" anchor="t">
            <a:normAutofit lnSpcReduction="10000"/>
          </a:bodyPr>
          <a:lstStyle/>
          <a:p>
            <a:pPr marL="0" indent="0" algn="just">
              <a:lnSpc>
                <a:spcPct val="92647"/>
              </a:lnSpc>
              <a:buNone/>
            </a:pPr>
            <a:r>
              <a:rPr lang="en-US" sz="2400" b="1" dirty="0">
                <a:solidFill>
                  <a:srgbClr val="633600"/>
                </a:solidFill>
                <a:latin typeface="Times New Roman" panose="02020603050405020304" pitchFamily="18" charset="0"/>
                <a:ea typeface="Arial" pitchFamily="34" charset="-122"/>
                <a:cs typeface="Arial" pitchFamily="34" charset="-120"/>
              </a:rPr>
              <a:t>Memory check</a:t>
            </a:r>
            <a:endParaRPr lang="en-US" sz="2400" dirty="0">
              <a:latin typeface="Times New Roman" panose="02020603050405020304" pitchFamily="18" charset="0"/>
            </a:endParaRPr>
          </a:p>
        </p:txBody>
      </p:sp>
      <p:sp>
        <p:nvSpPr>
          <p:cNvPr id="14" name="Text 10"/>
          <p:cNvSpPr/>
          <p:nvPr/>
        </p:nvSpPr>
        <p:spPr>
          <a:xfrm>
            <a:off x="3439160" y="5017770"/>
            <a:ext cx="15798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Cache hit returns early</a:t>
            </a:r>
            <a:endParaRPr lang="en-US" sz="1800" dirty="0">
              <a:latin typeface="Times New Roman" panose="02020603050405020304" pitchFamily="18" charset="0"/>
            </a:endParaRPr>
          </a:p>
        </p:txBody>
      </p:sp>
      <p:sp>
        <p:nvSpPr>
          <p:cNvPr id="15" name="Shape 11"/>
          <p:cNvSpPr/>
          <p:nvPr/>
        </p:nvSpPr>
        <p:spPr>
          <a:xfrm>
            <a:off x="5810250" y="4229100"/>
            <a:ext cx="2190750" cy="1428750"/>
          </a:xfrm>
          <a:prstGeom prst="rect">
            <a:avLst/>
          </a:prstGeom>
          <a:solidFill>
            <a:srgbClr val="CAF5F2"/>
          </a:solidFill>
          <a:ln w="10160">
            <a:solidFill>
              <a:srgbClr val="009690"/>
            </a:solidFill>
            <a:prstDash val="solid"/>
          </a:ln>
        </p:spPr>
      </p:sp>
      <p:sp>
        <p:nvSpPr>
          <p:cNvPr id="16" name="Text 12"/>
          <p:cNvSpPr/>
          <p:nvPr/>
        </p:nvSpPr>
        <p:spPr>
          <a:xfrm>
            <a:off x="6010910" y="4480560"/>
            <a:ext cx="1968373" cy="358140"/>
          </a:xfrm>
          <a:prstGeom prst="rect">
            <a:avLst/>
          </a:prstGeom>
          <a:noFill/>
          <a:ln/>
        </p:spPr>
        <p:txBody>
          <a:bodyPr wrap="square" lIns="25400" tIns="25400" rIns="25400" bIns="25400" rtlCol="0" anchor="t">
            <a:normAutofit fontScale="85000" lnSpcReduction="10000"/>
          </a:bodyPr>
          <a:lstStyle/>
          <a:p>
            <a:pPr marL="0" indent="0" algn="just">
              <a:lnSpc>
                <a:spcPct val="92647"/>
              </a:lnSpc>
              <a:buNone/>
            </a:pPr>
            <a:r>
              <a:rPr lang="en-US" sz="2400" b="1" dirty="0">
                <a:solidFill>
                  <a:srgbClr val="00534F"/>
                </a:solidFill>
                <a:latin typeface="Times New Roman" panose="02020603050405020304" pitchFamily="18" charset="0"/>
                <a:ea typeface="Arial" pitchFamily="34" charset="-122"/>
                <a:cs typeface="Arial" pitchFamily="34" charset="-120"/>
              </a:rPr>
              <a:t>Hybrid retriever</a:t>
            </a:r>
            <a:endParaRPr lang="en-US" sz="2400" dirty="0">
              <a:latin typeface="Times New Roman" panose="02020603050405020304" pitchFamily="18" charset="0"/>
            </a:endParaRPr>
          </a:p>
        </p:txBody>
      </p:sp>
      <p:sp>
        <p:nvSpPr>
          <p:cNvPr id="17" name="Text 13"/>
          <p:cNvSpPr/>
          <p:nvPr/>
        </p:nvSpPr>
        <p:spPr>
          <a:xfrm>
            <a:off x="6010910" y="4857750"/>
            <a:ext cx="186563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BM25 + Legal-BERT → RRF</a:t>
            </a:r>
            <a:endParaRPr lang="en-US" sz="1800" dirty="0">
              <a:latin typeface="Times New Roman" panose="02020603050405020304" pitchFamily="18" charset="0"/>
            </a:endParaRPr>
          </a:p>
        </p:txBody>
      </p:sp>
      <p:sp>
        <p:nvSpPr>
          <p:cNvPr id="18" name="Shape 14"/>
          <p:cNvSpPr/>
          <p:nvPr/>
        </p:nvSpPr>
        <p:spPr>
          <a:xfrm>
            <a:off x="8667750" y="4229100"/>
            <a:ext cx="3429000" cy="1428750"/>
          </a:xfrm>
          <a:prstGeom prst="rect">
            <a:avLst/>
          </a:prstGeom>
          <a:solidFill>
            <a:srgbClr val="EFE5FF"/>
          </a:solidFill>
          <a:ln w="10160">
            <a:solidFill>
              <a:srgbClr val="8C6EBD"/>
            </a:solidFill>
            <a:prstDash val="solid"/>
          </a:ln>
        </p:spPr>
      </p:sp>
      <p:sp>
        <p:nvSpPr>
          <p:cNvPr id="19" name="Text 15"/>
          <p:cNvSpPr/>
          <p:nvPr/>
        </p:nvSpPr>
        <p:spPr>
          <a:xfrm>
            <a:off x="8811260" y="4353560"/>
            <a:ext cx="3456178" cy="392430"/>
          </a:xfrm>
          <a:prstGeom prst="rect">
            <a:avLst/>
          </a:prstGeom>
          <a:noFill/>
          <a:ln/>
        </p:spPr>
        <p:txBody>
          <a:bodyPr wrap="square" lIns="25400" tIns="25400" rIns="25400" bIns="25400" rtlCol="0" anchor="t">
            <a:normAutofit fontScale="77500" lnSpcReduction="20000"/>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DEBATE ENGINE · MISTRAL-7B</a:t>
            </a:r>
            <a:endParaRPr lang="en-US" sz="1800" dirty="0">
              <a:latin typeface="Times New Roman" panose="02020603050405020304" pitchFamily="18" charset="0"/>
            </a:endParaRPr>
          </a:p>
        </p:txBody>
      </p:sp>
      <p:sp>
        <p:nvSpPr>
          <p:cNvPr id="20" name="Shape 16"/>
          <p:cNvSpPr/>
          <p:nvPr/>
        </p:nvSpPr>
        <p:spPr>
          <a:xfrm>
            <a:off x="8811260" y="4803140"/>
            <a:ext cx="1399540" cy="730250"/>
          </a:xfrm>
          <a:prstGeom prst="rect">
            <a:avLst/>
          </a:prstGeom>
          <a:solidFill>
            <a:srgbClr val="FFEEEB"/>
          </a:solidFill>
          <a:ln w="10160">
            <a:solidFill>
              <a:srgbClr val="BD615B"/>
            </a:solidFill>
            <a:prstDash val="solid"/>
          </a:ln>
        </p:spPr>
      </p:sp>
      <p:sp>
        <p:nvSpPr>
          <p:cNvPr id="21" name="Text 17"/>
          <p:cNvSpPr/>
          <p:nvPr/>
        </p:nvSpPr>
        <p:spPr>
          <a:xfrm>
            <a:off x="8935720" y="4961573"/>
            <a:ext cx="1226820" cy="451485"/>
          </a:xfrm>
          <a:prstGeom prst="rect">
            <a:avLst/>
          </a:prstGeom>
          <a:noFill/>
          <a:ln/>
        </p:spPr>
        <p:txBody>
          <a:bodyPr wrap="square" lIns="25400" tIns="25400" rIns="25400" bIns="25400" rtlCol="0" anchor="t">
            <a:normAutofit fontScale="92500"/>
          </a:bodyPr>
          <a:lstStyle/>
          <a:p>
            <a:pPr marL="0" indent="0" algn="just">
              <a:lnSpc>
                <a:spcPct val="135625"/>
              </a:lnSpc>
              <a:buNone/>
            </a:pPr>
            <a:r>
              <a:rPr lang="en-US" sz="2100" b="1" dirty="0">
                <a:solidFill>
                  <a:srgbClr val="862726"/>
                </a:solidFill>
                <a:latin typeface="Times New Roman" panose="02020603050405020304" pitchFamily="18" charset="0"/>
                <a:ea typeface="Arial" pitchFamily="34" charset="-122"/>
                <a:cs typeface="Arial" pitchFamily="34" charset="-120"/>
              </a:rPr>
              <a:t>Prosecutor</a:t>
            </a:r>
            <a:endParaRPr lang="en-US" sz="2100" dirty="0">
              <a:latin typeface="Times New Roman" panose="02020603050405020304" pitchFamily="18" charset="0"/>
            </a:endParaRPr>
          </a:p>
        </p:txBody>
      </p:sp>
      <p:sp>
        <p:nvSpPr>
          <p:cNvPr id="22" name="Text 18"/>
          <p:cNvSpPr/>
          <p:nvPr/>
        </p:nvSpPr>
        <p:spPr>
          <a:xfrm>
            <a:off x="10172700" y="4803140"/>
            <a:ext cx="419100" cy="768350"/>
          </a:xfrm>
          <a:prstGeom prst="rect">
            <a:avLst/>
          </a:prstGeom>
          <a:noFill/>
          <a:ln/>
        </p:spPr>
        <p:txBody>
          <a:bodyPr wrap="square" lIns="25400" tIns="25400" rIns="25400" bIns="25400" rtlCol="0" anchor="ctr">
            <a:normAutofit/>
          </a:bodyPr>
          <a:lstStyle/>
          <a:p>
            <a:pPr marL="0" indent="0" algn="just">
              <a:lnSpc>
                <a:spcPct val="138393"/>
              </a:lnSpc>
              <a:buNone/>
            </a:pPr>
            <a:r>
              <a:rPr lang="en-US" sz="2250" dirty="0">
                <a:solidFill>
                  <a:srgbClr val="5980A6"/>
                </a:solidFill>
                <a:latin typeface="Times New Roman" panose="02020603050405020304" pitchFamily="18" charset="0"/>
                <a:ea typeface="Arial" pitchFamily="34" charset="-122"/>
                <a:cs typeface="Arial" pitchFamily="34" charset="-120"/>
              </a:rPr>
              <a:t>⇄</a:t>
            </a:r>
            <a:endParaRPr lang="en-US" sz="2250" dirty="0">
              <a:latin typeface="Times New Roman" panose="02020603050405020304" pitchFamily="18" charset="0"/>
            </a:endParaRPr>
          </a:p>
        </p:txBody>
      </p:sp>
      <p:sp>
        <p:nvSpPr>
          <p:cNvPr id="23" name="Shape 19"/>
          <p:cNvSpPr/>
          <p:nvPr/>
        </p:nvSpPr>
        <p:spPr>
          <a:xfrm>
            <a:off x="10553700" y="4803140"/>
            <a:ext cx="1399540" cy="730250"/>
          </a:xfrm>
          <a:prstGeom prst="rect">
            <a:avLst/>
          </a:prstGeom>
          <a:solidFill>
            <a:srgbClr val="E7F7FF"/>
          </a:solidFill>
          <a:ln w="10160">
            <a:solidFill>
              <a:srgbClr val="4284C5"/>
            </a:solidFill>
            <a:prstDash val="solid"/>
          </a:ln>
        </p:spPr>
      </p:sp>
      <p:sp>
        <p:nvSpPr>
          <p:cNvPr id="24" name="Text 20"/>
          <p:cNvSpPr/>
          <p:nvPr/>
        </p:nvSpPr>
        <p:spPr>
          <a:xfrm>
            <a:off x="10678160" y="4961573"/>
            <a:ext cx="1226820" cy="451485"/>
          </a:xfrm>
          <a:prstGeom prst="rect">
            <a:avLst/>
          </a:prstGeom>
          <a:noFill/>
          <a:ln/>
        </p:spPr>
        <p:txBody>
          <a:bodyPr wrap="square" lIns="25400" tIns="25400" rIns="25400" bIns="25400" rtlCol="0" anchor="t">
            <a:normAutofit/>
          </a:bodyPr>
          <a:lstStyle/>
          <a:p>
            <a:pPr marL="0" indent="0" algn="just">
              <a:lnSpc>
                <a:spcPct val="135625"/>
              </a:lnSpc>
              <a:buNone/>
            </a:pPr>
            <a:r>
              <a:rPr lang="en-US" sz="2100" b="1" dirty="0">
                <a:solidFill>
                  <a:srgbClr val="004E90"/>
                </a:solidFill>
                <a:latin typeface="Times New Roman" panose="02020603050405020304" pitchFamily="18" charset="0"/>
                <a:ea typeface="Arial" pitchFamily="34" charset="-122"/>
                <a:cs typeface="Arial" pitchFamily="34" charset="-120"/>
              </a:rPr>
              <a:t>Defense</a:t>
            </a:r>
            <a:endParaRPr lang="en-US" sz="2100" dirty="0">
              <a:latin typeface="Times New Roman" panose="02020603050405020304" pitchFamily="18" charset="0"/>
            </a:endParaRPr>
          </a:p>
        </p:txBody>
      </p:sp>
      <p:sp>
        <p:nvSpPr>
          <p:cNvPr id="25" name="Shape 21"/>
          <p:cNvSpPr/>
          <p:nvPr/>
        </p:nvSpPr>
        <p:spPr>
          <a:xfrm>
            <a:off x="12763500" y="4229100"/>
            <a:ext cx="2095500" cy="1428750"/>
          </a:xfrm>
          <a:prstGeom prst="rect">
            <a:avLst/>
          </a:prstGeom>
          <a:solidFill>
            <a:srgbClr val="D9F4D9"/>
          </a:solidFill>
          <a:ln w="10160">
            <a:solidFill>
              <a:srgbClr val="4D9351"/>
            </a:solidFill>
            <a:prstDash val="solid"/>
          </a:ln>
        </p:spPr>
      </p:sp>
      <p:sp>
        <p:nvSpPr>
          <p:cNvPr id="26" name="Text 22"/>
          <p:cNvSpPr/>
          <p:nvPr/>
        </p:nvSpPr>
        <p:spPr>
          <a:xfrm>
            <a:off x="12964160" y="4480560"/>
            <a:ext cx="1863598" cy="358140"/>
          </a:xfrm>
          <a:prstGeom prst="rect">
            <a:avLst/>
          </a:prstGeom>
          <a:noFill/>
          <a:ln/>
        </p:spPr>
        <p:txBody>
          <a:bodyPr wrap="square" lIns="25400" tIns="25400" rIns="25400" bIns="25400" rtlCol="0" anchor="t">
            <a:normAutofit fontScale="85000" lnSpcReduction="10000"/>
          </a:bodyPr>
          <a:lstStyle/>
          <a:p>
            <a:pPr marL="0" indent="0" algn="just">
              <a:lnSpc>
                <a:spcPct val="92647"/>
              </a:lnSpc>
              <a:buNone/>
            </a:pPr>
            <a:r>
              <a:rPr lang="en-US" sz="2400" b="1" dirty="0">
                <a:solidFill>
                  <a:srgbClr val="0D5117"/>
                </a:solidFill>
                <a:latin typeface="Times New Roman" panose="02020603050405020304" pitchFamily="18" charset="0"/>
                <a:ea typeface="Arial" pitchFamily="34" charset="-122"/>
                <a:cs typeface="Arial" pitchFamily="34" charset="-120"/>
              </a:rPr>
              <a:t>Citation verifier</a:t>
            </a:r>
            <a:endParaRPr lang="en-US" sz="2400" dirty="0">
              <a:latin typeface="Times New Roman" panose="02020603050405020304" pitchFamily="18" charset="0"/>
            </a:endParaRPr>
          </a:p>
        </p:txBody>
      </p:sp>
      <p:sp>
        <p:nvSpPr>
          <p:cNvPr id="27" name="Text 23"/>
          <p:cNvSpPr/>
          <p:nvPr/>
        </p:nvSpPr>
        <p:spPr>
          <a:xfrm>
            <a:off x="12964160" y="4857750"/>
            <a:ext cx="17703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CCS = E × S · 5 verdicts</a:t>
            </a:r>
            <a:endParaRPr lang="en-US" sz="1800" dirty="0">
              <a:latin typeface="Times New Roman" panose="02020603050405020304" pitchFamily="18" charset="0"/>
            </a:endParaRPr>
          </a:p>
        </p:txBody>
      </p:sp>
      <p:sp>
        <p:nvSpPr>
          <p:cNvPr id="28" name="Shape 24"/>
          <p:cNvSpPr/>
          <p:nvPr/>
        </p:nvSpPr>
        <p:spPr>
          <a:xfrm>
            <a:off x="15525750" y="4229100"/>
            <a:ext cx="1809750" cy="1428750"/>
          </a:xfrm>
          <a:prstGeom prst="rect">
            <a:avLst/>
          </a:prstGeom>
          <a:solidFill>
            <a:srgbClr val="472C6D"/>
          </a:solidFill>
          <a:ln/>
        </p:spPr>
      </p:sp>
      <p:sp>
        <p:nvSpPr>
          <p:cNvPr id="29" name="Text 25"/>
          <p:cNvSpPr/>
          <p:nvPr/>
        </p:nvSpPr>
        <p:spPr>
          <a:xfrm>
            <a:off x="15716250" y="4617720"/>
            <a:ext cx="1571625" cy="358140"/>
          </a:xfrm>
          <a:prstGeom prst="rect">
            <a:avLst/>
          </a:prstGeom>
          <a:noFill/>
          <a:ln/>
        </p:spPr>
        <p:txBody>
          <a:bodyPr wrap="square" lIns="25400" tIns="25400" rIns="25400" bIns="25400" rtlCol="0" anchor="t">
            <a:normAutofit lnSpcReduction="10000"/>
          </a:bodyPr>
          <a:lstStyle/>
          <a:p>
            <a:pPr marL="0" indent="0" algn="just">
              <a:lnSpc>
                <a:spcPct val="92647"/>
              </a:lnSpc>
              <a:buNone/>
            </a:pPr>
            <a:r>
              <a:rPr lang="en-US" sz="2400" b="1" dirty="0">
                <a:solidFill>
                  <a:srgbClr val="F2F2F3"/>
                </a:solidFill>
                <a:latin typeface="Times New Roman" panose="02020603050405020304" pitchFamily="18" charset="0"/>
                <a:ea typeface="Arial" pitchFamily="34" charset="-122"/>
                <a:cs typeface="Arial" pitchFamily="34" charset="-120"/>
              </a:rPr>
              <a:t>Judge</a:t>
            </a:r>
            <a:endParaRPr lang="en-US" sz="2400" dirty="0">
              <a:latin typeface="Times New Roman" panose="02020603050405020304" pitchFamily="18" charset="0"/>
            </a:endParaRPr>
          </a:p>
        </p:txBody>
      </p:sp>
      <p:sp>
        <p:nvSpPr>
          <p:cNvPr id="30" name="Text 26"/>
          <p:cNvSpPr/>
          <p:nvPr/>
        </p:nvSpPr>
        <p:spPr>
          <a:xfrm>
            <a:off x="15716250" y="4994910"/>
            <a:ext cx="1571625"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E2D9F5"/>
                </a:solidFill>
                <a:latin typeface="Times New Roman" panose="02020603050405020304" pitchFamily="18" charset="0"/>
                <a:ea typeface="Arial" pitchFamily="34" charset="-122"/>
                <a:cs typeface="Arial" pitchFamily="34" charset="-120"/>
              </a:rPr>
              <a:t>Final answer</a:t>
            </a:r>
            <a:endParaRPr lang="en-US" sz="1800" dirty="0">
              <a:latin typeface="Times New Roman" panose="02020603050405020304" pitchFamily="18" charset="0"/>
            </a:endParaRPr>
          </a:p>
        </p:txBody>
      </p:sp>
      <p:sp>
        <p:nvSpPr>
          <p:cNvPr id="31" name="Shape 27"/>
          <p:cNvSpPr/>
          <p:nvPr/>
        </p:nvSpPr>
        <p:spPr>
          <a:xfrm>
            <a:off x="4191000" y="6800850"/>
            <a:ext cx="3048000" cy="1524000"/>
          </a:xfrm>
          <a:prstGeom prst="rect">
            <a:avLst/>
          </a:prstGeom>
          <a:solidFill>
            <a:srgbClr val="CAF5F2"/>
          </a:solidFill>
          <a:ln w="10160">
            <a:solidFill>
              <a:srgbClr val="009690"/>
            </a:solidFill>
            <a:prstDash val="solid"/>
          </a:ln>
        </p:spPr>
      </p:sp>
      <p:sp>
        <p:nvSpPr>
          <p:cNvPr id="32" name="Text 28"/>
          <p:cNvSpPr/>
          <p:nvPr/>
        </p:nvSpPr>
        <p:spPr>
          <a:xfrm>
            <a:off x="4391660" y="7099935"/>
            <a:ext cx="2911348" cy="358140"/>
          </a:xfrm>
          <a:prstGeom prst="rect">
            <a:avLst/>
          </a:prstGeom>
          <a:noFill/>
          <a:ln/>
        </p:spPr>
        <p:txBody>
          <a:bodyPr wrap="square" lIns="25400" tIns="25400" rIns="25400" bIns="25400" rtlCol="0" anchor="t">
            <a:normAutofit lnSpcReduction="10000"/>
          </a:bodyPr>
          <a:lstStyle/>
          <a:p>
            <a:pPr marL="0" indent="0" algn="just">
              <a:lnSpc>
                <a:spcPct val="92647"/>
              </a:lnSpc>
              <a:buNone/>
            </a:pPr>
            <a:r>
              <a:rPr lang="en-US" sz="2400" b="1" dirty="0">
                <a:solidFill>
                  <a:srgbClr val="00534F"/>
                </a:solidFill>
                <a:latin typeface="Times New Roman" panose="02020603050405020304" pitchFamily="18" charset="0"/>
                <a:ea typeface="Arial" pitchFamily="34" charset="-122"/>
                <a:cs typeface="Arial" pitchFamily="34" charset="-120"/>
              </a:rPr>
              <a:t>Knowledge base</a:t>
            </a:r>
            <a:endParaRPr lang="en-US" sz="2400" dirty="0">
              <a:latin typeface="Times New Roman" panose="02020603050405020304" pitchFamily="18" charset="0"/>
            </a:endParaRPr>
          </a:p>
        </p:txBody>
      </p:sp>
      <p:sp>
        <p:nvSpPr>
          <p:cNvPr id="33" name="Text 29"/>
          <p:cNvSpPr/>
          <p:nvPr/>
        </p:nvSpPr>
        <p:spPr>
          <a:xfrm>
            <a:off x="4391660" y="7477125"/>
            <a:ext cx="27260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CAP opinions · ChromaDB · BM25 index · case catalog</a:t>
            </a:r>
            <a:endParaRPr lang="en-US" sz="1800" dirty="0">
              <a:latin typeface="Times New Roman" panose="02020603050405020304" pitchFamily="18" charset="0"/>
            </a:endParaRPr>
          </a:p>
        </p:txBody>
      </p:sp>
      <p:sp>
        <p:nvSpPr>
          <p:cNvPr id="34" name="Shape 30"/>
          <p:cNvSpPr/>
          <p:nvPr/>
        </p:nvSpPr>
        <p:spPr>
          <a:xfrm>
            <a:off x="9334500" y="6800850"/>
            <a:ext cx="4953000" cy="1524000"/>
          </a:xfrm>
          <a:prstGeom prst="rect">
            <a:avLst/>
          </a:prstGeom>
          <a:solidFill>
            <a:srgbClr val="FFE1DA"/>
          </a:solidFill>
          <a:ln w="10160">
            <a:solidFill>
              <a:srgbClr val="BD6254"/>
            </a:solidFill>
            <a:prstDash val="solid"/>
          </a:ln>
        </p:spPr>
      </p:sp>
      <p:sp>
        <p:nvSpPr>
          <p:cNvPr id="35" name="Text 31"/>
          <p:cNvSpPr/>
          <p:nvPr/>
        </p:nvSpPr>
        <p:spPr>
          <a:xfrm>
            <a:off x="9535160" y="7099935"/>
            <a:ext cx="5006848" cy="358140"/>
          </a:xfrm>
          <a:prstGeom prst="rect">
            <a:avLst/>
          </a:prstGeom>
          <a:noFill/>
          <a:ln/>
        </p:spPr>
        <p:txBody>
          <a:bodyPr wrap="square" lIns="25400" tIns="25400" rIns="25400" bIns="25400" rtlCol="0" anchor="t">
            <a:normAutofit lnSpcReduction="10000"/>
          </a:bodyPr>
          <a:lstStyle/>
          <a:p>
            <a:pPr marL="0" indent="0" algn="just">
              <a:lnSpc>
                <a:spcPct val="92647"/>
              </a:lnSpc>
              <a:buNone/>
            </a:pPr>
            <a:r>
              <a:rPr lang="en-US" sz="2400" b="1" dirty="0">
                <a:solidFill>
                  <a:srgbClr val="72251C"/>
                </a:solidFill>
                <a:latin typeface="Times New Roman" panose="02020603050405020304" pitchFamily="18" charset="0"/>
                <a:ea typeface="Arial" pitchFamily="34" charset="-122"/>
                <a:cs typeface="Arial" pitchFamily="34" charset="-120"/>
              </a:rPr>
              <a:t>Reflection → Debate controller</a:t>
            </a:r>
            <a:endParaRPr lang="en-US" sz="2400" dirty="0">
              <a:latin typeface="Times New Roman" panose="02020603050405020304" pitchFamily="18" charset="0"/>
            </a:endParaRPr>
          </a:p>
        </p:txBody>
      </p:sp>
      <p:sp>
        <p:nvSpPr>
          <p:cNvPr id="36" name="Text 32"/>
          <p:cNvSpPr/>
          <p:nvPr/>
        </p:nvSpPr>
        <p:spPr>
          <a:xfrm>
            <a:off x="9535160" y="7477125"/>
            <a:ext cx="468823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Gaps + new queries · stop on concession or after 2 rounds</a:t>
            </a:r>
            <a:endParaRPr lang="en-US" sz="1800" dirty="0">
              <a:latin typeface="Times New Roman" panose="02020603050405020304" pitchFamily="18" charset="0"/>
            </a:endParaRPr>
          </a:p>
        </p:txBody>
      </p:sp>
      <p:sp>
        <p:nvSpPr>
          <p:cNvPr id="37" name="Shape 33"/>
          <p:cNvSpPr/>
          <p:nvPr/>
        </p:nvSpPr>
        <p:spPr>
          <a:xfrm>
            <a:off x="5160804" y="4432935"/>
            <a:ext cx="632143" cy="354330"/>
          </a:xfrm>
          <a:prstGeom prst="rect">
            <a:avLst/>
          </a:prstGeom>
          <a:solidFill>
            <a:srgbClr val="F2F2F3"/>
          </a:solidFill>
          <a:ln/>
        </p:spPr>
      </p:sp>
      <p:sp>
        <p:nvSpPr>
          <p:cNvPr id="38" name="Text 34"/>
          <p:cNvSpPr/>
          <p:nvPr/>
        </p:nvSpPr>
        <p:spPr>
          <a:xfrm>
            <a:off x="5256054" y="4432935"/>
            <a:ext cx="504857"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Miss</a:t>
            </a:r>
            <a:endParaRPr lang="en-US" sz="1800" dirty="0">
              <a:latin typeface="Times New Roman" panose="02020603050405020304" pitchFamily="18" charset="0"/>
            </a:endParaRPr>
          </a:p>
        </p:txBody>
      </p:sp>
      <p:sp>
        <p:nvSpPr>
          <p:cNvPr id="39" name="Shape 35"/>
          <p:cNvSpPr/>
          <p:nvPr/>
        </p:nvSpPr>
        <p:spPr>
          <a:xfrm>
            <a:off x="10561161" y="2623185"/>
            <a:ext cx="2880677" cy="354330"/>
          </a:xfrm>
          <a:prstGeom prst="rect">
            <a:avLst/>
          </a:prstGeom>
          <a:solidFill>
            <a:srgbClr val="F2F2F3"/>
          </a:solidFill>
          <a:ln/>
        </p:spPr>
      </p:sp>
      <p:sp>
        <p:nvSpPr>
          <p:cNvPr id="40" name="Text 36"/>
          <p:cNvSpPr/>
          <p:nvPr/>
        </p:nvSpPr>
        <p:spPr>
          <a:xfrm>
            <a:off x="10656411" y="2623185"/>
            <a:ext cx="2978245"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Store verdict + citation risk</a:t>
            </a:r>
            <a:endParaRPr lang="en-US" sz="1800" dirty="0">
              <a:latin typeface="Times New Roman" panose="02020603050405020304" pitchFamily="18" charset="0"/>
            </a:endParaRPr>
          </a:p>
        </p:txBody>
      </p:sp>
      <p:sp>
        <p:nvSpPr>
          <p:cNvPr id="41" name="Shape 37"/>
          <p:cNvSpPr/>
          <p:nvPr/>
        </p:nvSpPr>
        <p:spPr>
          <a:xfrm>
            <a:off x="4386739" y="3623310"/>
            <a:ext cx="942181" cy="354330"/>
          </a:xfrm>
          <a:prstGeom prst="rect">
            <a:avLst/>
          </a:prstGeom>
          <a:solidFill>
            <a:srgbClr val="F2F2F3"/>
          </a:solidFill>
          <a:ln/>
        </p:spPr>
      </p:sp>
      <p:sp>
        <p:nvSpPr>
          <p:cNvPr id="42" name="Text 38"/>
          <p:cNvSpPr/>
          <p:nvPr/>
        </p:nvSpPr>
        <p:spPr>
          <a:xfrm>
            <a:off x="4481989" y="3623310"/>
            <a:ext cx="845899"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Lookup</a:t>
            </a:r>
            <a:endParaRPr lang="en-US" sz="1800" dirty="0">
              <a:latin typeface="Times New Roman" panose="02020603050405020304" pitchFamily="18" charset="0"/>
            </a:endParaRPr>
          </a:p>
        </p:txBody>
      </p:sp>
      <p:sp>
        <p:nvSpPr>
          <p:cNvPr id="43" name="Shape 39"/>
          <p:cNvSpPr/>
          <p:nvPr/>
        </p:nvSpPr>
        <p:spPr>
          <a:xfrm>
            <a:off x="7931468" y="7385685"/>
            <a:ext cx="1091724" cy="354330"/>
          </a:xfrm>
          <a:prstGeom prst="rect">
            <a:avLst/>
          </a:prstGeom>
          <a:solidFill>
            <a:srgbClr val="F2F2F3"/>
          </a:solidFill>
          <a:ln/>
        </p:spPr>
      </p:sp>
      <p:sp>
        <p:nvSpPr>
          <p:cNvPr id="44" name="Text 40"/>
          <p:cNvSpPr/>
          <p:nvPr/>
        </p:nvSpPr>
        <p:spPr>
          <a:xfrm>
            <a:off x="8026718" y="7385685"/>
            <a:ext cx="1010396"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Continue</a:t>
            </a:r>
            <a:endParaRPr lang="en-US" sz="1800" dirty="0">
              <a:latin typeface="Times New Roman" panose="02020603050405020304" pitchFamily="18" charset="0"/>
            </a:endParaRPr>
          </a:p>
        </p:txBody>
      </p:sp>
      <p:sp>
        <p:nvSpPr>
          <p:cNvPr id="45" name="Shape 41"/>
          <p:cNvSpPr/>
          <p:nvPr/>
        </p:nvSpPr>
        <p:spPr>
          <a:xfrm>
            <a:off x="14733588" y="7385685"/>
            <a:ext cx="1203484" cy="354330"/>
          </a:xfrm>
          <a:prstGeom prst="rect">
            <a:avLst/>
          </a:prstGeom>
          <a:solidFill>
            <a:srgbClr val="F2F2F3"/>
          </a:solidFill>
          <a:ln/>
        </p:spPr>
      </p:sp>
      <p:sp>
        <p:nvSpPr>
          <p:cNvPr id="46" name="Text 42"/>
          <p:cNvSpPr/>
          <p:nvPr/>
        </p:nvSpPr>
        <p:spPr>
          <a:xfrm>
            <a:off x="14828838" y="7385685"/>
            <a:ext cx="1133332"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Terminate</a:t>
            </a:r>
            <a:endParaRPr lang="en-US" sz="1800" dirty="0">
              <a:latin typeface="Times New Roman" panose="02020603050405020304" pitchFamily="18" charset="0"/>
            </a:endParaRPr>
          </a:p>
        </p:txBody>
      </p:sp>
      <p:sp>
        <p:nvSpPr>
          <p:cNvPr id="47" name="Shape 43"/>
          <p:cNvSpPr/>
          <p:nvPr/>
        </p:nvSpPr>
        <p:spPr>
          <a:xfrm>
            <a:off x="13172123" y="6052185"/>
            <a:ext cx="1278414" cy="354330"/>
          </a:xfrm>
          <a:prstGeom prst="rect">
            <a:avLst/>
          </a:prstGeom>
          <a:solidFill>
            <a:srgbClr val="F2F2F3"/>
          </a:solidFill>
          <a:ln/>
        </p:spPr>
      </p:sp>
      <p:sp>
        <p:nvSpPr>
          <p:cNvPr id="48" name="Text 44"/>
          <p:cNvSpPr/>
          <p:nvPr/>
        </p:nvSpPr>
        <p:spPr>
          <a:xfrm>
            <a:off x="13267373" y="6052185"/>
            <a:ext cx="1215755" cy="392430"/>
          </a:xfrm>
          <a:prstGeom prst="rect">
            <a:avLst/>
          </a:prstGeom>
          <a:noFill/>
          <a:ln/>
        </p:spPr>
        <p:txBody>
          <a:bodyPr wrap="non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CCS report</a:t>
            </a:r>
            <a:endParaRPr lang="en-US" sz="1800" dirty="0">
              <a:latin typeface="Times New Roman" panose="02020603050405020304" pitchFamily="18" charset="0"/>
            </a:endParaRPr>
          </a:p>
        </p:txBody>
      </p:sp>
      <p:sp>
        <p:nvSpPr>
          <p:cNvPr id="49" name="Text 45"/>
          <p:cNvSpPr/>
          <p:nvPr/>
        </p:nvSpPr>
        <p:spPr>
          <a:xfrm>
            <a:off x="952500" y="9551670"/>
            <a:ext cx="180213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Orchestrated as a LangGraph state machine. All agents share one 4-bit Mistral-7B on a single T4 GPU.</a:t>
            </a:r>
            <a:endParaRPr lang="en-US" sz="1800" dirty="0">
              <a:latin typeface="Times New Roman" panose="02020603050405020304" pitchFamily="18" charset="0"/>
            </a:endParaRPr>
          </a:p>
        </p:txBody>
      </p:sp>
      <p:sp>
        <p:nvSpPr>
          <p:cNvPr id="51" name="TextBox 50">
            <a:extLst>
              <a:ext uri="{FF2B5EF4-FFF2-40B4-BE49-F238E27FC236}">
                <a16:creationId xmlns:a16="http://schemas.microsoft.com/office/drawing/2014/main" id="{E767B836-7A95-A47C-E1CE-B9DE122FC855}"/>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13</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System Components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228850"/>
            <a:ext cx="2095500" cy="10160"/>
          </a:xfrm>
          <a:prstGeom prst="rect">
            <a:avLst/>
          </a:prstGeom>
          <a:solidFill>
            <a:srgbClr val="1D1F20"/>
          </a:solidFill>
          <a:ln/>
        </p:spPr>
      </p:sp>
      <p:sp>
        <p:nvSpPr>
          <p:cNvPr id="6" name="Text 3"/>
          <p:cNvSpPr/>
          <p:nvPr/>
        </p:nvSpPr>
        <p:spPr>
          <a:xfrm>
            <a:off x="952500" y="2239010"/>
            <a:ext cx="2171700" cy="1319530"/>
          </a:xfrm>
          <a:prstGeom prst="rect">
            <a:avLst/>
          </a:prstGeom>
          <a:noFill/>
          <a:ln/>
        </p:spPr>
        <p:txBody>
          <a:bodyPr wrap="square" lIns="25400" tIns="25400" rIns="25400" bIns="25400" rtlCol="0" anchor="ctr">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Arial" pitchFamily="34" charset="-120"/>
              </a:rPr>
              <a:t>DATA</a:t>
            </a:r>
            <a:endParaRPr lang="en-US" sz="1950" dirty="0">
              <a:latin typeface="Times New Roman" panose="02020603050405020304" pitchFamily="18" charset="0"/>
            </a:endParaRPr>
          </a:p>
        </p:txBody>
      </p:sp>
      <p:sp>
        <p:nvSpPr>
          <p:cNvPr id="7" name="Shape 4"/>
          <p:cNvSpPr/>
          <p:nvPr/>
        </p:nvSpPr>
        <p:spPr>
          <a:xfrm>
            <a:off x="3276600" y="2228850"/>
            <a:ext cx="3343275" cy="1291590"/>
          </a:xfrm>
          <a:prstGeom prst="rect">
            <a:avLst/>
          </a:prstGeom>
          <a:solidFill>
            <a:srgbClr val="CAF5F2"/>
          </a:solidFill>
          <a:ln w="10160">
            <a:solidFill>
              <a:srgbClr val="009690"/>
            </a:solidFill>
            <a:prstDash val="solid"/>
          </a:ln>
        </p:spPr>
      </p:sp>
      <p:sp>
        <p:nvSpPr>
          <p:cNvPr id="8" name="Text 5"/>
          <p:cNvSpPr/>
          <p:nvPr/>
        </p:nvSpPr>
        <p:spPr>
          <a:xfrm>
            <a:off x="3515360" y="256127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CAP case opinions</a:t>
            </a:r>
            <a:endParaRPr lang="en-US" sz="2250" dirty="0">
              <a:latin typeface="Times New Roman" panose="02020603050405020304" pitchFamily="18" charset="0"/>
            </a:endParaRPr>
          </a:p>
        </p:txBody>
      </p:sp>
      <p:sp>
        <p:nvSpPr>
          <p:cNvPr id="9" name="Text 6"/>
          <p:cNvSpPr/>
          <p:nvPr/>
        </p:nvSpPr>
        <p:spPr>
          <a:xfrm>
            <a:off x="3515360" y="291369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27 U.S. Reports volumes</a:t>
            </a:r>
            <a:endParaRPr lang="en-US" sz="1800" dirty="0">
              <a:latin typeface="Times New Roman" panose="02020603050405020304" pitchFamily="18" charset="0"/>
            </a:endParaRPr>
          </a:p>
        </p:txBody>
      </p:sp>
      <p:sp>
        <p:nvSpPr>
          <p:cNvPr id="10" name="Shape 7"/>
          <p:cNvSpPr/>
          <p:nvPr/>
        </p:nvSpPr>
        <p:spPr>
          <a:xfrm>
            <a:off x="6848475" y="2228850"/>
            <a:ext cx="3343275" cy="1291590"/>
          </a:xfrm>
          <a:prstGeom prst="rect">
            <a:avLst/>
          </a:prstGeom>
          <a:solidFill>
            <a:srgbClr val="CAF5F2"/>
          </a:solidFill>
          <a:ln w="10160">
            <a:solidFill>
              <a:srgbClr val="009690"/>
            </a:solidFill>
            <a:prstDash val="solid"/>
          </a:ln>
        </p:spPr>
      </p:sp>
      <p:sp>
        <p:nvSpPr>
          <p:cNvPr id="11" name="Text 8"/>
          <p:cNvSpPr/>
          <p:nvPr/>
        </p:nvSpPr>
        <p:spPr>
          <a:xfrm>
            <a:off x="7087235" y="256127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Case catalog</a:t>
            </a:r>
            <a:endParaRPr lang="en-US" sz="2250" dirty="0">
              <a:latin typeface="Times New Roman" panose="02020603050405020304" pitchFamily="18" charset="0"/>
            </a:endParaRPr>
          </a:p>
        </p:txBody>
      </p:sp>
      <p:sp>
        <p:nvSpPr>
          <p:cNvPr id="12" name="Text 9"/>
          <p:cNvSpPr/>
          <p:nvPr/>
        </p:nvSpPr>
        <p:spPr>
          <a:xfrm>
            <a:off x="7087235" y="291369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14,524 name / reporter keys</a:t>
            </a:r>
            <a:endParaRPr lang="en-US" sz="1800" dirty="0">
              <a:latin typeface="Times New Roman" panose="02020603050405020304" pitchFamily="18" charset="0"/>
            </a:endParaRPr>
          </a:p>
        </p:txBody>
      </p:sp>
      <p:sp>
        <p:nvSpPr>
          <p:cNvPr id="13" name="Shape 10"/>
          <p:cNvSpPr/>
          <p:nvPr/>
        </p:nvSpPr>
        <p:spPr>
          <a:xfrm>
            <a:off x="10420350" y="2228850"/>
            <a:ext cx="3343275" cy="1291590"/>
          </a:xfrm>
          <a:prstGeom prst="rect">
            <a:avLst/>
          </a:prstGeom>
          <a:solidFill>
            <a:srgbClr val="CAF5F2"/>
          </a:solidFill>
          <a:ln w="10160">
            <a:solidFill>
              <a:srgbClr val="009690"/>
            </a:solidFill>
            <a:prstDash val="solid"/>
          </a:ln>
        </p:spPr>
      </p:sp>
      <p:sp>
        <p:nvSpPr>
          <p:cNvPr id="14" name="Text 11"/>
          <p:cNvSpPr/>
          <p:nvPr/>
        </p:nvSpPr>
        <p:spPr>
          <a:xfrm>
            <a:off x="10659110" y="256127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Passage store</a:t>
            </a:r>
            <a:endParaRPr lang="en-US" sz="2250" dirty="0">
              <a:latin typeface="Times New Roman" panose="02020603050405020304" pitchFamily="18" charset="0"/>
            </a:endParaRPr>
          </a:p>
        </p:txBody>
      </p:sp>
      <p:sp>
        <p:nvSpPr>
          <p:cNvPr id="15" name="Text 12"/>
          <p:cNvSpPr/>
          <p:nvPr/>
        </p:nvSpPr>
        <p:spPr>
          <a:xfrm>
            <a:off x="10659110" y="291369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450-word chunks + metadata</a:t>
            </a:r>
            <a:endParaRPr lang="en-US" sz="1800" dirty="0">
              <a:latin typeface="Times New Roman" panose="02020603050405020304" pitchFamily="18" charset="0"/>
            </a:endParaRPr>
          </a:p>
        </p:txBody>
      </p:sp>
      <p:sp>
        <p:nvSpPr>
          <p:cNvPr id="16" name="Shape 13"/>
          <p:cNvSpPr/>
          <p:nvPr/>
        </p:nvSpPr>
        <p:spPr>
          <a:xfrm>
            <a:off x="13992225" y="2228850"/>
            <a:ext cx="3343275" cy="1291590"/>
          </a:xfrm>
          <a:prstGeom prst="rect">
            <a:avLst/>
          </a:prstGeom>
          <a:solidFill>
            <a:srgbClr val="FDE8CB"/>
          </a:solidFill>
          <a:ln w="10160">
            <a:solidFill>
              <a:srgbClr val="A97416"/>
            </a:solidFill>
            <a:prstDash val="solid"/>
          </a:ln>
        </p:spPr>
      </p:sp>
      <p:sp>
        <p:nvSpPr>
          <p:cNvPr id="17" name="Text 14"/>
          <p:cNvSpPr/>
          <p:nvPr/>
        </p:nvSpPr>
        <p:spPr>
          <a:xfrm>
            <a:off x="14230985" y="256127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633600"/>
                </a:solidFill>
                <a:latin typeface="Times New Roman" panose="02020603050405020304" pitchFamily="18" charset="0"/>
                <a:ea typeface="Arial" pitchFamily="34" charset="-122"/>
                <a:cs typeface="Arial" pitchFamily="34" charset="-120"/>
              </a:rPr>
              <a:t>Memory store</a:t>
            </a:r>
            <a:endParaRPr lang="en-US" sz="2250" dirty="0">
              <a:latin typeface="Times New Roman" panose="02020603050405020304" pitchFamily="18" charset="0"/>
            </a:endParaRPr>
          </a:p>
        </p:txBody>
      </p:sp>
      <p:sp>
        <p:nvSpPr>
          <p:cNvPr id="18" name="Text 15"/>
          <p:cNvSpPr/>
          <p:nvPr/>
        </p:nvSpPr>
        <p:spPr>
          <a:xfrm>
            <a:off x="14230985" y="291369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Verdict cache + risk index</a:t>
            </a:r>
            <a:endParaRPr lang="en-US" sz="1800" dirty="0">
              <a:latin typeface="Times New Roman" panose="02020603050405020304" pitchFamily="18" charset="0"/>
            </a:endParaRPr>
          </a:p>
        </p:txBody>
      </p:sp>
      <p:sp>
        <p:nvSpPr>
          <p:cNvPr id="19" name="Shape 16"/>
          <p:cNvSpPr/>
          <p:nvPr/>
        </p:nvSpPr>
        <p:spPr>
          <a:xfrm>
            <a:off x="952500" y="3653790"/>
            <a:ext cx="2095500" cy="10160"/>
          </a:xfrm>
          <a:prstGeom prst="rect">
            <a:avLst/>
          </a:prstGeom>
          <a:solidFill>
            <a:srgbClr val="1D1F20"/>
          </a:solidFill>
          <a:ln/>
        </p:spPr>
      </p:sp>
      <p:sp>
        <p:nvSpPr>
          <p:cNvPr id="20" name="Text 17"/>
          <p:cNvSpPr/>
          <p:nvPr/>
        </p:nvSpPr>
        <p:spPr>
          <a:xfrm>
            <a:off x="952500" y="3663950"/>
            <a:ext cx="2171700" cy="1319530"/>
          </a:xfrm>
          <a:prstGeom prst="rect">
            <a:avLst/>
          </a:prstGeom>
          <a:noFill/>
          <a:ln/>
        </p:spPr>
        <p:txBody>
          <a:bodyPr wrap="square" lIns="25400" tIns="25400" rIns="25400" bIns="25400" rtlCol="0" anchor="ctr">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Arial" pitchFamily="34" charset="-120"/>
              </a:rPr>
              <a:t>RETRIEVAL</a:t>
            </a:r>
            <a:endParaRPr lang="en-US" sz="1950" dirty="0">
              <a:latin typeface="Times New Roman" panose="02020603050405020304" pitchFamily="18" charset="0"/>
            </a:endParaRPr>
          </a:p>
        </p:txBody>
      </p:sp>
      <p:sp>
        <p:nvSpPr>
          <p:cNvPr id="21" name="Shape 18"/>
          <p:cNvSpPr/>
          <p:nvPr/>
        </p:nvSpPr>
        <p:spPr>
          <a:xfrm>
            <a:off x="3276600" y="3653790"/>
            <a:ext cx="3343275" cy="1291590"/>
          </a:xfrm>
          <a:prstGeom prst="rect">
            <a:avLst/>
          </a:prstGeom>
          <a:solidFill>
            <a:srgbClr val="CAF5F2"/>
          </a:solidFill>
          <a:ln w="10160">
            <a:solidFill>
              <a:srgbClr val="009690"/>
            </a:solidFill>
            <a:prstDash val="solid"/>
          </a:ln>
        </p:spPr>
      </p:sp>
      <p:sp>
        <p:nvSpPr>
          <p:cNvPr id="22" name="Text 19"/>
          <p:cNvSpPr/>
          <p:nvPr/>
        </p:nvSpPr>
        <p:spPr>
          <a:xfrm>
            <a:off x="3515360" y="398621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BM25 lexical</a:t>
            </a:r>
            <a:endParaRPr lang="en-US" sz="2250" dirty="0">
              <a:latin typeface="Times New Roman" panose="02020603050405020304" pitchFamily="18" charset="0"/>
            </a:endParaRPr>
          </a:p>
        </p:txBody>
      </p:sp>
      <p:sp>
        <p:nvSpPr>
          <p:cNvPr id="23" name="Text 20"/>
          <p:cNvSpPr/>
          <p:nvPr/>
        </p:nvSpPr>
        <p:spPr>
          <a:xfrm>
            <a:off x="3515360" y="433863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Names + terms · top 4</a:t>
            </a:r>
            <a:endParaRPr lang="en-US" sz="1800" dirty="0">
              <a:latin typeface="Times New Roman" panose="02020603050405020304" pitchFamily="18" charset="0"/>
            </a:endParaRPr>
          </a:p>
        </p:txBody>
      </p:sp>
      <p:sp>
        <p:nvSpPr>
          <p:cNvPr id="24" name="Shape 21"/>
          <p:cNvSpPr/>
          <p:nvPr/>
        </p:nvSpPr>
        <p:spPr>
          <a:xfrm>
            <a:off x="6848475" y="3653790"/>
            <a:ext cx="3343275" cy="1291590"/>
          </a:xfrm>
          <a:prstGeom prst="rect">
            <a:avLst/>
          </a:prstGeom>
          <a:solidFill>
            <a:srgbClr val="CAF5F2"/>
          </a:solidFill>
          <a:ln w="10160">
            <a:solidFill>
              <a:srgbClr val="009690"/>
            </a:solidFill>
            <a:prstDash val="solid"/>
          </a:ln>
        </p:spPr>
      </p:sp>
      <p:sp>
        <p:nvSpPr>
          <p:cNvPr id="25" name="Text 22"/>
          <p:cNvSpPr/>
          <p:nvPr/>
        </p:nvSpPr>
        <p:spPr>
          <a:xfrm>
            <a:off x="7087235" y="398621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Legal-BERT dense</a:t>
            </a:r>
            <a:endParaRPr lang="en-US" sz="2250" dirty="0">
              <a:latin typeface="Times New Roman" panose="02020603050405020304" pitchFamily="18" charset="0"/>
            </a:endParaRPr>
          </a:p>
        </p:txBody>
      </p:sp>
      <p:sp>
        <p:nvSpPr>
          <p:cNvPr id="26" name="Text 23"/>
          <p:cNvSpPr/>
          <p:nvPr/>
        </p:nvSpPr>
        <p:spPr>
          <a:xfrm>
            <a:off x="7087235" y="433863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ChromaDB · top 4</a:t>
            </a:r>
            <a:endParaRPr lang="en-US" sz="1800" dirty="0">
              <a:latin typeface="Times New Roman" panose="02020603050405020304" pitchFamily="18" charset="0"/>
            </a:endParaRPr>
          </a:p>
        </p:txBody>
      </p:sp>
      <p:sp>
        <p:nvSpPr>
          <p:cNvPr id="27" name="Shape 24"/>
          <p:cNvSpPr/>
          <p:nvPr/>
        </p:nvSpPr>
        <p:spPr>
          <a:xfrm>
            <a:off x="10420350" y="3653790"/>
            <a:ext cx="3343275" cy="1291590"/>
          </a:xfrm>
          <a:prstGeom prst="rect">
            <a:avLst/>
          </a:prstGeom>
          <a:solidFill>
            <a:srgbClr val="CAF5F2"/>
          </a:solidFill>
          <a:ln w="10160">
            <a:solidFill>
              <a:srgbClr val="009690"/>
            </a:solidFill>
            <a:prstDash val="solid"/>
          </a:ln>
        </p:spPr>
      </p:sp>
      <p:sp>
        <p:nvSpPr>
          <p:cNvPr id="28" name="Text 25"/>
          <p:cNvSpPr/>
          <p:nvPr/>
        </p:nvSpPr>
        <p:spPr>
          <a:xfrm>
            <a:off x="10659110" y="398621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RRF fusion</a:t>
            </a:r>
            <a:endParaRPr lang="en-US" sz="2250" dirty="0">
              <a:latin typeface="Times New Roman" panose="02020603050405020304" pitchFamily="18" charset="0"/>
            </a:endParaRPr>
          </a:p>
        </p:txBody>
      </p:sp>
      <p:sp>
        <p:nvSpPr>
          <p:cNvPr id="29" name="Text 26"/>
          <p:cNvSpPr/>
          <p:nvPr/>
        </p:nvSpPr>
        <p:spPr>
          <a:xfrm>
            <a:off x="10659110" y="433863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k = 60 · ≤ 8 passages</a:t>
            </a:r>
            <a:endParaRPr lang="en-US" sz="1800" dirty="0">
              <a:latin typeface="Times New Roman" panose="02020603050405020304" pitchFamily="18" charset="0"/>
            </a:endParaRPr>
          </a:p>
        </p:txBody>
      </p:sp>
      <p:sp>
        <p:nvSpPr>
          <p:cNvPr id="30" name="Shape 27"/>
          <p:cNvSpPr/>
          <p:nvPr/>
        </p:nvSpPr>
        <p:spPr>
          <a:xfrm>
            <a:off x="13992225" y="3653790"/>
            <a:ext cx="3343275" cy="1291590"/>
          </a:xfrm>
          <a:prstGeom prst="rect">
            <a:avLst/>
          </a:prstGeom>
          <a:solidFill>
            <a:srgbClr val="CAF5F2"/>
          </a:solidFill>
          <a:ln w="10160">
            <a:solidFill>
              <a:srgbClr val="009690"/>
            </a:solidFill>
            <a:prstDash val="solid"/>
          </a:ln>
        </p:spPr>
      </p:sp>
      <p:sp>
        <p:nvSpPr>
          <p:cNvPr id="31" name="Text 28"/>
          <p:cNvSpPr/>
          <p:nvPr/>
        </p:nvSpPr>
        <p:spPr>
          <a:xfrm>
            <a:off x="14230985" y="398621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Defense counter-retrieval</a:t>
            </a:r>
            <a:endParaRPr lang="en-US" sz="2250" dirty="0">
              <a:latin typeface="Times New Roman" panose="02020603050405020304" pitchFamily="18" charset="0"/>
            </a:endParaRPr>
          </a:p>
        </p:txBody>
      </p:sp>
      <p:sp>
        <p:nvSpPr>
          <p:cNvPr id="32" name="Text 29"/>
          <p:cNvSpPr/>
          <p:nvPr/>
        </p:nvSpPr>
        <p:spPr>
          <a:xfrm>
            <a:off x="14230985" y="433863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Prosecutor docs excluded</a:t>
            </a:r>
            <a:endParaRPr lang="en-US" sz="1800" dirty="0">
              <a:latin typeface="Times New Roman" panose="02020603050405020304" pitchFamily="18" charset="0"/>
            </a:endParaRPr>
          </a:p>
        </p:txBody>
      </p:sp>
      <p:sp>
        <p:nvSpPr>
          <p:cNvPr id="33" name="Shape 30"/>
          <p:cNvSpPr/>
          <p:nvPr/>
        </p:nvSpPr>
        <p:spPr>
          <a:xfrm>
            <a:off x="952500" y="5078730"/>
            <a:ext cx="2095500" cy="10160"/>
          </a:xfrm>
          <a:prstGeom prst="rect">
            <a:avLst/>
          </a:prstGeom>
          <a:solidFill>
            <a:srgbClr val="1D1F20"/>
          </a:solidFill>
          <a:ln/>
        </p:spPr>
      </p:sp>
      <p:sp>
        <p:nvSpPr>
          <p:cNvPr id="34" name="Text 31"/>
          <p:cNvSpPr/>
          <p:nvPr/>
        </p:nvSpPr>
        <p:spPr>
          <a:xfrm>
            <a:off x="952500" y="5088890"/>
            <a:ext cx="2171700" cy="1319530"/>
          </a:xfrm>
          <a:prstGeom prst="rect">
            <a:avLst/>
          </a:prstGeom>
          <a:noFill/>
          <a:ln/>
        </p:spPr>
        <p:txBody>
          <a:bodyPr wrap="square" lIns="25400" tIns="25400" rIns="25400" bIns="25400" rtlCol="0" anchor="ctr">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Arial" pitchFamily="34" charset="-120"/>
              </a:rPr>
              <a:t>AGENTS</a:t>
            </a:r>
            <a:endParaRPr lang="en-US" sz="1950" dirty="0">
              <a:latin typeface="Times New Roman" panose="02020603050405020304" pitchFamily="18" charset="0"/>
            </a:endParaRPr>
          </a:p>
        </p:txBody>
      </p:sp>
      <p:sp>
        <p:nvSpPr>
          <p:cNvPr id="35" name="Shape 32"/>
          <p:cNvSpPr/>
          <p:nvPr/>
        </p:nvSpPr>
        <p:spPr>
          <a:xfrm>
            <a:off x="3276600" y="5078730"/>
            <a:ext cx="3343275" cy="1291590"/>
          </a:xfrm>
          <a:prstGeom prst="rect">
            <a:avLst/>
          </a:prstGeom>
          <a:solidFill>
            <a:srgbClr val="FFE0DC"/>
          </a:solidFill>
          <a:ln w="10160">
            <a:solidFill>
              <a:srgbClr val="BD615B"/>
            </a:solidFill>
            <a:prstDash val="solid"/>
          </a:ln>
        </p:spPr>
      </p:sp>
      <p:sp>
        <p:nvSpPr>
          <p:cNvPr id="36" name="Text 33"/>
          <p:cNvSpPr/>
          <p:nvPr/>
        </p:nvSpPr>
        <p:spPr>
          <a:xfrm>
            <a:off x="3515360" y="541115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722423"/>
                </a:solidFill>
                <a:latin typeface="Times New Roman" panose="02020603050405020304" pitchFamily="18" charset="0"/>
                <a:ea typeface="Arial" pitchFamily="34" charset="-122"/>
                <a:cs typeface="Arial" pitchFamily="34" charset="-120"/>
              </a:rPr>
              <a:t>Prosecutor</a:t>
            </a:r>
            <a:endParaRPr lang="en-US" sz="2250" dirty="0">
              <a:latin typeface="Times New Roman" panose="02020603050405020304" pitchFamily="18" charset="0"/>
            </a:endParaRPr>
          </a:p>
        </p:txBody>
      </p:sp>
      <p:sp>
        <p:nvSpPr>
          <p:cNvPr id="37" name="Text 34"/>
          <p:cNvSpPr/>
          <p:nvPr/>
        </p:nvSpPr>
        <p:spPr>
          <a:xfrm>
            <a:off x="3515360" y="576357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Argument + citations</a:t>
            </a:r>
            <a:endParaRPr lang="en-US" sz="1800" dirty="0">
              <a:latin typeface="Times New Roman" panose="02020603050405020304" pitchFamily="18" charset="0"/>
            </a:endParaRPr>
          </a:p>
        </p:txBody>
      </p:sp>
      <p:sp>
        <p:nvSpPr>
          <p:cNvPr id="38" name="Shape 35"/>
          <p:cNvSpPr/>
          <p:nvPr/>
        </p:nvSpPr>
        <p:spPr>
          <a:xfrm>
            <a:off x="6848475" y="5078730"/>
            <a:ext cx="3343275" cy="1291590"/>
          </a:xfrm>
          <a:prstGeom prst="rect">
            <a:avLst/>
          </a:prstGeom>
          <a:solidFill>
            <a:srgbClr val="D5EEFF"/>
          </a:solidFill>
          <a:ln w="10160">
            <a:solidFill>
              <a:srgbClr val="4284C5"/>
            </a:solidFill>
            <a:prstDash val="solid"/>
          </a:ln>
        </p:spPr>
      </p:sp>
      <p:sp>
        <p:nvSpPr>
          <p:cNvPr id="39" name="Text 36"/>
          <p:cNvSpPr/>
          <p:nvPr/>
        </p:nvSpPr>
        <p:spPr>
          <a:xfrm>
            <a:off x="7087235" y="541115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447A"/>
                </a:solidFill>
                <a:latin typeface="Times New Roman" panose="02020603050405020304" pitchFamily="18" charset="0"/>
                <a:ea typeface="Arial" pitchFamily="34" charset="-122"/>
                <a:cs typeface="Arial" pitchFamily="34" charset="-120"/>
              </a:rPr>
              <a:t>Defense</a:t>
            </a:r>
            <a:endParaRPr lang="en-US" sz="2250" dirty="0">
              <a:latin typeface="Times New Roman" panose="02020603050405020304" pitchFamily="18" charset="0"/>
            </a:endParaRPr>
          </a:p>
        </p:txBody>
      </p:sp>
      <p:sp>
        <p:nvSpPr>
          <p:cNvPr id="40" name="Text 37"/>
          <p:cNvSpPr/>
          <p:nvPr/>
        </p:nvSpPr>
        <p:spPr>
          <a:xfrm>
            <a:off x="7087235" y="576357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Challenges + concession</a:t>
            </a:r>
            <a:endParaRPr lang="en-US" sz="1800" dirty="0">
              <a:latin typeface="Times New Roman" panose="02020603050405020304" pitchFamily="18" charset="0"/>
            </a:endParaRPr>
          </a:p>
        </p:txBody>
      </p:sp>
      <p:sp>
        <p:nvSpPr>
          <p:cNvPr id="41" name="Shape 38"/>
          <p:cNvSpPr/>
          <p:nvPr/>
        </p:nvSpPr>
        <p:spPr>
          <a:xfrm>
            <a:off x="10420350" y="5078730"/>
            <a:ext cx="3343275" cy="1291590"/>
          </a:xfrm>
          <a:prstGeom prst="rect">
            <a:avLst/>
          </a:prstGeom>
          <a:solidFill>
            <a:srgbClr val="FFE1DA"/>
          </a:solidFill>
          <a:ln w="10160">
            <a:solidFill>
              <a:srgbClr val="BD6254"/>
            </a:solidFill>
            <a:prstDash val="solid"/>
          </a:ln>
        </p:spPr>
      </p:sp>
      <p:sp>
        <p:nvSpPr>
          <p:cNvPr id="42" name="Text 39"/>
          <p:cNvSpPr/>
          <p:nvPr/>
        </p:nvSpPr>
        <p:spPr>
          <a:xfrm>
            <a:off x="10659110" y="541115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72251C"/>
                </a:solidFill>
                <a:latin typeface="Times New Roman" panose="02020603050405020304" pitchFamily="18" charset="0"/>
                <a:ea typeface="Arial" pitchFamily="34" charset="-122"/>
                <a:cs typeface="Arial" pitchFamily="34" charset="-120"/>
              </a:rPr>
              <a:t>Reflection</a:t>
            </a:r>
            <a:endParaRPr lang="en-US" sz="2250" dirty="0">
              <a:latin typeface="Times New Roman" panose="02020603050405020304" pitchFamily="18" charset="0"/>
            </a:endParaRPr>
          </a:p>
        </p:txBody>
      </p:sp>
      <p:sp>
        <p:nvSpPr>
          <p:cNvPr id="43" name="Text 40"/>
          <p:cNvSpPr/>
          <p:nvPr/>
        </p:nvSpPr>
        <p:spPr>
          <a:xfrm>
            <a:off x="10659110" y="576357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Gaps + new queries</a:t>
            </a:r>
            <a:endParaRPr lang="en-US" sz="1800" dirty="0">
              <a:latin typeface="Times New Roman" panose="02020603050405020304" pitchFamily="18" charset="0"/>
            </a:endParaRPr>
          </a:p>
        </p:txBody>
      </p:sp>
      <p:sp>
        <p:nvSpPr>
          <p:cNvPr id="44" name="Shape 41"/>
          <p:cNvSpPr/>
          <p:nvPr/>
        </p:nvSpPr>
        <p:spPr>
          <a:xfrm>
            <a:off x="13992225" y="5078730"/>
            <a:ext cx="3343275" cy="1291590"/>
          </a:xfrm>
          <a:prstGeom prst="rect">
            <a:avLst/>
          </a:prstGeom>
          <a:solidFill>
            <a:srgbClr val="4C3173"/>
          </a:solidFill>
          <a:ln/>
        </p:spPr>
      </p:sp>
      <p:sp>
        <p:nvSpPr>
          <p:cNvPr id="45" name="Text 42"/>
          <p:cNvSpPr/>
          <p:nvPr/>
        </p:nvSpPr>
        <p:spPr>
          <a:xfrm>
            <a:off x="14220825" y="5411152"/>
            <a:ext cx="3174683"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F2F2F3"/>
                </a:solidFill>
                <a:latin typeface="Times New Roman" panose="02020603050405020304" pitchFamily="18" charset="0"/>
                <a:ea typeface="Arial" pitchFamily="34" charset="-122"/>
                <a:cs typeface="Arial" pitchFamily="34" charset="-120"/>
              </a:rPr>
              <a:t>Judge</a:t>
            </a:r>
            <a:endParaRPr lang="en-US" sz="2250" dirty="0">
              <a:latin typeface="Times New Roman" panose="02020603050405020304" pitchFamily="18" charset="0"/>
            </a:endParaRPr>
          </a:p>
        </p:txBody>
      </p:sp>
      <p:sp>
        <p:nvSpPr>
          <p:cNvPr id="46" name="Text 43"/>
          <p:cNvSpPr/>
          <p:nvPr/>
        </p:nvSpPr>
        <p:spPr>
          <a:xfrm>
            <a:off x="14220825" y="5763577"/>
            <a:ext cx="317468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F5F5F8"/>
                </a:solidFill>
                <a:latin typeface="Times New Roman" panose="02020603050405020304" pitchFamily="18" charset="0"/>
                <a:ea typeface="Arial" pitchFamily="34" charset="-122"/>
                <a:cs typeface="Arial" pitchFamily="34" charset="-120"/>
              </a:rPr>
              <a:t>Verified citations only</a:t>
            </a:r>
            <a:endParaRPr lang="en-US" sz="1800" dirty="0">
              <a:latin typeface="Times New Roman" panose="02020603050405020304" pitchFamily="18" charset="0"/>
            </a:endParaRPr>
          </a:p>
        </p:txBody>
      </p:sp>
      <p:sp>
        <p:nvSpPr>
          <p:cNvPr id="47" name="Shape 44"/>
          <p:cNvSpPr/>
          <p:nvPr/>
        </p:nvSpPr>
        <p:spPr>
          <a:xfrm>
            <a:off x="952500" y="6503670"/>
            <a:ext cx="2095500" cy="10160"/>
          </a:xfrm>
          <a:prstGeom prst="rect">
            <a:avLst/>
          </a:prstGeom>
          <a:solidFill>
            <a:srgbClr val="1D1F20"/>
          </a:solidFill>
          <a:ln/>
        </p:spPr>
      </p:sp>
      <p:sp>
        <p:nvSpPr>
          <p:cNvPr id="48" name="Text 45"/>
          <p:cNvSpPr/>
          <p:nvPr/>
        </p:nvSpPr>
        <p:spPr>
          <a:xfrm>
            <a:off x="952500" y="6513830"/>
            <a:ext cx="2171700" cy="1319530"/>
          </a:xfrm>
          <a:prstGeom prst="rect">
            <a:avLst/>
          </a:prstGeom>
          <a:noFill/>
          <a:ln/>
        </p:spPr>
        <p:txBody>
          <a:bodyPr wrap="square" lIns="25400" tIns="25400" rIns="25400" bIns="25400" rtlCol="0" anchor="ctr">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Arial" pitchFamily="34" charset="-120"/>
              </a:rPr>
              <a:t>VERIFICATION</a:t>
            </a:r>
            <a:endParaRPr lang="en-US" sz="1950" dirty="0">
              <a:latin typeface="Times New Roman" panose="02020603050405020304" pitchFamily="18" charset="0"/>
            </a:endParaRPr>
          </a:p>
        </p:txBody>
      </p:sp>
      <p:sp>
        <p:nvSpPr>
          <p:cNvPr id="49" name="Shape 46"/>
          <p:cNvSpPr/>
          <p:nvPr/>
        </p:nvSpPr>
        <p:spPr>
          <a:xfrm>
            <a:off x="3276600" y="6503670"/>
            <a:ext cx="3343275" cy="1291590"/>
          </a:xfrm>
          <a:prstGeom prst="rect">
            <a:avLst/>
          </a:prstGeom>
          <a:solidFill>
            <a:srgbClr val="D9F4D9"/>
          </a:solidFill>
          <a:ln w="10160">
            <a:solidFill>
              <a:srgbClr val="4D9351"/>
            </a:solidFill>
            <a:prstDash val="solid"/>
          </a:ln>
        </p:spPr>
      </p:sp>
      <p:sp>
        <p:nvSpPr>
          <p:cNvPr id="50" name="Text 47"/>
          <p:cNvSpPr/>
          <p:nvPr/>
        </p:nvSpPr>
        <p:spPr>
          <a:xfrm>
            <a:off x="3515360" y="683609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Existence · E</a:t>
            </a:r>
            <a:endParaRPr lang="en-US" sz="2250" dirty="0">
              <a:latin typeface="Times New Roman" panose="02020603050405020304" pitchFamily="18" charset="0"/>
            </a:endParaRPr>
          </a:p>
        </p:txBody>
      </p:sp>
      <p:sp>
        <p:nvSpPr>
          <p:cNvPr id="51" name="Text 48"/>
          <p:cNvSpPr/>
          <p:nvPr/>
        </p:nvSpPr>
        <p:spPr>
          <a:xfrm>
            <a:off x="3515360" y="718851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Catalog + fuzzy name</a:t>
            </a:r>
            <a:endParaRPr lang="en-US" sz="1800" dirty="0">
              <a:latin typeface="Times New Roman" panose="02020603050405020304" pitchFamily="18" charset="0"/>
            </a:endParaRPr>
          </a:p>
        </p:txBody>
      </p:sp>
      <p:sp>
        <p:nvSpPr>
          <p:cNvPr id="52" name="Shape 49"/>
          <p:cNvSpPr/>
          <p:nvPr/>
        </p:nvSpPr>
        <p:spPr>
          <a:xfrm>
            <a:off x="6848475" y="6503670"/>
            <a:ext cx="3343275" cy="1291590"/>
          </a:xfrm>
          <a:prstGeom prst="rect">
            <a:avLst/>
          </a:prstGeom>
          <a:solidFill>
            <a:srgbClr val="D9F4D9"/>
          </a:solidFill>
          <a:ln w="10160">
            <a:solidFill>
              <a:srgbClr val="4D9351"/>
            </a:solidFill>
            <a:prstDash val="solid"/>
          </a:ln>
        </p:spPr>
      </p:sp>
      <p:sp>
        <p:nvSpPr>
          <p:cNvPr id="53" name="Text 50"/>
          <p:cNvSpPr/>
          <p:nvPr/>
        </p:nvSpPr>
        <p:spPr>
          <a:xfrm>
            <a:off x="7087235" y="683609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Support · S</a:t>
            </a:r>
            <a:endParaRPr lang="en-US" sz="2250" dirty="0">
              <a:latin typeface="Times New Roman" panose="02020603050405020304" pitchFamily="18" charset="0"/>
            </a:endParaRPr>
          </a:p>
        </p:txBody>
      </p:sp>
      <p:sp>
        <p:nvSpPr>
          <p:cNvPr id="54" name="Text 51"/>
          <p:cNvSpPr/>
          <p:nvPr/>
        </p:nvSpPr>
        <p:spPr>
          <a:xfrm>
            <a:off x="7087235" y="718851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DeBERTa NLI entailment</a:t>
            </a:r>
            <a:endParaRPr lang="en-US" sz="1800" dirty="0">
              <a:latin typeface="Times New Roman" panose="02020603050405020304" pitchFamily="18" charset="0"/>
            </a:endParaRPr>
          </a:p>
        </p:txBody>
      </p:sp>
      <p:sp>
        <p:nvSpPr>
          <p:cNvPr id="55" name="Shape 52"/>
          <p:cNvSpPr/>
          <p:nvPr/>
        </p:nvSpPr>
        <p:spPr>
          <a:xfrm>
            <a:off x="10420350" y="6503670"/>
            <a:ext cx="3343275" cy="1291590"/>
          </a:xfrm>
          <a:prstGeom prst="rect">
            <a:avLst/>
          </a:prstGeom>
          <a:solidFill>
            <a:srgbClr val="D9F4D9"/>
          </a:solidFill>
          <a:ln w="10160">
            <a:solidFill>
              <a:srgbClr val="4D9351"/>
            </a:solidFill>
            <a:prstDash val="solid"/>
          </a:ln>
        </p:spPr>
      </p:sp>
      <p:sp>
        <p:nvSpPr>
          <p:cNvPr id="56" name="Text 53"/>
          <p:cNvSpPr/>
          <p:nvPr/>
        </p:nvSpPr>
        <p:spPr>
          <a:xfrm>
            <a:off x="10659110" y="683609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CCS = E × S</a:t>
            </a:r>
            <a:endParaRPr lang="en-US" sz="2250" dirty="0">
              <a:latin typeface="Times New Roman" panose="02020603050405020304" pitchFamily="18" charset="0"/>
            </a:endParaRPr>
          </a:p>
        </p:txBody>
      </p:sp>
      <p:sp>
        <p:nvSpPr>
          <p:cNvPr id="57" name="Text 54"/>
          <p:cNvSpPr/>
          <p:nvPr/>
        </p:nvSpPr>
        <p:spPr>
          <a:xfrm>
            <a:off x="10659110" y="718851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Per-citation score</a:t>
            </a:r>
            <a:endParaRPr lang="en-US" sz="1800" dirty="0">
              <a:latin typeface="Times New Roman" panose="02020603050405020304" pitchFamily="18" charset="0"/>
            </a:endParaRPr>
          </a:p>
        </p:txBody>
      </p:sp>
      <p:sp>
        <p:nvSpPr>
          <p:cNvPr id="58" name="Shape 55"/>
          <p:cNvSpPr/>
          <p:nvPr/>
        </p:nvSpPr>
        <p:spPr>
          <a:xfrm>
            <a:off x="13992225" y="6503670"/>
            <a:ext cx="3343275" cy="1291590"/>
          </a:xfrm>
          <a:prstGeom prst="rect">
            <a:avLst/>
          </a:prstGeom>
          <a:solidFill>
            <a:srgbClr val="D9F4D9"/>
          </a:solidFill>
          <a:ln w="10160">
            <a:solidFill>
              <a:srgbClr val="4D9351"/>
            </a:solidFill>
            <a:prstDash val="solid"/>
          </a:ln>
        </p:spPr>
      </p:sp>
      <p:sp>
        <p:nvSpPr>
          <p:cNvPr id="59" name="Text 56"/>
          <p:cNvSpPr/>
          <p:nvPr/>
        </p:nvSpPr>
        <p:spPr>
          <a:xfrm>
            <a:off x="14230985" y="6836093"/>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Five-way verdict</a:t>
            </a:r>
            <a:endParaRPr lang="en-US" sz="2250" dirty="0">
              <a:latin typeface="Times New Roman" panose="02020603050405020304" pitchFamily="18" charset="0"/>
            </a:endParaRPr>
          </a:p>
        </p:txBody>
      </p:sp>
      <p:sp>
        <p:nvSpPr>
          <p:cNvPr id="60" name="Text 57"/>
          <p:cNvSpPr/>
          <p:nvPr/>
        </p:nvSpPr>
        <p:spPr>
          <a:xfrm>
            <a:off x="14230985" y="7188518"/>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Supported → Unverifiable</a:t>
            </a:r>
            <a:endParaRPr lang="en-US" sz="1800" dirty="0">
              <a:latin typeface="Times New Roman" panose="02020603050405020304" pitchFamily="18" charset="0"/>
            </a:endParaRPr>
          </a:p>
        </p:txBody>
      </p:sp>
      <p:sp>
        <p:nvSpPr>
          <p:cNvPr id="61" name="Shape 58"/>
          <p:cNvSpPr/>
          <p:nvPr/>
        </p:nvSpPr>
        <p:spPr>
          <a:xfrm>
            <a:off x="952500" y="7928610"/>
            <a:ext cx="2095500" cy="10160"/>
          </a:xfrm>
          <a:prstGeom prst="rect">
            <a:avLst/>
          </a:prstGeom>
          <a:solidFill>
            <a:srgbClr val="1D1F20"/>
          </a:solidFill>
          <a:ln/>
        </p:spPr>
      </p:sp>
      <p:sp>
        <p:nvSpPr>
          <p:cNvPr id="62" name="Text 59"/>
          <p:cNvSpPr/>
          <p:nvPr/>
        </p:nvSpPr>
        <p:spPr>
          <a:xfrm>
            <a:off x="952500" y="7938770"/>
            <a:ext cx="2171700" cy="1319530"/>
          </a:xfrm>
          <a:prstGeom prst="rect">
            <a:avLst/>
          </a:prstGeom>
          <a:noFill/>
          <a:ln/>
        </p:spPr>
        <p:txBody>
          <a:bodyPr wrap="square" lIns="25400" tIns="25400" rIns="25400" bIns="25400" rtlCol="0" anchor="ctr">
            <a:normAutofit/>
          </a:bodyPr>
          <a:lstStyle/>
          <a:p>
            <a:pPr marL="0" indent="0" algn="just">
              <a:lnSpc>
                <a:spcPct val="134933"/>
              </a:lnSpc>
              <a:buNone/>
            </a:pPr>
            <a:r>
              <a:rPr lang="en-US" sz="1950" b="1" kern="0" spc="195" dirty="0">
                <a:solidFill>
                  <a:srgbClr val="416180"/>
                </a:solidFill>
                <a:latin typeface="Times New Roman" panose="02020603050405020304" pitchFamily="18" charset="0"/>
                <a:ea typeface="Arial" pitchFamily="34" charset="-122"/>
                <a:cs typeface="Arial" pitchFamily="34" charset="-120"/>
              </a:rPr>
              <a:t>CONTROL</a:t>
            </a:r>
            <a:endParaRPr lang="en-US" sz="1950" dirty="0">
              <a:latin typeface="Times New Roman" panose="02020603050405020304" pitchFamily="18" charset="0"/>
            </a:endParaRPr>
          </a:p>
        </p:txBody>
      </p:sp>
      <p:sp>
        <p:nvSpPr>
          <p:cNvPr id="63" name="Shape 60"/>
          <p:cNvSpPr/>
          <p:nvPr/>
        </p:nvSpPr>
        <p:spPr>
          <a:xfrm>
            <a:off x="3276600" y="7928610"/>
            <a:ext cx="3343275" cy="1291590"/>
          </a:xfrm>
          <a:prstGeom prst="rect">
            <a:avLst/>
          </a:prstGeom>
          <a:solidFill>
            <a:srgbClr val="EFE5FF"/>
          </a:solidFill>
          <a:ln w="10160">
            <a:solidFill>
              <a:srgbClr val="8C6EBD"/>
            </a:solidFill>
            <a:prstDash val="solid"/>
          </a:ln>
        </p:spPr>
      </p:sp>
      <p:sp>
        <p:nvSpPr>
          <p:cNvPr id="64" name="Text 61"/>
          <p:cNvSpPr/>
          <p:nvPr/>
        </p:nvSpPr>
        <p:spPr>
          <a:xfrm>
            <a:off x="3515360" y="826103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4C3173"/>
                </a:solidFill>
                <a:latin typeface="Times New Roman" panose="02020603050405020304" pitchFamily="18" charset="0"/>
                <a:ea typeface="Arial" pitchFamily="34" charset="-122"/>
                <a:cs typeface="Arial" pitchFamily="34" charset="-120"/>
              </a:rPr>
              <a:t>LangGraph state</a:t>
            </a:r>
            <a:endParaRPr lang="en-US" sz="2250" dirty="0">
              <a:latin typeface="Times New Roman" panose="02020603050405020304" pitchFamily="18" charset="0"/>
            </a:endParaRPr>
          </a:p>
        </p:txBody>
      </p:sp>
      <p:sp>
        <p:nvSpPr>
          <p:cNvPr id="65" name="Text 62"/>
          <p:cNvSpPr/>
          <p:nvPr/>
        </p:nvSpPr>
        <p:spPr>
          <a:xfrm>
            <a:off x="3515360" y="861345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Query, evidence, history</a:t>
            </a:r>
            <a:endParaRPr lang="en-US" sz="1800" dirty="0">
              <a:latin typeface="Times New Roman" panose="02020603050405020304" pitchFamily="18" charset="0"/>
            </a:endParaRPr>
          </a:p>
        </p:txBody>
      </p:sp>
      <p:sp>
        <p:nvSpPr>
          <p:cNvPr id="66" name="Shape 63"/>
          <p:cNvSpPr/>
          <p:nvPr/>
        </p:nvSpPr>
        <p:spPr>
          <a:xfrm>
            <a:off x="6848475" y="7928610"/>
            <a:ext cx="3343275" cy="1291590"/>
          </a:xfrm>
          <a:prstGeom prst="rect">
            <a:avLst/>
          </a:prstGeom>
          <a:solidFill>
            <a:srgbClr val="FFE1DA"/>
          </a:solidFill>
          <a:ln w="10160">
            <a:solidFill>
              <a:srgbClr val="BD6254"/>
            </a:solidFill>
            <a:prstDash val="solid"/>
          </a:ln>
        </p:spPr>
      </p:sp>
      <p:sp>
        <p:nvSpPr>
          <p:cNvPr id="67" name="Text 64"/>
          <p:cNvSpPr/>
          <p:nvPr/>
        </p:nvSpPr>
        <p:spPr>
          <a:xfrm>
            <a:off x="7087235" y="826103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72251C"/>
                </a:solidFill>
                <a:latin typeface="Times New Roman" panose="02020603050405020304" pitchFamily="18" charset="0"/>
                <a:ea typeface="Arial" pitchFamily="34" charset="-122"/>
                <a:cs typeface="Arial" pitchFamily="34" charset="-120"/>
              </a:rPr>
              <a:t>Debate controller</a:t>
            </a:r>
            <a:endParaRPr lang="en-US" sz="2250" dirty="0">
              <a:latin typeface="Times New Roman" panose="02020603050405020304" pitchFamily="18" charset="0"/>
            </a:endParaRPr>
          </a:p>
        </p:txBody>
      </p:sp>
      <p:sp>
        <p:nvSpPr>
          <p:cNvPr id="68" name="Text 65"/>
          <p:cNvSpPr/>
          <p:nvPr/>
        </p:nvSpPr>
        <p:spPr>
          <a:xfrm>
            <a:off x="7087235" y="861345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Stop or continue · ≤ 2 rounds</a:t>
            </a:r>
            <a:endParaRPr lang="en-US" sz="1800" dirty="0">
              <a:latin typeface="Times New Roman" panose="02020603050405020304" pitchFamily="18" charset="0"/>
            </a:endParaRPr>
          </a:p>
        </p:txBody>
      </p:sp>
      <p:sp>
        <p:nvSpPr>
          <p:cNvPr id="69" name="Shape 66"/>
          <p:cNvSpPr/>
          <p:nvPr/>
        </p:nvSpPr>
        <p:spPr>
          <a:xfrm>
            <a:off x="10420350" y="7928610"/>
            <a:ext cx="3343275" cy="1291590"/>
          </a:xfrm>
          <a:prstGeom prst="rect">
            <a:avLst/>
          </a:prstGeom>
          <a:solidFill>
            <a:srgbClr val="EFE5FF"/>
          </a:solidFill>
          <a:ln w="10160">
            <a:solidFill>
              <a:srgbClr val="8C6EBD"/>
            </a:solidFill>
            <a:prstDash val="solid"/>
          </a:ln>
        </p:spPr>
      </p:sp>
      <p:sp>
        <p:nvSpPr>
          <p:cNvPr id="70" name="Text 67"/>
          <p:cNvSpPr/>
          <p:nvPr/>
        </p:nvSpPr>
        <p:spPr>
          <a:xfrm>
            <a:off x="10659110" y="826103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4C3173"/>
                </a:solidFill>
                <a:latin typeface="Times New Roman" panose="02020603050405020304" pitchFamily="18" charset="0"/>
                <a:ea typeface="Arial" pitchFamily="34" charset="-122"/>
                <a:cs typeface="Arial" pitchFamily="34" charset="-120"/>
              </a:rPr>
              <a:t>Mistral-7B · NF4</a:t>
            </a:r>
            <a:endParaRPr lang="en-US" sz="2250" dirty="0">
              <a:latin typeface="Times New Roman" panose="02020603050405020304" pitchFamily="18" charset="0"/>
            </a:endParaRPr>
          </a:p>
        </p:txBody>
      </p:sp>
      <p:sp>
        <p:nvSpPr>
          <p:cNvPr id="71" name="Text 68"/>
          <p:cNvSpPr/>
          <p:nvPr/>
        </p:nvSpPr>
        <p:spPr>
          <a:xfrm>
            <a:off x="10659110" y="861345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Shared by all roles · T4 GPU</a:t>
            </a:r>
            <a:endParaRPr lang="en-US" sz="1800" dirty="0">
              <a:latin typeface="Times New Roman" panose="02020603050405020304" pitchFamily="18" charset="0"/>
            </a:endParaRPr>
          </a:p>
        </p:txBody>
      </p:sp>
      <p:sp>
        <p:nvSpPr>
          <p:cNvPr id="72" name="Shape 69"/>
          <p:cNvSpPr/>
          <p:nvPr/>
        </p:nvSpPr>
        <p:spPr>
          <a:xfrm>
            <a:off x="13992225" y="7928610"/>
            <a:ext cx="3343275" cy="1291590"/>
          </a:xfrm>
          <a:prstGeom prst="rect">
            <a:avLst/>
          </a:prstGeom>
          <a:solidFill>
            <a:srgbClr val="EFE5FF"/>
          </a:solidFill>
          <a:ln w="10160">
            <a:solidFill>
              <a:srgbClr val="8C6EBD"/>
            </a:solidFill>
            <a:prstDash val="solid"/>
          </a:ln>
        </p:spPr>
      </p:sp>
      <p:sp>
        <p:nvSpPr>
          <p:cNvPr id="73" name="Text 70"/>
          <p:cNvSpPr/>
          <p:nvPr/>
        </p:nvSpPr>
        <p:spPr>
          <a:xfrm>
            <a:off x="14230985" y="8261032"/>
            <a:ext cx="3152331"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4C3173"/>
                </a:solidFill>
                <a:latin typeface="Times New Roman" panose="02020603050405020304" pitchFamily="18" charset="0"/>
                <a:ea typeface="Arial" pitchFamily="34" charset="-122"/>
                <a:cs typeface="Arial" pitchFamily="34" charset="-120"/>
              </a:rPr>
              <a:t>Evaluation runners</a:t>
            </a:r>
            <a:endParaRPr lang="en-US" sz="2250" dirty="0">
              <a:latin typeface="Times New Roman" panose="02020603050405020304" pitchFamily="18" charset="0"/>
            </a:endParaRPr>
          </a:p>
        </p:txBody>
      </p:sp>
      <p:sp>
        <p:nvSpPr>
          <p:cNvPr id="74" name="Text 71"/>
          <p:cNvSpPr/>
          <p:nvPr/>
        </p:nvSpPr>
        <p:spPr>
          <a:xfrm>
            <a:off x="14230985" y="8613457"/>
            <a:ext cx="3152331"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Benchmark + ablation</a:t>
            </a:r>
            <a:endParaRPr lang="en-US" sz="1800" dirty="0">
              <a:latin typeface="Times New Roman" panose="02020603050405020304" pitchFamily="18" charset="0"/>
            </a:endParaRPr>
          </a:p>
        </p:txBody>
      </p:sp>
      <p:sp>
        <p:nvSpPr>
          <p:cNvPr id="76" name="TextBox 75">
            <a:extLst>
              <a:ext uri="{FF2B5EF4-FFF2-40B4-BE49-F238E27FC236}">
                <a16:creationId xmlns:a16="http://schemas.microsoft.com/office/drawing/2014/main" id="{8DB0B769-6783-54BA-9BCC-4B264738EB77}"/>
              </a:ext>
            </a:extLst>
          </p:cNvPr>
          <p:cNvSpPr txBox="1"/>
          <p:nvPr/>
        </p:nvSpPr>
        <p:spPr>
          <a:xfrm>
            <a:off x="17499011" y="9589770"/>
            <a:ext cx="488951"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14</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Debate Workflow</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3581400" cy="2146300"/>
          </a:xfrm>
          <a:prstGeom prst="rect">
            <a:avLst/>
          </a:prstGeom>
          <a:solidFill>
            <a:srgbClr val="FDE8CB"/>
          </a:solidFill>
          <a:ln w="10160">
            <a:solidFill>
              <a:srgbClr val="A97416"/>
            </a:solidFill>
            <a:prstDash val="solid"/>
          </a:ln>
        </p:spPr>
      </p:sp>
      <p:sp>
        <p:nvSpPr>
          <p:cNvPr id="6" name="Text 3"/>
          <p:cNvSpPr/>
          <p:nvPr/>
        </p:nvSpPr>
        <p:spPr>
          <a:xfrm>
            <a:off x="1229360" y="25819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7B4800"/>
                </a:solidFill>
                <a:latin typeface="Times New Roman" panose="02020603050405020304" pitchFamily="18" charset="0"/>
                <a:ea typeface="Arial" pitchFamily="34" charset="-122"/>
                <a:cs typeface="Arial" pitchFamily="34" charset="-120"/>
              </a:rPr>
              <a:t>01</a:t>
            </a:r>
            <a:endParaRPr lang="en-US" sz="1800" dirty="0">
              <a:latin typeface="Times New Roman" panose="02020603050405020304" pitchFamily="18" charset="0"/>
            </a:endParaRPr>
          </a:p>
        </p:txBody>
      </p:sp>
      <p:sp>
        <p:nvSpPr>
          <p:cNvPr id="7" name="Text 4"/>
          <p:cNvSpPr/>
          <p:nvPr/>
        </p:nvSpPr>
        <p:spPr>
          <a:xfrm>
            <a:off x="1229360" y="3012440"/>
            <a:ext cx="3330448" cy="415290"/>
          </a:xfrm>
          <a:prstGeom prst="rect">
            <a:avLst/>
          </a:prstGeom>
          <a:noFill/>
          <a:ln/>
        </p:spPr>
        <p:txBody>
          <a:bodyPr wrap="square" lIns="25400" tIns="25400" rIns="25400" bIns="25400" rtlCol="0" anchor="t">
            <a:normAutofit fontScale="92500" lnSpcReduction="10000"/>
          </a:bodyPr>
          <a:lstStyle/>
          <a:p>
            <a:pPr marL="0" indent="0" algn="just">
              <a:lnSpc>
                <a:spcPct val="96429"/>
              </a:lnSpc>
              <a:buNone/>
            </a:pPr>
            <a:r>
              <a:rPr lang="en-US" sz="2700" b="1" dirty="0">
                <a:solidFill>
                  <a:srgbClr val="633600"/>
                </a:solidFill>
                <a:latin typeface="Times New Roman" panose="02020603050405020304" pitchFamily="18" charset="0"/>
                <a:ea typeface="Arial" pitchFamily="34" charset="-122"/>
                <a:cs typeface="Arial" pitchFamily="34" charset="-120"/>
              </a:rPr>
              <a:t>Query + memory check</a:t>
            </a:r>
            <a:endParaRPr lang="en-US" sz="2700" dirty="0">
              <a:latin typeface="Times New Roman" panose="02020603050405020304" pitchFamily="18" charset="0"/>
            </a:endParaRPr>
          </a:p>
        </p:txBody>
      </p:sp>
      <p:sp>
        <p:nvSpPr>
          <p:cNvPr id="8" name="Text 5"/>
          <p:cNvSpPr/>
          <p:nvPr/>
        </p:nvSpPr>
        <p:spPr>
          <a:xfrm>
            <a:off x="1229360" y="346583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Cache hit returns early</a:t>
            </a:r>
            <a:endParaRPr lang="en-US" sz="1800" dirty="0">
              <a:latin typeface="Times New Roman" panose="02020603050405020304" pitchFamily="18" charset="0"/>
            </a:endParaRPr>
          </a:p>
        </p:txBody>
      </p:sp>
      <p:sp>
        <p:nvSpPr>
          <p:cNvPr id="9" name="Text 6"/>
          <p:cNvSpPr/>
          <p:nvPr/>
        </p:nvSpPr>
        <p:spPr>
          <a:xfrm>
            <a:off x="4495800" y="2305050"/>
            <a:ext cx="762000" cy="218440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10" name="Shape 7"/>
          <p:cNvSpPr/>
          <p:nvPr/>
        </p:nvSpPr>
        <p:spPr>
          <a:xfrm>
            <a:off x="5219700" y="2305050"/>
            <a:ext cx="3581400" cy="2146300"/>
          </a:xfrm>
          <a:prstGeom prst="rect">
            <a:avLst/>
          </a:prstGeom>
          <a:solidFill>
            <a:srgbClr val="CAF5F2"/>
          </a:solidFill>
          <a:ln w="10160">
            <a:solidFill>
              <a:srgbClr val="009690"/>
            </a:solidFill>
            <a:prstDash val="solid"/>
          </a:ln>
        </p:spPr>
      </p:sp>
      <p:sp>
        <p:nvSpPr>
          <p:cNvPr id="11" name="Text 8"/>
          <p:cNvSpPr/>
          <p:nvPr/>
        </p:nvSpPr>
        <p:spPr>
          <a:xfrm>
            <a:off x="5496560" y="25819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006964"/>
                </a:solidFill>
                <a:latin typeface="Times New Roman" panose="02020603050405020304" pitchFamily="18" charset="0"/>
                <a:ea typeface="Arial" pitchFamily="34" charset="-122"/>
                <a:cs typeface="Arial" pitchFamily="34" charset="-120"/>
              </a:rPr>
              <a:t>02</a:t>
            </a:r>
            <a:endParaRPr lang="en-US" sz="1800" dirty="0">
              <a:latin typeface="Times New Roman" panose="02020603050405020304" pitchFamily="18" charset="0"/>
            </a:endParaRPr>
          </a:p>
        </p:txBody>
      </p:sp>
      <p:sp>
        <p:nvSpPr>
          <p:cNvPr id="12" name="Text 9"/>
          <p:cNvSpPr/>
          <p:nvPr/>
        </p:nvSpPr>
        <p:spPr>
          <a:xfrm>
            <a:off x="5496560" y="3012440"/>
            <a:ext cx="3330448"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00534F"/>
                </a:solidFill>
                <a:latin typeface="Times New Roman" panose="02020603050405020304" pitchFamily="18" charset="0"/>
                <a:ea typeface="Arial" pitchFamily="34" charset="-122"/>
                <a:cs typeface="Arial" pitchFamily="34" charset="-120"/>
              </a:rPr>
              <a:t>Hybrid CAP retrieval</a:t>
            </a:r>
            <a:endParaRPr lang="en-US" sz="2700" dirty="0">
              <a:latin typeface="Times New Roman" panose="02020603050405020304" pitchFamily="18" charset="0"/>
            </a:endParaRPr>
          </a:p>
        </p:txBody>
      </p:sp>
      <p:sp>
        <p:nvSpPr>
          <p:cNvPr id="13" name="Text 10"/>
          <p:cNvSpPr/>
          <p:nvPr/>
        </p:nvSpPr>
        <p:spPr>
          <a:xfrm>
            <a:off x="5496560" y="346583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BM25 + Legal-BERT, RRF</a:t>
            </a:r>
            <a:endParaRPr lang="en-US" sz="1800" dirty="0">
              <a:latin typeface="Times New Roman" panose="02020603050405020304" pitchFamily="18" charset="0"/>
            </a:endParaRPr>
          </a:p>
        </p:txBody>
      </p:sp>
      <p:sp>
        <p:nvSpPr>
          <p:cNvPr id="14" name="Text 11"/>
          <p:cNvSpPr/>
          <p:nvPr/>
        </p:nvSpPr>
        <p:spPr>
          <a:xfrm>
            <a:off x="8763000" y="2305050"/>
            <a:ext cx="762000" cy="218440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15" name="Shape 12"/>
          <p:cNvSpPr/>
          <p:nvPr/>
        </p:nvSpPr>
        <p:spPr>
          <a:xfrm>
            <a:off x="9486900" y="2305050"/>
            <a:ext cx="3581400" cy="2146300"/>
          </a:xfrm>
          <a:prstGeom prst="rect">
            <a:avLst/>
          </a:prstGeom>
          <a:solidFill>
            <a:srgbClr val="FFE0DC"/>
          </a:solidFill>
          <a:ln w="10160">
            <a:solidFill>
              <a:srgbClr val="BD615B"/>
            </a:solidFill>
            <a:prstDash val="solid"/>
          </a:ln>
        </p:spPr>
      </p:sp>
      <p:sp>
        <p:nvSpPr>
          <p:cNvPr id="16" name="Text 13"/>
          <p:cNvSpPr/>
          <p:nvPr/>
        </p:nvSpPr>
        <p:spPr>
          <a:xfrm>
            <a:off x="9763760" y="25819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8C3432"/>
                </a:solidFill>
                <a:latin typeface="Times New Roman" panose="02020603050405020304" pitchFamily="18" charset="0"/>
                <a:ea typeface="Arial" pitchFamily="34" charset="-122"/>
                <a:cs typeface="Arial" pitchFamily="34" charset="-120"/>
              </a:rPr>
              <a:t>03</a:t>
            </a:r>
            <a:endParaRPr lang="en-US" sz="1800" dirty="0">
              <a:latin typeface="Times New Roman" panose="02020603050405020304" pitchFamily="18" charset="0"/>
            </a:endParaRPr>
          </a:p>
        </p:txBody>
      </p:sp>
      <p:sp>
        <p:nvSpPr>
          <p:cNvPr id="17" name="Text 14"/>
          <p:cNvSpPr/>
          <p:nvPr/>
        </p:nvSpPr>
        <p:spPr>
          <a:xfrm>
            <a:off x="9763760" y="3012440"/>
            <a:ext cx="3330448"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722423"/>
                </a:solidFill>
                <a:latin typeface="Times New Roman" panose="02020603050405020304" pitchFamily="18" charset="0"/>
                <a:ea typeface="Arial" pitchFamily="34" charset="-122"/>
                <a:cs typeface="Arial" pitchFamily="34" charset="-120"/>
              </a:rPr>
              <a:t>Prosecutor</a:t>
            </a:r>
            <a:endParaRPr lang="en-US" sz="2700" dirty="0">
              <a:latin typeface="Times New Roman" panose="02020603050405020304" pitchFamily="18" charset="0"/>
            </a:endParaRPr>
          </a:p>
        </p:txBody>
      </p:sp>
      <p:sp>
        <p:nvSpPr>
          <p:cNvPr id="18" name="Text 15"/>
          <p:cNvSpPr/>
          <p:nvPr/>
        </p:nvSpPr>
        <p:spPr>
          <a:xfrm>
            <a:off x="9763760" y="346583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Initial argument + citations</a:t>
            </a:r>
            <a:endParaRPr lang="en-US" sz="1800" dirty="0">
              <a:latin typeface="Times New Roman" panose="02020603050405020304" pitchFamily="18" charset="0"/>
            </a:endParaRPr>
          </a:p>
        </p:txBody>
      </p:sp>
      <p:sp>
        <p:nvSpPr>
          <p:cNvPr id="19" name="Text 16"/>
          <p:cNvSpPr/>
          <p:nvPr/>
        </p:nvSpPr>
        <p:spPr>
          <a:xfrm>
            <a:off x="13030200" y="2305050"/>
            <a:ext cx="762000" cy="218440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20" name="Shape 17"/>
          <p:cNvSpPr/>
          <p:nvPr/>
        </p:nvSpPr>
        <p:spPr>
          <a:xfrm>
            <a:off x="13754100" y="2305050"/>
            <a:ext cx="3581400" cy="2146300"/>
          </a:xfrm>
          <a:prstGeom prst="rect">
            <a:avLst/>
          </a:prstGeom>
          <a:solidFill>
            <a:srgbClr val="D5EEFF"/>
          </a:solidFill>
          <a:ln w="10160">
            <a:solidFill>
              <a:srgbClr val="4284C5"/>
            </a:solidFill>
            <a:prstDash val="solid"/>
          </a:ln>
        </p:spPr>
      </p:sp>
      <p:sp>
        <p:nvSpPr>
          <p:cNvPr id="21" name="Text 18"/>
          <p:cNvSpPr/>
          <p:nvPr/>
        </p:nvSpPr>
        <p:spPr>
          <a:xfrm>
            <a:off x="14030960" y="25819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0E5794"/>
                </a:solidFill>
                <a:latin typeface="Times New Roman" panose="02020603050405020304" pitchFamily="18" charset="0"/>
                <a:ea typeface="Arial" pitchFamily="34" charset="-122"/>
                <a:cs typeface="Arial" pitchFamily="34" charset="-120"/>
              </a:rPr>
              <a:t>04</a:t>
            </a:r>
            <a:endParaRPr lang="en-US" sz="1800" dirty="0">
              <a:latin typeface="Times New Roman" panose="02020603050405020304" pitchFamily="18" charset="0"/>
            </a:endParaRPr>
          </a:p>
        </p:txBody>
      </p:sp>
      <p:sp>
        <p:nvSpPr>
          <p:cNvPr id="22" name="Text 19"/>
          <p:cNvSpPr/>
          <p:nvPr/>
        </p:nvSpPr>
        <p:spPr>
          <a:xfrm>
            <a:off x="14030960" y="3012440"/>
            <a:ext cx="3330448"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00447A"/>
                </a:solidFill>
                <a:latin typeface="Times New Roman" panose="02020603050405020304" pitchFamily="18" charset="0"/>
                <a:ea typeface="Arial" pitchFamily="34" charset="-122"/>
                <a:cs typeface="Arial" pitchFamily="34" charset="-120"/>
              </a:rPr>
              <a:t>Defense</a:t>
            </a:r>
            <a:endParaRPr lang="en-US" sz="2700" dirty="0">
              <a:latin typeface="Times New Roman" panose="02020603050405020304" pitchFamily="18" charset="0"/>
            </a:endParaRPr>
          </a:p>
        </p:txBody>
      </p:sp>
      <p:sp>
        <p:nvSpPr>
          <p:cNvPr id="23" name="Text 20"/>
          <p:cNvSpPr/>
          <p:nvPr/>
        </p:nvSpPr>
        <p:spPr>
          <a:xfrm>
            <a:off x="14030960" y="3465830"/>
            <a:ext cx="3118510" cy="74676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Independent counter-evidence</a:t>
            </a:r>
            <a:endParaRPr lang="en-US" sz="1800" dirty="0">
              <a:latin typeface="Times New Roman" panose="02020603050405020304" pitchFamily="18" charset="0"/>
            </a:endParaRPr>
          </a:p>
        </p:txBody>
      </p:sp>
      <p:sp>
        <p:nvSpPr>
          <p:cNvPr id="24" name="Text 21"/>
          <p:cNvSpPr/>
          <p:nvPr/>
        </p:nvSpPr>
        <p:spPr>
          <a:xfrm>
            <a:off x="5571173" y="4469448"/>
            <a:ext cx="427355" cy="687705"/>
          </a:xfrm>
          <a:prstGeom prst="rect">
            <a:avLst/>
          </a:prstGeom>
          <a:noFill/>
          <a:ln/>
        </p:spPr>
        <p:txBody>
          <a:bodyPr wrap="square" lIns="25400" tIns="25400" rIns="25400" bIns="25400" rtlCol="0" anchor="t">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25" name="Text 22"/>
          <p:cNvSpPr/>
          <p:nvPr/>
        </p:nvSpPr>
        <p:spPr>
          <a:xfrm>
            <a:off x="6055677" y="4617085"/>
            <a:ext cx="263317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Continue: retrieve again</a:t>
            </a:r>
            <a:endParaRPr lang="en-US" sz="1800" dirty="0">
              <a:latin typeface="Times New Roman" panose="02020603050405020304" pitchFamily="18" charset="0"/>
            </a:endParaRPr>
          </a:p>
        </p:txBody>
      </p:sp>
      <p:sp>
        <p:nvSpPr>
          <p:cNvPr id="26" name="Text 23"/>
          <p:cNvSpPr/>
          <p:nvPr/>
        </p:nvSpPr>
        <p:spPr>
          <a:xfrm>
            <a:off x="13700379" y="4451350"/>
            <a:ext cx="3688842" cy="72390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27" name="Shape 24"/>
          <p:cNvSpPr/>
          <p:nvPr/>
        </p:nvSpPr>
        <p:spPr>
          <a:xfrm>
            <a:off x="952500" y="5137150"/>
            <a:ext cx="3581400" cy="2169160"/>
          </a:xfrm>
          <a:prstGeom prst="rect">
            <a:avLst/>
          </a:prstGeom>
          <a:solidFill>
            <a:srgbClr val="4C3173"/>
          </a:solidFill>
          <a:ln/>
        </p:spPr>
      </p:sp>
      <p:sp>
        <p:nvSpPr>
          <p:cNvPr id="28" name="Text 25"/>
          <p:cNvSpPr/>
          <p:nvPr/>
        </p:nvSpPr>
        <p:spPr>
          <a:xfrm>
            <a:off x="1219200" y="5403850"/>
            <a:ext cx="33528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D3C6F0"/>
                </a:solidFill>
                <a:latin typeface="Times New Roman" panose="02020603050405020304" pitchFamily="18" charset="0"/>
                <a:ea typeface="Arial" pitchFamily="34" charset="-122"/>
                <a:cs typeface="Arial" pitchFamily="34" charset="-120"/>
              </a:rPr>
              <a:t>08</a:t>
            </a:r>
            <a:endParaRPr lang="en-US" sz="1800" dirty="0">
              <a:latin typeface="Times New Roman" panose="02020603050405020304" pitchFamily="18" charset="0"/>
            </a:endParaRPr>
          </a:p>
        </p:txBody>
      </p:sp>
      <p:sp>
        <p:nvSpPr>
          <p:cNvPr id="29" name="Text 26"/>
          <p:cNvSpPr/>
          <p:nvPr/>
        </p:nvSpPr>
        <p:spPr>
          <a:xfrm>
            <a:off x="1219200" y="5834380"/>
            <a:ext cx="3352800"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F2F2F3"/>
                </a:solidFill>
                <a:latin typeface="Times New Roman" panose="02020603050405020304" pitchFamily="18" charset="0"/>
                <a:ea typeface="Arial" pitchFamily="34" charset="-122"/>
                <a:cs typeface="Arial" pitchFamily="34" charset="-120"/>
              </a:rPr>
              <a:t>Judge + memory store</a:t>
            </a:r>
            <a:endParaRPr lang="en-US" sz="2700" dirty="0">
              <a:latin typeface="Times New Roman" panose="02020603050405020304" pitchFamily="18" charset="0"/>
            </a:endParaRPr>
          </a:p>
        </p:txBody>
      </p:sp>
      <p:sp>
        <p:nvSpPr>
          <p:cNvPr id="30" name="Text 27"/>
          <p:cNvSpPr/>
          <p:nvPr/>
        </p:nvSpPr>
        <p:spPr>
          <a:xfrm>
            <a:off x="1219200" y="6287770"/>
            <a:ext cx="33528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F5F5F8"/>
                </a:solidFill>
                <a:latin typeface="Times New Roman" panose="02020603050405020304" pitchFamily="18" charset="0"/>
                <a:ea typeface="Arial" pitchFamily="34" charset="-122"/>
                <a:cs typeface="Arial" pitchFamily="34" charset="-120"/>
              </a:rPr>
              <a:t>Final answer, verified citations</a:t>
            </a:r>
            <a:endParaRPr lang="en-US" sz="1800" dirty="0">
              <a:latin typeface="Times New Roman" panose="02020603050405020304" pitchFamily="18" charset="0"/>
            </a:endParaRPr>
          </a:p>
        </p:txBody>
      </p:sp>
      <p:sp>
        <p:nvSpPr>
          <p:cNvPr id="31" name="Text 28"/>
          <p:cNvSpPr/>
          <p:nvPr/>
        </p:nvSpPr>
        <p:spPr>
          <a:xfrm>
            <a:off x="4701222" y="5896927"/>
            <a:ext cx="427355" cy="687705"/>
          </a:xfrm>
          <a:prstGeom prst="rect">
            <a:avLst/>
          </a:prstGeom>
          <a:noFill/>
          <a:ln/>
        </p:spPr>
        <p:txBody>
          <a:bodyPr wrap="square" lIns="25400" tIns="25400" rIns="25400" bIns="25400" rtlCol="0" anchor="t">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32" name="Shape 29"/>
          <p:cNvSpPr/>
          <p:nvPr/>
        </p:nvSpPr>
        <p:spPr>
          <a:xfrm>
            <a:off x="5219700" y="5137150"/>
            <a:ext cx="3581400" cy="2169160"/>
          </a:xfrm>
          <a:prstGeom prst="rect">
            <a:avLst/>
          </a:prstGeom>
          <a:solidFill>
            <a:srgbClr val="FFE1DA"/>
          </a:solidFill>
          <a:ln w="10160">
            <a:solidFill>
              <a:srgbClr val="BD6254"/>
            </a:solidFill>
            <a:prstDash val="solid"/>
          </a:ln>
        </p:spPr>
      </p:sp>
      <p:sp>
        <p:nvSpPr>
          <p:cNvPr id="33" name="Text 30"/>
          <p:cNvSpPr/>
          <p:nvPr/>
        </p:nvSpPr>
        <p:spPr>
          <a:xfrm>
            <a:off x="5496560" y="54140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8C352A"/>
                </a:solidFill>
                <a:latin typeface="Times New Roman" panose="02020603050405020304" pitchFamily="18" charset="0"/>
                <a:ea typeface="Arial" pitchFamily="34" charset="-122"/>
                <a:cs typeface="Arial" pitchFamily="34" charset="-120"/>
              </a:rPr>
              <a:t>07</a:t>
            </a:r>
            <a:endParaRPr lang="en-US" sz="1800" dirty="0">
              <a:latin typeface="Times New Roman" panose="02020603050405020304" pitchFamily="18" charset="0"/>
            </a:endParaRPr>
          </a:p>
        </p:txBody>
      </p:sp>
      <p:sp>
        <p:nvSpPr>
          <p:cNvPr id="34" name="Text 31"/>
          <p:cNvSpPr/>
          <p:nvPr/>
        </p:nvSpPr>
        <p:spPr>
          <a:xfrm>
            <a:off x="5496560" y="5844540"/>
            <a:ext cx="3118510" cy="79248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72251C"/>
                </a:solidFill>
                <a:latin typeface="Times New Roman" panose="02020603050405020304" pitchFamily="18" charset="0"/>
                <a:ea typeface="Arial" pitchFamily="34" charset="-122"/>
                <a:cs typeface="Arial" pitchFamily="34" charset="-120"/>
              </a:rPr>
              <a:t>Dynamic Debate Controller</a:t>
            </a:r>
            <a:endParaRPr lang="en-US" sz="2700" dirty="0">
              <a:latin typeface="Times New Roman" panose="02020603050405020304" pitchFamily="18" charset="0"/>
            </a:endParaRPr>
          </a:p>
        </p:txBody>
      </p:sp>
      <p:sp>
        <p:nvSpPr>
          <p:cNvPr id="35" name="Text 32"/>
          <p:cNvSpPr/>
          <p:nvPr/>
        </p:nvSpPr>
        <p:spPr>
          <a:xfrm>
            <a:off x="5496560" y="667512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Terminate or continue</a:t>
            </a:r>
            <a:endParaRPr lang="en-US" sz="1800" dirty="0">
              <a:latin typeface="Times New Roman" panose="02020603050405020304" pitchFamily="18" charset="0"/>
            </a:endParaRPr>
          </a:p>
        </p:txBody>
      </p:sp>
      <p:sp>
        <p:nvSpPr>
          <p:cNvPr id="36" name="Text 33"/>
          <p:cNvSpPr/>
          <p:nvPr/>
        </p:nvSpPr>
        <p:spPr>
          <a:xfrm>
            <a:off x="8763000" y="5137150"/>
            <a:ext cx="762000" cy="220726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37" name="Shape 34"/>
          <p:cNvSpPr/>
          <p:nvPr/>
        </p:nvSpPr>
        <p:spPr>
          <a:xfrm>
            <a:off x="9486900" y="5137150"/>
            <a:ext cx="3581400" cy="2169160"/>
          </a:xfrm>
          <a:prstGeom prst="rect">
            <a:avLst/>
          </a:prstGeom>
          <a:solidFill>
            <a:srgbClr val="FFE1DA"/>
          </a:solidFill>
          <a:ln w="10160">
            <a:solidFill>
              <a:srgbClr val="BD6254"/>
            </a:solidFill>
            <a:prstDash val="solid"/>
          </a:ln>
        </p:spPr>
      </p:sp>
      <p:sp>
        <p:nvSpPr>
          <p:cNvPr id="38" name="Text 35"/>
          <p:cNvSpPr/>
          <p:nvPr/>
        </p:nvSpPr>
        <p:spPr>
          <a:xfrm>
            <a:off x="9763760" y="54140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8C352A"/>
                </a:solidFill>
                <a:latin typeface="Times New Roman" panose="02020603050405020304" pitchFamily="18" charset="0"/>
                <a:ea typeface="Arial" pitchFamily="34" charset="-122"/>
                <a:cs typeface="Arial" pitchFamily="34" charset="-120"/>
              </a:rPr>
              <a:t>06</a:t>
            </a:r>
            <a:endParaRPr lang="en-US" sz="1800" dirty="0">
              <a:latin typeface="Times New Roman" panose="02020603050405020304" pitchFamily="18" charset="0"/>
            </a:endParaRPr>
          </a:p>
        </p:txBody>
      </p:sp>
      <p:sp>
        <p:nvSpPr>
          <p:cNvPr id="39" name="Text 36"/>
          <p:cNvSpPr/>
          <p:nvPr/>
        </p:nvSpPr>
        <p:spPr>
          <a:xfrm>
            <a:off x="9763760" y="5844540"/>
            <a:ext cx="3330448"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72251C"/>
                </a:solidFill>
                <a:latin typeface="Times New Roman" panose="02020603050405020304" pitchFamily="18" charset="0"/>
                <a:ea typeface="Arial" pitchFamily="34" charset="-122"/>
                <a:cs typeface="Arial" pitchFamily="34" charset="-120"/>
              </a:rPr>
              <a:t>Reflection</a:t>
            </a:r>
            <a:endParaRPr lang="en-US" sz="2700" dirty="0">
              <a:latin typeface="Times New Roman" panose="02020603050405020304" pitchFamily="18" charset="0"/>
            </a:endParaRPr>
          </a:p>
        </p:txBody>
      </p:sp>
      <p:sp>
        <p:nvSpPr>
          <p:cNvPr id="40" name="Text 37"/>
          <p:cNvSpPr/>
          <p:nvPr/>
        </p:nvSpPr>
        <p:spPr>
          <a:xfrm>
            <a:off x="9763760" y="629793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Gaps + new queries</a:t>
            </a:r>
            <a:endParaRPr lang="en-US" sz="1800" dirty="0">
              <a:latin typeface="Times New Roman" panose="02020603050405020304" pitchFamily="18" charset="0"/>
            </a:endParaRPr>
          </a:p>
        </p:txBody>
      </p:sp>
      <p:sp>
        <p:nvSpPr>
          <p:cNvPr id="41" name="Text 38"/>
          <p:cNvSpPr/>
          <p:nvPr/>
        </p:nvSpPr>
        <p:spPr>
          <a:xfrm>
            <a:off x="13030200" y="5137150"/>
            <a:ext cx="762000" cy="2207260"/>
          </a:xfrm>
          <a:prstGeom prst="rect">
            <a:avLst/>
          </a:prstGeom>
          <a:noFill/>
          <a:ln/>
        </p:spPr>
        <p:txBody>
          <a:bodyPr wrap="square" lIns="25400" tIns="25400" rIns="25400" bIns="25400" rtlCol="0" anchor="ctr">
            <a:normAutofit/>
          </a:bodyPr>
          <a:lstStyle/>
          <a:p>
            <a:pPr marL="0" indent="0" algn="just">
              <a:lnSpc>
                <a:spcPct val="137500"/>
              </a:lnSpc>
              <a:buNone/>
            </a:pPr>
            <a:r>
              <a:rPr lang="en-US" sz="3300" dirty="0">
                <a:solidFill>
                  <a:srgbClr val="5980A6"/>
                </a:solidFill>
                <a:latin typeface="Times New Roman" panose="02020603050405020304" pitchFamily="18" charset="0"/>
                <a:ea typeface="Arial" pitchFamily="34" charset="-122"/>
                <a:cs typeface="Arial" pitchFamily="34" charset="-120"/>
              </a:rPr>
              <a:t>←</a:t>
            </a:r>
            <a:endParaRPr lang="en-US" sz="3300" dirty="0">
              <a:latin typeface="Times New Roman" panose="02020603050405020304" pitchFamily="18" charset="0"/>
            </a:endParaRPr>
          </a:p>
        </p:txBody>
      </p:sp>
      <p:sp>
        <p:nvSpPr>
          <p:cNvPr id="42" name="Shape 39"/>
          <p:cNvSpPr/>
          <p:nvPr/>
        </p:nvSpPr>
        <p:spPr>
          <a:xfrm>
            <a:off x="13754100" y="5137150"/>
            <a:ext cx="3581400" cy="2169160"/>
          </a:xfrm>
          <a:prstGeom prst="rect">
            <a:avLst/>
          </a:prstGeom>
          <a:solidFill>
            <a:srgbClr val="D9F4D9"/>
          </a:solidFill>
          <a:ln w="10160">
            <a:solidFill>
              <a:srgbClr val="4D9351"/>
            </a:solidFill>
            <a:prstDash val="solid"/>
          </a:ln>
        </p:spPr>
      </p:sp>
      <p:sp>
        <p:nvSpPr>
          <p:cNvPr id="43" name="Text 40"/>
          <p:cNvSpPr/>
          <p:nvPr/>
        </p:nvSpPr>
        <p:spPr>
          <a:xfrm>
            <a:off x="14030960" y="541401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dirty="0">
                <a:solidFill>
                  <a:srgbClr val="1E6626"/>
                </a:solidFill>
                <a:latin typeface="Times New Roman" panose="02020603050405020304" pitchFamily="18" charset="0"/>
                <a:ea typeface="Arial" pitchFamily="34" charset="-122"/>
                <a:cs typeface="Arial" pitchFamily="34" charset="-120"/>
              </a:rPr>
              <a:t>05</a:t>
            </a:r>
            <a:endParaRPr lang="en-US" sz="1800" dirty="0">
              <a:latin typeface="Times New Roman" panose="02020603050405020304" pitchFamily="18" charset="0"/>
            </a:endParaRPr>
          </a:p>
        </p:txBody>
      </p:sp>
      <p:sp>
        <p:nvSpPr>
          <p:cNvPr id="44" name="Text 41"/>
          <p:cNvSpPr/>
          <p:nvPr/>
        </p:nvSpPr>
        <p:spPr>
          <a:xfrm>
            <a:off x="14030960" y="5844540"/>
            <a:ext cx="3118510" cy="79248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0D5117"/>
                </a:solidFill>
                <a:latin typeface="Times New Roman" panose="02020603050405020304" pitchFamily="18" charset="0"/>
                <a:ea typeface="Arial" pitchFamily="34" charset="-122"/>
                <a:cs typeface="Arial" pitchFamily="34" charset="-120"/>
              </a:rPr>
              <a:t>Citation Verification Module</a:t>
            </a:r>
            <a:endParaRPr lang="en-US" sz="2700" dirty="0">
              <a:latin typeface="Times New Roman" panose="02020603050405020304" pitchFamily="18" charset="0"/>
            </a:endParaRPr>
          </a:p>
        </p:txBody>
      </p:sp>
      <p:sp>
        <p:nvSpPr>
          <p:cNvPr id="45" name="Text 42"/>
          <p:cNvSpPr/>
          <p:nvPr/>
        </p:nvSpPr>
        <p:spPr>
          <a:xfrm>
            <a:off x="14030960" y="6675120"/>
            <a:ext cx="3330448"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24244"/>
                </a:solidFill>
                <a:latin typeface="Times New Roman" panose="02020603050405020304" pitchFamily="18" charset="0"/>
                <a:ea typeface="Arial" pitchFamily="34" charset="-122"/>
                <a:cs typeface="Arial" pitchFamily="34" charset="-120"/>
              </a:rPr>
              <a:t>Identity + holding support</a:t>
            </a:r>
            <a:endParaRPr lang="en-US" sz="1800" dirty="0">
              <a:latin typeface="Times New Roman" panose="02020603050405020304" pitchFamily="18" charset="0"/>
            </a:endParaRPr>
          </a:p>
        </p:txBody>
      </p:sp>
      <p:sp>
        <p:nvSpPr>
          <p:cNvPr id="46" name="Shape 43"/>
          <p:cNvSpPr/>
          <p:nvPr/>
        </p:nvSpPr>
        <p:spPr>
          <a:xfrm>
            <a:off x="952500" y="7763510"/>
            <a:ext cx="16383000" cy="9525"/>
          </a:xfrm>
          <a:prstGeom prst="rect">
            <a:avLst/>
          </a:prstGeom>
          <a:solidFill>
            <a:srgbClr val="1D1F20">
              <a:alpha val="16000"/>
            </a:srgbClr>
          </a:solidFill>
          <a:ln/>
        </p:spPr>
      </p:sp>
      <p:sp>
        <p:nvSpPr>
          <p:cNvPr id="47" name="Text 44"/>
          <p:cNvSpPr/>
          <p:nvPr/>
        </p:nvSpPr>
        <p:spPr>
          <a:xfrm>
            <a:off x="952500" y="7997190"/>
            <a:ext cx="567182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ORCHESTRATION</a:t>
            </a:r>
            <a:endParaRPr lang="en-US" sz="1800" dirty="0">
              <a:latin typeface="Times New Roman" panose="02020603050405020304" pitchFamily="18" charset="0"/>
            </a:endParaRPr>
          </a:p>
        </p:txBody>
      </p:sp>
      <p:sp>
        <p:nvSpPr>
          <p:cNvPr id="48" name="Text 45"/>
          <p:cNvSpPr/>
          <p:nvPr/>
        </p:nvSpPr>
        <p:spPr>
          <a:xfrm>
            <a:off x="952500" y="8408670"/>
            <a:ext cx="5671820"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1D1F20"/>
                </a:solidFill>
                <a:latin typeface="Times New Roman" panose="02020603050405020304" pitchFamily="18" charset="0"/>
                <a:ea typeface="Arial" pitchFamily="34" charset="-122"/>
                <a:cs typeface="Arial" pitchFamily="34" charset="-120"/>
              </a:rPr>
              <a:t>LangGraph state machine</a:t>
            </a:r>
            <a:endParaRPr lang="en-US" sz="1950" dirty="0">
              <a:latin typeface="Times New Roman" panose="02020603050405020304" pitchFamily="18" charset="0"/>
            </a:endParaRPr>
          </a:p>
        </p:txBody>
      </p:sp>
      <p:sp>
        <p:nvSpPr>
          <p:cNvPr id="49" name="Text 46"/>
          <p:cNvSpPr/>
          <p:nvPr/>
        </p:nvSpPr>
        <p:spPr>
          <a:xfrm>
            <a:off x="6565900" y="7997190"/>
            <a:ext cx="567182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DEBATE BUDGET</a:t>
            </a:r>
            <a:endParaRPr lang="en-US" sz="1800" dirty="0">
              <a:latin typeface="Times New Roman" panose="02020603050405020304" pitchFamily="18" charset="0"/>
            </a:endParaRPr>
          </a:p>
        </p:txBody>
      </p:sp>
      <p:sp>
        <p:nvSpPr>
          <p:cNvPr id="50" name="Text 47"/>
          <p:cNvSpPr/>
          <p:nvPr/>
        </p:nvSpPr>
        <p:spPr>
          <a:xfrm>
            <a:off x="6565900" y="8408670"/>
            <a:ext cx="5671820"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1D1F20"/>
                </a:solidFill>
                <a:latin typeface="Times New Roman" panose="02020603050405020304" pitchFamily="18" charset="0"/>
                <a:ea typeface="Arial" pitchFamily="34" charset="-122"/>
                <a:cs typeface="Arial" pitchFamily="34" charset="-120"/>
              </a:rPr>
              <a:t>Maximum two rounds per query</a:t>
            </a:r>
            <a:endParaRPr lang="en-US" sz="1950" dirty="0">
              <a:latin typeface="Times New Roman" panose="02020603050405020304" pitchFamily="18" charset="0"/>
            </a:endParaRPr>
          </a:p>
        </p:txBody>
      </p:sp>
      <p:sp>
        <p:nvSpPr>
          <p:cNvPr id="51" name="Text 48"/>
          <p:cNvSpPr/>
          <p:nvPr/>
        </p:nvSpPr>
        <p:spPr>
          <a:xfrm>
            <a:off x="12179300" y="7997190"/>
            <a:ext cx="567182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PROVENANCE</a:t>
            </a:r>
            <a:endParaRPr lang="en-US" sz="1800" dirty="0">
              <a:latin typeface="Times New Roman" panose="02020603050405020304" pitchFamily="18" charset="0"/>
            </a:endParaRPr>
          </a:p>
        </p:txBody>
      </p:sp>
      <p:sp>
        <p:nvSpPr>
          <p:cNvPr id="52" name="Text 49"/>
          <p:cNvSpPr/>
          <p:nvPr/>
        </p:nvSpPr>
        <p:spPr>
          <a:xfrm>
            <a:off x="12179300" y="8408670"/>
            <a:ext cx="5310886" cy="805815"/>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1D1F20"/>
                </a:solidFill>
                <a:latin typeface="Times New Roman" panose="02020603050405020304" pitchFamily="18" charset="0"/>
                <a:ea typeface="Arial" pitchFamily="34" charset="-122"/>
                <a:cs typeface="Arial" pitchFamily="34" charset="-120"/>
              </a:rPr>
              <a:t>Passage IDs kept through debate and verification</a:t>
            </a:r>
            <a:endParaRPr lang="en-US" sz="1950" dirty="0">
              <a:latin typeface="Times New Roman" panose="02020603050405020304" pitchFamily="18" charset="0"/>
            </a:endParaRPr>
          </a:p>
        </p:txBody>
      </p:sp>
      <p:sp>
        <p:nvSpPr>
          <p:cNvPr id="54" name="TextBox 53">
            <a:extLst>
              <a:ext uri="{FF2B5EF4-FFF2-40B4-BE49-F238E27FC236}">
                <a16:creationId xmlns:a16="http://schemas.microsoft.com/office/drawing/2014/main" id="{D997ED60-7683-0FA7-59BD-CA6CF14256C4}"/>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15</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Hybrid Retrieval Pipeline</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228850"/>
            <a:ext cx="2788920" cy="3619500"/>
          </a:xfrm>
          <a:prstGeom prst="rect">
            <a:avLst/>
          </a:prstGeom>
          <a:solidFill>
            <a:srgbClr val="CAF5F2"/>
          </a:solidFill>
          <a:ln w="10160">
            <a:solidFill>
              <a:srgbClr val="009690"/>
            </a:solidFill>
            <a:prstDash val="solid"/>
          </a:ln>
        </p:spPr>
      </p:sp>
      <p:sp>
        <p:nvSpPr>
          <p:cNvPr id="6" name="Text 3"/>
          <p:cNvSpPr/>
          <p:nvPr/>
        </p:nvSpPr>
        <p:spPr>
          <a:xfrm>
            <a:off x="1191260" y="3588068"/>
            <a:ext cx="2542540"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Ingest CAP</a:t>
            </a:r>
            <a:endParaRPr lang="en-US" sz="2250" dirty="0">
              <a:latin typeface="Times New Roman" panose="02020603050405020304" pitchFamily="18" charset="0"/>
            </a:endParaRPr>
          </a:p>
        </p:txBody>
      </p:sp>
      <p:sp>
        <p:nvSpPr>
          <p:cNvPr id="7" name="Text 4"/>
          <p:cNvSpPr/>
          <p:nvPr/>
        </p:nvSpPr>
        <p:spPr>
          <a:xfrm>
            <a:off x="1191260" y="3940493"/>
            <a:ext cx="238760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Case, court, year, reporter, page</a:t>
            </a:r>
            <a:endParaRPr lang="en-US" sz="1800" dirty="0">
              <a:latin typeface="Times New Roman" panose="02020603050405020304" pitchFamily="18" charset="0"/>
            </a:endParaRPr>
          </a:p>
        </p:txBody>
      </p:sp>
      <p:sp>
        <p:nvSpPr>
          <p:cNvPr id="8" name="Text 5"/>
          <p:cNvSpPr/>
          <p:nvPr/>
        </p:nvSpPr>
        <p:spPr>
          <a:xfrm>
            <a:off x="3886517" y="384810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9" name="Shape 6"/>
          <p:cNvSpPr/>
          <p:nvPr/>
        </p:nvSpPr>
        <p:spPr>
          <a:xfrm>
            <a:off x="4351020" y="2228850"/>
            <a:ext cx="2788920" cy="3619500"/>
          </a:xfrm>
          <a:prstGeom prst="rect">
            <a:avLst/>
          </a:prstGeom>
          <a:solidFill>
            <a:srgbClr val="CAF5F2"/>
          </a:solidFill>
          <a:ln w="10160">
            <a:solidFill>
              <a:srgbClr val="009690"/>
            </a:solidFill>
            <a:prstDash val="solid"/>
          </a:ln>
        </p:spPr>
      </p:sp>
      <p:sp>
        <p:nvSpPr>
          <p:cNvPr id="10" name="Text 7"/>
          <p:cNvSpPr/>
          <p:nvPr/>
        </p:nvSpPr>
        <p:spPr>
          <a:xfrm>
            <a:off x="4589780" y="3450907"/>
            <a:ext cx="2542540"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Chunk</a:t>
            </a:r>
            <a:endParaRPr lang="en-US" sz="2250" dirty="0">
              <a:latin typeface="Times New Roman" panose="02020603050405020304" pitchFamily="18" charset="0"/>
            </a:endParaRPr>
          </a:p>
        </p:txBody>
      </p:sp>
      <p:sp>
        <p:nvSpPr>
          <p:cNvPr id="11" name="Text 8"/>
          <p:cNvSpPr/>
          <p:nvPr/>
        </p:nvSpPr>
        <p:spPr>
          <a:xfrm>
            <a:off x="4589780" y="3803332"/>
            <a:ext cx="2387600" cy="861060"/>
          </a:xfrm>
          <a:prstGeom prst="rect">
            <a:avLst/>
          </a:prstGeom>
          <a:noFill/>
          <a:ln/>
        </p:spPr>
        <p:txBody>
          <a:bodyPr wrap="square" lIns="25400" tIns="25400" rIns="25400" bIns="25400" rtlCol="0" anchor="t">
            <a:normAutofit/>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450 words, 75-word overlap, parent IDs kept</a:t>
            </a:r>
            <a:endParaRPr lang="en-US" sz="1800" dirty="0">
              <a:latin typeface="Times New Roman" panose="02020603050405020304" pitchFamily="18" charset="0"/>
            </a:endParaRPr>
          </a:p>
        </p:txBody>
      </p:sp>
      <p:sp>
        <p:nvSpPr>
          <p:cNvPr id="12" name="Text 9"/>
          <p:cNvSpPr/>
          <p:nvPr/>
        </p:nvSpPr>
        <p:spPr>
          <a:xfrm>
            <a:off x="7285037" y="287655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13" name="Text 10"/>
          <p:cNvSpPr/>
          <p:nvPr/>
        </p:nvSpPr>
        <p:spPr>
          <a:xfrm>
            <a:off x="7285037" y="481965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14" name="Shape 11"/>
          <p:cNvSpPr/>
          <p:nvPr/>
        </p:nvSpPr>
        <p:spPr>
          <a:xfrm>
            <a:off x="7749540" y="2228850"/>
            <a:ext cx="2788920" cy="1676400"/>
          </a:xfrm>
          <a:prstGeom prst="rect">
            <a:avLst/>
          </a:prstGeom>
          <a:solidFill>
            <a:srgbClr val="CAF5F2"/>
          </a:solidFill>
          <a:ln w="10160">
            <a:solidFill>
              <a:srgbClr val="009690"/>
            </a:solidFill>
            <a:prstDash val="solid"/>
          </a:ln>
        </p:spPr>
      </p:sp>
      <p:sp>
        <p:nvSpPr>
          <p:cNvPr id="15" name="Text 12"/>
          <p:cNvSpPr/>
          <p:nvPr/>
        </p:nvSpPr>
        <p:spPr>
          <a:xfrm>
            <a:off x="7988300" y="2616518"/>
            <a:ext cx="2542540"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Dense search</a:t>
            </a:r>
            <a:endParaRPr lang="en-US" sz="2250" dirty="0">
              <a:latin typeface="Times New Roman" panose="02020603050405020304" pitchFamily="18" charset="0"/>
            </a:endParaRPr>
          </a:p>
        </p:txBody>
      </p:sp>
      <p:sp>
        <p:nvSpPr>
          <p:cNvPr id="16" name="Text 13"/>
          <p:cNvSpPr/>
          <p:nvPr/>
        </p:nvSpPr>
        <p:spPr>
          <a:xfrm>
            <a:off x="7988300" y="2968943"/>
            <a:ext cx="238760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Legal-BERT + ChromaDB · top 4</a:t>
            </a:r>
            <a:endParaRPr lang="en-US" sz="1800" dirty="0">
              <a:latin typeface="Times New Roman" panose="02020603050405020304" pitchFamily="18" charset="0"/>
            </a:endParaRPr>
          </a:p>
        </p:txBody>
      </p:sp>
      <p:sp>
        <p:nvSpPr>
          <p:cNvPr id="17" name="Shape 14"/>
          <p:cNvSpPr/>
          <p:nvPr/>
        </p:nvSpPr>
        <p:spPr>
          <a:xfrm>
            <a:off x="7749540" y="4171950"/>
            <a:ext cx="2788920" cy="1676400"/>
          </a:xfrm>
          <a:prstGeom prst="rect">
            <a:avLst/>
          </a:prstGeom>
          <a:solidFill>
            <a:srgbClr val="CAF5F2"/>
          </a:solidFill>
          <a:ln w="10160">
            <a:solidFill>
              <a:srgbClr val="009690"/>
            </a:solidFill>
            <a:prstDash val="solid"/>
          </a:ln>
        </p:spPr>
      </p:sp>
      <p:sp>
        <p:nvSpPr>
          <p:cNvPr id="18" name="Text 15"/>
          <p:cNvSpPr/>
          <p:nvPr/>
        </p:nvSpPr>
        <p:spPr>
          <a:xfrm>
            <a:off x="7988300" y="4559618"/>
            <a:ext cx="2542540"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Lexical search</a:t>
            </a:r>
            <a:endParaRPr lang="en-US" sz="2250" dirty="0">
              <a:latin typeface="Times New Roman" panose="02020603050405020304" pitchFamily="18" charset="0"/>
            </a:endParaRPr>
          </a:p>
        </p:txBody>
      </p:sp>
      <p:sp>
        <p:nvSpPr>
          <p:cNvPr id="19" name="Text 16"/>
          <p:cNvSpPr/>
          <p:nvPr/>
        </p:nvSpPr>
        <p:spPr>
          <a:xfrm>
            <a:off x="7988300" y="4912043"/>
            <a:ext cx="238760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BM25 on names and terms · top 4</a:t>
            </a:r>
            <a:endParaRPr lang="en-US" sz="1800" dirty="0">
              <a:latin typeface="Times New Roman" panose="02020603050405020304" pitchFamily="18" charset="0"/>
            </a:endParaRPr>
          </a:p>
        </p:txBody>
      </p:sp>
      <p:sp>
        <p:nvSpPr>
          <p:cNvPr id="20" name="Text 17"/>
          <p:cNvSpPr/>
          <p:nvPr/>
        </p:nvSpPr>
        <p:spPr>
          <a:xfrm>
            <a:off x="10683557" y="287655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21" name="Text 18"/>
          <p:cNvSpPr/>
          <p:nvPr/>
        </p:nvSpPr>
        <p:spPr>
          <a:xfrm>
            <a:off x="10683557" y="481965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22" name="Shape 19"/>
          <p:cNvSpPr/>
          <p:nvPr/>
        </p:nvSpPr>
        <p:spPr>
          <a:xfrm>
            <a:off x="11148060" y="2228850"/>
            <a:ext cx="2788920" cy="3619500"/>
          </a:xfrm>
          <a:prstGeom prst="rect">
            <a:avLst/>
          </a:prstGeom>
          <a:solidFill>
            <a:srgbClr val="CAF5F2"/>
          </a:solidFill>
          <a:ln w="10160">
            <a:solidFill>
              <a:srgbClr val="009690"/>
            </a:solidFill>
            <a:prstDash val="solid"/>
          </a:ln>
        </p:spPr>
      </p:sp>
      <p:sp>
        <p:nvSpPr>
          <p:cNvPr id="23" name="Text 20"/>
          <p:cNvSpPr/>
          <p:nvPr/>
        </p:nvSpPr>
        <p:spPr>
          <a:xfrm>
            <a:off x="11386820" y="3293745"/>
            <a:ext cx="2387600" cy="666750"/>
          </a:xfrm>
          <a:prstGeom prst="rect">
            <a:avLst/>
          </a:prstGeom>
          <a:noFill/>
          <a:ln/>
        </p:spPr>
        <p:txBody>
          <a:bodyPr wrap="square" lIns="25400" tIns="25400" rIns="25400" bIns="25400" rtlCol="0" anchor="t">
            <a:normAutofit lnSpcReduction="10000"/>
          </a:bodyPr>
          <a:lstStyle/>
          <a:p>
            <a:pPr marL="0" indent="0" algn="just">
              <a:lnSpc>
                <a:spcPct val="98214"/>
              </a:lnSpc>
              <a:buNone/>
            </a:pPr>
            <a:r>
              <a:rPr lang="en-US" sz="2250" b="1" dirty="0">
                <a:solidFill>
                  <a:srgbClr val="00534F"/>
                </a:solidFill>
                <a:latin typeface="Times New Roman" panose="02020603050405020304" pitchFamily="18" charset="0"/>
                <a:ea typeface="Arial" pitchFamily="34" charset="-122"/>
                <a:cs typeface="Arial" pitchFamily="34" charset="-120"/>
              </a:rPr>
              <a:t>Reciprocal Rank Fusion</a:t>
            </a:r>
            <a:endParaRPr lang="en-US" sz="2250" dirty="0">
              <a:latin typeface="Times New Roman" panose="02020603050405020304" pitchFamily="18" charset="0"/>
            </a:endParaRPr>
          </a:p>
        </p:txBody>
      </p:sp>
      <p:sp>
        <p:nvSpPr>
          <p:cNvPr id="24" name="Text 21"/>
          <p:cNvSpPr/>
          <p:nvPr/>
        </p:nvSpPr>
        <p:spPr>
          <a:xfrm>
            <a:off x="11386820" y="3960495"/>
            <a:ext cx="2387600" cy="86106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Deduplicate by document ID · ≤ 8 passages</a:t>
            </a:r>
            <a:endParaRPr lang="en-US" sz="1800" dirty="0">
              <a:latin typeface="Times New Roman" panose="02020603050405020304" pitchFamily="18" charset="0"/>
            </a:endParaRPr>
          </a:p>
        </p:txBody>
      </p:sp>
      <p:sp>
        <p:nvSpPr>
          <p:cNvPr id="25" name="Text 22"/>
          <p:cNvSpPr/>
          <p:nvPr/>
        </p:nvSpPr>
        <p:spPr>
          <a:xfrm>
            <a:off x="14082078" y="3848100"/>
            <a:ext cx="395446" cy="4191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26" name="Shape 23"/>
          <p:cNvSpPr/>
          <p:nvPr/>
        </p:nvSpPr>
        <p:spPr>
          <a:xfrm>
            <a:off x="14546580" y="2228850"/>
            <a:ext cx="2788920" cy="3619500"/>
          </a:xfrm>
          <a:prstGeom prst="rect">
            <a:avLst/>
          </a:prstGeom>
          <a:solidFill>
            <a:srgbClr val="4C3173"/>
          </a:solidFill>
          <a:ln/>
        </p:spPr>
      </p:sp>
      <p:sp>
        <p:nvSpPr>
          <p:cNvPr id="27" name="Text 24"/>
          <p:cNvSpPr/>
          <p:nvPr/>
        </p:nvSpPr>
        <p:spPr>
          <a:xfrm>
            <a:off x="14775180" y="3450907"/>
            <a:ext cx="2564892"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F2F2F3"/>
                </a:solidFill>
                <a:latin typeface="Times New Roman" panose="02020603050405020304" pitchFamily="18" charset="0"/>
                <a:ea typeface="Arial" pitchFamily="34" charset="-122"/>
                <a:cs typeface="Arial" pitchFamily="34" charset="-120"/>
              </a:rPr>
              <a:t>Evidence to agents</a:t>
            </a:r>
            <a:endParaRPr lang="en-US" sz="2250" dirty="0">
              <a:latin typeface="Times New Roman" panose="02020603050405020304" pitchFamily="18" charset="0"/>
            </a:endParaRPr>
          </a:p>
        </p:txBody>
      </p:sp>
      <p:sp>
        <p:nvSpPr>
          <p:cNvPr id="28" name="Text 25"/>
          <p:cNvSpPr/>
          <p:nvPr/>
        </p:nvSpPr>
        <p:spPr>
          <a:xfrm>
            <a:off x="14775180" y="3803332"/>
            <a:ext cx="2407920" cy="861060"/>
          </a:xfrm>
          <a:prstGeom prst="rect">
            <a:avLst/>
          </a:prstGeom>
          <a:noFill/>
          <a:ln/>
        </p:spPr>
        <p:txBody>
          <a:bodyPr wrap="square" lIns="25400" tIns="25400" rIns="25400" bIns="25400" rtlCol="0" anchor="t">
            <a:normAutofit/>
          </a:bodyPr>
          <a:lstStyle/>
          <a:p>
            <a:pPr marL="0" indent="0" algn="just">
              <a:lnSpc>
                <a:spcPct val="105882"/>
              </a:lnSpc>
              <a:buNone/>
            </a:pPr>
            <a:r>
              <a:rPr lang="en-US" sz="1800" dirty="0">
                <a:solidFill>
                  <a:srgbClr val="F5F5F8"/>
                </a:solidFill>
                <a:latin typeface="Times New Roman" panose="02020603050405020304" pitchFamily="18" charset="0"/>
                <a:ea typeface="Arial" pitchFamily="34" charset="-122"/>
                <a:cs typeface="Arial" pitchFamily="34" charset="-120"/>
              </a:rPr>
              <a:t>Passage IDs + metadata travel with each claim</a:t>
            </a:r>
            <a:endParaRPr lang="en-US" sz="1800" dirty="0">
              <a:latin typeface="Times New Roman" panose="02020603050405020304" pitchFamily="18" charset="0"/>
            </a:endParaRPr>
          </a:p>
        </p:txBody>
      </p:sp>
      <p:sp>
        <p:nvSpPr>
          <p:cNvPr id="29" name="Shape 26"/>
          <p:cNvSpPr/>
          <p:nvPr/>
        </p:nvSpPr>
        <p:spPr>
          <a:xfrm>
            <a:off x="952500" y="6229350"/>
            <a:ext cx="16383000" cy="9525"/>
          </a:xfrm>
          <a:prstGeom prst="rect">
            <a:avLst/>
          </a:prstGeom>
          <a:solidFill>
            <a:srgbClr val="1D1F20">
              <a:alpha val="16000"/>
            </a:srgbClr>
          </a:solidFill>
          <a:ln/>
        </p:spPr>
      </p:sp>
      <p:sp>
        <p:nvSpPr>
          <p:cNvPr id="30" name="Text 27"/>
          <p:cNvSpPr/>
          <p:nvPr/>
        </p:nvSpPr>
        <p:spPr>
          <a:xfrm>
            <a:off x="952500" y="6697821"/>
            <a:ext cx="8591550" cy="723900"/>
          </a:xfrm>
          <a:prstGeom prst="rect">
            <a:avLst/>
          </a:prstGeom>
          <a:noFill/>
          <a:ln/>
        </p:spPr>
        <p:txBody>
          <a:bodyPr wrap="square" lIns="25400" tIns="25400" rIns="25400" bIns="25400" rtlCol="0" anchor="t">
            <a:normAutofit fontScale="92500" lnSpcReduction="10000"/>
          </a:bodyPr>
          <a:lstStyle/>
          <a:p>
            <a:pPr marL="0" indent="0" algn="just">
              <a:lnSpc>
                <a:spcPct val="88816"/>
              </a:lnSpc>
              <a:buNone/>
            </a:pPr>
            <a:r>
              <a:rPr lang="en-US" sz="5400" b="1" dirty="0">
                <a:solidFill>
                  <a:srgbClr val="416180"/>
                </a:solidFill>
                <a:latin typeface="Times New Roman" panose="02020603050405020304" pitchFamily="18" charset="0"/>
                <a:ea typeface="Arial" pitchFamily="34" charset="-122"/>
                <a:cs typeface="Arial" pitchFamily="34" charset="-120"/>
              </a:rPr>
              <a:t>RRF(d) = Σ 1 / (60 + rankᵢ(d))</a:t>
            </a:r>
            <a:endParaRPr lang="en-US" sz="5400" dirty="0">
              <a:latin typeface="Times New Roman" panose="02020603050405020304" pitchFamily="18" charset="0"/>
            </a:endParaRPr>
          </a:p>
        </p:txBody>
      </p:sp>
      <p:sp>
        <p:nvSpPr>
          <p:cNvPr id="31" name="Text 28"/>
          <p:cNvSpPr/>
          <p:nvPr/>
        </p:nvSpPr>
        <p:spPr>
          <a:xfrm>
            <a:off x="9525000" y="6539230"/>
            <a:ext cx="8044815" cy="1041082"/>
          </a:xfrm>
          <a:prstGeom prst="rect">
            <a:avLst/>
          </a:prstGeom>
          <a:noFill/>
          <a:ln/>
        </p:spPr>
        <p:txBody>
          <a:bodyPr wrap="square" lIns="25400" tIns="25400" rIns="25400" bIns="25400" rtlCol="0" anchor="t">
            <a:normAutofit/>
          </a:bodyPr>
          <a:lstStyle/>
          <a:p>
            <a:pPr marL="0" indent="0" algn="just">
              <a:lnSpc>
                <a:spcPct val="117522"/>
              </a:lnSpc>
              <a:buNone/>
            </a:pPr>
            <a:r>
              <a:rPr lang="en-US" sz="1950" dirty="0">
                <a:solidFill>
                  <a:srgbClr val="1D1F20"/>
                </a:solidFill>
                <a:latin typeface="Times New Roman" panose="02020603050405020304" pitchFamily="18" charset="0"/>
                <a:ea typeface="Arial" pitchFamily="34" charset="-122"/>
                <a:cs typeface="Arial" pitchFamily="34" charset="-120"/>
              </a:rPr>
              <a:t>Exact case names and reporter keys come from BM25; paraphrased holdings come from dense search. Fusion rewards passages that rank well in both.</a:t>
            </a:r>
            <a:endParaRPr lang="en-US" sz="1950" dirty="0">
              <a:latin typeface="Times New Roman" panose="02020603050405020304" pitchFamily="18" charset="0"/>
            </a:endParaRPr>
          </a:p>
        </p:txBody>
      </p:sp>
      <p:sp>
        <p:nvSpPr>
          <p:cNvPr id="33" name="TextBox 32">
            <a:extLst>
              <a:ext uri="{FF2B5EF4-FFF2-40B4-BE49-F238E27FC236}">
                <a16:creationId xmlns:a16="http://schemas.microsoft.com/office/drawing/2014/main" id="{C4F5F0E2-D1F7-A3B1-C938-754B4B8FB566}"/>
              </a:ext>
            </a:extLst>
          </p:cNvPr>
          <p:cNvSpPr txBox="1"/>
          <p:nvPr/>
        </p:nvSpPr>
        <p:spPr>
          <a:xfrm>
            <a:off x="17499011" y="9589770"/>
            <a:ext cx="474663"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16</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Agent Roles and Evidence-Disjoint Defense</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3838575" cy="2867660"/>
          </a:xfrm>
          <a:prstGeom prst="rect">
            <a:avLst/>
          </a:prstGeom>
          <a:ln w="5080">
            <a:solidFill>
              <a:srgbClr val="1D1F20">
                <a:alpha val="16000"/>
              </a:srgbClr>
            </a:solidFill>
            <a:prstDash val="solid"/>
          </a:ln>
        </p:spPr>
      </p:sp>
      <p:sp>
        <p:nvSpPr>
          <p:cNvPr id="6" name="Text 3"/>
          <p:cNvSpPr/>
          <p:nvPr/>
        </p:nvSpPr>
        <p:spPr>
          <a:xfrm>
            <a:off x="1262380" y="2614930"/>
            <a:ext cx="3540696"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1D1F20"/>
                </a:solidFill>
                <a:latin typeface="Times New Roman" panose="02020603050405020304" pitchFamily="18" charset="0"/>
                <a:ea typeface="Arial" pitchFamily="34" charset="-122"/>
                <a:cs typeface="Arial" pitchFamily="34" charset="-120"/>
              </a:rPr>
              <a:t>Prosecutor</a:t>
            </a:r>
            <a:endParaRPr lang="en-US" sz="3000" dirty="0">
              <a:latin typeface="Times New Roman" panose="02020603050405020304" pitchFamily="18" charset="0"/>
            </a:endParaRPr>
          </a:p>
        </p:txBody>
      </p:sp>
      <p:sp>
        <p:nvSpPr>
          <p:cNvPr id="7" name="Text 4"/>
          <p:cNvSpPr/>
          <p:nvPr/>
        </p:nvSpPr>
        <p:spPr>
          <a:xfrm>
            <a:off x="1262380" y="3357880"/>
            <a:ext cx="3315379" cy="103632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Drafts an answer from retrieved case passages</a:t>
            </a:r>
            <a:endParaRPr lang="en-US" sz="1950" dirty="0">
              <a:latin typeface="Times New Roman" panose="02020603050405020304" pitchFamily="18" charset="0"/>
            </a:endParaRPr>
          </a:p>
        </p:txBody>
      </p:sp>
      <p:sp>
        <p:nvSpPr>
          <p:cNvPr id="8" name="Text 5"/>
          <p:cNvSpPr/>
          <p:nvPr/>
        </p:nvSpPr>
        <p:spPr>
          <a:xfrm>
            <a:off x="1262380" y="4508500"/>
            <a:ext cx="3540696"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Argument + candidate citations</a:t>
            </a:r>
            <a:endParaRPr lang="en-US" sz="1800" dirty="0">
              <a:latin typeface="Times New Roman" panose="02020603050405020304" pitchFamily="18" charset="0"/>
            </a:endParaRPr>
          </a:p>
        </p:txBody>
      </p:sp>
      <p:sp>
        <p:nvSpPr>
          <p:cNvPr id="9" name="Shape 6"/>
          <p:cNvSpPr/>
          <p:nvPr/>
        </p:nvSpPr>
        <p:spPr>
          <a:xfrm>
            <a:off x="5133975" y="2305050"/>
            <a:ext cx="3838575" cy="2867660"/>
          </a:xfrm>
          <a:prstGeom prst="rect">
            <a:avLst/>
          </a:prstGeom>
          <a:ln w="5080">
            <a:solidFill>
              <a:srgbClr val="1D1F20">
                <a:alpha val="16000"/>
              </a:srgbClr>
            </a:solidFill>
            <a:prstDash val="solid"/>
          </a:ln>
        </p:spPr>
      </p:sp>
      <p:sp>
        <p:nvSpPr>
          <p:cNvPr id="10" name="Text 7"/>
          <p:cNvSpPr/>
          <p:nvPr/>
        </p:nvSpPr>
        <p:spPr>
          <a:xfrm>
            <a:off x="5443855" y="2614930"/>
            <a:ext cx="3540696"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1D1F20"/>
                </a:solidFill>
                <a:latin typeface="Times New Roman" panose="02020603050405020304" pitchFamily="18" charset="0"/>
                <a:ea typeface="Arial" pitchFamily="34" charset="-122"/>
                <a:cs typeface="Arial" pitchFamily="34" charset="-120"/>
              </a:rPr>
              <a:t>Defense</a:t>
            </a:r>
            <a:endParaRPr lang="en-US" sz="3000" dirty="0">
              <a:latin typeface="Times New Roman" panose="02020603050405020304" pitchFamily="18" charset="0"/>
            </a:endParaRPr>
          </a:p>
        </p:txBody>
      </p:sp>
      <p:sp>
        <p:nvSpPr>
          <p:cNvPr id="11" name="Text 8"/>
          <p:cNvSpPr/>
          <p:nvPr/>
        </p:nvSpPr>
        <p:spPr>
          <a:xfrm>
            <a:off x="5443855" y="3357880"/>
            <a:ext cx="3315379"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Retrieves its own evidence and challenges the claims</a:t>
            </a:r>
            <a:endParaRPr lang="en-US" sz="1950" dirty="0">
              <a:latin typeface="Times New Roman" panose="02020603050405020304" pitchFamily="18" charset="0"/>
            </a:endParaRPr>
          </a:p>
        </p:txBody>
      </p:sp>
      <p:sp>
        <p:nvSpPr>
          <p:cNvPr id="12" name="Text 9"/>
          <p:cNvSpPr/>
          <p:nvPr/>
        </p:nvSpPr>
        <p:spPr>
          <a:xfrm>
            <a:off x="5443855" y="4154170"/>
            <a:ext cx="3315379" cy="746760"/>
          </a:xfrm>
          <a:prstGeom prst="rect">
            <a:avLst/>
          </a:prstGeom>
          <a:noFill/>
          <a:ln/>
        </p:spPr>
        <p:txBody>
          <a:bodyPr wrap="square" lIns="25400" tIns="25400" rIns="25400" bIns="25400" rtlCol="0" anchor="t">
            <a:normAutofit lnSpcReduction="10000"/>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Challenges, counter-citations, concession</a:t>
            </a:r>
            <a:endParaRPr lang="en-US" sz="1800" dirty="0">
              <a:latin typeface="Times New Roman" panose="02020603050405020304" pitchFamily="18" charset="0"/>
            </a:endParaRPr>
          </a:p>
        </p:txBody>
      </p:sp>
      <p:sp>
        <p:nvSpPr>
          <p:cNvPr id="13" name="Shape 10"/>
          <p:cNvSpPr/>
          <p:nvPr/>
        </p:nvSpPr>
        <p:spPr>
          <a:xfrm>
            <a:off x="9315450" y="2305050"/>
            <a:ext cx="3838575" cy="2867660"/>
          </a:xfrm>
          <a:prstGeom prst="rect">
            <a:avLst/>
          </a:prstGeom>
          <a:ln w="5080">
            <a:solidFill>
              <a:srgbClr val="1D1F20">
                <a:alpha val="16000"/>
              </a:srgbClr>
            </a:solidFill>
            <a:prstDash val="solid"/>
          </a:ln>
        </p:spPr>
      </p:sp>
      <p:sp>
        <p:nvSpPr>
          <p:cNvPr id="14" name="Text 11"/>
          <p:cNvSpPr/>
          <p:nvPr/>
        </p:nvSpPr>
        <p:spPr>
          <a:xfrm>
            <a:off x="9625330" y="2614930"/>
            <a:ext cx="3540696"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1D1F20"/>
                </a:solidFill>
                <a:latin typeface="Times New Roman" panose="02020603050405020304" pitchFamily="18" charset="0"/>
                <a:ea typeface="Arial" pitchFamily="34" charset="-122"/>
                <a:cs typeface="Arial" pitchFamily="34" charset="-120"/>
              </a:rPr>
              <a:t>Reflection</a:t>
            </a:r>
            <a:endParaRPr lang="en-US" sz="3000" dirty="0">
              <a:latin typeface="Times New Roman" panose="02020603050405020304" pitchFamily="18" charset="0"/>
            </a:endParaRPr>
          </a:p>
        </p:txBody>
      </p:sp>
      <p:sp>
        <p:nvSpPr>
          <p:cNvPr id="15" name="Text 12"/>
          <p:cNvSpPr/>
          <p:nvPr/>
        </p:nvSpPr>
        <p:spPr>
          <a:xfrm>
            <a:off x="9625330" y="3357880"/>
            <a:ext cx="3315379"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Reviews the debate and citation-confidence feedback</a:t>
            </a:r>
            <a:endParaRPr lang="en-US" sz="1950" dirty="0">
              <a:latin typeface="Times New Roman" panose="02020603050405020304" pitchFamily="18" charset="0"/>
            </a:endParaRPr>
          </a:p>
        </p:txBody>
      </p:sp>
      <p:sp>
        <p:nvSpPr>
          <p:cNvPr id="16" name="Text 13"/>
          <p:cNvSpPr/>
          <p:nvPr/>
        </p:nvSpPr>
        <p:spPr>
          <a:xfrm>
            <a:off x="9625330" y="4154170"/>
            <a:ext cx="3315379" cy="746760"/>
          </a:xfrm>
          <a:prstGeom prst="rect">
            <a:avLst/>
          </a:prstGeom>
          <a:noFill/>
          <a:ln/>
        </p:spPr>
        <p:txBody>
          <a:bodyPr wrap="square" lIns="25400" tIns="25400" rIns="25400" bIns="25400" rtlCol="0" anchor="t">
            <a:normAutofit lnSpcReduction="10000"/>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Gaps, targeted queries, quality score</a:t>
            </a:r>
            <a:endParaRPr lang="en-US" sz="1800" dirty="0">
              <a:latin typeface="Times New Roman" panose="02020603050405020304" pitchFamily="18" charset="0"/>
            </a:endParaRPr>
          </a:p>
        </p:txBody>
      </p:sp>
      <p:sp>
        <p:nvSpPr>
          <p:cNvPr id="17" name="Shape 14"/>
          <p:cNvSpPr/>
          <p:nvPr/>
        </p:nvSpPr>
        <p:spPr>
          <a:xfrm>
            <a:off x="13496925" y="2305050"/>
            <a:ext cx="3838575" cy="2867660"/>
          </a:xfrm>
          <a:prstGeom prst="rect">
            <a:avLst/>
          </a:prstGeom>
          <a:ln w="5080">
            <a:solidFill>
              <a:srgbClr val="1D1F20">
                <a:alpha val="16000"/>
              </a:srgbClr>
            </a:solidFill>
            <a:prstDash val="solid"/>
          </a:ln>
        </p:spPr>
      </p:sp>
      <p:sp>
        <p:nvSpPr>
          <p:cNvPr id="18" name="Text 15"/>
          <p:cNvSpPr/>
          <p:nvPr/>
        </p:nvSpPr>
        <p:spPr>
          <a:xfrm>
            <a:off x="13806805" y="2614930"/>
            <a:ext cx="3540696"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1D1F20"/>
                </a:solidFill>
                <a:latin typeface="Times New Roman" panose="02020603050405020304" pitchFamily="18" charset="0"/>
                <a:ea typeface="Arial" pitchFamily="34" charset="-122"/>
                <a:cs typeface="Arial" pitchFamily="34" charset="-120"/>
              </a:rPr>
              <a:t>Judge</a:t>
            </a:r>
            <a:endParaRPr lang="en-US" sz="3000" dirty="0">
              <a:latin typeface="Times New Roman" panose="02020603050405020304" pitchFamily="18" charset="0"/>
            </a:endParaRPr>
          </a:p>
        </p:txBody>
      </p:sp>
      <p:sp>
        <p:nvSpPr>
          <p:cNvPr id="19" name="Text 16"/>
          <p:cNvSpPr/>
          <p:nvPr/>
        </p:nvSpPr>
        <p:spPr>
          <a:xfrm>
            <a:off x="13806805" y="3357880"/>
            <a:ext cx="3315379" cy="1036320"/>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Synthesises the debate; keeps only CVM-supported citations</a:t>
            </a:r>
            <a:endParaRPr lang="en-US" sz="1950" dirty="0">
              <a:latin typeface="Times New Roman" panose="02020603050405020304" pitchFamily="18" charset="0"/>
            </a:endParaRPr>
          </a:p>
        </p:txBody>
      </p:sp>
      <p:sp>
        <p:nvSpPr>
          <p:cNvPr id="20" name="Text 17"/>
          <p:cNvSpPr/>
          <p:nvPr/>
        </p:nvSpPr>
        <p:spPr>
          <a:xfrm>
            <a:off x="13806805" y="4508500"/>
            <a:ext cx="3540696"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416180"/>
                </a:solidFill>
                <a:latin typeface="Times New Roman" panose="02020603050405020304" pitchFamily="18" charset="0"/>
                <a:ea typeface="Arial" pitchFamily="34" charset="-122"/>
                <a:cs typeface="Arial" pitchFamily="34" charset="-120"/>
              </a:rPr>
              <a:t>Answer, verdict, confidence</a:t>
            </a:r>
            <a:endParaRPr lang="en-US" sz="1800" dirty="0">
              <a:latin typeface="Times New Roman" panose="02020603050405020304" pitchFamily="18" charset="0"/>
            </a:endParaRPr>
          </a:p>
        </p:txBody>
      </p:sp>
      <p:sp>
        <p:nvSpPr>
          <p:cNvPr id="21" name="Shape 18"/>
          <p:cNvSpPr/>
          <p:nvPr/>
        </p:nvSpPr>
        <p:spPr>
          <a:xfrm>
            <a:off x="952500" y="5629910"/>
            <a:ext cx="16383000" cy="10160"/>
          </a:xfrm>
          <a:prstGeom prst="rect">
            <a:avLst/>
          </a:prstGeom>
          <a:solidFill>
            <a:srgbClr val="1D1F20"/>
          </a:solidFill>
          <a:ln/>
        </p:spPr>
      </p:sp>
      <p:sp>
        <p:nvSpPr>
          <p:cNvPr id="22" name="Text 19"/>
          <p:cNvSpPr/>
          <p:nvPr/>
        </p:nvSpPr>
        <p:spPr>
          <a:xfrm>
            <a:off x="952500" y="5906770"/>
            <a:ext cx="2552700" cy="1112520"/>
          </a:xfrm>
          <a:prstGeom prst="rect">
            <a:avLst/>
          </a:prstGeom>
          <a:noFill/>
          <a:ln/>
        </p:spPr>
        <p:txBody>
          <a:bodyPr wrap="square" lIns="25400" tIns="25400" rIns="25400" bIns="25400" rtlCol="0" anchor="t">
            <a:normAutofit/>
          </a:bodyPr>
          <a:lstStyle/>
          <a:p>
            <a:pPr marL="0" indent="0" algn="just">
              <a:lnSpc>
                <a:spcPct val="98214"/>
              </a:lnSpc>
              <a:buNone/>
            </a:pPr>
            <a:r>
              <a:rPr lang="en-US" sz="2250" b="1" dirty="0">
                <a:solidFill>
                  <a:srgbClr val="1D1F20"/>
                </a:solidFill>
                <a:latin typeface="Times New Roman" panose="02020603050405020304" pitchFamily="18" charset="0"/>
                <a:ea typeface="Arial" pitchFamily="34" charset="-122"/>
                <a:cs typeface="Arial" pitchFamily="34" charset="-120"/>
              </a:rPr>
              <a:t>Defense independence</a:t>
            </a:r>
            <a:endParaRPr lang="en-US" sz="2250" dirty="0">
              <a:latin typeface="Times New Roman" panose="02020603050405020304" pitchFamily="18" charset="0"/>
            </a:endParaRPr>
          </a:p>
        </p:txBody>
      </p:sp>
      <p:sp>
        <p:nvSpPr>
          <p:cNvPr id="23" name="Text 20"/>
          <p:cNvSpPr/>
          <p:nvPr/>
        </p:nvSpPr>
        <p:spPr>
          <a:xfrm>
            <a:off x="3810000" y="5906770"/>
            <a:ext cx="467995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COUNTER-QUERIES</a:t>
            </a:r>
            <a:endParaRPr lang="en-US" sz="1800" dirty="0">
              <a:latin typeface="Times New Roman" panose="02020603050405020304" pitchFamily="18" charset="0"/>
            </a:endParaRPr>
          </a:p>
        </p:txBody>
      </p:sp>
      <p:sp>
        <p:nvSpPr>
          <p:cNvPr id="24" name="Text 21"/>
          <p:cNvSpPr/>
          <p:nvPr/>
        </p:nvSpPr>
        <p:spPr>
          <a:xfrm>
            <a:off x="3810000" y="6337300"/>
            <a:ext cx="4382135"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Question + exception terms; cited case + “overruled”, “distinguished”</a:t>
            </a:r>
            <a:endParaRPr lang="en-US" sz="1950" dirty="0">
              <a:latin typeface="Times New Roman" panose="02020603050405020304" pitchFamily="18" charset="0"/>
            </a:endParaRPr>
          </a:p>
        </p:txBody>
      </p:sp>
      <p:sp>
        <p:nvSpPr>
          <p:cNvPr id="25" name="Text 22"/>
          <p:cNvSpPr/>
          <p:nvPr/>
        </p:nvSpPr>
        <p:spPr>
          <a:xfrm>
            <a:off x="8445500" y="5906770"/>
            <a:ext cx="467995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EVIDENCE EXCLUSION</a:t>
            </a:r>
            <a:endParaRPr lang="en-US" sz="1800" dirty="0">
              <a:latin typeface="Times New Roman" panose="02020603050405020304" pitchFamily="18" charset="0"/>
            </a:endParaRPr>
          </a:p>
        </p:txBody>
      </p:sp>
      <p:sp>
        <p:nvSpPr>
          <p:cNvPr id="26" name="Text 23"/>
          <p:cNvSpPr/>
          <p:nvPr/>
        </p:nvSpPr>
        <p:spPr>
          <a:xfrm>
            <a:off x="8445500" y="6337300"/>
            <a:ext cx="4382135"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Drop passages matching Prosecutor document IDs; keep up to four</a:t>
            </a:r>
            <a:endParaRPr lang="en-US" sz="1950" dirty="0">
              <a:latin typeface="Times New Roman" panose="02020603050405020304" pitchFamily="18" charset="0"/>
            </a:endParaRPr>
          </a:p>
        </p:txBody>
      </p:sp>
      <p:sp>
        <p:nvSpPr>
          <p:cNvPr id="27" name="Text 24"/>
          <p:cNvSpPr/>
          <p:nvPr/>
        </p:nvSpPr>
        <p:spPr>
          <a:xfrm>
            <a:off x="13081000" y="5906770"/>
            <a:ext cx="467995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EVIDENCE OVERLAP RATIO</a:t>
            </a:r>
            <a:endParaRPr lang="en-US" sz="1800" dirty="0">
              <a:latin typeface="Times New Roman" panose="02020603050405020304" pitchFamily="18" charset="0"/>
            </a:endParaRPr>
          </a:p>
        </p:txBody>
      </p:sp>
      <p:sp>
        <p:nvSpPr>
          <p:cNvPr id="28" name="Text 25"/>
          <p:cNvSpPr/>
          <p:nvPr/>
        </p:nvSpPr>
        <p:spPr>
          <a:xfrm>
            <a:off x="13081000" y="6337300"/>
            <a:ext cx="4382135"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Share of Defense citations found only in Prosecutor evidence. 1.0 = echo</a:t>
            </a:r>
            <a:endParaRPr lang="en-US" sz="1950" dirty="0">
              <a:latin typeface="Times New Roman" panose="02020603050405020304" pitchFamily="18" charset="0"/>
            </a:endParaRPr>
          </a:p>
        </p:txBody>
      </p:sp>
      <p:sp>
        <p:nvSpPr>
          <p:cNvPr id="29" name="Text 26"/>
          <p:cNvSpPr/>
          <p:nvPr/>
        </p:nvSpPr>
        <p:spPr>
          <a:xfrm>
            <a:off x="952500" y="9551670"/>
            <a:ext cx="180213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All four roles share Mistral-7B-Instruct (4-bit). Role diversity comes from prompts and evidence.</a:t>
            </a:r>
            <a:endParaRPr lang="en-US" sz="1800" dirty="0">
              <a:latin typeface="Times New Roman" panose="02020603050405020304" pitchFamily="18" charset="0"/>
            </a:endParaRPr>
          </a:p>
        </p:txBody>
      </p:sp>
      <p:sp>
        <p:nvSpPr>
          <p:cNvPr id="31" name="TextBox 30">
            <a:extLst>
              <a:ext uri="{FF2B5EF4-FFF2-40B4-BE49-F238E27FC236}">
                <a16:creationId xmlns:a16="http://schemas.microsoft.com/office/drawing/2014/main" id="{AEA411CA-2804-ADE9-6BA7-1231FFE51D84}"/>
              </a:ext>
            </a:extLst>
          </p:cNvPr>
          <p:cNvSpPr txBox="1"/>
          <p:nvPr/>
        </p:nvSpPr>
        <p:spPr>
          <a:xfrm>
            <a:off x="17499011" y="9589770"/>
            <a:ext cx="431801"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17</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Factorized Citation Verification</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5715000" cy="1762760"/>
          </a:xfrm>
          <a:prstGeom prst="rect">
            <a:avLst/>
          </a:prstGeom>
          <a:ln w="5080">
            <a:solidFill>
              <a:srgbClr val="1D1F20">
                <a:alpha val="16000"/>
              </a:srgbClr>
            </a:solidFill>
            <a:prstDash val="solid"/>
          </a:ln>
        </p:spPr>
      </p:sp>
      <p:sp>
        <p:nvSpPr>
          <p:cNvPr id="6" name="Text 3"/>
          <p:cNvSpPr/>
          <p:nvPr/>
        </p:nvSpPr>
        <p:spPr>
          <a:xfrm>
            <a:off x="1338580" y="2691130"/>
            <a:ext cx="5437124" cy="1028700"/>
          </a:xfrm>
          <a:prstGeom prst="rect">
            <a:avLst/>
          </a:prstGeom>
          <a:noFill/>
          <a:ln/>
        </p:spPr>
        <p:txBody>
          <a:bodyPr wrap="square" lIns="25400" tIns="25400" rIns="25400" bIns="25400" rtlCol="0" anchor="t">
            <a:normAutofit lnSpcReduction="10000"/>
          </a:bodyPr>
          <a:lstStyle/>
          <a:p>
            <a:pPr marL="0" indent="0" algn="just">
              <a:lnSpc>
                <a:spcPct val="89041"/>
              </a:lnSpc>
              <a:buNone/>
            </a:pPr>
            <a:r>
              <a:rPr lang="en-US" sz="7800" b="1" dirty="0">
                <a:solidFill>
                  <a:srgbClr val="416180"/>
                </a:solidFill>
                <a:latin typeface="Times New Roman" panose="02020603050405020304" pitchFamily="18" charset="0"/>
                <a:ea typeface="Arial" pitchFamily="34" charset="-122"/>
                <a:cs typeface="Arial" pitchFamily="34" charset="-120"/>
              </a:rPr>
              <a:t>CCS = E × S</a:t>
            </a:r>
            <a:endParaRPr lang="en-US" sz="7800" dirty="0">
              <a:latin typeface="Times New Roman" panose="02020603050405020304" pitchFamily="18" charset="0"/>
            </a:endParaRPr>
          </a:p>
        </p:txBody>
      </p:sp>
      <p:sp>
        <p:nvSpPr>
          <p:cNvPr id="7" name="Text 4"/>
          <p:cNvSpPr/>
          <p:nvPr/>
        </p:nvSpPr>
        <p:spPr>
          <a:xfrm>
            <a:off x="952500" y="4372610"/>
            <a:ext cx="6286500" cy="481012"/>
          </a:xfrm>
          <a:prstGeom prst="rect">
            <a:avLst/>
          </a:prstGeom>
          <a:noFill/>
          <a:ln/>
        </p:spPr>
        <p:txBody>
          <a:bodyPr wrap="square" lIns="25400" tIns="25400" rIns="25400" bIns="25400" rtlCol="0" anchor="t">
            <a:normAutofit/>
          </a:bodyPr>
          <a:lstStyle/>
          <a:p>
            <a:pPr marL="0" indent="0" algn="just">
              <a:lnSpc>
                <a:spcPct val="138393"/>
              </a:lnSpc>
              <a:buNone/>
            </a:pPr>
            <a:r>
              <a:rPr lang="en-US" sz="2250" b="1" dirty="0">
                <a:solidFill>
                  <a:srgbClr val="1D1F20"/>
                </a:solidFill>
                <a:latin typeface="Times New Roman" panose="02020603050405020304" pitchFamily="18" charset="0"/>
                <a:ea typeface="Arial" pitchFamily="34" charset="-122"/>
                <a:cs typeface="Arial" pitchFamily="34" charset="-120"/>
              </a:rPr>
              <a:t>E · Existence</a:t>
            </a:r>
            <a:endParaRPr lang="en-US" sz="2250" dirty="0">
              <a:latin typeface="Times New Roman" panose="02020603050405020304" pitchFamily="18" charset="0"/>
            </a:endParaRPr>
          </a:p>
        </p:txBody>
      </p:sp>
      <p:sp>
        <p:nvSpPr>
          <p:cNvPr id="8" name="Text 5"/>
          <p:cNvSpPr/>
          <p:nvPr/>
        </p:nvSpPr>
        <p:spPr>
          <a:xfrm>
            <a:off x="952500" y="4891722"/>
            <a:ext cx="588645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Exact catalog match, reporter/name check, fuzzy name match</a:t>
            </a:r>
            <a:endParaRPr lang="en-US" sz="1950" dirty="0">
              <a:latin typeface="Times New Roman" panose="02020603050405020304" pitchFamily="18" charset="0"/>
            </a:endParaRPr>
          </a:p>
        </p:txBody>
      </p:sp>
      <p:sp>
        <p:nvSpPr>
          <p:cNvPr id="9" name="Text 6"/>
          <p:cNvSpPr/>
          <p:nvPr/>
        </p:nvSpPr>
        <p:spPr>
          <a:xfrm>
            <a:off x="952500" y="5840413"/>
            <a:ext cx="6286500" cy="481012"/>
          </a:xfrm>
          <a:prstGeom prst="rect">
            <a:avLst/>
          </a:prstGeom>
          <a:noFill/>
          <a:ln/>
        </p:spPr>
        <p:txBody>
          <a:bodyPr wrap="square" lIns="25400" tIns="25400" rIns="25400" bIns="25400" rtlCol="0" anchor="t">
            <a:normAutofit/>
          </a:bodyPr>
          <a:lstStyle/>
          <a:p>
            <a:pPr marL="0" indent="0" algn="just">
              <a:lnSpc>
                <a:spcPct val="138393"/>
              </a:lnSpc>
              <a:buNone/>
            </a:pPr>
            <a:r>
              <a:rPr lang="en-US" sz="2250" b="1" dirty="0">
                <a:solidFill>
                  <a:srgbClr val="1D1F20"/>
                </a:solidFill>
                <a:latin typeface="Times New Roman" panose="02020603050405020304" pitchFamily="18" charset="0"/>
                <a:ea typeface="Arial" pitchFamily="34" charset="-122"/>
                <a:cs typeface="Arial" pitchFamily="34" charset="-120"/>
              </a:rPr>
              <a:t>S · Holding support</a:t>
            </a:r>
            <a:endParaRPr lang="en-US" sz="2250" dirty="0">
              <a:latin typeface="Times New Roman" panose="02020603050405020304" pitchFamily="18" charset="0"/>
            </a:endParaRPr>
          </a:p>
        </p:txBody>
      </p:sp>
      <p:sp>
        <p:nvSpPr>
          <p:cNvPr id="10" name="Text 7"/>
          <p:cNvSpPr/>
          <p:nvPr/>
        </p:nvSpPr>
        <p:spPr>
          <a:xfrm>
            <a:off x="952500" y="6359525"/>
            <a:ext cx="588645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DeBERTa NLI cross-encoder: does the case's own text entail the claimed holding?</a:t>
            </a:r>
            <a:endParaRPr lang="en-US" sz="1950" dirty="0">
              <a:latin typeface="Times New Roman" panose="02020603050405020304" pitchFamily="18" charset="0"/>
            </a:endParaRPr>
          </a:p>
        </p:txBody>
      </p:sp>
      <p:sp>
        <p:nvSpPr>
          <p:cNvPr id="11" name="Shape 8"/>
          <p:cNvSpPr/>
          <p:nvPr/>
        </p:nvSpPr>
        <p:spPr>
          <a:xfrm>
            <a:off x="7429500" y="2730500"/>
            <a:ext cx="2067560" cy="10160"/>
          </a:xfrm>
          <a:prstGeom prst="rect">
            <a:avLst/>
          </a:prstGeom>
          <a:solidFill>
            <a:srgbClr val="1D1F20"/>
          </a:solidFill>
          <a:ln/>
        </p:spPr>
      </p:sp>
      <p:sp>
        <p:nvSpPr>
          <p:cNvPr id="12" name="Text 9"/>
          <p:cNvSpPr/>
          <p:nvPr/>
        </p:nvSpPr>
        <p:spPr>
          <a:xfrm>
            <a:off x="7429500" y="2305050"/>
            <a:ext cx="191516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VERDICT</a:t>
            </a:r>
            <a:endParaRPr lang="en-US" sz="1800" dirty="0">
              <a:latin typeface="Times New Roman" panose="02020603050405020304" pitchFamily="18" charset="0"/>
            </a:endParaRPr>
          </a:p>
        </p:txBody>
      </p:sp>
      <p:sp>
        <p:nvSpPr>
          <p:cNvPr id="13" name="Shape 10"/>
          <p:cNvSpPr/>
          <p:nvPr/>
        </p:nvSpPr>
        <p:spPr>
          <a:xfrm>
            <a:off x="9497060" y="2730500"/>
            <a:ext cx="4793615" cy="10160"/>
          </a:xfrm>
          <a:prstGeom prst="rect">
            <a:avLst/>
          </a:prstGeom>
          <a:solidFill>
            <a:srgbClr val="1D1F20"/>
          </a:solidFill>
          <a:ln/>
        </p:spPr>
      </p:sp>
      <p:sp>
        <p:nvSpPr>
          <p:cNvPr id="14" name="Text 11"/>
          <p:cNvSpPr/>
          <p:nvPr/>
        </p:nvSpPr>
        <p:spPr>
          <a:xfrm>
            <a:off x="9497060" y="2305050"/>
            <a:ext cx="4708823"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CONDITION</a:t>
            </a:r>
            <a:endParaRPr lang="en-US" sz="1800" dirty="0">
              <a:latin typeface="Times New Roman" panose="02020603050405020304" pitchFamily="18" charset="0"/>
            </a:endParaRPr>
          </a:p>
        </p:txBody>
      </p:sp>
      <p:sp>
        <p:nvSpPr>
          <p:cNvPr id="15" name="Shape 12"/>
          <p:cNvSpPr/>
          <p:nvPr/>
        </p:nvSpPr>
        <p:spPr>
          <a:xfrm>
            <a:off x="14290675" y="2730500"/>
            <a:ext cx="3044825" cy="10160"/>
          </a:xfrm>
          <a:prstGeom prst="rect">
            <a:avLst/>
          </a:prstGeom>
          <a:solidFill>
            <a:srgbClr val="1D1F20"/>
          </a:solidFill>
          <a:ln/>
        </p:spPr>
      </p:sp>
      <p:sp>
        <p:nvSpPr>
          <p:cNvPr id="16" name="Text 13"/>
          <p:cNvSpPr/>
          <p:nvPr/>
        </p:nvSpPr>
        <p:spPr>
          <a:xfrm>
            <a:off x="14290675" y="2305050"/>
            <a:ext cx="313617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JUDGE MAY USE?</a:t>
            </a:r>
            <a:endParaRPr lang="en-US" sz="1800" dirty="0">
              <a:latin typeface="Times New Roman" panose="02020603050405020304" pitchFamily="18" charset="0"/>
            </a:endParaRPr>
          </a:p>
        </p:txBody>
      </p:sp>
      <p:sp>
        <p:nvSpPr>
          <p:cNvPr id="17" name="Shape 14"/>
          <p:cNvSpPr/>
          <p:nvPr/>
        </p:nvSpPr>
        <p:spPr>
          <a:xfrm>
            <a:off x="7429500" y="3484245"/>
            <a:ext cx="2067560" cy="9525"/>
          </a:xfrm>
          <a:prstGeom prst="rect">
            <a:avLst/>
          </a:prstGeom>
          <a:solidFill>
            <a:srgbClr val="1D1F20">
              <a:alpha val="16000"/>
            </a:srgbClr>
          </a:solidFill>
          <a:ln/>
        </p:spPr>
      </p:sp>
      <p:sp>
        <p:nvSpPr>
          <p:cNvPr id="18" name="Text 15"/>
          <p:cNvSpPr/>
          <p:nvPr/>
        </p:nvSpPr>
        <p:spPr>
          <a:xfrm>
            <a:off x="7429500" y="2950210"/>
            <a:ext cx="1915160"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b="1" kern="0" spc="78" dirty="0">
                <a:solidFill>
                  <a:srgbClr val="416180"/>
                </a:solidFill>
                <a:latin typeface="Times New Roman" panose="02020603050405020304" pitchFamily="18" charset="0"/>
                <a:ea typeface="Arial" pitchFamily="34" charset="-122"/>
                <a:cs typeface="Arial" pitchFamily="34" charset="-120"/>
              </a:rPr>
              <a:t>SUPPORTED</a:t>
            </a:r>
            <a:endParaRPr lang="en-US" sz="1950" dirty="0">
              <a:latin typeface="Times New Roman" panose="02020603050405020304" pitchFamily="18" charset="0"/>
            </a:endParaRPr>
          </a:p>
        </p:txBody>
      </p:sp>
      <p:sp>
        <p:nvSpPr>
          <p:cNvPr id="19" name="Shape 16"/>
          <p:cNvSpPr/>
          <p:nvPr/>
        </p:nvSpPr>
        <p:spPr>
          <a:xfrm>
            <a:off x="9497060" y="3484245"/>
            <a:ext cx="4793615" cy="9525"/>
          </a:xfrm>
          <a:prstGeom prst="rect">
            <a:avLst/>
          </a:prstGeom>
          <a:solidFill>
            <a:srgbClr val="1D1F20">
              <a:alpha val="16000"/>
            </a:srgbClr>
          </a:solidFill>
          <a:ln/>
        </p:spPr>
      </p:sp>
      <p:sp>
        <p:nvSpPr>
          <p:cNvPr id="20" name="Text 17"/>
          <p:cNvSpPr/>
          <p:nvPr/>
        </p:nvSpPr>
        <p:spPr>
          <a:xfrm>
            <a:off x="9497060" y="2950210"/>
            <a:ext cx="4708823"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 ≥ 0.85 and S ≥ 0.70</a:t>
            </a:r>
            <a:endParaRPr lang="en-US" sz="1950" dirty="0">
              <a:latin typeface="Times New Roman" panose="02020603050405020304" pitchFamily="18" charset="0"/>
            </a:endParaRPr>
          </a:p>
        </p:txBody>
      </p:sp>
      <p:sp>
        <p:nvSpPr>
          <p:cNvPr id="21" name="Shape 18"/>
          <p:cNvSpPr/>
          <p:nvPr/>
        </p:nvSpPr>
        <p:spPr>
          <a:xfrm>
            <a:off x="14290675" y="3484245"/>
            <a:ext cx="3044825" cy="9525"/>
          </a:xfrm>
          <a:prstGeom prst="rect">
            <a:avLst/>
          </a:prstGeom>
          <a:solidFill>
            <a:srgbClr val="1D1F20">
              <a:alpha val="16000"/>
            </a:srgbClr>
          </a:solidFill>
          <a:ln/>
        </p:spPr>
      </p:sp>
      <p:sp>
        <p:nvSpPr>
          <p:cNvPr id="22" name="Text 19"/>
          <p:cNvSpPr/>
          <p:nvPr/>
        </p:nvSpPr>
        <p:spPr>
          <a:xfrm>
            <a:off x="14290675" y="2950210"/>
            <a:ext cx="3136170"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Yes</a:t>
            </a:r>
            <a:endParaRPr lang="en-US" sz="1950" dirty="0">
              <a:latin typeface="Times New Roman" panose="02020603050405020304" pitchFamily="18" charset="0"/>
            </a:endParaRPr>
          </a:p>
        </p:txBody>
      </p:sp>
      <p:sp>
        <p:nvSpPr>
          <p:cNvPr id="23" name="Shape 20"/>
          <p:cNvSpPr/>
          <p:nvPr/>
        </p:nvSpPr>
        <p:spPr>
          <a:xfrm>
            <a:off x="7429500" y="4230370"/>
            <a:ext cx="2067560" cy="9525"/>
          </a:xfrm>
          <a:prstGeom prst="rect">
            <a:avLst/>
          </a:prstGeom>
          <a:solidFill>
            <a:srgbClr val="1D1F20">
              <a:alpha val="16000"/>
            </a:srgbClr>
          </a:solidFill>
          <a:ln/>
        </p:spPr>
      </p:sp>
      <p:sp>
        <p:nvSpPr>
          <p:cNvPr id="24" name="Text 21"/>
          <p:cNvSpPr/>
          <p:nvPr/>
        </p:nvSpPr>
        <p:spPr>
          <a:xfrm>
            <a:off x="7429500" y="3698875"/>
            <a:ext cx="191516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kern="0" spc="78" dirty="0">
                <a:solidFill>
                  <a:srgbClr val="1D1F20"/>
                </a:solidFill>
                <a:latin typeface="Times New Roman" panose="02020603050405020304" pitchFamily="18" charset="0"/>
                <a:ea typeface="Arial" pitchFamily="34" charset="-122"/>
                <a:cs typeface="Arial" pitchFamily="34" charset="-120"/>
              </a:rPr>
              <a:t>UNCERTAIN</a:t>
            </a:r>
            <a:endParaRPr lang="en-US" sz="1950" dirty="0">
              <a:latin typeface="Times New Roman" panose="02020603050405020304" pitchFamily="18" charset="0"/>
            </a:endParaRPr>
          </a:p>
        </p:txBody>
      </p:sp>
      <p:sp>
        <p:nvSpPr>
          <p:cNvPr id="25" name="Shape 22"/>
          <p:cNvSpPr/>
          <p:nvPr/>
        </p:nvSpPr>
        <p:spPr>
          <a:xfrm>
            <a:off x="9497060" y="4230370"/>
            <a:ext cx="4793615" cy="9525"/>
          </a:xfrm>
          <a:prstGeom prst="rect">
            <a:avLst/>
          </a:prstGeom>
          <a:solidFill>
            <a:srgbClr val="1D1F20">
              <a:alpha val="16000"/>
            </a:srgbClr>
          </a:solidFill>
          <a:ln/>
        </p:spPr>
      </p:sp>
      <p:sp>
        <p:nvSpPr>
          <p:cNvPr id="26" name="Text 23"/>
          <p:cNvSpPr/>
          <p:nvPr/>
        </p:nvSpPr>
        <p:spPr>
          <a:xfrm>
            <a:off x="9497060" y="3698875"/>
            <a:ext cx="4708823"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 ≥ 0.85 and 0.40 ≤ S &lt; 0.70</a:t>
            </a:r>
            <a:endParaRPr lang="en-US" sz="1950" dirty="0">
              <a:latin typeface="Times New Roman" panose="02020603050405020304" pitchFamily="18" charset="0"/>
            </a:endParaRPr>
          </a:p>
        </p:txBody>
      </p:sp>
      <p:sp>
        <p:nvSpPr>
          <p:cNvPr id="27" name="Shape 24"/>
          <p:cNvSpPr/>
          <p:nvPr/>
        </p:nvSpPr>
        <p:spPr>
          <a:xfrm>
            <a:off x="14290675" y="4230370"/>
            <a:ext cx="3044825" cy="9525"/>
          </a:xfrm>
          <a:prstGeom prst="rect">
            <a:avLst/>
          </a:prstGeom>
          <a:solidFill>
            <a:srgbClr val="1D1F20">
              <a:alpha val="16000"/>
            </a:srgbClr>
          </a:solidFill>
          <a:ln/>
        </p:spPr>
      </p:sp>
      <p:sp>
        <p:nvSpPr>
          <p:cNvPr id="28" name="Text 25"/>
          <p:cNvSpPr/>
          <p:nvPr/>
        </p:nvSpPr>
        <p:spPr>
          <a:xfrm>
            <a:off x="14290675" y="3698875"/>
            <a:ext cx="313617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No</a:t>
            </a:r>
            <a:endParaRPr lang="en-US" sz="1950" dirty="0">
              <a:latin typeface="Times New Roman" panose="02020603050405020304" pitchFamily="18" charset="0"/>
            </a:endParaRPr>
          </a:p>
        </p:txBody>
      </p:sp>
      <p:sp>
        <p:nvSpPr>
          <p:cNvPr id="29" name="Shape 26"/>
          <p:cNvSpPr/>
          <p:nvPr/>
        </p:nvSpPr>
        <p:spPr>
          <a:xfrm>
            <a:off x="7429500" y="4976495"/>
            <a:ext cx="2067560" cy="9525"/>
          </a:xfrm>
          <a:prstGeom prst="rect">
            <a:avLst/>
          </a:prstGeom>
          <a:solidFill>
            <a:srgbClr val="1D1F20">
              <a:alpha val="16000"/>
            </a:srgbClr>
          </a:solidFill>
          <a:ln/>
        </p:spPr>
      </p:sp>
      <p:sp>
        <p:nvSpPr>
          <p:cNvPr id="30" name="Text 27"/>
          <p:cNvSpPr/>
          <p:nvPr/>
        </p:nvSpPr>
        <p:spPr>
          <a:xfrm>
            <a:off x="7429500" y="4445000"/>
            <a:ext cx="1915160" cy="360045"/>
          </a:xfrm>
          <a:prstGeom prst="rect">
            <a:avLst/>
          </a:prstGeom>
          <a:noFill/>
          <a:ln/>
        </p:spPr>
        <p:txBody>
          <a:bodyPr wrap="square" lIns="25400" tIns="25400" rIns="25400" bIns="25400" rtlCol="0" anchor="ctr">
            <a:normAutofit fontScale="77500" lnSpcReduction="20000"/>
          </a:bodyPr>
          <a:lstStyle/>
          <a:p>
            <a:pPr marL="0" indent="0" algn="just">
              <a:lnSpc>
                <a:spcPct val="113170"/>
              </a:lnSpc>
              <a:buNone/>
            </a:pPr>
            <a:r>
              <a:rPr lang="en-US" sz="1950" b="1" kern="0" spc="78" dirty="0">
                <a:solidFill>
                  <a:srgbClr val="1D1F20"/>
                </a:solidFill>
                <a:latin typeface="Times New Roman" panose="02020603050405020304" pitchFamily="18" charset="0"/>
                <a:ea typeface="Arial" pitchFamily="34" charset="-122"/>
                <a:cs typeface="Arial" pitchFamily="34" charset="-120"/>
              </a:rPr>
              <a:t>MISATTRIBUTED</a:t>
            </a:r>
            <a:endParaRPr lang="en-US" sz="1950" dirty="0">
              <a:latin typeface="Times New Roman" panose="02020603050405020304" pitchFamily="18" charset="0"/>
            </a:endParaRPr>
          </a:p>
        </p:txBody>
      </p:sp>
      <p:sp>
        <p:nvSpPr>
          <p:cNvPr id="31" name="Shape 28"/>
          <p:cNvSpPr/>
          <p:nvPr/>
        </p:nvSpPr>
        <p:spPr>
          <a:xfrm>
            <a:off x="9497060" y="4976495"/>
            <a:ext cx="4793615" cy="9525"/>
          </a:xfrm>
          <a:prstGeom prst="rect">
            <a:avLst/>
          </a:prstGeom>
          <a:solidFill>
            <a:srgbClr val="1D1F20">
              <a:alpha val="16000"/>
            </a:srgbClr>
          </a:solidFill>
          <a:ln/>
        </p:spPr>
      </p:sp>
      <p:sp>
        <p:nvSpPr>
          <p:cNvPr id="32" name="Text 29"/>
          <p:cNvSpPr/>
          <p:nvPr/>
        </p:nvSpPr>
        <p:spPr>
          <a:xfrm>
            <a:off x="9497060" y="4445000"/>
            <a:ext cx="4708823"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 ≥ 0.85 and S &lt; 0.40</a:t>
            </a:r>
            <a:endParaRPr lang="en-US" sz="1950" dirty="0">
              <a:latin typeface="Times New Roman" panose="02020603050405020304" pitchFamily="18" charset="0"/>
            </a:endParaRPr>
          </a:p>
        </p:txBody>
      </p:sp>
      <p:sp>
        <p:nvSpPr>
          <p:cNvPr id="33" name="Shape 30"/>
          <p:cNvSpPr/>
          <p:nvPr/>
        </p:nvSpPr>
        <p:spPr>
          <a:xfrm>
            <a:off x="14290675" y="4976495"/>
            <a:ext cx="3044825" cy="9525"/>
          </a:xfrm>
          <a:prstGeom prst="rect">
            <a:avLst/>
          </a:prstGeom>
          <a:solidFill>
            <a:srgbClr val="1D1F20">
              <a:alpha val="16000"/>
            </a:srgbClr>
          </a:solidFill>
          <a:ln/>
        </p:spPr>
      </p:sp>
      <p:sp>
        <p:nvSpPr>
          <p:cNvPr id="34" name="Text 31"/>
          <p:cNvSpPr/>
          <p:nvPr/>
        </p:nvSpPr>
        <p:spPr>
          <a:xfrm>
            <a:off x="14290675" y="4445000"/>
            <a:ext cx="313617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Rejected with reason</a:t>
            </a:r>
            <a:endParaRPr lang="en-US" sz="1950" dirty="0">
              <a:latin typeface="Times New Roman" panose="02020603050405020304" pitchFamily="18" charset="0"/>
            </a:endParaRPr>
          </a:p>
        </p:txBody>
      </p:sp>
      <p:sp>
        <p:nvSpPr>
          <p:cNvPr id="35" name="Shape 32"/>
          <p:cNvSpPr/>
          <p:nvPr/>
        </p:nvSpPr>
        <p:spPr>
          <a:xfrm>
            <a:off x="7429500" y="5722620"/>
            <a:ext cx="2067560" cy="9525"/>
          </a:xfrm>
          <a:prstGeom prst="rect">
            <a:avLst/>
          </a:prstGeom>
          <a:solidFill>
            <a:srgbClr val="1D1F20">
              <a:alpha val="16000"/>
            </a:srgbClr>
          </a:solidFill>
          <a:ln/>
        </p:spPr>
      </p:sp>
      <p:sp>
        <p:nvSpPr>
          <p:cNvPr id="36" name="Text 33"/>
          <p:cNvSpPr/>
          <p:nvPr/>
        </p:nvSpPr>
        <p:spPr>
          <a:xfrm>
            <a:off x="7429500" y="5191125"/>
            <a:ext cx="191516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kern="0" spc="78" dirty="0">
                <a:solidFill>
                  <a:srgbClr val="1D1F20"/>
                </a:solidFill>
                <a:latin typeface="Times New Roman" panose="02020603050405020304" pitchFamily="18" charset="0"/>
                <a:ea typeface="Arial" pitchFamily="34" charset="-122"/>
                <a:cs typeface="Arial" pitchFamily="34" charset="-120"/>
              </a:rPr>
              <a:t>FABRICATED</a:t>
            </a:r>
            <a:endParaRPr lang="en-US" sz="1950" dirty="0">
              <a:latin typeface="Times New Roman" panose="02020603050405020304" pitchFamily="18" charset="0"/>
            </a:endParaRPr>
          </a:p>
        </p:txBody>
      </p:sp>
      <p:sp>
        <p:nvSpPr>
          <p:cNvPr id="37" name="Shape 34"/>
          <p:cNvSpPr/>
          <p:nvPr/>
        </p:nvSpPr>
        <p:spPr>
          <a:xfrm>
            <a:off x="9497060" y="5722620"/>
            <a:ext cx="4793615" cy="9525"/>
          </a:xfrm>
          <a:prstGeom prst="rect">
            <a:avLst/>
          </a:prstGeom>
          <a:solidFill>
            <a:srgbClr val="1D1F20">
              <a:alpha val="16000"/>
            </a:srgbClr>
          </a:solidFill>
          <a:ln/>
        </p:spPr>
      </p:sp>
      <p:sp>
        <p:nvSpPr>
          <p:cNvPr id="38" name="Text 35"/>
          <p:cNvSpPr/>
          <p:nvPr/>
        </p:nvSpPr>
        <p:spPr>
          <a:xfrm>
            <a:off x="9497060" y="5191125"/>
            <a:ext cx="4708823"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Low E in a covered reporter volume</a:t>
            </a:r>
            <a:endParaRPr lang="en-US" sz="1950" dirty="0">
              <a:latin typeface="Times New Roman" panose="02020603050405020304" pitchFamily="18" charset="0"/>
            </a:endParaRPr>
          </a:p>
        </p:txBody>
      </p:sp>
      <p:sp>
        <p:nvSpPr>
          <p:cNvPr id="39" name="Shape 36"/>
          <p:cNvSpPr/>
          <p:nvPr/>
        </p:nvSpPr>
        <p:spPr>
          <a:xfrm>
            <a:off x="14290675" y="5722620"/>
            <a:ext cx="3044825" cy="9525"/>
          </a:xfrm>
          <a:prstGeom prst="rect">
            <a:avLst/>
          </a:prstGeom>
          <a:solidFill>
            <a:srgbClr val="1D1F20">
              <a:alpha val="16000"/>
            </a:srgbClr>
          </a:solidFill>
          <a:ln/>
        </p:spPr>
      </p:sp>
      <p:sp>
        <p:nvSpPr>
          <p:cNvPr id="40" name="Text 37"/>
          <p:cNvSpPr/>
          <p:nvPr/>
        </p:nvSpPr>
        <p:spPr>
          <a:xfrm>
            <a:off x="14290675" y="5191125"/>
            <a:ext cx="313617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Rejected with reason</a:t>
            </a:r>
            <a:endParaRPr lang="en-US" sz="1950" dirty="0">
              <a:latin typeface="Times New Roman" panose="02020603050405020304" pitchFamily="18" charset="0"/>
            </a:endParaRPr>
          </a:p>
        </p:txBody>
      </p:sp>
      <p:sp>
        <p:nvSpPr>
          <p:cNvPr id="41" name="Shape 38"/>
          <p:cNvSpPr/>
          <p:nvPr/>
        </p:nvSpPr>
        <p:spPr>
          <a:xfrm>
            <a:off x="7429500" y="6468745"/>
            <a:ext cx="2067560" cy="9525"/>
          </a:xfrm>
          <a:prstGeom prst="rect">
            <a:avLst/>
          </a:prstGeom>
          <a:solidFill>
            <a:srgbClr val="1D1F20">
              <a:alpha val="16000"/>
            </a:srgbClr>
          </a:solidFill>
          <a:ln/>
        </p:spPr>
      </p:sp>
      <p:sp>
        <p:nvSpPr>
          <p:cNvPr id="42" name="Text 39"/>
          <p:cNvSpPr/>
          <p:nvPr/>
        </p:nvSpPr>
        <p:spPr>
          <a:xfrm>
            <a:off x="7429500" y="5937250"/>
            <a:ext cx="1915160" cy="360045"/>
          </a:xfrm>
          <a:prstGeom prst="rect">
            <a:avLst/>
          </a:prstGeom>
          <a:noFill/>
          <a:ln/>
        </p:spPr>
        <p:txBody>
          <a:bodyPr wrap="square" lIns="25400" tIns="25400" rIns="25400" bIns="25400" rtlCol="0" anchor="ctr">
            <a:normAutofit fontScale="85000" lnSpcReduction="10000"/>
          </a:bodyPr>
          <a:lstStyle/>
          <a:p>
            <a:pPr marL="0" indent="0" algn="just">
              <a:lnSpc>
                <a:spcPct val="113170"/>
              </a:lnSpc>
              <a:buNone/>
            </a:pPr>
            <a:r>
              <a:rPr lang="en-US" sz="1950" b="1" kern="0" spc="78" dirty="0">
                <a:solidFill>
                  <a:srgbClr val="1D1F20"/>
                </a:solidFill>
                <a:latin typeface="Times New Roman" panose="02020603050405020304" pitchFamily="18" charset="0"/>
                <a:ea typeface="Arial" pitchFamily="34" charset="-122"/>
                <a:cs typeface="Arial" pitchFamily="34" charset="-120"/>
              </a:rPr>
              <a:t>UNVERIFIABLE</a:t>
            </a:r>
            <a:endParaRPr lang="en-US" sz="1950" dirty="0">
              <a:latin typeface="Times New Roman" panose="02020603050405020304" pitchFamily="18" charset="0"/>
            </a:endParaRPr>
          </a:p>
        </p:txBody>
      </p:sp>
      <p:sp>
        <p:nvSpPr>
          <p:cNvPr id="43" name="Shape 40"/>
          <p:cNvSpPr/>
          <p:nvPr/>
        </p:nvSpPr>
        <p:spPr>
          <a:xfrm>
            <a:off x="9497060" y="6468745"/>
            <a:ext cx="4793615" cy="9525"/>
          </a:xfrm>
          <a:prstGeom prst="rect">
            <a:avLst/>
          </a:prstGeom>
          <a:solidFill>
            <a:srgbClr val="1D1F20">
              <a:alpha val="16000"/>
            </a:srgbClr>
          </a:solidFill>
          <a:ln/>
        </p:spPr>
      </p:sp>
      <p:sp>
        <p:nvSpPr>
          <p:cNvPr id="44" name="Text 41"/>
          <p:cNvSpPr/>
          <p:nvPr/>
        </p:nvSpPr>
        <p:spPr>
          <a:xfrm>
            <a:off x="9497060" y="5937250"/>
            <a:ext cx="4708823"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Outside local corpus coverage</a:t>
            </a:r>
            <a:endParaRPr lang="en-US" sz="1950" dirty="0">
              <a:latin typeface="Times New Roman" panose="02020603050405020304" pitchFamily="18" charset="0"/>
            </a:endParaRPr>
          </a:p>
        </p:txBody>
      </p:sp>
      <p:sp>
        <p:nvSpPr>
          <p:cNvPr id="45" name="Shape 42"/>
          <p:cNvSpPr/>
          <p:nvPr/>
        </p:nvSpPr>
        <p:spPr>
          <a:xfrm>
            <a:off x="14290675" y="6468745"/>
            <a:ext cx="3044825" cy="9525"/>
          </a:xfrm>
          <a:prstGeom prst="rect">
            <a:avLst/>
          </a:prstGeom>
          <a:solidFill>
            <a:srgbClr val="1D1F20">
              <a:alpha val="16000"/>
            </a:srgbClr>
          </a:solidFill>
          <a:ln/>
        </p:spPr>
      </p:sp>
      <p:sp>
        <p:nvSpPr>
          <p:cNvPr id="46" name="Text 43"/>
          <p:cNvSpPr/>
          <p:nvPr/>
        </p:nvSpPr>
        <p:spPr>
          <a:xfrm>
            <a:off x="14290675" y="5937250"/>
            <a:ext cx="313617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Flagged, not called fake</a:t>
            </a:r>
            <a:endParaRPr lang="en-US" sz="1950" dirty="0">
              <a:latin typeface="Times New Roman" panose="02020603050405020304" pitchFamily="18" charset="0"/>
            </a:endParaRPr>
          </a:p>
        </p:txBody>
      </p:sp>
      <p:sp>
        <p:nvSpPr>
          <p:cNvPr id="47" name="Text 44"/>
          <p:cNvSpPr/>
          <p:nvPr/>
        </p:nvSpPr>
        <p:spPr>
          <a:xfrm>
            <a:off x="952500" y="9551670"/>
            <a:ext cx="180213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Current thresholds are heuristics, not calibrated probabilities. Contribution 02 replaces them with a conformal threshold.</a:t>
            </a:r>
            <a:endParaRPr lang="en-US" sz="1800" dirty="0">
              <a:latin typeface="Times New Roman" panose="02020603050405020304" pitchFamily="18" charset="0"/>
            </a:endParaRPr>
          </a:p>
        </p:txBody>
      </p:sp>
      <p:sp>
        <p:nvSpPr>
          <p:cNvPr id="49" name="TextBox 48">
            <a:extLst>
              <a:ext uri="{FF2B5EF4-FFF2-40B4-BE49-F238E27FC236}">
                <a16:creationId xmlns:a16="http://schemas.microsoft.com/office/drawing/2014/main" id="{872B402D-8AED-7FAF-E1BD-631ED70228AF}"/>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18</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554480"/>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Citation Verdict Decision Flow</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228850"/>
            <a:ext cx="2476500" cy="6991350"/>
          </a:xfrm>
          <a:prstGeom prst="rect">
            <a:avLst/>
          </a:prstGeom>
          <a:solidFill>
            <a:srgbClr val="D9F4D9"/>
          </a:solidFill>
          <a:ln w="10160">
            <a:solidFill>
              <a:srgbClr val="4D9351"/>
            </a:solidFill>
            <a:prstDash val="solid"/>
          </a:ln>
        </p:spPr>
      </p:sp>
      <p:sp>
        <p:nvSpPr>
          <p:cNvPr id="6" name="Text 3"/>
          <p:cNvSpPr/>
          <p:nvPr/>
        </p:nvSpPr>
        <p:spPr>
          <a:xfrm>
            <a:off x="1191260" y="5273993"/>
            <a:ext cx="2198878"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Citation</a:t>
            </a:r>
            <a:endParaRPr lang="en-US" sz="2250" dirty="0">
              <a:latin typeface="Times New Roman" panose="02020603050405020304" pitchFamily="18" charset="0"/>
            </a:endParaRPr>
          </a:p>
        </p:txBody>
      </p:sp>
      <p:sp>
        <p:nvSpPr>
          <p:cNvPr id="7" name="Text 4"/>
          <p:cNvSpPr/>
          <p:nvPr/>
        </p:nvSpPr>
        <p:spPr>
          <a:xfrm>
            <a:off x="1191260" y="5626418"/>
            <a:ext cx="20751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Case name + claimed holding</a:t>
            </a:r>
            <a:endParaRPr lang="en-US" sz="1800" dirty="0">
              <a:latin typeface="Times New Roman" panose="02020603050405020304" pitchFamily="18" charset="0"/>
            </a:endParaRPr>
          </a:p>
        </p:txBody>
      </p:sp>
      <p:sp>
        <p:nvSpPr>
          <p:cNvPr id="8" name="Text 5"/>
          <p:cNvSpPr/>
          <p:nvPr/>
        </p:nvSpPr>
        <p:spPr>
          <a:xfrm>
            <a:off x="3390900" y="2228850"/>
            <a:ext cx="609600" cy="7029450"/>
          </a:xfrm>
          <a:prstGeom prst="rect">
            <a:avLst/>
          </a:prstGeom>
          <a:noFill/>
          <a:ln/>
        </p:spPr>
        <p:txBody>
          <a:bodyPr wrap="square" lIns="25400" tIns="25400" rIns="25400" bIns="25400" rtlCol="0" anchor="ctr">
            <a:normAutofit/>
          </a:bodyPr>
          <a:lstStyle/>
          <a:p>
            <a:pPr marL="0" indent="0" algn="just">
              <a:lnSpc>
                <a:spcPct val="138393"/>
              </a:lnSpc>
              <a:buNone/>
            </a:pPr>
            <a:r>
              <a:rPr lang="en-US" sz="3000" dirty="0">
                <a:solidFill>
                  <a:srgbClr val="5980A6"/>
                </a:solidFill>
                <a:latin typeface="Times New Roman" panose="02020603050405020304" pitchFamily="18" charset="0"/>
                <a:ea typeface="Arial" pitchFamily="34" charset="-122"/>
                <a:cs typeface="Arial" pitchFamily="34" charset="-120"/>
              </a:rPr>
              <a:t>→</a:t>
            </a:r>
            <a:endParaRPr lang="en-US" sz="3000" dirty="0">
              <a:latin typeface="Times New Roman" panose="02020603050405020304" pitchFamily="18" charset="0"/>
            </a:endParaRPr>
          </a:p>
        </p:txBody>
      </p:sp>
      <p:sp>
        <p:nvSpPr>
          <p:cNvPr id="9" name="Shape 6"/>
          <p:cNvSpPr/>
          <p:nvPr/>
        </p:nvSpPr>
        <p:spPr>
          <a:xfrm>
            <a:off x="3962400" y="2228850"/>
            <a:ext cx="2667000" cy="6991350"/>
          </a:xfrm>
          <a:prstGeom prst="rect">
            <a:avLst/>
          </a:prstGeom>
          <a:solidFill>
            <a:srgbClr val="D9F4D9"/>
          </a:solidFill>
          <a:ln w="10160">
            <a:solidFill>
              <a:srgbClr val="4D9351"/>
            </a:solidFill>
            <a:prstDash val="solid"/>
          </a:ln>
        </p:spPr>
      </p:sp>
      <p:sp>
        <p:nvSpPr>
          <p:cNvPr id="10" name="Text 7"/>
          <p:cNvSpPr/>
          <p:nvPr/>
        </p:nvSpPr>
        <p:spPr>
          <a:xfrm>
            <a:off x="4201160" y="5273993"/>
            <a:ext cx="2408428"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Case in corpus?</a:t>
            </a:r>
            <a:endParaRPr lang="en-US" sz="2250" dirty="0">
              <a:latin typeface="Times New Roman" panose="02020603050405020304" pitchFamily="18" charset="0"/>
            </a:endParaRPr>
          </a:p>
        </p:txBody>
      </p:sp>
      <p:sp>
        <p:nvSpPr>
          <p:cNvPr id="11" name="Text 8"/>
          <p:cNvSpPr/>
          <p:nvPr/>
        </p:nvSpPr>
        <p:spPr>
          <a:xfrm>
            <a:off x="4201160" y="5626418"/>
            <a:ext cx="22656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Existence E: catalog, reporter, fuzzy name</a:t>
            </a:r>
            <a:endParaRPr lang="en-US" sz="1800" dirty="0">
              <a:latin typeface="Times New Roman" panose="02020603050405020304" pitchFamily="18" charset="0"/>
            </a:endParaRPr>
          </a:p>
        </p:txBody>
      </p:sp>
      <p:sp>
        <p:nvSpPr>
          <p:cNvPr id="12" name="Text 9"/>
          <p:cNvSpPr/>
          <p:nvPr/>
        </p:nvSpPr>
        <p:spPr>
          <a:xfrm>
            <a:off x="7897019" y="4171950"/>
            <a:ext cx="426244" cy="300990"/>
          </a:xfrm>
          <a:prstGeom prst="rect">
            <a:avLst/>
          </a:prstGeom>
          <a:noFill/>
          <a:ln/>
        </p:spPr>
        <p:txBody>
          <a:bodyPr wrap="square" lIns="25400" tIns="25400" rIns="25400" bIns="25400" rtlCol="0" anchor="t">
            <a:normAutofit lnSpcReduction="10000"/>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Yes</a:t>
            </a:r>
            <a:endParaRPr lang="en-US" sz="1800" dirty="0">
              <a:latin typeface="Times New Roman" panose="02020603050405020304" pitchFamily="18" charset="0"/>
            </a:endParaRPr>
          </a:p>
        </p:txBody>
      </p:sp>
      <p:sp>
        <p:nvSpPr>
          <p:cNvPr id="13" name="Text 10"/>
          <p:cNvSpPr/>
          <p:nvPr/>
        </p:nvSpPr>
        <p:spPr>
          <a:xfrm>
            <a:off x="8418512" y="413194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14" name="Text 11"/>
          <p:cNvSpPr/>
          <p:nvPr/>
        </p:nvSpPr>
        <p:spPr>
          <a:xfrm>
            <a:off x="6667500" y="6882765"/>
            <a:ext cx="1655762" cy="563880"/>
          </a:xfrm>
          <a:prstGeom prst="rect">
            <a:avLst/>
          </a:prstGeom>
          <a:noFill/>
          <a:ln/>
        </p:spPr>
        <p:txBody>
          <a:bodyPr wrap="square" lIns="25400" tIns="25400" rIns="25400" bIns="25400" rtlCol="0" anchor="t">
            <a:normAutofit lnSpcReduction="10000"/>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No · volume covered</a:t>
            </a:r>
            <a:endParaRPr lang="en-US" sz="1800" dirty="0">
              <a:latin typeface="Times New Roman" panose="02020603050405020304" pitchFamily="18" charset="0"/>
            </a:endParaRPr>
          </a:p>
        </p:txBody>
      </p:sp>
      <p:sp>
        <p:nvSpPr>
          <p:cNvPr id="15" name="Text 12"/>
          <p:cNvSpPr/>
          <p:nvPr/>
        </p:nvSpPr>
        <p:spPr>
          <a:xfrm>
            <a:off x="8418512" y="697420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16" name="Text 13"/>
          <p:cNvSpPr/>
          <p:nvPr/>
        </p:nvSpPr>
        <p:spPr>
          <a:xfrm>
            <a:off x="6667500" y="8435339"/>
            <a:ext cx="1655762" cy="340995"/>
          </a:xfrm>
          <a:prstGeom prst="rect">
            <a:avLst/>
          </a:prstGeom>
          <a:noFill/>
          <a:ln/>
        </p:spPr>
        <p:txBody>
          <a:bodyPr wrap="square" lIns="25400" tIns="25400" rIns="25400" bIns="25400" rtlCol="0" anchor="t">
            <a:normAutofit/>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No · not covered</a:t>
            </a:r>
            <a:endParaRPr lang="en-US" sz="1800" dirty="0">
              <a:latin typeface="Times New Roman" panose="02020603050405020304" pitchFamily="18" charset="0"/>
            </a:endParaRPr>
          </a:p>
        </p:txBody>
      </p:sp>
      <p:sp>
        <p:nvSpPr>
          <p:cNvPr id="17" name="Text 14"/>
          <p:cNvSpPr/>
          <p:nvPr/>
        </p:nvSpPr>
        <p:spPr>
          <a:xfrm>
            <a:off x="8418512" y="839533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18" name="Shape 15"/>
          <p:cNvSpPr/>
          <p:nvPr/>
        </p:nvSpPr>
        <p:spPr>
          <a:xfrm>
            <a:off x="8820150" y="2228850"/>
            <a:ext cx="2857500" cy="4149090"/>
          </a:xfrm>
          <a:prstGeom prst="rect">
            <a:avLst/>
          </a:prstGeom>
          <a:solidFill>
            <a:srgbClr val="D9F4D9"/>
          </a:solidFill>
          <a:ln w="10160">
            <a:solidFill>
              <a:srgbClr val="4D9351"/>
            </a:solidFill>
            <a:prstDash val="solid"/>
          </a:ln>
        </p:spPr>
      </p:sp>
      <p:sp>
        <p:nvSpPr>
          <p:cNvPr id="19" name="Text 16"/>
          <p:cNvSpPr/>
          <p:nvPr/>
        </p:nvSpPr>
        <p:spPr>
          <a:xfrm>
            <a:off x="9058910" y="3852863"/>
            <a:ext cx="2617978"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D5117"/>
                </a:solidFill>
                <a:latin typeface="Times New Roman" panose="02020603050405020304" pitchFamily="18" charset="0"/>
                <a:ea typeface="Arial" pitchFamily="34" charset="-122"/>
                <a:cs typeface="Arial" pitchFamily="34" charset="-120"/>
              </a:rPr>
              <a:t>Text entails holding?</a:t>
            </a:r>
            <a:endParaRPr lang="en-US" sz="2250" dirty="0">
              <a:latin typeface="Times New Roman" panose="02020603050405020304" pitchFamily="18" charset="0"/>
            </a:endParaRPr>
          </a:p>
        </p:txBody>
      </p:sp>
      <p:sp>
        <p:nvSpPr>
          <p:cNvPr id="20" name="Text 17"/>
          <p:cNvSpPr/>
          <p:nvPr/>
        </p:nvSpPr>
        <p:spPr>
          <a:xfrm>
            <a:off x="9058910" y="4205288"/>
            <a:ext cx="245618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Support S: NLI over opinion windows</a:t>
            </a:r>
            <a:endParaRPr lang="en-US" sz="1800" dirty="0">
              <a:latin typeface="Times New Roman" panose="02020603050405020304" pitchFamily="18" charset="0"/>
            </a:endParaRPr>
          </a:p>
        </p:txBody>
      </p:sp>
      <p:sp>
        <p:nvSpPr>
          <p:cNvPr id="21" name="Text 18"/>
          <p:cNvSpPr/>
          <p:nvPr/>
        </p:nvSpPr>
        <p:spPr>
          <a:xfrm>
            <a:off x="12194858" y="2750820"/>
            <a:ext cx="795655" cy="300990"/>
          </a:xfrm>
          <a:prstGeom prst="rect">
            <a:avLst/>
          </a:prstGeom>
          <a:noFill/>
          <a:ln/>
        </p:spPr>
        <p:txBody>
          <a:bodyPr wrap="square" lIns="25400" tIns="25400" rIns="25400" bIns="25400" rtlCol="0" anchor="t">
            <a:normAutofit fontScale="92500"/>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CCS &gt; τ</a:t>
            </a:r>
            <a:endParaRPr lang="en-US" sz="1800" dirty="0">
              <a:latin typeface="Times New Roman" panose="02020603050405020304" pitchFamily="18" charset="0"/>
            </a:endParaRPr>
          </a:p>
        </p:txBody>
      </p:sp>
      <p:sp>
        <p:nvSpPr>
          <p:cNvPr id="22" name="Text 19"/>
          <p:cNvSpPr/>
          <p:nvPr/>
        </p:nvSpPr>
        <p:spPr>
          <a:xfrm>
            <a:off x="13085763" y="271081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23" name="Text 20"/>
          <p:cNvSpPr/>
          <p:nvPr/>
        </p:nvSpPr>
        <p:spPr>
          <a:xfrm>
            <a:off x="11871008" y="4171950"/>
            <a:ext cx="1119505" cy="300990"/>
          </a:xfrm>
          <a:prstGeom prst="rect">
            <a:avLst/>
          </a:prstGeom>
          <a:noFill/>
          <a:ln/>
        </p:spPr>
        <p:txBody>
          <a:bodyPr wrap="square" lIns="25400" tIns="25400" rIns="25400" bIns="25400" rtlCol="0" anchor="t">
            <a:normAutofit lnSpcReduction="10000"/>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Borderline</a:t>
            </a:r>
            <a:endParaRPr lang="en-US" sz="1800" dirty="0">
              <a:latin typeface="Times New Roman" panose="02020603050405020304" pitchFamily="18" charset="0"/>
            </a:endParaRPr>
          </a:p>
        </p:txBody>
      </p:sp>
      <p:sp>
        <p:nvSpPr>
          <p:cNvPr id="24" name="Text 21"/>
          <p:cNvSpPr/>
          <p:nvPr/>
        </p:nvSpPr>
        <p:spPr>
          <a:xfrm>
            <a:off x="13085763" y="413194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25" name="Text 22"/>
          <p:cNvSpPr/>
          <p:nvPr/>
        </p:nvSpPr>
        <p:spPr>
          <a:xfrm>
            <a:off x="12633643" y="5593080"/>
            <a:ext cx="356870" cy="300990"/>
          </a:xfrm>
          <a:prstGeom prst="rect">
            <a:avLst/>
          </a:prstGeom>
          <a:noFill/>
          <a:ln/>
        </p:spPr>
        <p:txBody>
          <a:bodyPr wrap="square" lIns="25400" tIns="25400" rIns="25400" bIns="25400" rtlCol="0" anchor="t">
            <a:normAutofit lnSpcReduction="10000"/>
          </a:bodyPr>
          <a:lstStyle/>
          <a:p>
            <a:pPr marL="0" indent="0" algn="just">
              <a:lnSpc>
                <a:spcPct val="101471"/>
              </a:lnSpc>
              <a:buNone/>
            </a:pPr>
            <a:r>
              <a:rPr lang="en-US" sz="1800" dirty="0">
                <a:solidFill>
                  <a:srgbClr val="416180"/>
                </a:solidFill>
                <a:latin typeface="Times New Roman" panose="02020603050405020304" pitchFamily="18" charset="0"/>
                <a:ea typeface="Arial" pitchFamily="34" charset="-122"/>
                <a:cs typeface="Arial" pitchFamily="34" charset="-120"/>
              </a:rPr>
              <a:t>No</a:t>
            </a:r>
            <a:endParaRPr lang="en-US" sz="1800" dirty="0">
              <a:latin typeface="Times New Roman" panose="02020603050405020304" pitchFamily="18" charset="0"/>
            </a:endParaRPr>
          </a:p>
        </p:txBody>
      </p:sp>
      <p:sp>
        <p:nvSpPr>
          <p:cNvPr id="26" name="Text 23"/>
          <p:cNvSpPr/>
          <p:nvPr/>
        </p:nvSpPr>
        <p:spPr>
          <a:xfrm>
            <a:off x="13085763" y="5553075"/>
            <a:ext cx="363538" cy="381000"/>
          </a:xfrm>
          <a:prstGeom prst="rect">
            <a:avLst/>
          </a:prstGeom>
          <a:noFill/>
          <a:ln/>
        </p:spPr>
        <p:txBody>
          <a:bodyPr wrap="square" lIns="25400" tIns="25400" rIns="25400" bIns="25400" rtlCol="0" anchor="t">
            <a:normAutofit lnSpcReduction="10000"/>
          </a:bodyPr>
          <a:lstStyle/>
          <a:p>
            <a:pPr marL="0" indent="0" algn="just">
              <a:lnSpc>
                <a:spcPct val="87662"/>
              </a:lnSpc>
              <a:buNone/>
            </a:pPr>
            <a:r>
              <a:rPr lang="en-US" sz="2700" dirty="0">
                <a:solidFill>
                  <a:srgbClr val="5980A6"/>
                </a:solidFill>
                <a:latin typeface="Times New Roman" panose="02020603050405020304" pitchFamily="18" charset="0"/>
                <a:ea typeface="Arial" pitchFamily="34" charset="-122"/>
                <a:cs typeface="Arial" pitchFamily="34" charset="-120"/>
              </a:rPr>
              <a:t>→</a:t>
            </a:r>
            <a:endParaRPr lang="en-US" sz="2700" dirty="0">
              <a:latin typeface="Times New Roman" panose="02020603050405020304" pitchFamily="18" charset="0"/>
            </a:endParaRPr>
          </a:p>
        </p:txBody>
      </p:sp>
      <p:sp>
        <p:nvSpPr>
          <p:cNvPr id="27" name="Shape 24"/>
          <p:cNvSpPr/>
          <p:nvPr/>
        </p:nvSpPr>
        <p:spPr>
          <a:xfrm>
            <a:off x="13487400" y="2228850"/>
            <a:ext cx="3848100" cy="1306830"/>
          </a:xfrm>
          <a:prstGeom prst="rect">
            <a:avLst/>
          </a:prstGeom>
          <a:solidFill>
            <a:srgbClr val="0D5117"/>
          </a:solidFill>
          <a:ln/>
        </p:spPr>
      </p:sp>
      <p:sp>
        <p:nvSpPr>
          <p:cNvPr id="28" name="Text 25"/>
          <p:cNvSpPr/>
          <p:nvPr/>
        </p:nvSpPr>
        <p:spPr>
          <a:xfrm>
            <a:off x="13716000" y="2568893"/>
            <a:ext cx="3729990"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F2F2F3"/>
                </a:solidFill>
                <a:latin typeface="Times New Roman" panose="02020603050405020304" pitchFamily="18" charset="0"/>
                <a:ea typeface="Arial" pitchFamily="34" charset="-122"/>
                <a:cs typeface="Arial" pitchFamily="34" charset="-120"/>
              </a:rPr>
              <a:t>SUPPORTED</a:t>
            </a:r>
            <a:endParaRPr lang="en-US" sz="2250" dirty="0">
              <a:latin typeface="Times New Roman" panose="02020603050405020304" pitchFamily="18" charset="0"/>
            </a:endParaRPr>
          </a:p>
        </p:txBody>
      </p:sp>
      <p:sp>
        <p:nvSpPr>
          <p:cNvPr id="29" name="Text 26"/>
          <p:cNvSpPr/>
          <p:nvPr/>
        </p:nvSpPr>
        <p:spPr>
          <a:xfrm>
            <a:off x="13716000" y="2921318"/>
            <a:ext cx="372999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F5F5F8"/>
                </a:solidFill>
                <a:latin typeface="Times New Roman" panose="02020603050405020304" pitchFamily="18" charset="0"/>
                <a:ea typeface="Arial" pitchFamily="34" charset="-122"/>
                <a:cs typeface="Arial" pitchFamily="34" charset="-120"/>
              </a:rPr>
              <a:t>Judge may use it</a:t>
            </a:r>
            <a:endParaRPr lang="en-US" sz="1800" dirty="0">
              <a:latin typeface="Times New Roman" panose="02020603050405020304" pitchFamily="18" charset="0"/>
            </a:endParaRPr>
          </a:p>
        </p:txBody>
      </p:sp>
      <p:sp>
        <p:nvSpPr>
          <p:cNvPr id="30" name="Shape 27"/>
          <p:cNvSpPr/>
          <p:nvPr/>
        </p:nvSpPr>
        <p:spPr>
          <a:xfrm>
            <a:off x="13487400" y="3649980"/>
            <a:ext cx="3848100" cy="1306830"/>
          </a:xfrm>
          <a:prstGeom prst="rect">
            <a:avLst/>
          </a:prstGeom>
          <a:solidFill>
            <a:srgbClr val="FDE8CB"/>
          </a:solidFill>
          <a:ln w="10160">
            <a:solidFill>
              <a:srgbClr val="A97416"/>
            </a:solidFill>
            <a:prstDash val="solid"/>
          </a:ln>
        </p:spPr>
      </p:sp>
      <p:sp>
        <p:nvSpPr>
          <p:cNvPr id="31" name="Text 28"/>
          <p:cNvSpPr/>
          <p:nvPr/>
        </p:nvSpPr>
        <p:spPr>
          <a:xfrm>
            <a:off x="13726160" y="3990022"/>
            <a:ext cx="3707638"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633600"/>
                </a:solidFill>
                <a:latin typeface="Times New Roman" panose="02020603050405020304" pitchFamily="18" charset="0"/>
                <a:ea typeface="Arial" pitchFamily="34" charset="-122"/>
                <a:cs typeface="Arial" pitchFamily="34" charset="-120"/>
              </a:rPr>
              <a:t>UNCERTAIN</a:t>
            </a:r>
            <a:endParaRPr lang="en-US" sz="2250" dirty="0">
              <a:latin typeface="Times New Roman" panose="02020603050405020304" pitchFamily="18" charset="0"/>
            </a:endParaRPr>
          </a:p>
        </p:txBody>
      </p:sp>
      <p:sp>
        <p:nvSpPr>
          <p:cNvPr id="32" name="Text 29"/>
          <p:cNvSpPr/>
          <p:nvPr/>
        </p:nvSpPr>
        <p:spPr>
          <a:xfrm>
            <a:off x="13726160" y="4342447"/>
            <a:ext cx="3707638"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Withheld</a:t>
            </a:r>
            <a:endParaRPr lang="en-US" sz="1800" dirty="0">
              <a:latin typeface="Times New Roman" panose="02020603050405020304" pitchFamily="18" charset="0"/>
            </a:endParaRPr>
          </a:p>
        </p:txBody>
      </p:sp>
      <p:sp>
        <p:nvSpPr>
          <p:cNvPr id="33" name="Shape 30"/>
          <p:cNvSpPr/>
          <p:nvPr/>
        </p:nvSpPr>
        <p:spPr>
          <a:xfrm>
            <a:off x="13487400" y="5071110"/>
            <a:ext cx="3848100" cy="1306830"/>
          </a:xfrm>
          <a:prstGeom prst="rect">
            <a:avLst/>
          </a:prstGeom>
          <a:solidFill>
            <a:srgbClr val="FFE0DC"/>
          </a:solidFill>
          <a:ln w="10160">
            <a:solidFill>
              <a:srgbClr val="BD615B"/>
            </a:solidFill>
            <a:prstDash val="solid"/>
          </a:ln>
        </p:spPr>
      </p:sp>
      <p:sp>
        <p:nvSpPr>
          <p:cNvPr id="34" name="Text 31"/>
          <p:cNvSpPr/>
          <p:nvPr/>
        </p:nvSpPr>
        <p:spPr>
          <a:xfrm>
            <a:off x="13726160" y="5273993"/>
            <a:ext cx="3707638"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722423"/>
                </a:solidFill>
                <a:latin typeface="Times New Roman" panose="02020603050405020304" pitchFamily="18" charset="0"/>
                <a:ea typeface="Arial" pitchFamily="34" charset="-122"/>
                <a:cs typeface="Arial" pitchFamily="34" charset="-120"/>
              </a:rPr>
              <a:t>MISATTRIBUTED</a:t>
            </a:r>
            <a:endParaRPr lang="en-US" sz="2250" dirty="0">
              <a:latin typeface="Times New Roman" panose="02020603050405020304" pitchFamily="18" charset="0"/>
            </a:endParaRPr>
          </a:p>
        </p:txBody>
      </p:sp>
      <p:sp>
        <p:nvSpPr>
          <p:cNvPr id="35" name="Text 32"/>
          <p:cNvSpPr/>
          <p:nvPr/>
        </p:nvSpPr>
        <p:spPr>
          <a:xfrm>
            <a:off x="13726160" y="5626418"/>
            <a:ext cx="3471697" cy="586740"/>
          </a:xfrm>
          <a:prstGeom prst="rect">
            <a:avLst/>
          </a:prstGeom>
          <a:noFill/>
          <a:ln/>
        </p:spPr>
        <p:txBody>
          <a:bodyPr wrap="square" lIns="25400" tIns="25400" rIns="25400" bIns="25400" rtlCol="0" anchor="t">
            <a:normAutofit/>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Real case, wrong holding · rejected</a:t>
            </a:r>
            <a:endParaRPr lang="en-US" sz="1800" dirty="0">
              <a:latin typeface="Times New Roman" panose="02020603050405020304" pitchFamily="18" charset="0"/>
            </a:endParaRPr>
          </a:p>
        </p:txBody>
      </p:sp>
      <p:sp>
        <p:nvSpPr>
          <p:cNvPr id="36" name="Shape 33"/>
          <p:cNvSpPr/>
          <p:nvPr/>
        </p:nvSpPr>
        <p:spPr>
          <a:xfrm>
            <a:off x="8820150" y="6492240"/>
            <a:ext cx="8515350" cy="1306830"/>
          </a:xfrm>
          <a:prstGeom prst="rect">
            <a:avLst/>
          </a:prstGeom>
          <a:solidFill>
            <a:srgbClr val="FFE0DC"/>
          </a:solidFill>
          <a:ln w="10160">
            <a:solidFill>
              <a:srgbClr val="BD615B"/>
            </a:solidFill>
            <a:prstDash val="solid"/>
          </a:ln>
        </p:spPr>
      </p:sp>
      <p:sp>
        <p:nvSpPr>
          <p:cNvPr id="37" name="Text 34"/>
          <p:cNvSpPr/>
          <p:nvPr/>
        </p:nvSpPr>
        <p:spPr>
          <a:xfrm>
            <a:off x="9058910" y="6832282"/>
            <a:ext cx="8841613"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722423"/>
                </a:solidFill>
                <a:latin typeface="Times New Roman" panose="02020603050405020304" pitchFamily="18" charset="0"/>
                <a:ea typeface="Arial" pitchFamily="34" charset="-122"/>
                <a:cs typeface="Arial" pitchFamily="34" charset="-120"/>
              </a:rPr>
              <a:t>FABRICATED</a:t>
            </a:r>
            <a:endParaRPr lang="en-US" sz="2250" dirty="0">
              <a:latin typeface="Times New Roman" panose="02020603050405020304" pitchFamily="18" charset="0"/>
            </a:endParaRPr>
          </a:p>
        </p:txBody>
      </p:sp>
      <p:sp>
        <p:nvSpPr>
          <p:cNvPr id="38" name="Text 35"/>
          <p:cNvSpPr/>
          <p:nvPr/>
        </p:nvSpPr>
        <p:spPr>
          <a:xfrm>
            <a:off x="9058910" y="7184707"/>
            <a:ext cx="884161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No case of that name at a covered citation · rejected</a:t>
            </a:r>
            <a:endParaRPr lang="en-US" sz="1800" dirty="0">
              <a:latin typeface="Times New Roman" panose="02020603050405020304" pitchFamily="18" charset="0"/>
            </a:endParaRPr>
          </a:p>
        </p:txBody>
      </p:sp>
      <p:sp>
        <p:nvSpPr>
          <p:cNvPr id="39" name="Shape 36"/>
          <p:cNvSpPr/>
          <p:nvPr/>
        </p:nvSpPr>
        <p:spPr>
          <a:xfrm>
            <a:off x="8820150" y="7913370"/>
            <a:ext cx="8515350" cy="1306830"/>
          </a:xfrm>
          <a:prstGeom prst="rect">
            <a:avLst/>
          </a:prstGeom>
          <a:solidFill>
            <a:srgbClr val="D5EEFF"/>
          </a:solidFill>
          <a:ln w="10160">
            <a:solidFill>
              <a:srgbClr val="4284C5"/>
            </a:solidFill>
            <a:prstDash val="solid"/>
          </a:ln>
        </p:spPr>
      </p:sp>
      <p:sp>
        <p:nvSpPr>
          <p:cNvPr id="40" name="Text 37"/>
          <p:cNvSpPr/>
          <p:nvPr/>
        </p:nvSpPr>
        <p:spPr>
          <a:xfrm>
            <a:off x="9058910" y="8253412"/>
            <a:ext cx="8841613" cy="352425"/>
          </a:xfrm>
          <a:prstGeom prst="rect">
            <a:avLst/>
          </a:prstGeom>
          <a:noFill/>
          <a:ln/>
        </p:spPr>
        <p:txBody>
          <a:bodyPr wrap="square" lIns="25400" tIns="25400" rIns="25400" bIns="25400" rtlCol="0" anchor="t">
            <a:normAutofit fontScale="92500" lnSpcReduction="10000"/>
          </a:bodyPr>
          <a:lstStyle/>
          <a:p>
            <a:pPr marL="0" indent="0" algn="just">
              <a:lnSpc>
                <a:spcPct val="98214"/>
              </a:lnSpc>
              <a:buNone/>
            </a:pPr>
            <a:r>
              <a:rPr lang="en-US" sz="2250" b="1" dirty="0">
                <a:solidFill>
                  <a:srgbClr val="00447A"/>
                </a:solidFill>
                <a:latin typeface="Times New Roman" panose="02020603050405020304" pitchFamily="18" charset="0"/>
                <a:ea typeface="Arial" pitchFamily="34" charset="-122"/>
                <a:cs typeface="Arial" pitchFamily="34" charset="-120"/>
              </a:rPr>
              <a:t>UNVERIFIABLE</a:t>
            </a:r>
            <a:endParaRPr lang="en-US" sz="2250" dirty="0">
              <a:latin typeface="Times New Roman" panose="02020603050405020304" pitchFamily="18" charset="0"/>
            </a:endParaRPr>
          </a:p>
        </p:txBody>
      </p:sp>
      <p:sp>
        <p:nvSpPr>
          <p:cNvPr id="41" name="Text 38"/>
          <p:cNvSpPr/>
          <p:nvPr/>
        </p:nvSpPr>
        <p:spPr>
          <a:xfrm>
            <a:off x="9058910" y="8605838"/>
            <a:ext cx="884161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424244"/>
                </a:solidFill>
                <a:latin typeface="Times New Roman" panose="02020603050405020304" pitchFamily="18" charset="0"/>
                <a:ea typeface="Arial" pitchFamily="34" charset="-122"/>
                <a:cs typeface="Arial" pitchFamily="34" charset="-120"/>
              </a:rPr>
              <a:t>Outside local coverage · flagged, not called fake</a:t>
            </a:r>
            <a:endParaRPr lang="en-US" sz="1800" dirty="0">
              <a:latin typeface="Times New Roman" panose="02020603050405020304" pitchFamily="18" charset="0"/>
            </a:endParaRPr>
          </a:p>
        </p:txBody>
      </p:sp>
      <p:sp>
        <p:nvSpPr>
          <p:cNvPr id="43" name="TextBox 42">
            <a:extLst>
              <a:ext uri="{FF2B5EF4-FFF2-40B4-BE49-F238E27FC236}">
                <a16:creationId xmlns:a16="http://schemas.microsoft.com/office/drawing/2014/main" id="{1DDA82E2-CF40-DD6D-ED29-EE396B368477}"/>
              </a:ext>
            </a:extLst>
          </p:cNvPr>
          <p:cNvSpPr txBox="1"/>
          <p:nvPr/>
        </p:nvSpPr>
        <p:spPr>
          <a:xfrm>
            <a:off x="17499011" y="9589770"/>
            <a:ext cx="560389"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19</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25660"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System Design &amp; Architecture (contd.)</a:t>
            </a:r>
            <a:endParaRPr lang="en-US" sz="4800" dirty="0">
              <a:latin typeface="Times New Roman" panose="02020603050405020304" pitchFamily="18" charset="0"/>
            </a:endParaRPr>
          </a:p>
        </p:txBody>
      </p:sp>
      <p:sp>
        <p:nvSpPr>
          <p:cNvPr id="3" name="Text 1"/>
          <p:cNvSpPr/>
          <p:nvPr/>
        </p:nvSpPr>
        <p:spPr>
          <a:xfrm>
            <a:off x="952500" y="1625917"/>
            <a:ext cx="11625660"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Proposed Novel Contributions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2066862" y="1962149"/>
            <a:ext cx="5232400" cy="3286125"/>
          </a:xfrm>
          <a:prstGeom prst="rect">
            <a:avLst/>
          </a:prstGeom>
          <a:ln w="5080">
            <a:solidFill>
              <a:srgbClr val="1D1F20">
                <a:alpha val="16000"/>
              </a:srgbClr>
            </a:solidFill>
            <a:prstDash val="solid"/>
          </a:ln>
        </p:spPr>
      </p:sp>
      <p:sp>
        <p:nvSpPr>
          <p:cNvPr id="6" name="Text 3"/>
          <p:cNvSpPr/>
          <p:nvPr/>
        </p:nvSpPr>
        <p:spPr>
          <a:xfrm>
            <a:off x="2376742" y="2272029"/>
            <a:ext cx="5073904"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416180"/>
                </a:solidFill>
                <a:latin typeface="Times New Roman" panose="02020603050405020304" pitchFamily="18" charset="0"/>
                <a:ea typeface="Arial" pitchFamily="34" charset="-122"/>
                <a:cs typeface="Arial" pitchFamily="34" charset="-120"/>
              </a:rPr>
              <a:t>01</a:t>
            </a:r>
            <a:endParaRPr lang="en-US" sz="1950" dirty="0">
              <a:latin typeface="Times New Roman" panose="02020603050405020304" pitchFamily="18" charset="0"/>
            </a:endParaRPr>
          </a:p>
        </p:txBody>
      </p:sp>
      <p:sp>
        <p:nvSpPr>
          <p:cNvPr id="7" name="Text 4"/>
          <p:cNvSpPr/>
          <p:nvPr/>
        </p:nvSpPr>
        <p:spPr>
          <a:xfrm>
            <a:off x="2376742" y="2770186"/>
            <a:ext cx="5073904"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1D1F20"/>
                </a:solidFill>
                <a:latin typeface="Times New Roman" panose="02020603050405020304" pitchFamily="18" charset="0"/>
                <a:ea typeface="Arial" pitchFamily="34" charset="-122"/>
                <a:cs typeface="Arial" pitchFamily="34" charset="-120"/>
              </a:rPr>
              <a:t>Factorized citation verification</a:t>
            </a:r>
            <a:endParaRPr lang="en-US" sz="2700" dirty="0">
              <a:latin typeface="Times New Roman" panose="02020603050405020304" pitchFamily="18" charset="0"/>
            </a:endParaRPr>
          </a:p>
        </p:txBody>
      </p:sp>
      <p:sp>
        <p:nvSpPr>
          <p:cNvPr id="8" name="Text 5"/>
          <p:cNvSpPr/>
          <p:nvPr/>
        </p:nvSpPr>
        <p:spPr>
          <a:xfrm>
            <a:off x="2376742" y="3261677"/>
            <a:ext cx="4751019" cy="1246187"/>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CCS = Existence × Support with a five-way verdict</a:t>
            </a:r>
            <a:endParaRPr lang="en-US" sz="1950" dirty="0">
              <a:latin typeface="Times New Roman" panose="02020603050405020304" pitchFamily="18" charset="0"/>
            </a:endParaRPr>
          </a:p>
        </p:txBody>
      </p:sp>
      <p:sp>
        <p:nvSpPr>
          <p:cNvPr id="9" name="Text 6"/>
          <p:cNvSpPr/>
          <p:nvPr/>
        </p:nvSpPr>
        <p:spPr>
          <a:xfrm>
            <a:off x="2376742" y="4584064"/>
            <a:ext cx="5073904"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Replaces the weighted CVM sum</a:t>
            </a:r>
            <a:endParaRPr lang="en-US" sz="1800" dirty="0">
              <a:latin typeface="Times New Roman" panose="02020603050405020304" pitchFamily="18" charset="0"/>
            </a:endParaRPr>
          </a:p>
        </p:txBody>
      </p:sp>
      <p:sp>
        <p:nvSpPr>
          <p:cNvPr id="15" name="Shape 12"/>
          <p:cNvSpPr/>
          <p:nvPr/>
        </p:nvSpPr>
        <p:spPr>
          <a:xfrm>
            <a:off x="9987598" y="2033270"/>
            <a:ext cx="5232400" cy="3286125"/>
          </a:xfrm>
          <a:prstGeom prst="rect">
            <a:avLst/>
          </a:prstGeom>
          <a:ln w="5080">
            <a:solidFill>
              <a:srgbClr val="1D1F20">
                <a:alpha val="16000"/>
              </a:srgbClr>
            </a:solidFill>
            <a:prstDash val="solid"/>
          </a:ln>
        </p:spPr>
      </p:sp>
      <p:sp>
        <p:nvSpPr>
          <p:cNvPr id="16" name="Text 13"/>
          <p:cNvSpPr/>
          <p:nvPr/>
        </p:nvSpPr>
        <p:spPr>
          <a:xfrm>
            <a:off x="10297478" y="2343150"/>
            <a:ext cx="5073904"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416180"/>
                </a:solidFill>
                <a:latin typeface="Times New Roman" panose="02020603050405020304" pitchFamily="18" charset="0"/>
                <a:ea typeface="Arial" pitchFamily="34" charset="-122"/>
                <a:cs typeface="Arial" pitchFamily="34" charset="-120"/>
              </a:rPr>
              <a:t>02</a:t>
            </a:r>
            <a:endParaRPr lang="en-US" sz="1950" dirty="0">
              <a:latin typeface="Times New Roman" panose="02020603050405020304" pitchFamily="18" charset="0"/>
            </a:endParaRPr>
          </a:p>
        </p:txBody>
      </p:sp>
      <p:sp>
        <p:nvSpPr>
          <p:cNvPr id="17" name="Text 14"/>
          <p:cNvSpPr/>
          <p:nvPr/>
        </p:nvSpPr>
        <p:spPr>
          <a:xfrm>
            <a:off x="10297478" y="2841307"/>
            <a:ext cx="5073904"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1D1F20"/>
                </a:solidFill>
                <a:latin typeface="Times New Roman" panose="02020603050405020304" pitchFamily="18" charset="0"/>
                <a:ea typeface="Arial" pitchFamily="34" charset="-122"/>
                <a:cs typeface="Arial" pitchFamily="34" charset="-120"/>
              </a:rPr>
              <a:t>Evidence-disjoint Defense</a:t>
            </a:r>
            <a:endParaRPr lang="en-US" sz="2700" dirty="0">
              <a:latin typeface="Times New Roman" panose="02020603050405020304" pitchFamily="18" charset="0"/>
            </a:endParaRPr>
          </a:p>
        </p:txBody>
      </p:sp>
      <p:sp>
        <p:nvSpPr>
          <p:cNvPr id="18" name="Text 15"/>
          <p:cNvSpPr/>
          <p:nvPr/>
        </p:nvSpPr>
        <p:spPr>
          <a:xfrm>
            <a:off x="10297478" y="3332798"/>
            <a:ext cx="4751019" cy="1246187"/>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Defense retrieves its own counter-evidence; Prosecutor documents excluded</a:t>
            </a:r>
            <a:endParaRPr lang="en-US" sz="1950" dirty="0">
              <a:latin typeface="Times New Roman" panose="02020603050405020304" pitchFamily="18" charset="0"/>
            </a:endParaRPr>
          </a:p>
        </p:txBody>
      </p:sp>
      <p:sp>
        <p:nvSpPr>
          <p:cNvPr id="19" name="Text 16"/>
          <p:cNvSpPr/>
          <p:nvPr/>
        </p:nvSpPr>
        <p:spPr>
          <a:xfrm>
            <a:off x="10297478" y="4655185"/>
            <a:ext cx="5073904"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Replaces shared-context Defense</a:t>
            </a:r>
            <a:endParaRPr lang="en-US" sz="1800" dirty="0">
              <a:latin typeface="Times New Roman" panose="02020603050405020304" pitchFamily="18" charset="0"/>
            </a:endParaRPr>
          </a:p>
        </p:txBody>
      </p:sp>
      <p:sp>
        <p:nvSpPr>
          <p:cNvPr id="25" name="Shape 22"/>
          <p:cNvSpPr/>
          <p:nvPr/>
        </p:nvSpPr>
        <p:spPr>
          <a:xfrm>
            <a:off x="2066862" y="5911214"/>
            <a:ext cx="5232400" cy="3286125"/>
          </a:xfrm>
          <a:prstGeom prst="rect">
            <a:avLst/>
          </a:prstGeom>
          <a:ln w="5080">
            <a:solidFill>
              <a:srgbClr val="1D1F20">
                <a:alpha val="16000"/>
              </a:srgbClr>
            </a:solidFill>
            <a:prstDash val="solid"/>
          </a:ln>
        </p:spPr>
      </p:sp>
      <p:sp>
        <p:nvSpPr>
          <p:cNvPr id="26" name="Text 23"/>
          <p:cNvSpPr/>
          <p:nvPr/>
        </p:nvSpPr>
        <p:spPr>
          <a:xfrm>
            <a:off x="2376742" y="6221094"/>
            <a:ext cx="5073904"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416180"/>
                </a:solidFill>
                <a:latin typeface="Times New Roman" panose="02020603050405020304" pitchFamily="18" charset="0"/>
                <a:ea typeface="Arial" pitchFamily="34" charset="-122"/>
                <a:cs typeface="Arial" pitchFamily="34" charset="-120"/>
              </a:rPr>
              <a:t>03</a:t>
            </a:r>
            <a:endParaRPr lang="en-US" sz="1950" dirty="0">
              <a:latin typeface="Times New Roman" panose="02020603050405020304" pitchFamily="18" charset="0"/>
            </a:endParaRPr>
          </a:p>
        </p:txBody>
      </p:sp>
      <p:sp>
        <p:nvSpPr>
          <p:cNvPr id="27" name="Text 24"/>
          <p:cNvSpPr/>
          <p:nvPr/>
        </p:nvSpPr>
        <p:spPr>
          <a:xfrm>
            <a:off x="2376742" y="6719251"/>
            <a:ext cx="5073904" cy="415290"/>
          </a:xfrm>
          <a:prstGeom prst="rect">
            <a:avLst/>
          </a:prstGeom>
          <a:noFill/>
          <a:ln/>
        </p:spPr>
        <p:txBody>
          <a:bodyPr wrap="square" lIns="25400" tIns="25400" rIns="25400" bIns="25400" rtlCol="0" anchor="t">
            <a:normAutofit lnSpcReduction="10000"/>
          </a:bodyPr>
          <a:lstStyle/>
          <a:p>
            <a:pPr marL="0" indent="0" algn="just">
              <a:lnSpc>
                <a:spcPct val="96429"/>
              </a:lnSpc>
              <a:buNone/>
            </a:pPr>
            <a:r>
              <a:rPr lang="en-US" sz="2700" b="1" dirty="0">
                <a:solidFill>
                  <a:srgbClr val="1D1F20"/>
                </a:solidFill>
                <a:latin typeface="Times New Roman" panose="02020603050405020304" pitchFamily="18" charset="0"/>
                <a:ea typeface="Arial" pitchFamily="34" charset="-122"/>
                <a:cs typeface="Arial" pitchFamily="34" charset="-120"/>
              </a:rPr>
              <a:t>Citation stress-test protocol</a:t>
            </a:r>
            <a:endParaRPr lang="en-US" sz="2700" dirty="0">
              <a:latin typeface="Times New Roman" panose="02020603050405020304" pitchFamily="18" charset="0"/>
            </a:endParaRPr>
          </a:p>
        </p:txBody>
      </p:sp>
      <p:sp>
        <p:nvSpPr>
          <p:cNvPr id="28" name="Text 25"/>
          <p:cNvSpPr/>
          <p:nvPr/>
        </p:nvSpPr>
        <p:spPr>
          <a:xfrm>
            <a:off x="2376742" y="7210742"/>
            <a:ext cx="4751019" cy="1246187"/>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Inject labelled bad citations; measure catch rate per error type</a:t>
            </a:r>
            <a:endParaRPr lang="en-US" sz="1950" dirty="0">
              <a:latin typeface="Times New Roman" panose="02020603050405020304" pitchFamily="18" charset="0"/>
            </a:endParaRPr>
          </a:p>
        </p:txBody>
      </p:sp>
      <p:sp>
        <p:nvSpPr>
          <p:cNvPr id="29" name="Text 26"/>
          <p:cNvSpPr/>
          <p:nvPr/>
        </p:nvSpPr>
        <p:spPr>
          <a:xfrm>
            <a:off x="2376742" y="8533129"/>
            <a:ext cx="5073904"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Replaces end-to-end RAGAS only</a:t>
            </a:r>
            <a:endParaRPr lang="en-US" sz="1800" dirty="0">
              <a:latin typeface="Times New Roman" panose="02020603050405020304" pitchFamily="18" charset="0"/>
            </a:endParaRPr>
          </a:p>
        </p:txBody>
      </p:sp>
      <p:sp>
        <p:nvSpPr>
          <p:cNvPr id="30" name="Shape 27"/>
          <p:cNvSpPr/>
          <p:nvPr/>
        </p:nvSpPr>
        <p:spPr>
          <a:xfrm>
            <a:off x="9987598" y="5934075"/>
            <a:ext cx="5232400" cy="3286125"/>
          </a:xfrm>
          <a:prstGeom prst="rect">
            <a:avLst/>
          </a:prstGeom>
          <a:solidFill>
            <a:srgbClr val="1D2D3D"/>
          </a:solidFill>
          <a:ln/>
        </p:spPr>
      </p:sp>
      <p:sp>
        <p:nvSpPr>
          <p:cNvPr id="31" name="Text 28"/>
          <p:cNvSpPr/>
          <p:nvPr/>
        </p:nvSpPr>
        <p:spPr>
          <a:xfrm>
            <a:off x="10292398" y="6320790"/>
            <a:ext cx="508508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216" dirty="0">
                <a:solidFill>
                  <a:srgbClr val="B5D9FD"/>
                </a:solidFill>
                <a:latin typeface="Times New Roman" panose="02020603050405020304" pitchFamily="18" charset="0"/>
                <a:ea typeface="Arial" pitchFamily="34" charset="-122"/>
                <a:cs typeface="Arial" pitchFamily="34" charset="-120"/>
              </a:rPr>
              <a:t>CONTRIBUTION STATEMENT</a:t>
            </a:r>
            <a:endParaRPr lang="en-US" sz="1800" dirty="0">
              <a:latin typeface="Times New Roman" panose="02020603050405020304" pitchFamily="18" charset="0"/>
            </a:endParaRPr>
          </a:p>
        </p:txBody>
      </p:sp>
      <p:sp>
        <p:nvSpPr>
          <p:cNvPr id="32" name="Text 29"/>
          <p:cNvSpPr/>
          <p:nvPr/>
        </p:nvSpPr>
        <p:spPr>
          <a:xfrm>
            <a:off x="10292398" y="6827520"/>
            <a:ext cx="4761484" cy="2044065"/>
          </a:xfrm>
          <a:prstGeom prst="rect">
            <a:avLst/>
          </a:prstGeom>
          <a:noFill/>
          <a:ln/>
        </p:spPr>
        <p:txBody>
          <a:bodyPr wrap="square" lIns="25400" tIns="25400" rIns="25400" bIns="25400" rtlCol="0" anchor="t">
            <a:normAutofit/>
          </a:bodyPr>
          <a:lstStyle/>
          <a:p>
            <a:pPr marL="0" indent="0" algn="just">
              <a:lnSpc>
                <a:spcPct val="117522"/>
              </a:lnSpc>
              <a:buNone/>
            </a:pPr>
            <a:r>
              <a:rPr lang="en-US" sz="1950" dirty="0">
                <a:solidFill>
                  <a:srgbClr val="F2F2F3"/>
                </a:solidFill>
                <a:latin typeface="Times New Roman" panose="02020603050405020304" pitchFamily="18" charset="0"/>
                <a:ea typeface="Arial" pitchFamily="34" charset="-122"/>
                <a:cs typeface="Arial" pitchFamily="34" charset="-120"/>
              </a:rPr>
              <a:t>LexAgent distinguishes fabricated, misattributed and unverifiable citations, forces evidential independence between debating agents, and bounds how often unsupported citations are accepted, all on one T4 GPU.</a:t>
            </a:r>
            <a:endParaRPr lang="en-US" sz="1950" dirty="0">
              <a:latin typeface="Times New Roman" panose="02020603050405020304" pitchFamily="18" charset="0"/>
            </a:endParaRPr>
          </a:p>
        </p:txBody>
      </p:sp>
      <p:sp>
        <p:nvSpPr>
          <p:cNvPr id="34" name="TextBox 33">
            <a:extLst>
              <a:ext uri="{FF2B5EF4-FFF2-40B4-BE49-F238E27FC236}">
                <a16:creationId xmlns:a16="http://schemas.microsoft.com/office/drawing/2014/main" id="{9348B0FA-D2DD-6966-BEE2-FDF0C763FA71}"/>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20</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721969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Implementation Details</a:t>
            </a:r>
            <a:endParaRPr lang="en-US" sz="4800" dirty="0">
              <a:latin typeface="Times New Roman" panose="02020603050405020304" pitchFamily="18" charset="0"/>
            </a:endParaRPr>
          </a:p>
        </p:txBody>
      </p:sp>
      <p:sp>
        <p:nvSpPr>
          <p:cNvPr id="3" name="Text 1"/>
          <p:cNvSpPr/>
          <p:nvPr/>
        </p:nvSpPr>
        <p:spPr>
          <a:xfrm>
            <a:off x="952500" y="1554480"/>
            <a:ext cx="721969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Modules Developed and Integrated · Progress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Text 2"/>
          <p:cNvSpPr/>
          <p:nvPr/>
        </p:nvSpPr>
        <p:spPr>
          <a:xfrm>
            <a:off x="952500" y="2266950"/>
            <a:ext cx="4681347" cy="481012"/>
          </a:xfrm>
          <a:prstGeom prst="rect">
            <a:avLst/>
          </a:prstGeom>
          <a:noFill/>
          <a:ln/>
        </p:spPr>
        <p:txBody>
          <a:bodyPr wrap="square" lIns="25400" tIns="25400" rIns="25400" bIns="25400" rtlCol="0" anchor="t">
            <a:normAutofit/>
          </a:bodyPr>
          <a:lstStyle/>
          <a:p>
            <a:pPr marL="0" indent="0" algn="just">
              <a:lnSpc>
                <a:spcPct val="138393"/>
              </a:lnSpc>
              <a:buNone/>
            </a:pPr>
            <a:r>
              <a:rPr lang="en-US" sz="2250" b="1" dirty="0">
                <a:solidFill>
                  <a:srgbClr val="1D1F20"/>
                </a:solidFill>
                <a:latin typeface="Times New Roman" panose="02020603050405020304" pitchFamily="18" charset="0"/>
                <a:ea typeface="Arial" pitchFamily="34" charset="-122"/>
                <a:cs typeface="Arial" pitchFamily="34" charset="-120"/>
              </a:rPr>
              <a:t>Review-II milestone:</a:t>
            </a:r>
            <a:endParaRPr lang="en-US" sz="2250" dirty="0">
              <a:latin typeface="Times New Roman" panose="02020603050405020304" pitchFamily="18" charset="0"/>
            </a:endParaRPr>
          </a:p>
        </p:txBody>
      </p:sp>
      <p:sp>
        <p:nvSpPr>
          <p:cNvPr id="6" name="Text 3"/>
          <p:cNvSpPr/>
          <p:nvPr/>
        </p:nvSpPr>
        <p:spPr>
          <a:xfrm>
            <a:off x="13004959" y="2334101"/>
            <a:ext cx="4763595"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Remaining: validation and final delivery</a:t>
            </a:r>
            <a:endParaRPr lang="en-US" sz="1800" dirty="0">
              <a:latin typeface="Times New Roman" panose="02020603050405020304" pitchFamily="18" charset="0"/>
            </a:endParaRPr>
          </a:p>
        </p:txBody>
      </p:sp>
      <p:sp>
        <p:nvSpPr>
          <p:cNvPr id="7" name="Shape 4"/>
          <p:cNvSpPr/>
          <p:nvPr/>
        </p:nvSpPr>
        <p:spPr>
          <a:xfrm>
            <a:off x="952500" y="2843213"/>
            <a:ext cx="2428875" cy="342900"/>
          </a:xfrm>
          <a:prstGeom prst="rect">
            <a:avLst/>
          </a:prstGeom>
          <a:solidFill>
            <a:srgbClr val="5980A6"/>
          </a:solidFill>
          <a:ln/>
        </p:spPr>
      </p:sp>
      <p:sp>
        <p:nvSpPr>
          <p:cNvPr id="8" name="Text 5"/>
          <p:cNvSpPr/>
          <p:nvPr/>
        </p:nvSpPr>
        <p:spPr>
          <a:xfrm>
            <a:off x="952500" y="3281363"/>
            <a:ext cx="267176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Literature · 15%</a:t>
            </a:r>
            <a:endParaRPr lang="en-US" sz="1800" dirty="0">
              <a:latin typeface="Times New Roman" panose="02020603050405020304" pitchFamily="18" charset="0"/>
            </a:endParaRPr>
          </a:p>
        </p:txBody>
      </p:sp>
      <p:sp>
        <p:nvSpPr>
          <p:cNvPr id="9" name="Shape 6"/>
          <p:cNvSpPr/>
          <p:nvPr/>
        </p:nvSpPr>
        <p:spPr>
          <a:xfrm>
            <a:off x="3419475" y="2843213"/>
            <a:ext cx="1619250" cy="342900"/>
          </a:xfrm>
          <a:prstGeom prst="rect">
            <a:avLst/>
          </a:prstGeom>
          <a:solidFill>
            <a:srgbClr val="5980A6"/>
          </a:solidFill>
          <a:ln/>
        </p:spPr>
      </p:sp>
      <p:sp>
        <p:nvSpPr>
          <p:cNvPr id="10" name="Text 7"/>
          <p:cNvSpPr/>
          <p:nvPr/>
        </p:nvSpPr>
        <p:spPr>
          <a:xfrm>
            <a:off x="3419475" y="3281363"/>
            <a:ext cx="1695450"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Architecture · 10%</a:t>
            </a:r>
            <a:endParaRPr lang="en-US" sz="1800" dirty="0">
              <a:latin typeface="Times New Roman" panose="02020603050405020304" pitchFamily="18" charset="0"/>
            </a:endParaRPr>
          </a:p>
        </p:txBody>
      </p:sp>
      <p:sp>
        <p:nvSpPr>
          <p:cNvPr id="11" name="Shape 8"/>
          <p:cNvSpPr/>
          <p:nvPr/>
        </p:nvSpPr>
        <p:spPr>
          <a:xfrm>
            <a:off x="5076825" y="2843213"/>
            <a:ext cx="2428875" cy="342900"/>
          </a:xfrm>
          <a:prstGeom prst="rect">
            <a:avLst/>
          </a:prstGeom>
          <a:solidFill>
            <a:srgbClr val="5980A6"/>
          </a:solidFill>
          <a:ln/>
        </p:spPr>
      </p:sp>
      <p:sp>
        <p:nvSpPr>
          <p:cNvPr id="12" name="Text 9"/>
          <p:cNvSpPr/>
          <p:nvPr/>
        </p:nvSpPr>
        <p:spPr>
          <a:xfrm>
            <a:off x="5076825" y="3281363"/>
            <a:ext cx="2671763"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Corpus + retrieval · 15%</a:t>
            </a:r>
            <a:endParaRPr lang="en-US" sz="1800" dirty="0">
              <a:latin typeface="Times New Roman" panose="02020603050405020304" pitchFamily="18" charset="0"/>
            </a:endParaRPr>
          </a:p>
        </p:txBody>
      </p:sp>
      <p:sp>
        <p:nvSpPr>
          <p:cNvPr id="13" name="Shape 10"/>
          <p:cNvSpPr/>
          <p:nvPr/>
        </p:nvSpPr>
        <p:spPr>
          <a:xfrm>
            <a:off x="7543800" y="2843213"/>
            <a:ext cx="3238500" cy="342900"/>
          </a:xfrm>
          <a:prstGeom prst="rect">
            <a:avLst/>
          </a:prstGeom>
          <a:solidFill>
            <a:srgbClr val="5980A6"/>
          </a:solidFill>
          <a:ln/>
        </p:spPr>
      </p:sp>
      <p:sp>
        <p:nvSpPr>
          <p:cNvPr id="14" name="Text 11"/>
          <p:cNvSpPr/>
          <p:nvPr/>
        </p:nvSpPr>
        <p:spPr>
          <a:xfrm>
            <a:off x="7543800" y="3281363"/>
            <a:ext cx="3562350"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Integrated prototype · 20%</a:t>
            </a:r>
            <a:endParaRPr lang="en-US" sz="1800" dirty="0">
              <a:latin typeface="Times New Roman" panose="02020603050405020304" pitchFamily="18" charset="0"/>
            </a:endParaRPr>
          </a:p>
        </p:txBody>
      </p:sp>
      <p:sp>
        <p:nvSpPr>
          <p:cNvPr id="15" name="Shape 12"/>
          <p:cNvSpPr/>
          <p:nvPr/>
        </p:nvSpPr>
        <p:spPr>
          <a:xfrm>
            <a:off x="10820400" y="2843213"/>
            <a:ext cx="2428875" cy="342900"/>
          </a:xfrm>
          <a:prstGeom prst="rect">
            <a:avLst/>
          </a:prstGeom>
          <a:solidFill>
            <a:srgbClr val="5980A6"/>
          </a:solidFill>
          <a:ln/>
        </p:spPr>
      </p:sp>
      <p:sp>
        <p:nvSpPr>
          <p:cNvPr id="16" name="Text 13"/>
          <p:cNvSpPr/>
          <p:nvPr/>
        </p:nvSpPr>
        <p:spPr>
          <a:xfrm>
            <a:off x="10820400" y="3281363"/>
            <a:ext cx="2505075" cy="586740"/>
          </a:xfrm>
          <a:prstGeom prst="rect">
            <a:avLst/>
          </a:prstGeom>
          <a:noFill/>
          <a:ln/>
        </p:spPr>
        <p:txBody>
          <a:bodyPr wrap="square" lIns="25400" tIns="25400" rIns="25400" bIns="25400" rtlCol="0" anchor="t">
            <a:normAutofit lnSpcReduction="10000"/>
          </a:bodyPr>
          <a:lstStyle/>
          <a:p>
            <a:pPr marL="0" indent="0" algn="just">
              <a:lnSpc>
                <a:spcPct val="105882"/>
              </a:lnSpc>
              <a:buNone/>
            </a:pPr>
            <a:r>
              <a:rPr lang="en-US" sz="1800" dirty="0">
                <a:solidFill>
                  <a:srgbClr val="1D1F20"/>
                </a:solidFill>
                <a:latin typeface="Times New Roman" panose="02020603050405020304" pitchFamily="18" charset="0"/>
                <a:ea typeface="Arial" pitchFamily="34" charset="-122"/>
                <a:cs typeface="Arial" pitchFamily="34" charset="-120"/>
              </a:rPr>
              <a:t>Preliminary evaluation · 15%</a:t>
            </a:r>
            <a:endParaRPr lang="en-US" sz="1800" dirty="0">
              <a:latin typeface="Times New Roman" panose="02020603050405020304" pitchFamily="18" charset="0"/>
            </a:endParaRPr>
          </a:p>
        </p:txBody>
      </p:sp>
      <p:sp>
        <p:nvSpPr>
          <p:cNvPr id="17" name="Shape 14"/>
          <p:cNvSpPr/>
          <p:nvPr/>
        </p:nvSpPr>
        <p:spPr>
          <a:xfrm>
            <a:off x="13287375" y="2843213"/>
            <a:ext cx="4048125" cy="342900"/>
          </a:xfrm>
          <a:prstGeom prst="rect">
            <a:avLst/>
          </a:prstGeom>
          <a:ln w="15240">
            <a:solidFill>
              <a:srgbClr val="98989B"/>
            </a:solidFill>
            <a:prstDash val="dash"/>
          </a:ln>
        </p:spPr>
      </p:sp>
      <p:sp>
        <p:nvSpPr>
          <p:cNvPr id="18" name="Text 15"/>
          <p:cNvSpPr/>
          <p:nvPr/>
        </p:nvSpPr>
        <p:spPr>
          <a:xfrm>
            <a:off x="13287375" y="3281363"/>
            <a:ext cx="4452937" cy="312420"/>
          </a:xfrm>
          <a:prstGeom prst="rect">
            <a:avLst/>
          </a:prstGeom>
          <a:noFill/>
          <a:ln/>
        </p:spPr>
        <p:txBody>
          <a:bodyPr wrap="square" lIns="25400" tIns="25400" rIns="25400" bIns="25400" rtlCol="0" anchor="t">
            <a:normAutofit fontScale="92500"/>
          </a:bodyPr>
          <a:lstStyle/>
          <a:p>
            <a:pPr marL="0" indent="0" algn="just">
              <a:lnSpc>
                <a:spcPct val="105882"/>
              </a:lnSpc>
              <a:buNone/>
            </a:pPr>
            <a:r>
              <a:rPr lang="en-US" sz="1800" dirty="0">
                <a:solidFill>
                  <a:srgbClr val="5D5D60"/>
                </a:solidFill>
                <a:latin typeface="Times New Roman" panose="02020603050405020304" pitchFamily="18" charset="0"/>
                <a:ea typeface="Arial" pitchFamily="34" charset="-122"/>
                <a:cs typeface="Arial" pitchFamily="34" charset="-120"/>
              </a:rPr>
              <a:t>Validation + delivery · 25%</a:t>
            </a:r>
            <a:endParaRPr lang="en-US" sz="1800" dirty="0">
              <a:latin typeface="Times New Roman" panose="02020603050405020304" pitchFamily="18" charset="0"/>
            </a:endParaRPr>
          </a:p>
        </p:txBody>
      </p:sp>
      <p:sp>
        <p:nvSpPr>
          <p:cNvPr id="19" name="Shape 16"/>
          <p:cNvSpPr/>
          <p:nvPr/>
        </p:nvSpPr>
        <p:spPr>
          <a:xfrm>
            <a:off x="952500" y="4655502"/>
            <a:ext cx="2476500" cy="10160"/>
          </a:xfrm>
          <a:prstGeom prst="rect">
            <a:avLst/>
          </a:prstGeom>
          <a:solidFill>
            <a:srgbClr val="1D1F20"/>
          </a:solidFill>
          <a:ln/>
        </p:spPr>
      </p:sp>
      <p:sp>
        <p:nvSpPr>
          <p:cNvPr id="20" name="Text 17"/>
          <p:cNvSpPr/>
          <p:nvPr/>
        </p:nvSpPr>
        <p:spPr>
          <a:xfrm>
            <a:off x="952500" y="4249103"/>
            <a:ext cx="232410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LAYER</a:t>
            </a:r>
            <a:endParaRPr lang="en-US" sz="1800" dirty="0">
              <a:latin typeface="Times New Roman" panose="02020603050405020304" pitchFamily="18" charset="0"/>
            </a:endParaRPr>
          </a:p>
        </p:txBody>
      </p:sp>
      <p:sp>
        <p:nvSpPr>
          <p:cNvPr id="21" name="Shape 18"/>
          <p:cNvSpPr/>
          <p:nvPr/>
        </p:nvSpPr>
        <p:spPr>
          <a:xfrm>
            <a:off x="3429000" y="4655502"/>
            <a:ext cx="7339330" cy="10160"/>
          </a:xfrm>
          <a:prstGeom prst="rect">
            <a:avLst/>
          </a:prstGeom>
          <a:solidFill>
            <a:srgbClr val="1D1F20"/>
          </a:solidFill>
          <a:ln/>
        </p:spPr>
      </p:sp>
      <p:sp>
        <p:nvSpPr>
          <p:cNvPr id="22" name="Text 19"/>
          <p:cNvSpPr/>
          <p:nvPr/>
        </p:nvSpPr>
        <p:spPr>
          <a:xfrm>
            <a:off x="3429000" y="4249103"/>
            <a:ext cx="733091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TECHNOLOGY</a:t>
            </a:r>
            <a:endParaRPr lang="en-US" sz="1800" dirty="0">
              <a:latin typeface="Times New Roman" panose="02020603050405020304" pitchFamily="18" charset="0"/>
            </a:endParaRPr>
          </a:p>
        </p:txBody>
      </p:sp>
      <p:sp>
        <p:nvSpPr>
          <p:cNvPr id="23" name="Shape 20"/>
          <p:cNvSpPr/>
          <p:nvPr/>
        </p:nvSpPr>
        <p:spPr>
          <a:xfrm>
            <a:off x="10768330" y="4655502"/>
            <a:ext cx="6567170" cy="10160"/>
          </a:xfrm>
          <a:prstGeom prst="rect">
            <a:avLst/>
          </a:prstGeom>
          <a:solidFill>
            <a:srgbClr val="1D1F20"/>
          </a:solidFill>
          <a:ln/>
        </p:spPr>
      </p:sp>
      <p:sp>
        <p:nvSpPr>
          <p:cNvPr id="24" name="Text 21"/>
          <p:cNvSpPr/>
          <p:nvPr/>
        </p:nvSpPr>
        <p:spPr>
          <a:xfrm>
            <a:off x="10768330" y="4249103"/>
            <a:ext cx="6764185"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CONFIGURATION</a:t>
            </a:r>
            <a:endParaRPr lang="en-US" sz="1800" dirty="0">
              <a:latin typeface="Times New Roman" panose="02020603050405020304" pitchFamily="18" charset="0"/>
            </a:endParaRPr>
          </a:p>
        </p:txBody>
      </p:sp>
      <p:sp>
        <p:nvSpPr>
          <p:cNvPr id="25" name="Shape 22"/>
          <p:cNvSpPr/>
          <p:nvPr/>
        </p:nvSpPr>
        <p:spPr>
          <a:xfrm>
            <a:off x="952500" y="5256847"/>
            <a:ext cx="2476500" cy="9525"/>
          </a:xfrm>
          <a:prstGeom prst="rect">
            <a:avLst/>
          </a:prstGeom>
          <a:solidFill>
            <a:srgbClr val="1D1F20">
              <a:alpha val="16000"/>
            </a:srgbClr>
          </a:solidFill>
          <a:ln/>
        </p:spPr>
      </p:sp>
      <p:sp>
        <p:nvSpPr>
          <p:cNvPr id="26" name="Text 23"/>
          <p:cNvSpPr/>
          <p:nvPr/>
        </p:nvSpPr>
        <p:spPr>
          <a:xfrm>
            <a:off x="952500" y="4799012"/>
            <a:ext cx="2324100"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Generation</a:t>
            </a:r>
            <a:endParaRPr lang="en-US" sz="1950" dirty="0">
              <a:latin typeface="Times New Roman" panose="02020603050405020304" pitchFamily="18" charset="0"/>
            </a:endParaRPr>
          </a:p>
        </p:txBody>
      </p:sp>
      <p:sp>
        <p:nvSpPr>
          <p:cNvPr id="27" name="Shape 24"/>
          <p:cNvSpPr/>
          <p:nvPr/>
        </p:nvSpPr>
        <p:spPr>
          <a:xfrm>
            <a:off x="3429000" y="5256847"/>
            <a:ext cx="7339330" cy="9525"/>
          </a:xfrm>
          <a:prstGeom prst="rect">
            <a:avLst/>
          </a:prstGeom>
          <a:solidFill>
            <a:srgbClr val="1D1F20">
              <a:alpha val="16000"/>
            </a:srgbClr>
          </a:solidFill>
          <a:ln/>
        </p:spPr>
      </p:sp>
      <p:sp>
        <p:nvSpPr>
          <p:cNvPr id="28" name="Text 25"/>
          <p:cNvSpPr/>
          <p:nvPr/>
        </p:nvSpPr>
        <p:spPr>
          <a:xfrm>
            <a:off x="3429000" y="4799012"/>
            <a:ext cx="7330910"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Mistral-7B-Instruct-v0.3, NF4 4-bit</a:t>
            </a:r>
            <a:endParaRPr lang="en-US" sz="1950" dirty="0">
              <a:latin typeface="Times New Roman" panose="02020603050405020304" pitchFamily="18" charset="0"/>
            </a:endParaRPr>
          </a:p>
        </p:txBody>
      </p:sp>
      <p:sp>
        <p:nvSpPr>
          <p:cNvPr id="29" name="Shape 26"/>
          <p:cNvSpPr/>
          <p:nvPr/>
        </p:nvSpPr>
        <p:spPr>
          <a:xfrm>
            <a:off x="10768330" y="5256847"/>
            <a:ext cx="6567170" cy="9525"/>
          </a:xfrm>
          <a:prstGeom prst="rect">
            <a:avLst/>
          </a:prstGeom>
          <a:solidFill>
            <a:srgbClr val="1D1F20">
              <a:alpha val="16000"/>
            </a:srgbClr>
          </a:solidFill>
          <a:ln/>
        </p:spPr>
      </p:sp>
      <p:sp>
        <p:nvSpPr>
          <p:cNvPr id="30" name="Text 27"/>
          <p:cNvSpPr/>
          <p:nvPr/>
        </p:nvSpPr>
        <p:spPr>
          <a:xfrm>
            <a:off x="10768330" y="4799012"/>
            <a:ext cx="6764185"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Tesla T4 16 GB · 768 max tokens · temp 0.1</a:t>
            </a:r>
            <a:endParaRPr lang="en-US" sz="1950" dirty="0">
              <a:latin typeface="Times New Roman" panose="02020603050405020304" pitchFamily="18" charset="0"/>
            </a:endParaRPr>
          </a:p>
        </p:txBody>
      </p:sp>
      <p:sp>
        <p:nvSpPr>
          <p:cNvPr id="31" name="Shape 28"/>
          <p:cNvSpPr/>
          <p:nvPr/>
        </p:nvSpPr>
        <p:spPr>
          <a:xfrm>
            <a:off x="952500" y="5850573"/>
            <a:ext cx="2476500" cy="9525"/>
          </a:xfrm>
          <a:prstGeom prst="rect">
            <a:avLst/>
          </a:prstGeom>
          <a:solidFill>
            <a:srgbClr val="1D1F20">
              <a:alpha val="16000"/>
            </a:srgbClr>
          </a:solidFill>
          <a:ln/>
        </p:spPr>
      </p:sp>
      <p:sp>
        <p:nvSpPr>
          <p:cNvPr id="32" name="Text 29"/>
          <p:cNvSpPr/>
          <p:nvPr/>
        </p:nvSpPr>
        <p:spPr>
          <a:xfrm>
            <a:off x="952500" y="5395278"/>
            <a:ext cx="232410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Retrieval</a:t>
            </a:r>
            <a:endParaRPr lang="en-US" sz="1950" dirty="0">
              <a:latin typeface="Times New Roman" panose="02020603050405020304" pitchFamily="18" charset="0"/>
            </a:endParaRPr>
          </a:p>
        </p:txBody>
      </p:sp>
      <p:sp>
        <p:nvSpPr>
          <p:cNvPr id="33" name="Shape 30"/>
          <p:cNvSpPr/>
          <p:nvPr/>
        </p:nvSpPr>
        <p:spPr>
          <a:xfrm>
            <a:off x="3429000" y="5850573"/>
            <a:ext cx="7339330" cy="9525"/>
          </a:xfrm>
          <a:prstGeom prst="rect">
            <a:avLst/>
          </a:prstGeom>
          <a:solidFill>
            <a:srgbClr val="1D1F20">
              <a:alpha val="16000"/>
            </a:srgbClr>
          </a:solidFill>
          <a:ln/>
        </p:spPr>
      </p:sp>
      <p:sp>
        <p:nvSpPr>
          <p:cNvPr id="34" name="Text 31"/>
          <p:cNvSpPr/>
          <p:nvPr/>
        </p:nvSpPr>
        <p:spPr>
          <a:xfrm>
            <a:off x="3429000" y="5395278"/>
            <a:ext cx="733091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Legal-BERT + ChromaDB, BM25, RRF (k = 60)</a:t>
            </a:r>
            <a:endParaRPr lang="en-US" sz="1950" dirty="0">
              <a:latin typeface="Times New Roman" panose="02020603050405020304" pitchFamily="18" charset="0"/>
            </a:endParaRPr>
          </a:p>
        </p:txBody>
      </p:sp>
      <p:sp>
        <p:nvSpPr>
          <p:cNvPr id="35" name="Shape 32"/>
          <p:cNvSpPr/>
          <p:nvPr/>
        </p:nvSpPr>
        <p:spPr>
          <a:xfrm>
            <a:off x="10768330" y="5850573"/>
            <a:ext cx="6567170" cy="9525"/>
          </a:xfrm>
          <a:prstGeom prst="rect">
            <a:avLst/>
          </a:prstGeom>
          <a:solidFill>
            <a:srgbClr val="1D1F20">
              <a:alpha val="16000"/>
            </a:srgbClr>
          </a:solidFill>
          <a:ln/>
        </p:spPr>
      </p:sp>
      <p:sp>
        <p:nvSpPr>
          <p:cNvPr id="36" name="Text 33"/>
          <p:cNvSpPr/>
          <p:nvPr/>
        </p:nvSpPr>
        <p:spPr>
          <a:xfrm>
            <a:off x="10768330" y="5395278"/>
            <a:ext cx="67641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Top 4 + 4 → 8 passages · 450-word chunks · 27 volumes</a:t>
            </a:r>
            <a:endParaRPr lang="en-US" sz="1950" dirty="0">
              <a:latin typeface="Times New Roman" panose="02020603050405020304" pitchFamily="18" charset="0"/>
            </a:endParaRPr>
          </a:p>
        </p:txBody>
      </p:sp>
      <p:sp>
        <p:nvSpPr>
          <p:cNvPr id="37" name="Shape 34"/>
          <p:cNvSpPr/>
          <p:nvPr/>
        </p:nvSpPr>
        <p:spPr>
          <a:xfrm>
            <a:off x="952500" y="6444298"/>
            <a:ext cx="2476500" cy="9525"/>
          </a:xfrm>
          <a:prstGeom prst="rect">
            <a:avLst/>
          </a:prstGeom>
          <a:solidFill>
            <a:srgbClr val="1D1F20">
              <a:alpha val="16000"/>
            </a:srgbClr>
          </a:solidFill>
          <a:ln/>
        </p:spPr>
      </p:sp>
      <p:sp>
        <p:nvSpPr>
          <p:cNvPr id="38" name="Text 35"/>
          <p:cNvSpPr/>
          <p:nvPr/>
        </p:nvSpPr>
        <p:spPr>
          <a:xfrm>
            <a:off x="952500" y="5989002"/>
            <a:ext cx="232410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Verification</a:t>
            </a:r>
            <a:endParaRPr lang="en-US" sz="1950" dirty="0">
              <a:latin typeface="Times New Roman" panose="02020603050405020304" pitchFamily="18" charset="0"/>
            </a:endParaRPr>
          </a:p>
        </p:txBody>
      </p:sp>
      <p:sp>
        <p:nvSpPr>
          <p:cNvPr id="39" name="Shape 36"/>
          <p:cNvSpPr/>
          <p:nvPr/>
        </p:nvSpPr>
        <p:spPr>
          <a:xfrm>
            <a:off x="3429000" y="6444298"/>
            <a:ext cx="7339330" cy="9525"/>
          </a:xfrm>
          <a:prstGeom prst="rect">
            <a:avLst/>
          </a:prstGeom>
          <a:solidFill>
            <a:srgbClr val="1D1F20">
              <a:alpha val="16000"/>
            </a:srgbClr>
          </a:solidFill>
          <a:ln/>
        </p:spPr>
      </p:sp>
      <p:sp>
        <p:nvSpPr>
          <p:cNvPr id="40" name="Text 37"/>
          <p:cNvSpPr/>
          <p:nvPr/>
        </p:nvSpPr>
        <p:spPr>
          <a:xfrm>
            <a:off x="3429000" y="5989002"/>
            <a:ext cx="733091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DeBERTa NLI cross-encoder, factorized CVM</a:t>
            </a:r>
            <a:endParaRPr lang="en-US" sz="1950" dirty="0">
              <a:latin typeface="Times New Roman" panose="02020603050405020304" pitchFamily="18" charset="0"/>
            </a:endParaRPr>
          </a:p>
        </p:txBody>
      </p:sp>
      <p:sp>
        <p:nvSpPr>
          <p:cNvPr id="41" name="Shape 38"/>
          <p:cNvSpPr/>
          <p:nvPr/>
        </p:nvSpPr>
        <p:spPr>
          <a:xfrm>
            <a:off x="10768330" y="6444298"/>
            <a:ext cx="6567170" cy="9525"/>
          </a:xfrm>
          <a:prstGeom prst="rect">
            <a:avLst/>
          </a:prstGeom>
          <a:solidFill>
            <a:srgbClr val="1D1F20">
              <a:alpha val="16000"/>
            </a:srgbClr>
          </a:solidFill>
          <a:ln/>
        </p:spPr>
      </p:sp>
      <p:sp>
        <p:nvSpPr>
          <p:cNvPr id="42" name="Text 39"/>
          <p:cNvSpPr/>
          <p:nvPr/>
        </p:nvSpPr>
        <p:spPr>
          <a:xfrm>
            <a:off x="10768330" y="5989002"/>
            <a:ext cx="67641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Per-citation identity and support reports</a:t>
            </a:r>
            <a:endParaRPr lang="en-US" sz="1950" dirty="0">
              <a:latin typeface="Times New Roman" panose="02020603050405020304" pitchFamily="18" charset="0"/>
            </a:endParaRPr>
          </a:p>
        </p:txBody>
      </p:sp>
      <p:sp>
        <p:nvSpPr>
          <p:cNvPr id="43" name="Shape 40"/>
          <p:cNvSpPr/>
          <p:nvPr/>
        </p:nvSpPr>
        <p:spPr>
          <a:xfrm>
            <a:off x="952500" y="7038022"/>
            <a:ext cx="2476500" cy="9525"/>
          </a:xfrm>
          <a:prstGeom prst="rect">
            <a:avLst/>
          </a:prstGeom>
          <a:solidFill>
            <a:srgbClr val="1D1F20">
              <a:alpha val="16000"/>
            </a:srgbClr>
          </a:solidFill>
          <a:ln/>
        </p:spPr>
      </p:sp>
      <p:sp>
        <p:nvSpPr>
          <p:cNvPr id="44" name="Text 41"/>
          <p:cNvSpPr/>
          <p:nvPr/>
        </p:nvSpPr>
        <p:spPr>
          <a:xfrm>
            <a:off x="952500" y="6582727"/>
            <a:ext cx="232410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Orchestration</a:t>
            </a:r>
            <a:endParaRPr lang="en-US" sz="1950" dirty="0">
              <a:latin typeface="Times New Roman" panose="02020603050405020304" pitchFamily="18" charset="0"/>
            </a:endParaRPr>
          </a:p>
        </p:txBody>
      </p:sp>
      <p:sp>
        <p:nvSpPr>
          <p:cNvPr id="45" name="Shape 42"/>
          <p:cNvSpPr/>
          <p:nvPr/>
        </p:nvSpPr>
        <p:spPr>
          <a:xfrm>
            <a:off x="3429000" y="7038022"/>
            <a:ext cx="7339330" cy="9525"/>
          </a:xfrm>
          <a:prstGeom prst="rect">
            <a:avLst/>
          </a:prstGeom>
          <a:solidFill>
            <a:srgbClr val="1D1F20">
              <a:alpha val="16000"/>
            </a:srgbClr>
          </a:solidFill>
          <a:ln/>
        </p:spPr>
      </p:sp>
      <p:sp>
        <p:nvSpPr>
          <p:cNvPr id="46" name="Text 43"/>
          <p:cNvSpPr/>
          <p:nvPr/>
        </p:nvSpPr>
        <p:spPr>
          <a:xfrm>
            <a:off x="3429000" y="6582727"/>
            <a:ext cx="733091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LangGraph, four roles, DDC, adaptive memory</a:t>
            </a:r>
            <a:endParaRPr lang="en-US" sz="1950" dirty="0">
              <a:latin typeface="Times New Roman" panose="02020603050405020304" pitchFamily="18" charset="0"/>
            </a:endParaRPr>
          </a:p>
        </p:txBody>
      </p:sp>
      <p:sp>
        <p:nvSpPr>
          <p:cNvPr id="47" name="Shape 44"/>
          <p:cNvSpPr/>
          <p:nvPr/>
        </p:nvSpPr>
        <p:spPr>
          <a:xfrm>
            <a:off x="10768330" y="7038022"/>
            <a:ext cx="6567170" cy="9525"/>
          </a:xfrm>
          <a:prstGeom prst="rect">
            <a:avLst/>
          </a:prstGeom>
          <a:solidFill>
            <a:srgbClr val="1D1F20">
              <a:alpha val="16000"/>
            </a:srgbClr>
          </a:solidFill>
          <a:ln/>
        </p:spPr>
      </p:sp>
      <p:sp>
        <p:nvSpPr>
          <p:cNvPr id="48" name="Text 45"/>
          <p:cNvSpPr/>
          <p:nvPr/>
        </p:nvSpPr>
        <p:spPr>
          <a:xfrm>
            <a:off x="10768330" y="6582727"/>
            <a:ext cx="67641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Max two rounds · cache reuse at similarity &gt; 0.92</a:t>
            </a:r>
            <a:endParaRPr lang="en-US" sz="1950" dirty="0">
              <a:latin typeface="Times New Roman" panose="02020603050405020304" pitchFamily="18" charset="0"/>
            </a:endParaRPr>
          </a:p>
        </p:txBody>
      </p:sp>
      <p:sp>
        <p:nvSpPr>
          <p:cNvPr id="49" name="Shape 46"/>
          <p:cNvSpPr/>
          <p:nvPr/>
        </p:nvSpPr>
        <p:spPr>
          <a:xfrm>
            <a:off x="952500" y="7631748"/>
            <a:ext cx="2476500" cy="9525"/>
          </a:xfrm>
          <a:prstGeom prst="rect">
            <a:avLst/>
          </a:prstGeom>
          <a:solidFill>
            <a:srgbClr val="1D1F20">
              <a:alpha val="16000"/>
            </a:srgbClr>
          </a:solidFill>
          <a:ln/>
        </p:spPr>
      </p:sp>
      <p:sp>
        <p:nvSpPr>
          <p:cNvPr id="50" name="Text 47"/>
          <p:cNvSpPr/>
          <p:nvPr/>
        </p:nvSpPr>
        <p:spPr>
          <a:xfrm>
            <a:off x="952500" y="7176453"/>
            <a:ext cx="232410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Evaluation</a:t>
            </a:r>
            <a:endParaRPr lang="en-US" sz="1950" dirty="0">
              <a:latin typeface="Times New Roman" panose="02020603050405020304" pitchFamily="18" charset="0"/>
            </a:endParaRPr>
          </a:p>
        </p:txBody>
      </p:sp>
      <p:sp>
        <p:nvSpPr>
          <p:cNvPr id="51" name="Shape 48"/>
          <p:cNvSpPr/>
          <p:nvPr/>
        </p:nvSpPr>
        <p:spPr>
          <a:xfrm>
            <a:off x="3429000" y="7631748"/>
            <a:ext cx="7339330" cy="9525"/>
          </a:xfrm>
          <a:prstGeom prst="rect">
            <a:avLst/>
          </a:prstGeom>
          <a:solidFill>
            <a:srgbClr val="1D1F20">
              <a:alpha val="16000"/>
            </a:srgbClr>
          </a:solidFill>
          <a:ln/>
        </p:spPr>
      </p:sp>
      <p:sp>
        <p:nvSpPr>
          <p:cNvPr id="52" name="Text 49"/>
          <p:cNvSpPr/>
          <p:nvPr/>
        </p:nvSpPr>
        <p:spPr>
          <a:xfrm>
            <a:off x="3429000" y="7176453"/>
            <a:ext cx="733091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Python CLI, Colab notebook, benchmark + ablation runners</a:t>
            </a:r>
            <a:endParaRPr lang="en-US" sz="1950" dirty="0">
              <a:latin typeface="Times New Roman" panose="02020603050405020304" pitchFamily="18" charset="0"/>
            </a:endParaRPr>
          </a:p>
        </p:txBody>
      </p:sp>
      <p:sp>
        <p:nvSpPr>
          <p:cNvPr id="53" name="Shape 50"/>
          <p:cNvSpPr/>
          <p:nvPr/>
        </p:nvSpPr>
        <p:spPr>
          <a:xfrm>
            <a:off x="10768330" y="7631748"/>
            <a:ext cx="6567170" cy="9525"/>
          </a:xfrm>
          <a:prstGeom prst="rect">
            <a:avLst/>
          </a:prstGeom>
          <a:solidFill>
            <a:srgbClr val="1D1F20">
              <a:alpha val="16000"/>
            </a:srgbClr>
          </a:solidFill>
          <a:ln/>
        </p:spPr>
      </p:sp>
      <p:sp>
        <p:nvSpPr>
          <p:cNvPr id="54" name="Text 51"/>
          <p:cNvSpPr/>
          <p:nvPr/>
        </p:nvSpPr>
        <p:spPr>
          <a:xfrm>
            <a:off x="10768330" y="7176453"/>
            <a:ext cx="67641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25-case scorecard · 40-item stress test</a:t>
            </a:r>
            <a:endParaRPr lang="en-US" sz="1950" dirty="0">
              <a:latin typeface="Times New Roman" panose="02020603050405020304" pitchFamily="18" charset="0"/>
            </a:endParaRPr>
          </a:p>
        </p:txBody>
      </p:sp>
      <p:sp>
        <p:nvSpPr>
          <p:cNvPr id="56" name="TextBox 55">
            <a:extLst>
              <a:ext uri="{FF2B5EF4-FFF2-40B4-BE49-F238E27FC236}">
                <a16:creationId xmlns:a16="http://schemas.microsoft.com/office/drawing/2014/main" id="{1EED9786-56DC-0E3A-E098-A0C25CB4CAEF}"/>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21</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9726962"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Implementation Details (contd.)</a:t>
            </a:r>
            <a:endParaRPr lang="en-US" sz="4800" dirty="0">
              <a:latin typeface="Times New Roman" panose="02020603050405020304" pitchFamily="18" charset="0"/>
            </a:endParaRPr>
          </a:p>
        </p:txBody>
      </p:sp>
      <p:sp>
        <p:nvSpPr>
          <p:cNvPr id="3" name="Text 1"/>
          <p:cNvSpPr/>
          <p:nvPr/>
        </p:nvSpPr>
        <p:spPr>
          <a:xfrm>
            <a:off x="952500" y="1554480"/>
            <a:ext cx="9726962"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Algorithms Implemented</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6309360" cy="9525"/>
          </a:xfrm>
          <a:prstGeom prst="rect">
            <a:avLst/>
          </a:prstGeom>
          <a:solidFill>
            <a:srgbClr val="1D1F20">
              <a:alpha val="16000"/>
            </a:srgbClr>
          </a:solidFill>
          <a:ln/>
        </p:spPr>
      </p:sp>
      <p:sp>
        <p:nvSpPr>
          <p:cNvPr id="6" name="Text 3"/>
          <p:cNvSpPr/>
          <p:nvPr/>
        </p:nvSpPr>
        <p:spPr>
          <a:xfrm>
            <a:off x="952500" y="2443480"/>
            <a:ext cx="6940296" cy="421957"/>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Reciprocal Rank Fusion</a:t>
            </a:r>
            <a:endParaRPr lang="en-US" sz="1950" dirty="0">
              <a:latin typeface="Times New Roman" panose="02020603050405020304" pitchFamily="18" charset="0"/>
            </a:endParaRPr>
          </a:p>
        </p:txBody>
      </p:sp>
      <p:sp>
        <p:nvSpPr>
          <p:cNvPr id="7" name="Text 4"/>
          <p:cNvSpPr/>
          <p:nvPr/>
        </p:nvSpPr>
        <p:spPr>
          <a:xfrm>
            <a:off x="952500" y="2884487"/>
            <a:ext cx="6498641"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score(d) = Σ 1 / (k + rank), k = 60; BM25 top 4 + Legal-BERT top 4 → 8 passages</a:t>
            </a:r>
            <a:endParaRPr lang="en-US" sz="1800" dirty="0">
              <a:latin typeface="Times New Roman" panose="02020603050405020304" pitchFamily="18" charset="0"/>
            </a:endParaRPr>
          </a:p>
        </p:txBody>
      </p:sp>
      <p:sp>
        <p:nvSpPr>
          <p:cNvPr id="8" name="Shape 5"/>
          <p:cNvSpPr/>
          <p:nvPr/>
        </p:nvSpPr>
        <p:spPr>
          <a:xfrm>
            <a:off x="952500" y="3669348"/>
            <a:ext cx="6309360" cy="9525"/>
          </a:xfrm>
          <a:prstGeom prst="rect">
            <a:avLst/>
          </a:prstGeom>
          <a:solidFill>
            <a:srgbClr val="1D1F20">
              <a:alpha val="16000"/>
            </a:srgbClr>
          </a:solidFill>
          <a:ln/>
        </p:spPr>
      </p:sp>
      <p:sp>
        <p:nvSpPr>
          <p:cNvPr id="9" name="Text 6"/>
          <p:cNvSpPr/>
          <p:nvPr/>
        </p:nvSpPr>
        <p:spPr>
          <a:xfrm>
            <a:off x="952500" y="3807777"/>
            <a:ext cx="6940296"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Factorized citation score</a:t>
            </a:r>
            <a:endParaRPr lang="en-US" sz="1950" dirty="0">
              <a:latin typeface="Times New Roman" panose="02020603050405020304" pitchFamily="18" charset="0"/>
            </a:endParaRPr>
          </a:p>
        </p:txBody>
      </p:sp>
      <p:sp>
        <p:nvSpPr>
          <p:cNvPr id="10" name="Text 7"/>
          <p:cNvSpPr/>
          <p:nvPr/>
        </p:nvSpPr>
        <p:spPr>
          <a:xfrm>
            <a:off x="952500" y="4248785"/>
            <a:ext cx="6498641" cy="632460"/>
          </a:xfrm>
          <a:prstGeom prst="rect">
            <a:avLst/>
          </a:prstGeom>
          <a:noFill/>
          <a:ln/>
        </p:spPr>
        <p:txBody>
          <a:bodyPr wrap="square" lIns="25400" tIns="25400" rIns="25400" bIns="25400" rtlCol="0" anchor="t">
            <a:normAutofit/>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CCS = E × S; verdict from existence and holding-support thresholds</a:t>
            </a:r>
            <a:endParaRPr lang="en-US" sz="1800" dirty="0">
              <a:latin typeface="Times New Roman" panose="02020603050405020304" pitchFamily="18" charset="0"/>
            </a:endParaRPr>
          </a:p>
        </p:txBody>
      </p:sp>
      <p:sp>
        <p:nvSpPr>
          <p:cNvPr id="11" name="Shape 8"/>
          <p:cNvSpPr/>
          <p:nvPr/>
        </p:nvSpPr>
        <p:spPr>
          <a:xfrm>
            <a:off x="952500" y="5033645"/>
            <a:ext cx="6309360" cy="9525"/>
          </a:xfrm>
          <a:prstGeom prst="rect">
            <a:avLst/>
          </a:prstGeom>
          <a:solidFill>
            <a:srgbClr val="1D1F20">
              <a:alpha val="16000"/>
            </a:srgbClr>
          </a:solidFill>
          <a:ln/>
        </p:spPr>
      </p:sp>
      <p:sp>
        <p:nvSpPr>
          <p:cNvPr id="12" name="Text 9"/>
          <p:cNvSpPr/>
          <p:nvPr/>
        </p:nvSpPr>
        <p:spPr>
          <a:xfrm>
            <a:off x="952500" y="5172075"/>
            <a:ext cx="6940296"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NLI holding support</a:t>
            </a:r>
            <a:endParaRPr lang="en-US" sz="1950" dirty="0">
              <a:latin typeface="Times New Roman" panose="02020603050405020304" pitchFamily="18" charset="0"/>
            </a:endParaRPr>
          </a:p>
        </p:txBody>
      </p:sp>
      <p:sp>
        <p:nvSpPr>
          <p:cNvPr id="13" name="Text 10"/>
          <p:cNvSpPr/>
          <p:nvPr/>
        </p:nvSpPr>
        <p:spPr>
          <a:xfrm>
            <a:off x="952500" y="5613082"/>
            <a:ext cx="6498641"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DeBERTa cross-encoder tests whether the case text entails the claimed holding</a:t>
            </a:r>
            <a:endParaRPr lang="en-US" sz="1800" dirty="0">
              <a:latin typeface="Times New Roman" panose="02020603050405020304" pitchFamily="18" charset="0"/>
            </a:endParaRPr>
          </a:p>
        </p:txBody>
      </p:sp>
      <p:sp>
        <p:nvSpPr>
          <p:cNvPr id="14" name="Shape 11"/>
          <p:cNvSpPr/>
          <p:nvPr/>
        </p:nvSpPr>
        <p:spPr>
          <a:xfrm>
            <a:off x="952500" y="6397943"/>
            <a:ext cx="6309360" cy="9525"/>
          </a:xfrm>
          <a:prstGeom prst="rect">
            <a:avLst/>
          </a:prstGeom>
          <a:solidFill>
            <a:srgbClr val="1D1F20">
              <a:alpha val="16000"/>
            </a:srgbClr>
          </a:solidFill>
          <a:ln/>
        </p:spPr>
      </p:sp>
      <p:sp>
        <p:nvSpPr>
          <p:cNvPr id="15" name="Text 12"/>
          <p:cNvSpPr/>
          <p:nvPr/>
        </p:nvSpPr>
        <p:spPr>
          <a:xfrm>
            <a:off x="952500" y="6536373"/>
            <a:ext cx="6940296"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Evidence exclusion</a:t>
            </a:r>
            <a:endParaRPr lang="en-US" sz="1950" dirty="0">
              <a:latin typeface="Times New Roman" panose="02020603050405020304" pitchFamily="18" charset="0"/>
            </a:endParaRPr>
          </a:p>
        </p:txBody>
      </p:sp>
      <p:sp>
        <p:nvSpPr>
          <p:cNvPr id="16" name="Text 13"/>
          <p:cNvSpPr/>
          <p:nvPr/>
        </p:nvSpPr>
        <p:spPr>
          <a:xfrm>
            <a:off x="952500" y="6977380"/>
            <a:ext cx="6498641"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Defense drops passages matching Prosecutor document IDs; keeps up to four</a:t>
            </a:r>
            <a:endParaRPr lang="en-US" sz="1800" dirty="0">
              <a:latin typeface="Times New Roman" panose="02020603050405020304" pitchFamily="18" charset="0"/>
            </a:endParaRPr>
          </a:p>
        </p:txBody>
      </p:sp>
      <p:sp>
        <p:nvSpPr>
          <p:cNvPr id="17" name="Shape 14"/>
          <p:cNvSpPr/>
          <p:nvPr/>
        </p:nvSpPr>
        <p:spPr>
          <a:xfrm>
            <a:off x="952500" y="7762240"/>
            <a:ext cx="6309360" cy="9525"/>
          </a:xfrm>
          <a:prstGeom prst="rect">
            <a:avLst/>
          </a:prstGeom>
          <a:solidFill>
            <a:srgbClr val="1D1F20">
              <a:alpha val="16000"/>
            </a:srgbClr>
          </a:solidFill>
          <a:ln/>
        </p:spPr>
      </p:sp>
      <p:sp>
        <p:nvSpPr>
          <p:cNvPr id="18" name="Text 15"/>
          <p:cNvSpPr/>
          <p:nvPr/>
        </p:nvSpPr>
        <p:spPr>
          <a:xfrm>
            <a:off x="952500" y="7900670"/>
            <a:ext cx="6940296"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Dynamic Debate Controller</a:t>
            </a:r>
            <a:endParaRPr lang="en-US" sz="1950" dirty="0">
              <a:latin typeface="Times New Roman" panose="02020603050405020304" pitchFamily="18" charset="0"/>
            </a:endParaRPr>
          </a:p>
        </p:txBody>
      </p:sp>
      <p:sp>
        <p:nvSpPr>
          <p:cNvPr id="19" name="Text 16"/>
          <p:cNvSpPr/>
          <p:nvPr/>
        </p:nvSpPr>
        <p:spPr>
          <a:xfrm>
            <a:off x="952500" y="8341677"/>
            <a:ext cx="6940296" cy="33528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Terminate or continue after Reflection; maximum two rounds</a:t>
            </a:r>
            <a:endParaRPr lang="en-US" sz="1800" dirty="0">
              <a:latin typeface="Times New Roman" panose="02020603050405020304" pitchFamily="18" charset="0"/>
            </a:endParaRPr>
          </a:p>
        </p:txBody>
      </p:sp>
      <p:sp>
        <p:nvSpPr>
          <p:cNvPr id="20" name="Shape 17"/>
          <p:cNvSpPr/>
          <p:nvPr/>
        </p:nvSpPr>
        <p:spPr>
          <a:xfrm>
            <a:off x="952500" y="8829358"/>
            <a:ext cx="6309360" cy="9525"/>
          </a:xfrm>
          <a:prstGeom prst="rect">
            <a:avLst/>
          </a:prstGeom>
          <a:solidFill>
            <a:srgbClr val="1D1F20">
              <a:alpha val="16000"/>
            </a:srgbClr>
          </a:solidFill>
          <a:ln/>
        </p:spPr>
      </p:sp>
      <p:sp>
        <p:nvSpPr>
          <p:cNvPr id="21" name="Text 18"/>
          <p:cNvSpPr/>
          <p:nvPr/>
        </p:nvSpPr>
        <p:spPr>
          <a:xfrm>
            <a:off x="952500" y="8967788"/>
            <a:ext cx="6940296"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b="1" dirty="0">
                <a:solidFill>
                  <a:srgbClr val="1D2D3D"/>
                </a:solidFill>
                <a:latin typeface="Times New Roman" panose="02020603050405020304" pitchFamily="18" charset="0"/>
                <a:ea typeface="Arial" pitchFamily="34" charset="-122"/>
                <a:cs typeface="Arial" pitchFamily="34" charset="-120"/>
              </a:rPr>
              <a:t>Adaptive memory</a:t>
            </a:r>
            <a:endParaRPr lang="en-US" sz="1950" dirty="0">
              <a:latin typeface="Times New Roman" panose="02020603050405020304" pitchFamily="18" charset="0"/>
            </a:endParaRPr>
          </a:p>
        </p:txBody>
      </p:sp>
      <p:sp>
        <p:nvSpPr>
          <p:cNvPr id="22" name="Text 19"/>
          <p:cNvSpPr/>
          <p:nvPr/>
        </p:nvSpPr>
        <p:spPr>
          <a:xfrm>
            <a:off x="952500" y="9408795"/>
            <a:ext cx="6940296" cy="33528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Reuse cached answers at similarity &gt; 0.92; store Judge verdicts</a:t>
            </a:r>
            <a:endParaRPr lang="en-US" sz="1800" dirty="0">
              <a:latin typeface="Times New Roman" panose="02020603050405020304" pitchFamily="18" charset="0"/>
            </a:endParaRPr>
          </a:p>
        </p:txBody>
      </p:sp>
      <p:sp>
        <p:nvSpPr>
          <p:cNvPr id="27" name="TextBox 26">
            <a:extLst>
              <a:ext uri="{FF2B5EF4-FFF2-40B4-BE49-F238E27FC236}">
                <a16:creationId xmlns:a16="http://schemas.microsoft.com/office/drawing/2014/main" id="{3823E4BC-B21B-0DF9-6D41-1947188AB425}"/>
              </a:ext>
            </a:extLst>
          </p:cNvPr>
          <p:cNvSpPr txBox="1"/>
          <p:nvPr/>
        </p:nvSpPr>
        <p:spPr>
          <a:xfrm>
            <a:off x="17499011" y="9589770"/>
            <a:ext cx="488951"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22</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838200"/>
            <a:ext cx="7468362"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F2F2F3"/>
                </a:solidFill>
                <a:latin typeface="Times New Roman" panose="02020603050405020304" pitchFamily="18" charset="0"/>
                <a:ea typeface="Arial" pitchFamily="34" charset="-122"/>
                <a:cs typeface="Arial" pitchFamily="34" charset="-120"/>
              </a:rPr>
              <a:t>Results &amp; Analysis (75%)</a:t>
            </a:r>
            <a:endParaRPr lang="en-US" sz="4800" dirty="0">
              <a:latin typeface="Times New Roman" panose="02020603050405020304" pitchFamily="18" charset="0"/>
            </a:endParaRPr>
          </a:p>
        </p:txBody>
      </p:sp>
      <p:sp>
        <p:nvSpPr>
          <p:cNvPr id="3" name="Text 1"/>
          <p:cNvSpPr/>
          <p:nvPr/>
        </p:nvSpPr>
        <p:spPr>
          <a:xfrm>
            <a:off x="952500" y="1554480"/>
            <a:ext cx="7468362"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B5D9FD"/>
                </a:solidFill>
                <a:latin typeface="Times New Roman" panose="02020603050405020304" pitchFamily="18" charset="0"/>
                <a:ea typeface="Arial" pitchFamily="34" charset="-122"/>
                <a:cs typeface="Arial" pitchFamily="34" charset="-120"/>
              </a:rPr>
              <a:t>Benchmark Results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81250"/>
            <a:ext cx="3752850" cy="9525"/>
          </a:xfrm>
          <a:prstGeom prst="rect">
            <a:avLst/>
          </a:prstGeom>
          <a:solidFill>
            <a:srgbClr val="416180"/>
          </a:solidFill>
          <a:ln/>
        </p:spPr>
      </p:sp>
      <p:sp>
        <p:nvSpPr>
          <p:cNvPr id="6" name="Text 3"/>
          <p:cNvSpPr/>
          <p:nvPr/>
        </p:nvSpPr>
        <p:spPr>
          <a:xfrm>
            <a:off x="952500" y="2614930"/>
            <a:ext cx="4128135" cy="1232535"/>
          </a:xfrm>
          <a:prstGeom prst="rect">
            <a:avLst/>
          </a:prstGeom>
          <a:noFill/>
          <a:ln/>
        </p:spPr>
        <p:txBody>
          <a:bodyPr wrap="square" lIns="25400" tIns="25400" rIns="25400" bIns="25400" rtlCol="0" anchor="t">
            <a:normAutofit lnSpcReduction="10000"/>
          </a:bodyPr>
          <a:lstStyle/>
          <a:p>
            <a:pPr marL="0" indent="0" algn="just">
              <a:lnSpc>
                <a:spcPct val="84577"/>
              </a:lnSpc>
              <a:buNone/>
            </a:pPr>
            <a:r>
              <a:rPr lang="en-US" sz="9900" b="1" dirty="0">
                <a:solidFill>
                  <a:srgbClr val="B5D9FD"/>
                </a:solidFill>
                <a:latin typeface="Times New Roman" panose="02020603050405020304" pitchFamily="18" charset="0"/>
                <a:ea typeface="Arial" pitchFamily="34" charset="-122"/>
                <a:cs typeface="Arial" pitchFamily="34" charset="-120"/>
              </a:rPr>
              <a:t>25/25</a:t>
            </a:r>
            <a:endParaRPr lang="en-US" sz="9900" dirty="0">
              <a:latin typeface="Times New Roman" panose="02020603050405020304" pitchFamily="18" charset="0"/>
            </a:endParaRPr>
          </a:p>
        </p:txBody>
      </p:sp>
      <p:sp>
        <p:nvSpPr>
          <p:cNvPr id="7" name="Text 4"/>
          <p:cNvSpPr/>
          <p:nvPr/>
        </p:nvSpPr>
        <p:spPr>
          <a:xfrm>
            <a:off x="952500" y="3923665"/>
            <a:ext cx="4128135"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F2F2F3"/>
                </a:solidFill>
                <a:latin typeface="Times New Roman" panose="02020603050405020304" pitchFamily="18" charset="0"/>
                <a:ea typeface="Arial" pitchFamily="34" charset="-122"/>
                <a:cs typeface="Arial" pitchFamily="34" charset="-120"/>
              </a:rPr>
              <a:t>Cases completed, no crashes</a:t>
            </a:r>
            <a:endParaRPr lang="en-US" sz="1950" dirty="0">
              <a:latin typeface="Times New Roman" panose="02020603050405020304" pitchFamily="18" charset="0"/>
            </a:endParaRPr>
          </a:p>
        </p:txBody>
      </p:sp>
      <p:sp>
        <p:nvSpPr>
          <p:cNvPr id="8" name="Shape 5"/>
          <p:cNvSpPr/>
          <p:nvPr/>
        </p:nvSpPr>
        <p:spPr>
          <a:xfrm>
            <a:off x="5162550" y="2381250"/>
            <a:ext cx="3752850" cy="9525"/>
          </a:xfrm>
          <a:prstGeom prst="rect">
            <a:avLst/>
          </a:prstGeom>
          <a:solidFill>
            <a:srgbClr val="416180"/>
          </a:solidFill>
          <a:ln/>
        </p:spPr>
      </p:sp>
      <p:sp>
        <p:nvSpPr>
          <p:cNvPr id="9" name="Text 6"/>
          <p:cNvSpPr/>
          <p:nvPr/>
        </p:nvSpPr>
        <p:spPr>
          <a:xfrm>
            <a:off x="5162550" y="2614930"/>
            <a:ext cx="4128135" cy="1232535"/>
          </a:xfrm>
          <a:prstGeom prst="rect">
            <a:avLst/>
          </a:prstGeom>
          <a:noFill/>
          <a:ln/>
        </p:spPr>
        <p:txBody>
          <a:bodyPr wrap="square" lIns="25400" tIns="25400" rIns="25400" bIns="25400" rtlCol="0" anchor="t">
            <a:normAutofit lnSpcReduction="10000"/>
          </a:bodyPr>
          <a:lstStyle/>
          <a:p>
            <a:pPr marL="0" indent="0" algn="just">
              <a:lnSpc>
                <a:spcPct val="84577"/>
              </a:lnSpc>
              <a:buNone/>
            </a:pPr>
            <a:r>
              <a:rPr lang="en-US" sz="9900" b="1" dirty="0">
                <a:solidFill>
                  <a:srgbClr val="B5D9FD"/>
                </a:solidFill>
                <a:latin typeface="Times New Roman" panose="02020603050405020304" pitchFamily="18" charset="0"/>
                <a:ea typeface="Arial" pitchFamily="34" charset="-122"/>
                <a:cs typeface="Arial" pitchFamily="34" charset="-120"/>
              </a:rPr>
              <a:t>91.5%</a:t>
            </a:r>
            <a:endParaRPr lang="en-US" sz="9900" dirty="0">
              <a:latin typeface="Times New Roman" panose="02020603050405020304" pitchFamily="18" charset="0"/>
            </a:endParaRPr>
          </a:p>
        </p:txBody>
      </p:sp>
      <p:sp>
        <p:nvSpPr>
          <p:cNvPr id="10" name="Text 7"/>
          <p:cNvSpPr/>
          <p:nvPr/>
        </p:nvSpPr>
        <p:spPr>
          <a:xfrm>
            <a:off x="5162550" y="3923665"/>
            <a:ext cx="4128135"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F2F2F3"/>
                </a:solidFill>
                <a:latin typeface="Times New Roman" panose="02020603050405020304" pitchFamily="18" charset="0"/>
                <a:ea typeface="Arial" pitchFamily="34" charset="-122"/>
                <a:cs typeface="Arial" pitchFamily="34" charset="-120"/>
              </a:rPr>
              <a:t>Mean citation accuracy (CAS)</a:t>
            </a:r>
            <a:endParaRPr lang="en-US" sz="1950" dirty="0">
              <a:latin typeface="Times New Roman" panose="02020603050405020304" pitchFamily="18" charset="0"/>
            </a:endParaRPr>
          </a:p>
        </p:txBody>
      </p:sp>
      <p:sp>
        <p:nvSpPr>
          <p:cNvPr id="11" name="Shape 8"/>
          <p:cNvSpPr/>
          <p:nvPr/>
        </p:nvSpPr>
        <p:spPr>
          <a:xfrm>
            <a:off x="9372600" y="2381250"/>
            <a:ext cx="3752850" cy="9525"/>
          </a:xfrm>
          <a:prstGeom prst="rect">
            <a:avLst/>
          </a:prstGeom>
          <a:solidFill>
            <a:srgbClr val="416180"/>
          </a:solidFill>
          <a:ln/>
        </p:spPr>
      </p:sp>
      <p:sp>
        <p:nvSpPr>
          <p:cNvPr id="12" name="Text 9"/>
          <p:cNvSpPr/>
          <p:nvPr/>
        </p:nvSpPr>
        <p:spPr>
          <a:xfrm>
            <a:off x="9372600" y="2614930"/>
            <a:ext cx="4128135" cy="1232535"/>
          </a:xfrm>
          <a:prstGeom prst="rect">
            <a:avLst/>
          </a:prstGeom>
          <a:noFill/>
          <a:ln/>
        </p:spPr>
        <p:txBody>
          <a:bodyPr wrap="square" lIns="25400" tIns="25400" rIns="25400" bIns="25400" rtlCol="0" anchor="t">
            <a:normAutofit lnSpcReduction="10000"/>
          </a:bodyPr>
          <a:lstStyle/>
          <a:p>
            <a:pPr marL="0" indent="0" algn="just">
              <a:lnSpc>
                <a:spcPct val="84577"/>
              </a:lnSpc>
              <a:buNone/>
            </a:pPr>
            <a:r>
              <a:rPr lang="en-US" sz="9900" b="1" dirty="0">
                <a:solidFill>
                  <a:srgbClr val="B5D9FD"/>
                </a:solidFill>
                <a:latin typeface="Times New Roman" panose="02020603050405020304" pitchFamily="18" charset="0"/>
                <a:ea typeface="Arial" pitchFamily="34" charset="-122"/>
                <a:cs typeface="Arial" pitchFamily="34" charset="-120"/>
              </a:rPr>
              <a:t>72%</a:t>
            </a:r>
            <a:endParaRPr lang="en-US" sz="9900" dirty="0">
              <a:latin typeface="Times New Roman" panose="02020603050405020304" pitchFamily="18" charset="0"/>
            </a:endParaRPr>
          </a:p>
        </p:txBody>
      </p:sp>
      <p:sp>
        <p:nvSpPr>
          <p:cNvPr id="13" name="Text 10"/>
          <p:cNvSpPr/>
          <p:nvPr/>
        </p:nvSpPr>
        <p:spPr>
          <a:xfrm>
            <a:off x="9372600" y="3923665"/>
            <a:ext cx="4128135"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F2F2F3"/>
                </a:solidFill>
                <a:latin typeface="Times New Roman" panose="02020603050405020304" pitchFamily="18" charset="0"/>
                <a:ea typeface="Arial" pitchFamily="34" charset="-122"/>
                <a:cs typeface="Arial" pitchFamily="34" charset="-120"/>
              </a:rPr>
              <a:t>Debate convergence (18/25)</a:t>
            </a:r>
            <a:endParaRPr lang="en-US" sz="1950" dirty="0">
              <a:latin typeface="Times New Roman" panose="02020603050405020304" pitchFamily="18" charset="0"/>
            </a:endParaRPr>
          </a:p>
        </p:txBody>
      </p:sp>
      <p:sp>
        <p:nvSpPr>
          <p:cNvPr id="14" name="Shape 11"/>
          <p:cNvSpPr/>
          <p:nvPr/>
        </p:nvSpPr>
        <p:spPr>
          <a:xfrm>
            <a:off x="13582650" y="2381250"/>
            <a:ext cx="3752850" cy="9525"/>
          </a:xfrm>
          <a:prstGeom prst="rect">
            <a:avLst/>
          </a:prstGeom>
          <a:solidFill>
            <a:srgbClr val="416180"/>
          </a:solidFill>
          <a:ln/>
        </p:spPr>
      </p:sp>
      <p:sp>
        <p:nvSpPr>
          <p:cNvPr id="15" name="Text 12"/>
          <p:cNvSpPr/>
          <p:nvPr/>
        </p:nvSpPr>
        <p:spPr>
          <a:xfrm>
            <a:off x="13582650" y="2614930"/>
            <a:ext cx="4128135" cy="1232535"/>
          </a:xfrm>
          <a:prstGeom prst="rect">
            <a:avLst/>
          </a:prstGeom>
          <a:noFill/>
          <a:ln/>
        </p:spPr>
        <p:txBody>
          <a:bodyPr wrap="square" lIns="25400" tIns="25400" rIns="25400" bIns="25400" rtlCol="0" anchor="t">
            <a:normAutofit lnSpcReduction="10000"/>
          </a:bodyPr>
          <a:lstStyle/>
          <a:p>
            <a:pPr marL="0" indent="0" algn="just">
              <a:lnSpc>
                <a:spcPct val="84577"/>
              </a:lnSpc>
              <a:buNone/>
            </a:pPr>
            <a:r>
              <a:rPr lang="en-US" sz="9900" b="1" dirty="0">
                <a:solidFill>
                  <a:srgbClr val="B5D9FD"/>
                </a:solidFill>
                <a:latin typeface="Times New Roman" panose="02020603050405020304" pitchFamily="18" charset="0"/>
                <a:ea typeface="Arial" pitchFamily="34" charset="-122"/>
                <a:cs typeface="Arial" pitchFamily="34" charset="-120"/>
              </a:rPr>
              <a:t>19.4%</a:t>
            </a:r>
            <a:endParaRPr lang="en-US" sz="9900" dirty="0">
              <a:latin typeface="Times New Roman" panose="02020603050405020304" pitchFamily="18" charset="0"/>
            </a:endParaRPr>
          </a:p>
        </p:txBody>
      </p:sp>
      <p:sp>
        <p:nvSpPr>
          <p:cNvPr id="16" name="Text 13"/>
          <p:cNvSpPr/>
          <p:nvPr/>
        </p:nvSpPr>
        <p:spPr>
          <a:xfrm>
            <a:off x="13582650" y="3923665"/>
            <a:ext cx="4128135" cy="421958"/>
          </a:xfrm>
          <a:prstGeom prst="rect">
            <a:avLst/>
          </a:prstGeom>
          <a:noFill/>
          <a:ln/>
        </p:spPr>
        <p:txBody>
          <a:bodyPr wrap="square" lIns="25400" tIns="25400" rIns="25400" bIns="25400" rtlCol="0" anchor="t">
            <a:normAutofit/>
          </a:bodyPr>
          <a:lstStyle/>
          <a:p>
            <a:pPr marL="0" indent="0" algn="just">
              <a:lnSpc>
                <a:spcPct val="134933"/>
              </a:lnSpc>
              <a:buNone/>
            </a:pPr>
            <a:r>
              <a:rPr lang="en-US" sz="1950" dirty="0">
                <a:solidFill>
                  <a:srgbClr val="F2F2F3"/>
                </a:solidFill>
                <a:latin typeface="Times New Roman" panose="02020603050405020304" pitchFamily="18" charset="0"/>
                <a:ea typeface="Arial" pitchFamily="34" charset="-122"/>
                <a:cs typeface="Arial" pitchFamily="34" charset="-120"/>
              </a:rPr>
              <a:t>Mean hallucination rate (HR)</a:t>
            </a:r>
            <a:endParaRPr lang="en-US" sz="1950" dirty="0">
              <a:latin typeface="Times New Roman" panose="02020603050405020304" pitchFamily="18" charset="0"/>
            </a:endParaRPr>
          </a:p>
        </p:txBody>
      </p:sp>
      <p:sp>
        <p:nvSpPr>
          <p:cNvPr id="17" name="Text 14"/>
          <p:cNvSpPr/>
          <p:nvPr/>
        </p:nvSpPr>
        <p:spPr>
          <a:xfrm>
            <a:off x="952500" y="4840923"/>
            <a:ext cx="4128135" cy="533400"/>
          </a:xfrm>
          <a:prstGeom prst="rect">
            <a:avLst/>
          </a:prstGeom>
          <a:noFill/>
          <a:ln/>
        </p:spPr>
        <p:txBody>
          <a:bodyPr wrap="square" lIns="25400" tIns="25400" rIns="25400" bIns="25400" rtlCol="0" anchor="t">
            <a:normAutofit lnSpcReduction="10000"/>
          </a:bodyPr>
          <a:lstStyle/>
          <a:p>
            <a:pPr marL="0" indent="0" algn="just">
              <a:lnSpc>
                <a:spcPct val="88636"/>
              </a:lnSpc>
              <a:buNone/>
            </a:pPr>
            <a:r>
              <a:rPr lang="en-US" sz="3900" b="1" dirty="0">
                <a:solidFill>
                  <a:srgbClr val="F2F2F3"/>
                </a:solidFill>
                <a:latin typeface="Times New Roman" panose="02020603050405020304" pitchFamily="18" charset="0"/>
                <a:ea typeface="Arial" pitchFamily="34" charset="-122"/>
                <a:cs typeface="Arial" pitchFamily="34" charset="-120"/>
              </a:rPr>
              <a:t>12 / 25</a:t>
            </a:r>
            <a:endParaRPr lang="en-US" sz="3900" dirty="0">
              <a:latin typeface="Times New Roman" panose="02020603050405020304" pitchFamily="18" charset="0"/>
            </a:endParaRPr>
          </a:p>
        </p:txBody>
      </p:sp>
      <p:sp>
        <p:nvSpPr>
          <p:cNvPr id="18" name="Text 15"/>
          <p:cNvSpPr/>
          <p:nvPr/>
        </p:nvSpPr>
        <p:spPr>
          <a:xfrm>
            <a:off x="952500" y="5393373"/>
            <a:ext cx="4128135"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D4D4D7"/>
                </a:solidFill>
                <a:latin typeface="Times New Roman" panose="02020603050405020304" pitchFamily="18" charset="0"/>
                <a:ea typeface="Arial" pitchFamily="34" charset="-122"/>
                <a:cs typeface="Arial" pitchFamily="34" charset="-120"/>
              </a:rPr>
              <a:t>Cases with HR = 0</a:t>
            </a:r>
            <a:endParaRPr lang="en-US" sz="1800" dirty="0">
              <a:latin typeface="Times New Roman" panose="02020603050405020304" pitchFamily="18" charset="0"/>
            </a:endParaRPr>
          </a:p>
        </p:txBody>
      </p:sp>
      <p:sp>
        <p:nvSpPr>
          <p:cNvPr id="19" name="Text 16"/>
          <p:cNvSpPr/>
          <p:nvPr/>
        </p:nvSpPr>
        <p:spPr>
          <a:xfrm>
            <a:off x="5162550" y="4840923"/>
            <a:ext cx="4128135" cy="533400"/>
          </a:xfrm>
          <a:prstGeom prst="rect">
            <a:avLst/>
          </a:prstGeom>
          <a:noFill/>
          <a:ln/>
        </p:spPr>
        <p:txBody>
          <a:bodyPr wrap="square" lIns="25400" tIns="25400" rIns="25400" bIns="25400" rtlCol="0" anchor="t">
            <a:normAutofit lnSpcReduction="10000"/>
          </a:bodyPr>
          <a:lstStyle/>
          <a:p>
            <a:pPr marL="0" indent="0" algn="just">
              <a:lnSpc>
                <a:spcPct val="88636"/>
              </a:lnSpc>
              <a:buNone/>
            </a:pPr>
            <a:r>
              <a:rPr lang="en-US" sz="3900" b="1" dirty="0">
                <a:solidFill>
                  <a:srgbClr val="F2F2F3"/>
                </a:solidFill>
                <a:latin typeface="Times New Roman" panose="02020603050405020304" pitchFamily="18" charset="0"/>
                <a:ea typeface="Arial" pitchFamily="34" charset="-122"/>
                <a:cs typeface="Arial" pitchFamily="34" charset="-120"/>
              </a:rPr>
              <a:t>0.000</a:t>
            </a:r>
            <a:endParaRPr lang="en-US" sz="3900" dirty="0">
              <a:latin typeface="Times New Roman" panose="02020603050405020304" pitchFamily="18" charset="0"/>
            </a:endParaRPr>
          </a:p>
        </p:txBody>
      </p:sp>
      <p:sp>
        <p:nvSpPr>
          <p:cNvPr id="20" name="Text 17"/>
          <p:cNvSpPr/>
          <p:nvPr/>
        </p:nvSpPr>
        <p:spPr>
          <a:xfrm>
            <a:off x="5162550" y="5393373"/>
            <a:ext cx="4128135"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D4D4D7"/>
                </a:solidFill>
                <a:latin typeface="Times New Roman" panose="02020603050405020304" pitchFamily="18" charset="0"/>
                <a:ea typeface="Arial" pitchFamily="34" charset="-122"/>
                <a:cs typeface="Arial" pitchFamily="34" charset="-120"/>
              </a:rPr>
              <a:t>Evidence overlap ratio</a:t>
            </a:r>
            <a:endParaRPr lang="en-US" sz="1800" dirty="0">
              <a:latin typeface="Times New Roman" panose="02020603050405020304" pitchFamily="18" charset="0"/>
            </a:endParaRPr>
          </a:p>
        </p:txBody>
      </p:sp>
      <p:sp>
        <p:nvSpPr>
          <p:cNvPr id="21" name="Text 18"/>
          <p:cNvSpPr/>
          <p:nvPr/>
        </p:nvSpPr>
        <p:spPr>
          <a:xfrm>
            <a:off x="9372600" y="4840923"/>
            <a:ext cx="4128135" cy="533400"/>
          </a:xfrm>
          <a:prstGeom prst="rect">
            <a:avLst/>
          </a:prstGeom>
          <a:noFill/>
          <a:ln/>
        </p:spPr>
        <p:txBody>
          <a:bodyPr wrap="square" lIns="25400" tIns="25400" rIns="25400" bIns="25400" rtlCol="0" anchor="t">
            <a:normAutofit lnSpcReduction="10000"/>
          </a:bodyPr>
          <a:lstStyle/>
          <a:p>
            <a:pPr marL="0" indent="0" algn="just">
              <a:lnSpc>
                <a:spcPct val="88636"/>
              </a:lnSpc>
              <a:buNone/>
            </a:pPr>
            <a:r>
              <a:rPr lang="en-US" sz="3900" b="1" dirty="0">
                <a:solidFill>
                  <a:srgbClr val="F2F2F3"/>
                </a:solidFill>
                <a:latin typeface="Times New Roman" panose="02020603050405020304" pitchFamily="18" charset="0"/>
                <a:ea typeface="Arial" pitchFamily="34" charset="-122"/>
                <a:cs typeface="Arial" pitchFamily="34" charset="-120"/>
              </a:rPr>
              <a:t>73.2 min</a:t>
            </a:r>
            <a:endParaRPr lang="en-US" sz="3900" dirty="0">
              <a:latin typeface="Times New Roman" panose="02020603050405020304" pitchFamily="18" charset="0"/>
            </a:endParaRPr>
          </a:p>
        </p:txBody>
      </p:sp>
      <p:sp>
        <p:nvSpPr>
          <p:cNvPr id="22" name="Text 19"/>
          <p:cNvSpPr/>
          <p:nvPr/>
        </p:nvSpPr>
        <p:spPr>
          <a:xfrm>
            <a:off x="9372600" y="5393373"/>
            <a:ext cx="4128135"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D4D4D7"/>
                </a:solidFill>
                <a:latin typeface="Times New Roman" panose="02020603050405020304" pitchFamily="18" charset="0"/>
                <a:ea typeface="Arial" pitchFamily="34" charset="-122"/>
                <a:cs typeface="Arial" pitchFamily="34" charset="-120"/>
              </a:rPr>
              <a:t>One T4 GPU · ≈2.9 min per case</a:t>
            </a:r>
            <a:endParaRPr lang="en-US" sz="1800" dirty="0">
              <a:latin typeface="Times New Roman" panose="02020603050405020304" pitchFamily="18" charset="0"/>
            </a:endParaRPr>
          </a:p>
        </p:txBody>
      </p:sp>
      <p:sp>
        <p:nvSpPr>
          <p:cNvPr id="23" name="Text 20"/>
          <p:cNvSpPr/>
          <p:nvPr/>
        </p:nvSpPr>
        <p:spPr>
          <a:xfrm>
            <a:off x="13582650" y="4840923"/>
            <a:ext cx="4128135" cy="533400"/>
          </a:xfrm>
          <a:prstGeom prst="rect">
            <a:avLst/>
          </a:prstGeom>
          <a:noFill/>
          <a:ln/>
        </p:spPr>
        <p:txBody>
          <a:bodyPr wrap="square" lIns="25400" tIns="25400" rIns="25400" bIns="25400" rtlCol="0" anchor="t">
            <a:normAutofit lnSpcReduction="10000"/>
          </a:bodyPr>
          <a:lstStyle/>
          <a:p>
            <a:pPr marL="0" indent="0" algn="just">
              <a:lnSpc>
                <a:spcPct val="88636"/>
              </a:lnSpc>
              <a:buNone/>
            </a:pPr>
            <a:r>
              <a:rPr lang="en-US" sz="3900" b="1" dirty="0">
                <a:solidFill>
                  <a:srgbClr val="F2F2F3"/>
                </a:solidFill>
                <a:latin typeface="Times New Roman" panose="02020603050405020304" pitchFamily="18" charset="0"/>
                <a:ea typeface="Arial" pitchFamily="34" charset="-122"/>
                <a:cs typeface="Arial" pitchFamily="34" charset="-120"/>
              </a:rPr>
              <a:t>20 / 5</a:t>
            </a:r>
            <a:endParaRPr lang="en-US" sz="3900" dirty="0">
              <a:latin typeface="Times New Roman" panose="02020603050405020304" pitchFamily="18" charset="0"/>
            </a:endParaRPr>
          </a:p>
        </p:txBody>
      </p:sp>
      <p:sp>
        <p:nvSpPr>
          <p:cNvPr id="24" name="Text 21"/>
          <p:cNvSpPr/>
          <p:nvPr/>
        </p:nvSpPr>
        <p:spPr>
          <a:xfrm>
            <a:off x="13582650" y="5393373"/>
            <a:ext cx="4128135"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D4D4D7"/>
                </a:solidFill>
                <a:latin typeface="Times New Roman" panose="02020603050405020304" pitchFamily="18" charset="0"/>
                <a:ea typeface="Arial" pitchFamily="34" charset="-122"/>
                <a:cs typeface="Arial" pitchFamily="34" charset="-120"/>
              </a:rPr>
              <a:t>Two-round / one-round debates</a:t>
            </a:r>
            <a:endParaRPr lang="en-US" sz="1800" dirty="0">
              <a:latin typeface="Times New Roman" panose="02020603050405020304" pitchFamily="18" charset="0"/>
            </a:endParaRPr>
          </a:p>
        </p:txBody>
      </p:sp>
      <p:sp>
        <p:nvSpPr>
          <p:cNvPr id="25" name="Shape 22"/>
          <p:cNvSpPr/>
          <p:nvPr/>
        </p:nvSpPr>
        <p:spPr>
          <a:xfrm>
            <a:off x="952500" y="6281103"/>
            <a:ext cx="16383000" cy="9525"/>
          </a:xfrm>
          <a:prstGeom prst="rect">
            <a:avLst/>
          </a:prstGeom>
          <a:solidFill>
            <a:srgbClr val="416180"/>
          </a:solidFill>
          <a:ln/>
        </p:spPr>
      </p:sp>
      <p:sp>
        <p:nvSpPr>
          <p:cNvPr id="26" name="Text 23"/>
          <p:cNvSpPr/>
          <p:nvPr/>
        </p:nvSpPr>
        <p:spPr>
          <a:xfrm>
            <a:off x="952500" y="6514783"/>
            <a:ext cx="2552700" cy="706755"/>
          </a:xfrm>
          <a:prstGeom prst="rect">
            <a:avLst/>
          </a:prstGeom>
          <a:noFill/>
          <a:ln/>
        </p:spPr>
        <p:txBody>
          <a:bodyPr wrap="square" lIns="25400" tIns="25400" rIns="25400" bIns="25400" rtlCol="0" anchor="t">
            <a:normAutofit fontScale="92500"/>
          </a:bodyPr>
          <a:lstStyle/>
          <a:p>
            <a:pPr marL="0" indent="0" algn="just">
              <a:lnSpc>
                <a:spcPct val="134933"/>
              </a:lnSpc>
              <a:buNone/>
            </a:pPr>
            <a:r>
              <a:rPr lang="en-US" sz="1950" b="1" kern="0" spc="195" dirty="0">
                <a:solidFill>
                  <a:srgbClr val="B5D9FD"/>
                </a:solidFill>
                <a:latin typeface="Times New Roman" panose="02020603050405020304" pitchFamily="18" charset="0"/>
                <a:ea typeface="Arial" pitchFamily="34" charset="-122"/>
                <a:cs typeface="Arial" pitchFamily="34" charset="-120"/>
              </a:rPr>
              <a:t>READING THE HR</a:t>
            </a:r>
            <a:endParaRPr lang="en-US" sz="1950" dirty="0">
              <a:latin typeface="Times New Roman" panose="02020603050405020304" pitchFamily="18" charset="0"/>
            </a:endParaRPr>
          </a:p>
        </p:txBody>
      </p:sp>
      <p:sp>
        <p:nvSpPr>
          <p:cNvPr id="27" name="Text 24"/>
          <p:cNvSpPr/>
          <p:nvPr/>
        </p:nvSpPr>
        <p:spPr>
          <a:xfrm>
            <a:off x="3810000" y="6514783"/>
            <a:ext cx="13931265" cy="706755"/>
          </a:xfrm>
          <a:prstGeom prst="rect">
            <a:avLst/>
          </a:prstGeom>
          <a:noFill/>
          <a:ln/>
        </p:spPr>
        <p:txBody>
          <a:bodyPr wrap="square" lIns="25400" tIns="25400" rIns="25400" bIns="25400" rtlCol="0" anchor="t">
            <a:normAutofit lnSpcReduction="10000"/>
          </a:bodyPr>
          <a:lstStyle/>
          <a:p>
            <a:pPr marL="0" indent="0" algn="just">
              <a:lnSpc>
                <a:spcPct val="117522"/>
              </a:lnSpc>
              <a:buNone/>
            </a:pPr>
            <a:r>
              <a:rPr lang="en-US" sz="1950" dirty="0">
                <a:solidFill>
                  <a:srgbClr val="F2F2F3"/>
                </a:solidFill>
                <a:latin typeface="Times New Roman" panose="02020603050405020304" pitchFamily="18" charset="0"/>
                <a:ea typeface="Arial" pitchFamily="34" charset="-122"/>
                <a:cs typeface="Arial" pitchFamily="34" charset="-120"/>
              </a:rPr>
              <a:t>HR includes authentic Supreme Court citations outside the 27-volume local preset, such as Lockett v. Ohio and Milliken v. Bradley. These are unverifiable by this corpus, not confirmed fabrications.</a:t>
            </a:r>
            <a:endParaRPr lang="en-US" sz="1950" dirty="0">
              <a:latin typeface="Times New Roman" panose="02020603050405020304" pitchFamily="18" charset="0"/>
            </a:endParaRPr>
          </a:p>
        </p:txBody>
      </p:sp>
      <p:sp>
        <p:nvSpPr>
          <p:cNvPr id="29" name="TextBox 28">
            <a:extLst>
              <a:ext uri="{FF2B5EF4-FFF2-40B4-BE49-F238E27FC236}">
                <a16:creationId xmlns:a16="http://schemas.microsoft.com/office/drawing/2014/main" id="{91777DA6-FCA6-1040-0D5B-0485A3124BD6}"/>
              </a:ext>
            </a:extLst>
          </p:cNvPr>
          <p:cNvSpPr txBox="1"/>
          <p:nvPr/>
        </p:nvSpPr>
        <p:spPr>
          <a:xfrm>
            <a:off x="17499011" y="9589770"/>
            <a:ext cx="531813"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23</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8054054"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Results &amp; Analysis (contd.)</a:t>
            </a:r>
            <a:endParaRPr lang="en-US" sz="4800" dirty="0">
              <a:latin typeface="Times New Roman" panose="02020603050405020304" pitchFamily="18" charset="0"/>
            </a:endParaRPr>
          </a:p>
        </p:txBody>
      </p:sp>
      <p:sp>
        <p:nvSpPr>
          <p:cNvPr id="3" name="Text 1"/>
          <p:cNvSpPr/>
          <p:nvPr/>
        </p:nvSpPr>
        <p:spPr>
          <a:xfrm>
            <a:off x="952500" y="1554480"/>
            <a:ext cx="8054054"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Citation Stress Test</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661920"/>
            <a:ext cx="6381750" cy="10160"/>
          </a:xfrm>
          <a:prstGeom prst="rect">
            <a:avLst/>
          </a:prstGeom>
          <a:solidFill>
            <a:srgbClr val="1D1F20"/>
          </a:solidFill>
          <a:ln/>
        </p:spPr>
      </p:sp>
      <p:sp>
        <p:nvSpPr>
          <p:cNvPr id="6" name="Text 3"/>
          <p:cNvSpPr/>
          <p:nvPr/>
        </p:nvSpPr>
        <p:spPr>
          <a:xfrm>
            <a:off x="952500" y="2266950"/>
            <a:ext cx="6344603"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CATEGORY</a:t>
            </a:r>
            <a:endParaRPr lang="en-US" sz="1800" dirty="0">
              <a:latin typeface="Times New Roman" panose="02020603050405020304" pitchFamily="18" charset="0"/>
            </a:endParaRPr>
          </a:p>
        </p:txBody>
      </p:sp>
      <p:sp>
        <p:nvSpPr>
          <p:cNvPr id="7" name="Shape 4"/>
          <p:cNvSpPr/>
          <p:nvPr/>
        </p:nvSpPr>
        <p:spPr>
          <a:xfrm>
            <a:off x="7334250" y="2661920"/>
            <a:ext cx="1238250" cy="10160"/>
          </a:xfrm>
          <a:prstGeom prst="rect">
            <a:avLst/>
          </a:prstGeom>
          <a:solidFill>
            <a:srgbClr val="1D1F20"/>
          </a:solidFill>
          <a:ln/>
        </p:spPr>
      </p:sp>
      <p:sp>
        <p:nvSpPr>
          <p:cNvPr id="8" name="Text 5"/>
          <p:cNvSpPr/>
          <p:nvPr/>
        </p:nvSpPr>
        <p:spPr>
          <a:xfrm>
            <a:off x="7334250" y="2266950"/>
            <a:ext cx="1085850" cy="318770"/>
          </a:xfrm>
          <a:prstGeom prst="rect">
            <a:avLst/>
          </a:prstGeom>
          <a:noFill/>
          <a:ln/>
        </p:spPr>
        <p:txBody>
          <a:bodyPr wrap="square" lIns="25400" tIns="25400" rIns="25400" bIns="25400" rtlCol="0" anchor="ctr">
            <a:normAutofit fontScale="62500" lnSpcReduction="200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EXPECTED</a:t>
            </a:r>
            <a:endParaRPr lang="en-US" sz="1800" dirty="0">
              <a:latin typeface="Times New Roman" panose="02020603050405020304" pitchFamily="18" charset="0"/>
            </a:endParaRPr>
          </a:p>
        </p:txBody>
      </p:sp>
      <p:sp>
        <p:nvSpPr>
          <p:cNvPr id="9" name="Shape 6"/>
          <p:cNvSpPr/>
          <p:nvPr/>
        </p:nvSpPr>
        <p:spPr>
          <a:xfrm>
            <a:off x="8572500" y="2661920"/>
            <a:ext cx="5334000" cy="10160"/>
          </a:xfrm>
          <a:prstGeom prst="rect">
            <a:avLst/>
          </a:prstGeom>
          <a:solidFill>
            <a:srgbClr val="1D1F20"/>
          </a:solidFill>
          <a:ln/>
        </p:spPr>
      </p:sp>
      <p:sp>
        <p:nvSpPr>
          <p:cNvPr id="10" name="Text 7"/>
          <p:cNvSpPr/>
          <p:nvPr/>
        </p:nvSpPr>
        <p:spPr>
          <a:xfrm>
            <a:off x="8572500" y="2266950"/>
            <a:ext cx="526542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ACCEPTED BY VERIFIER</a:t>
            </a:r>
            <a:endParaRPr lang="en-US" sz="1800" dirty="0">
              <a:latin typeface="Times New Roman" panose="02020603050405020304" pitchFamily="18" charset="0"/>
            </a:endParaRPr>
          </a:p>
        </p:txBody>
      </p:sp>
      <p:sp>
        <p:nvSpPr>
          <p:cNvPr id="11" name="Shape 8"/>
          <p:cNvSpPr/>
          <p:nvPr/>
        </p:nvSpPr>
        <p:spPr>
          <a:xfrm>
            <a:off x="13906500" y="2661920"/>
            <a:ext cx="3429000" cy="10160"/>
          </a:xfrm>
          <a:prstGeom prst="rect">
            <a:avLst/>
          </a:prstGeom>
          <a:solidFill>
            <a:srgbClr val="1D1F20"/>
          </a:solidFill>
          <a:ln/>
        </p:spPr>
      </p:sp>
      <p:sp>
        <p:nvSpPr>
          <p:cNvPr id="12" name="Text 9"/>
          <p:cNvSpPr/>
          <p:nvPr/>
        </p:nvSpPr>
        <p:spPr>
          <a:xfrm>
            <a:off x="13906500" y="2266950"/>
            <a:ext cx="353187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OUTCOME</a:t>
            </a:r>
            <a:endParaRPr lang="en-US" sz="1800" dirty="0">
              <a:latin typeface="Times New Roman" panose="02020603050405020304" pitchFamily="18" charset="0"/>
            </a:endParaRPr>
          </a:p>
        </p:txBody>
      </p:sp>
      <p:sp>
        <p:nvSpPr>
          <p:cNvPr id="13" name="Shape 10"/>
          <p:cNvSpPr/>
          <p:nvPr/>
        </p:nvSpPr>
        <p:spPr>
          <a:xfrm>
            <a:off x="952500" y="3288982"/>
            <a:ext cx="6381750" cy="9525"/>
          </a:xfrm>
          <a:prstGeom prst="rect">
            <a:avLst/>
          </a:prstGeom>
          <a:solidFill>
            <a:srgbClr val="1D1F20">
              <a:alpha val="16000"/>
            </a:srgbClr>
          </a:solidFill>
          <a:ln/>
        </p:spPr>
      </p:sp>
      <p:sp>
        <p:nvSpPr>
          <p:cNvPr id="14" name="Text 11"/>
          <p:cNvSpPr/>
          <p:nvPr/>
        </p:nvSpPr>
        <p:spPr>
          <a:xfrm>
            <a:off x="952500" y="2824480"/>
            <a:ext cx="6344603" cy="35020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Correct precedents (control)</a:t>
            </a:r>
            <a:endParaRPr lang="en-US" sz="1950" dirty="0">
              <a:latin typeface="Times New Roman" panose="02020603050405020304" pitchFamily="18" charset="0"/>
            </a:endParaRPr>
          </a:p>
        </p:txBody>
      </p:sp>
      <p:sp>
        <p:nvSpPr>
          <p:cNvPr id="15" name="Shape 12"/>
          <p:cNvSpPr/>
          <p:nvPr/>
        </p:nvSpPr>
        <p:spPr>
          <a:xfrm>
            <a:off x="7334250" y="3288982"/>
            <a:ext cx="1238250" cy="9525"/>
          </a:xfrm>
          <a:prstGeom prst="rect">
            <a:avLst/>
          </a:prstGeom>
          <a:solidFill>
            <a:srgbClr val="1D1F20">
              <a:alpha val="16000"/>
            </a:srgbClr>
          </a:solidFill>
          <a:ln/>
        </p:spPr>
      </p:sp>
      <p:sp>
        <p:nvSpPr>
          <p:cNvPr id="16" name="Text 13"/>
          <p:cNvSpPr/>
          <p:nvPr/>
        </p:nvSpPr>
        <p:spPr>
          <a:xfrm>
            <a:off x="7334250" y="2824480"/>
            <a:ext cx="1085850" cy="35020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Accept</a:t>
            </a:r>
            <a:endParaRPr lang="en-US" sz="1950" dirty="0">
              <a:latin typeface="Times New Roman" panose="02020603050405020304" pitchFamily="18" charset="0"/>
            </a:endParaRPr>
          </a:p>
        </p:txBody>
      </p:sp>
      <p:sp>
        <p:nvSpPr>
          <p:cNvPr id="17" name="Shape 14"/>
          <p:cNvSpPr/>
          <p:nvPr/>
        </p:nvSpPr>
        <p:spPr>
          <a:xfrm>
            <a:off x="8572500" y="3288982"/>
            <a:ext cx="5334000" cy="9525"/>
          </a:xfrm>
          <a:prstGeom prst="rect">
            <a:avLst/>
          </a:prstGeom>
          <a:solidFill>
            <a:srgbClr val="1D1F20">
              <a:alpha val="16000"/>
            </a:srgbClr>
          </a:solidFill>
          <a:ln/>
        </p:spPr>
      </p:sp>
      <p:sp>
        <p:nvSpPr>
          <p:cNvPr id="18" name="Shape 15"/>
          <p:cNvSpPr/>
          <p:nvPr/>
        </p:nvSpPr>
        <p:spPr>
          <a:xfrm>
            <a:off x="8572500" y="2879566"/>
            <a:ext cx="4191000" cy="209550"/>
          </a:xfrm>
          <a:prstGeom prst="rect">
            <a:avLst/>
          </a:prstGeom>
          <a:solidFill>
            <a:srgbClr val="E7E7EA"/>
          </a:solidFill>
          <a:ln/>
        </p:spPr>
      </p:sp>
      <p:sp>
        <p:nvSpPr>
          <p:cNvPr id="19" name="Shape 16"/>
          <p:cNvSpPr/>
          <p:nvPr/>
        </p:nvSpPr>
        <p:spPr>
          <a:xfrm>
            <a:off x="8572500" y="2879566"/>
            <a:ext cx="4191000" cy="209550"/>
          </a:xfrm>
          <a:prstGeom prst="rect">
            <a:avLst/>
          </a:prstGeom>
          <a:solidFill>
            <a:srgbClr val="5980A6"/>
          </a:solidFill>
          <a:ln/>
        </p:spPr>
      </p:sp>
      <p:sp>
        <p:nvSpPr>
          <p:cNvPr id="20" name="Text 17"/>
          <p:cNvSpPr/>
          <p:nvPr/>
        </p:nvSpPr>
        <p:spPr>
          <a:xfrm>
            <a:off x="12915900" y="2829560"/>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10/10</a:t>
            </a:r>
            <a:endParaRPr lang="en-US" sz="1950" dirty="0">
              <a:latin typeface="Times New Roman" panose="02020603050405020304" pitchFamily="18" charset="0"/>
            </a:endParaRPr>
          </a:p>
        </p:txBody>
      </p:sp>
      <p:sp>
        <p:nvSpPr>
          <p:cNvPr id="21" name="Shape 18"/>
          <p:cNvSpPr/>
          <p:nvPr/>
        </p:nvSpPr>
        <p:spPr>
          <a:xfrm>
            <a:off x="13906500" y="3288982"/>
            <a:ext cx="3429000" cy="9525"/>
          </a:xfrm>
          <a:prstGeom prst="rect">
            <a:avLst/>
          </a:prstGeom>
          <a:solidFill>
            <a:srgbClr val="1D1F20">
              <a:alpha val="16000"/>
            </a:srgbClr>
          </a:solidFill>
          <a:ln/>
        </p:spPr>
      </p:sp>
      <p:sp>
        <p:nvSpPr>
          <p:cNvPr id="22" name="Text 19"/>
          <p:cNvSpPr/>
          <p:nvPr/>
        </p:nvSpPr>
        <p:spPr>
          <a:xfrm>
            <a:off x="13906500" y="2824480"/>
            <a:ext cx="3531870" cy="35020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416180"/>
                </a:solidFill>
                <a:latin typeface="Times New Roman" panose="02020603050405020304" pitchFamily="18" charset="0"/>
                <a:ea typeface="Arial" pitchFamily="34" charset="-122"/>
                <a:cs typeface="Arial" pitchFamily="34" charset="-120"/>
              </a:rPr>
              <a:t>As expected</a:t>
            </a:r>
            <a:endParaRPr lang="en-US" sz="1950" dirty="0">
              <a:latin typeface="Times New Roman" panose="02020603050405020304" pitchFamily="18" charset="0"/>
            </a:endParaRPr>
          </a:p>
        </p:txBody>
      </p:sp>
      <p:sp>
        <p:nvSpPr>
          <p:cNvPr id="23" name="Shape 20"/>
          <p:cNvSpPr/>
          <p:nvPr/>
        </p:nvSpPr>
        <p:spPr>
          <a:xfrm>
            <a:off x="952500" y="3908425"/>
            <a:ext cx="6381750" cy="9525"/>
          </a:xfrm>
          <a:prstGeom prst="rect">
            <a:avLst/>
          </a:prstGeom>
          <a:solidFill>
            <a:srgbClr val="1D1F20">
              <a:alpha val="16000"/>
            </a:srgbClr>
          </a:solidFill>
          <a:ln/>
        </p:spPr>
      </p:sp>
      <p:sp>
        <p:nvSpPr>
          <p:cNvPr id="24" name="Text 21"/>
          <p:cNvSpPr/>
          <p:nvPr/>
        </p:nvSpPr>
        <p:spPr>
          <a:xfrm>
            <a:off x="952500" y="3446462"/>
            <a:ext cx="6344603"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Semantic misattributions</a:t>
            </a:r>
            <a:endParaRPr lang="en-US" sz="1950" dirty="0">
              <a:latin typeface="Times New Roman" panose="02020603050405020304" pitchFamily="18" charset="0"/>
            </a:endParaRPr>
          </a:p>
        </p:txBody>
      </p:sp>
      <p:sp>
        <p:nvSpPr>
          <p:cNvPr id="25" name="Shape 22"/>
          <p:cNvSpPr/>
          <p:nvPr/>
        </p:nvSpPr>
        <p:spPr>
          <a:xfrm>
            <a:off x="7334250" y="3908425"/>
            <a:ext cx="1238250" cy="9525"/>
          </a:xfrm>
          <a:prstGeom prst="rect">
            <a:avLst/>
          </a:prstGeom>
          <a:solidFill>
            <a:srgbClr val="1D1F20">
              <a:alpha val="16000"/>
            </a:srgbClr>
          </a:solidFill>
          <a:ln/>
        </p:spPr>
      </p:sp>
      <p:sp>
        <p:nvSpPr>
          <p:cNvPr id="26" name="Text 23"/>
          <p:cNvSpPr/>
          <p:nvPr/>
        </p:nvSpPr>
        <p:spPr>
          <a:xfrm>
            <a:off x="7334250" y="3446462"/>
            <a:ext cx="108585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Reject</a:t>
            </a:r>
            <a:endParaRPr lang="en-US" sz="1950" dirty="0">
              <a:latin typeface="Times New Roman" panose="02020603050405020304" pitchFamily="18" charset="0"/>
            </a:endParaRPr>
          </a:p>
        </p:txBody>
      </p:sp>
      <p:sp>
        <p:nvSpPr>
          <p:cNvPr id="27" name="Shape 24"/>
          <p:cNvSpPr/>
          <p:nvPr/>
        </p:nvSpPr>
        <p:spPr>
          <a:xfrm>
            <a:off x="8572500" y="3908425"/>
            <a:ext cx="5334000" cy="9525"/>
          </a:xfrm>
          <a:prstGeom prst="rect">
            <a:avLst/>
          </a:prstGeom>
          <a:solidFill>
            <a:srgbClr val="1D1F20">
              <a:alpha val="16000"/>
            </a:srgbClr>
          </a:solidFill>
          <a:ln/>
        </p:spPr>
      </p:sp>
      <p:sp>
        <p:nvSpPr>
          <p:cNvPr id="28" name="Shape 25"/>
          <p:cNvSpPr/>
          <p:nvPr/>
        </p:nvSpPr>
        <p:spPr>
          <a:xfrm>
            <a:off x="8572500" y="3499009"/>
            <a:ext cx="4191000" cy="209550"/>
          </a:xfrm>
          <a:prstGeom prst="rect">
            <a:avLst/>
          </a:prstGeom>
          <a:solidFill>
            <a:srgbClr val="E7E7EA"/>
          </a:solidFill>
          <a:ln/>
        </p:spPr>
      </p:sp>
      <p:sp>
        <p:nvSpPr>
          <p:cNvPr id="29" name="Shape 26"/>
          <p:cNvSpPr/>
          <p:nvPr/>
        </p:nvSpPr>
        <p:spPr>
          <a:xfrm>
            <a:off x="8572500" y="3499009"/>
            <a:ext cx="4191000" cy="209550"/>
          </a:xfrm>
          <a:prstGeom prst="rect">
            <a:avLst/>
          </a:prstGeom>
          <a:solidFill>
            <a:srgbClr val="424244"/>
          </a:solidFill>
          <a:ln/>
        </p:spPr>
      </p:sp>
      <p:sp>
        <p:nvSpPr>
          <p:cNvPr id="30" name="Text 27"/>
          <p:cNvSpPr/>
          <p:nvPr/>
        </p:nvSpPr>
        <p:spPr>
          <a:xfrm>
            <a:off x="12915900" y="3449003"/>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10/10</a:t>
            </a:r>
            <a:endParaRPr lang="en-US" sz="1950" dirty="0">
              <a:latin typeface="Times New Roman" panose="02020603050405020304" pitchFamily="18" charset="0"/>
            </a:endParaRPr>
          </a:p>
        </p:txBody>
      </p:sp>
      <p:sp>
        <p:nvSpPr>
          <p:cNvPr id="31" name="Shape 28"/>
          <p:cNvSpPr/>
          <p:nvPr/>
        </p:nvSpPr>
        <p:spPr>
          <a:xfrm>
            <a:off x="13906500" y="3908425"/>
            <a:ext cx="3429000" cy="9525"/>
          </a:xfrm>
          <a:prstGeom prst="rect">
            <a:avLst/>
          </a:prstGeom>
          <a:solidFill>
            <a:srgbClr val="1D1F20">
              <a:alpha val="16000"/>
            </a:srgbClr>
          </a:solidFill>
          <a:ln/>
        </p:spPr>
      </p:sp>
      <p:sp>
        <p:nvSpPr>
          <p:cNvPr id="32" name="Text 29"/>
          <p:cNvSpPr/>
          <p:nvPr/>
        </p:nvSpPr>
        <p:spPr>
          <a:xfrm>
            <a:off x="13906500" y="3446462"/>
            <a:ext cx="353187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None caught</a:t>
            </a:r>
            <a:endParaRPr lang="en-US" sz="1950" dirty="0">
              <a:latin typeface="Times New Roman" panose="02020603050405020304" pitchFamily="18" charset="0"/>
            </a:endParaRPr>
          </a:p>
        </p:txBody>
      </p:sp>
      <p:sp>
        <p:nvSpPr>
          <p:cNvPr id="33" name="Shape 30"/>
          <p:cNvSpPr/>
          <p:nvPr/>
        </p:nvSpPr>
        <p:spPr>
          <a:xfrm>
            <a:off x="952500" y="4527867"/>
            <a:ext cx="6381750" cy="9525"/>
          </a:xfrm>
          <a:prstGeom prst="rect">
            <a:avLst/>
          </a:prstGeom>
          <a:solidFill>
            <a:srgbClr val="1D1F20">
              <a:alpha val="16000"/>
            </a:srgbClr>
          </a:solidFill>
          <a:ln/>
        </p:spPr>
      </p:sp>
      <p:sp>
        <p:nvSpPr>
          <p:cNvPr id="34" name="Text 31"/>
          <p:cNvSpPr/>
          <p:nvPr/>
        </p:nvSpPr>
        <p:spPr>
          <a:xfrm>
            <a:off x="952500" y="4065905"/>
            <a:ext cx="6344603"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CaseHOLD legal distractors</a:t>
            </a:r>
            <a:endParaRPr lang="en-US" sz="1950" dirty="0">
              <a:latin typeface="Times New Roman" panose="02020603050405020304" pitchFamily="18" charset="0"/>
            </a:endParaRPr>
          </a:p>
        </p:txBody>
      </p:sp>
      <p:sp>
        <p:nvSpPr>
          <p:cNvPr id="35" name="Shape 32"/>
          <p:cNvSpPr/>
          <p:nvPr/>
        </p:nvSpPr>
        <p:spPr>
          <a:xfrm>
            <a:off x="7334250" y="4527867"/>
            <a:ext cx="1238250" cy="9525"/>
          </a:xfrm>
          <a:prstGeom prst="rect">
            <a:avLst/>
          </a:prstGeom>
          <a:solidFill>
            <a:srgbClr val="1D1F20">
              <a:alpha val="16000"/>
            </a:srgbClr>
          </a:solidFill>
          <a:ln/>
        </p:spPr>
      </p:sp>
      <p:sp>
        <p:nvSpPr>
          <p:cNvPr id="36" name="Text 33"/>
          <p:cNvSpPr/>
          <p:nvPr/>
        </p:nvSpPr>
        <p:spPr>
          <a:xfrm>
            <a:off x="7334250" y="4065905"/>
            <a:ext cx="1085850"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Reject</a:t>
            </a:r>
            <a:endParaRPr lang="en-US" sz="1950" dirty="0">
              <a:latin typeface="Times New Roman" panose="02020603050405020304" pitchFamily="18" charset="0"/>
            </a:endParaRPr>
          </a:p>
        </p:txBody>
      </p:sp>
      <p:sp>
        <p:nvSpPr>
          <p:cNvPr id="37" name="Shape 34"/>
          <p:cNvSpPr/>
          <p:nvPr/>
        </p:nvSpPr>
        <p:spPr>
          <a:xfrm>
            <a:off x="8572500" y="4527867"/>
            <a:ext cx="5334000" cy="9525"/>
          </a:xfrm>
          <a:prstGeom prst="rect">
            <a:avLst/>
          </a:prstGeom>
          <a:solidFill>
            <a:srgbClr val="1D1F20">
              <a:alpha val="16000"/>
            </a:srgbClr>
          </a:solidFill>
          <a:ln/>
        </p:spPr>
      </p:sp>
      <p:sp>
        <p:nvSpPr>
          <p:cNvPr id="38" name="Shape 35"/>
          <p:cNvSpPr/>
          <p:nvPr/>
        </p:nvSpPr>
        <p:spPr>
          <a:xfrm>
            <a:off x="8572500" y="4118451"/>
            <a:ext cx="4191000" cy="209550"/>
          </a:xfrm>
          <a:prstGeom prst="rect">
            <a:avLst/>
          </a:prstGeom>
          <a:solidFill>
            <a:srgbClr val="E7E7EA"/>
          </a:solidFill>
          <a:ln/>
        </p:spPr>
      </p:sp>
      <p:sp>
        <p:nvSpPr>
          <p:cNvPr id="39" name="Shape 36"/>
          <p:cNvSpPr/>
          <p:nvPr/>
        </p:nvSpPr>
        <p:spPr>
          <a:xfrm>
            <a:off x="8572500" y="4118451"/>
            <a:ext cx="4191000" cy="209550"/>
          </a:xfrm>
          <a:prstGeom prst="rect">
            <a:avLst/>
          </a:prstGeom>
          <a:solidFill>
            <a:srgbClr val="424244"/>
          </a:solidFill>
          <a:ln/>
        </p:spPr>
      </p:sp>
      <p:sp>
        <p:nvSpPr>
          <p:cNvPr id="40" name="Text 37"/>
          <p:cNvSpPr/>
          <p:nvPr/>
        </p:nvSpPr>
        <p:spPr>
          <a:xfrm>
            <a:off x="12915900" y="4068445"/>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5/5</a:t>
            </a:r>
            <a:endParaRPr lang="en-US" sz="1950" dirty="0">
              <a:latin typeface="Times New Roman" panose="02020603050405020304" pitchFamily="18" charset="0"/>
            </a:endParaRPr>
          </a:p>
        </p:txBody>
      </p:sp>
      <p:sp>
        <p:nvSpPr>
          <p:cNvPr id="41" name="Shape 38"/>
          <p:cNvSpPr/>
          <p:nvPr/>
        </p:nvSpPr>
        <p:spPr>
          <a:xfrm>
            <a:off x="13906500" y="4527867"/>
            <a:ext cx="3429000" cy="9525"/>
          </a:xfrm>
          <a:prstGeom prst="rect">
            <a:avLst/>
          </a:prstGeom>
          <a:solidFill>
            <a:srgbClr val="1D1F20">
              <a:alpha val="16000"/>
            </a:srgbClr>
          </a:solidFill>
          <a:ln/>
        </p:spPr>
      </p:sp>
      <p:sp>
        <p:nvSpPr>
          <p:cNvPr id="42" name="Text 39"/>
          <p:cNvSpPr/>
          <p:nvPr/>
        </p:nvSpPr>
        <p:spPr>
          <a:xfrm>
            <a:off x="13906500" y="4065905"/>
            <a:ext cx="3531870"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Lexical overlap passes</a:t>
            </a:r>
            <a:endParaRPr lang="en-US" sz="1950" dirty="0">
              <a:latin typeface="Times New Roman" panose="02020603050405020304" pitchFamily="18" charset="0"/>
            </a:endParaRPr>
          </a:p>
        </p:txBody>
      </p:sp>
      <p:sp>
        <p:nvSpPr>
          <p:cNvPr id="43" name="Shape 40"/>
          <p:cNvSpPr/>
          <p:nvPr/>
        </p:nvSpPr>
        <p:spPr>
          <a:xfrm>
            <a:off x="952500" y="5147310"/>
            <a:ext cx="6381750" cy="9525"/>
          </a:xfrm>
          <a:prstGeom prst="rect">
            <a:avLst/>
          </a:prstGeom>
          <a:solidFill>
            <a:srgbClr val="1D1F20">
              <a:alpha val="16000"/>
            </a:srgbClr>
          </a:solidFill>
          <a:ln/>
        </p:spPr>
      </p:sp>
      <p:sp>
        <p:nvSpPr>
          <p:cNvPr id="44" name="Text 41"/>
          <p:cNvSpPr/>
          <p:nvPr/>
        </p:nvSpPr>
        <p:spPr>
          <a:xfrm>
            <a:off x="952500" y="4685347"/>
            <a:ext cx="6344603"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Plausible fabricated citations</a:t>
            </a:r>
            <a:endParaRPr lang="en-US" sz="1950" dirty="0">
              <a:latin typeface="Times New Roman" panose="02020603050405020304" pitchFamily="18" charset="0"/>
            </a:endParaRPr>
          </a:p>
        </p:txBody>
      </p:sp>
      <p:sp>
        <p:nvSpPr>
          <p:cNvPr id="45" name="Shape 42"/>
          <p:cNvSpPr/>
          <p:nvPr/>
        </p:nvSpPr>
        <p:spPr>
          <a:xfrm>
            <a:off x="7334250" y="5147310"/>
            <a:ext cx="1238250" cy="9525"/>
          </a:xfrm>
          <a:prstGeom prst="rect">
            <a:avLst/>
          </a:prstGeom>
          <a:solidFill>
            <a:srgbClr val="1D1F20">
              <a:alpha val="16000"/>
            </a:srgbClr>
          </a:solidFill>
          <a:ln/>
        </p:spPr>
      </p:sp>
      <p:sp>
        <p:nvSpPr>
          <p:cNvPr id="46" name="Text 43"/>
          <p:cNvSpPr/>
          <p:nvPr/>
        </p:nvSpPr>
        <p:spPr>
          <a:xfrm>
            <a:off x="7334250" y="4685347"/>
            <a:ext cx="108585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Reject</a:t>
            </a:r>
            <a:endParaRPr lang="en-US" sz="1950" dirty="0">
              <a:latin typeface="Times New Roman" panose="02020603050405020304" pitchFamily="18" charset="0"/>
            </a:endParaRPr>
          </a:p>
        </p:txBody>
      </p:sp>
      <p:sp>
        <p:nvSpPr>
          <p:cNvPr id="47" name="Shape 44"/>
          <p:cNvSpPr/>
          <p:nvPr/>
        </p:nvSpPr>
        <p:spPr>
          <a:xfrm>
            <a:off x="8572500" y="5147310"/>
            <a:ext cx="5334000" cy="9525"/>
          </a:xfrm>
          <a:prstGeom prst="rect">
            <a:avLst/>
          </a:prstGeom>
          <a:solidFill>
            <a:srgbClr val="1D1F20">
              <a:alpha val="16000"/>
            </a:srgbClr>
          </a:solidFill>
          <a:ln/>
        </p:spPr>
      </p:sp>
      <p:sp>
        <p:nvSpPr>
          <p:cNvPr id="48" name="Shape 45"/>
          <p:cNvSpPr/>
          <p:nvPr/>
        </p:nvSpPr>
        <p:spPr>
          <a:xfrm>
            <a:off x="8572500" y="4737894"/>
            <a:ext cx="4191000" cy="209550"/>
          </a:xfrm>
          <a:prstGeom prst="rect">
            <a:avLst/>
          </a:prstGeom>
          <a:solidFill>
            <a:srgbClr val="E7E7EA"/>
          </a:solidFill>
          <a:ln/>
        </p:spPr>
      </p:sp>
      <p:sp>
        <p:nvSpPr>
          <p:cNvPr id="49" name="Shape 46"/>
          <p:cNvSpPr/>
          <p:nvPr/>
        </p:nvSpPr>
        <p:spPr>
          <a:xfrm>
            <a:off x="8572500" y="4737894"/>
            <a:ext cx="838200" cy="209550"/>
          </a:xfrm>
          <a:prstGeom prst="rect">
            <a:avLst/>
          </a:prstGeom>
          <a:solidFill>
            <a:srgbClr val="424244"/>
          </a:solidFill>
          <a:ln/>
        </p:spPr>
      </p:sp>
      <p:sp>
        <p:nvSpPr>
          <p:cNvPr id="50" name="Text 47"/>
          <p:cNvSpPr/>
          <p:nvPr/>
        </p:nvSpPr>
        <p:spPr>
          <a:xfrm>
            <a:off x="12915900" y="4687888"/>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1/5</a:t>
            </a:r>
            <a:endParaRPr lang="en-US" sz="1950" dirty="0">
              <a:latin typeface="Times New Roman" panose="02020603050405020304" pitchFamily="18" charset="0"/>
            </a:endParaRPr>
          </a:p>
        </p:txBody>
      </p:sp>
      <p:sp>
        <p:nvSpPr>
          <p:cNvPr id="51" name="Shape 48"/>
          <p:cNvSpPr/>
          <p:nvPr/>
        </p:nvSpPr>
        <p:spPr>
          <a:xfrm>
            <a:off x="13906500" y="5147310"/>
            <a:ext cx="3429000" cy="9525"/>
          </a:xfrm>
          <a:prstGeom prst="rect">
            <a:avLst/>
          </a:prstGeom>
          <a:solidFill>
            <a:srgbClr val="1D1F20">
              <a:alpha val="16000"/>
            </a:srgbClr>
          </a:solidFill>
          <a:ln/>
        </p:spPr>
      </p:sp>
      <p:sp>
        <p:nvSpPr>
          <p:cNvPr id="52" name="Text 49"/>
          <p:cNvSpPr/>
          <p:nvPr/>
        </p:nvSpPr>
        <p:spPr>
          <a:xfrm>
            <a:off x="13906500" y="4685347"/>
            <a:ext cx="353187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416180"/>
                </a:solidFill>
                <a:latin typeface="Times New Roman" panose="02020603050405020304" pitchFamily="18" charset="0"/>
                <a:ea typeface="Arial" pitchFamily="34" charset="-122"/>
                <a:cs typeface="Arial" pitchFamily="34" charset="-120"/>
              </a:rPr>
              <a:t>4 of 5 rejected</a:t>
            </a:r>
            <a:endParaRPr lang="en-US" sz="1950" dirty="0">
              <a:latin typeface="Times New Roman" panose="02020603050405020304" pitchFamily="18" charset="0"/>
            </a:endParaRPr>
          </a:p>
        </p:txBody>
      </p:sp>
      <p:sp>
        <p:nvSpPr>
          <p:cNvPr id="53" name="Shape 50"/>
          <p:cNvSpPr/>
          <p:nvPr/>
        </p:nvSpPr>
        <p:spPr>
          <a:xfrm>
            <a:off x="952500" y="5766753"/>
            <a:ext cx="6381750" cy="9525"/>
          </a:xfrm>
          <a:prstGeom prst="rect">
            <a:avLst/>
          </a:prstGeom>
          <a:solidFill>
            <a:srgbClr val="1D1F20">
              <a:alpha val="16000"/>
            </a:srgbClr>
          </a:solidFill>
          <a:ln/>
        </p:spPr>
      </p:sp>
      <p:sp>
        <p:nvSpPr>
          <p:cNvPr id="54" name="Text 51"/>
          <p:cNvSpPr/>
          <p:nvPr/>
        </p:nvSpPr>
        <p:spPr>
          <a:xfrm>
            <a:off x="952500" y="5304790"/>
            <a:ext cx="6344603"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Fabricated, no citation details</a:t>
            </a:r>
            <a:endParaRPr lang="en-US" sz="1950" dirty="0">
              <a:latin typeface="Times New Roman" panose="02020603050405020304" pitchFamily="18" charset="0"/>
            </a:endParaRPr>
          </a:p>
        </p:txBody>
      </p:sp>
      <p:sp>
        <p:nvSpPr>
          <p:cNvPr id="55" name="Shape 52"/>
          <p:cNvSpPr/>
          <p:nvPr/>
        </p:nvSpPr>
        <p:spPr>
          <a:xfrm>
            <a:off x="7334250" y="5766753"/>
            <a:ext cx="1238250" cy="9525"/>
          </a:xfrm>
          <a:prstGeom prst="rect">
            <a:avLst/>
          </a:prstGeom>
          <a:solidFill>
            <a:srgbClr val="1D1F20">
              <a:alpha val="16000"/>
            </a:srgbClr>
          </a:solidFill>
          <a:ln/>
        </p:spPr>
      </p:sp>
      <p:sp>
        <p:nvSpPr>
          <p:cNvPr id="56" name="Text 53"/>
          <p:cNvSpPr/>
          <p:nvPr/>
        </p:nvSpPr>
        <p:spPr>
          <a:xfrm>
            <a:off x="7334250" y="5304790"/>
            <a:ext cx="1085850"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Reject</a:t>
            </a:r>
            <a:endParaRPr lang="en-US" sz="1950" dirty="0">
              <a:latin typeface="Times New Roman" panose="02020603050405020304" pitchFamily="18" charset="0"/>
            </a:endParaRPr>
          </a:p>
        </p:txBody>
      </p:sp>
      <p:sp>
        <p:nvSpPr>
          <p:cNvPr id="57" name="Shape 54"/>
          <p:cNvSpPr/>
          <p:nvPr/>
        </p:nvSpPr>
        <p:spPr>
          <a:xfrm>
            <a:off x="8572500" y="5766753"/>
            <a:ext cx="5334000" cy="9525"/>
          </a:xfrm>
          <a:prstGeom prst="rect">
            <a:avLst/>
          </a:prstGeom>
          <a:solidFill>
            <a:srgbClr val="1D1F20">
              <a:alpha val="16000"/>
            </a:srgbClr>
          </a:solidFill>
          <a:ln/>
        </p:spPr>
      </p:sp>
      <p:sp>
        <p:nvSpPr>
          <p:cNvPr id="58" name="Shape 55"/>
          <p:cNvSpPr/>
          <p:nvPr/>
        </p:nvSpPr>
        <p:spPr>
          <a:xfrm>
            <a:off x="8572500" y="5357336"/>
            <a:ext cx="4191000" cy="209550"/>
          </a:xfrm>
          <a:prstGeom prst="rect">
            <a:avLst/>
          </a:prstGeom>
          <a:solidFill>
            <a:srgbClr val="E7E7EA"/>
          </a:solidFill>
          <a:ln/>
        </p:spPr>
      </p:sp>
      <p:sp>
        <p:nvSpPr>
          <p:cNvPr id="59" name="Text 56"/>
          <p:cNvSpPr/>
          <p:nvPr/>
        </p:nvSpPr>
        <p:spPr>
          <a:xfrm>
            <a:off x="12915900" y="5307330"/>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0/5</a:t>
            </a:r>
            <a:endParaRPr lang="en-US" sz="1950" dirty="0">
              <a:latin typeface="Times New Roman" panose="02020603050405020304" pitchFamily="18" charset="0"/>
            </a:endParaRPr>
          </a:p>
        </p:txBody>
      </p:sp>
      <p:sp>
        <p:nvSpPr>
          <p:cNvPr id="60" name="Shape 57"/>
          <p:cNvSpPr/>
          <p:nvPr/>
        </p:nvSpPr>
        <p:spPr>
          <a:xfrm>
            <a:off x="13906500" y="5766753"/>
            <a:ext cx="3429000" cy="9525"/>
          </a:xfrm>
          <a:prstGeom prst="rect">
            <a:avLst/>
          </a:prstGeom>
          <a:solidFill>
            <a:srgbClr val="1D1F20">
              <a:alpha val="16000"/>
            </a:srgbClr>
          </a:solidFill>
          <a:ln/>
        </p:spPr>
      </p:sp>
      <p:sp>
        <p:nvSpPr>
          <p:cNvPr id="61" name="Text 58"/>
          <p:cNvSpPr/>
          <p:nvPr/>
        </p:nvSpPr>
        <p:spPr>
          <a:xfrm>
            <a:off x="13906500" y="5304790"/>
            <a:ext cx="3531870" cy="347662"/>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416180"/>
                </a:solidFill>
                <a:latin typeface="Times New Roman" panose="02020603050405020304" pitchFamily="18" charset="0"/>
                <a:ea typeface="Arial" pitchFamily="34" charset="-122"/>
                <a:cs typeface="Arial" pitchFamily="34" charset="-120"/>
              </a:rPr>
              <a:t>All rejected</a:t>
            </a:r>
            <a:endParaRPr lang="en-US" sz="1950" dirty="0">
              <a:latin typeface="Times New Roman" panose="02020603050405020304" pitchFamily="18" charset="0"/>
            </a:endParaRPr>
          </a:p>
        </p:txBody>
      </p:sp>
      <p:sp>
        <p:nvSpPr>
          <p:cNvPr id="62" name="Shape 59"/>
          <p:cNvSpPr/>
          <p:nvPr/>
        </p:nvSpPr>
        <p:spPr>
          <a:xfrm>
            <a:off x="952500" y="6386195"/>
            <a:ext cx="6381750" cy="9525"/>
          </a:xfrm>
          <a:prstGeom prst="rect">
            <a:avLst/>
          </a:prstGeom>
          <a:solidFill>
            <a:srgbClr val="1D1F20">
              <a:alpha val="16000"/>
            </a:srgbClr>
          </a:solidFill>
          <a:ln/>
        </p:spPr>
      </p:sp>
      <p:sp>
        <p:nvSpPr>
          <p:cNvPr id="63" name="Text 60"/>
          <p:cNvSpPr/>
          <p:nvPr/>
        </p:nvSpPr>
        <p:spPr>
          <a:xfrm>
            <a:off x="952500" y="5924233"/>
            <a:ext cx="6344603"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Real, off-corpus precedents</a:t>
            </a:r>
            <a:endParaRPr lang="en-US" sz="1950" dirty="0">
              <a:latin typeface="Times New Roman" panose="02020603050405020304" pitchFamily="18" charset="0"/>
            </a:endParaRPr>
          </a:p>
        </p:txBody>
      </p:sp>
      <p:sp>
        <p:nvSpPr>
          <p:cNvPr id="64" name="Shape 61"/>
          <p:cNvSpPr/>
          <p:nvPr/>
        </p:nvSpPr>
        <p:spPr>
          <a:xfrm>
            <a:off x="7334250" y="6386195"/>
            <a:ext cx="1238250" cy="9525"/>
          </a:xfrm>
          <a:prstGeom prst="rect">
            <a:avLst/>
          </a:prstGeom>
          <a:solidFill>
            <a:srgbClr val="1D1F20">
              <a:alpha val="16000"/>
            </a:srgbClr>
          </a:solidFill>
          <a:ln/>
        </p:spPr>
      </p:sp>
      <p:sp>
        <p:nvSpPr>
          <p:cNvPr id="65" name="Text 62"/>
          <p:cNvSpPr/>
          <p:nvPr/>
        </p:nvSpPr>
        <p:spPr>
          <a:xfrm>
            <a:off x="7334250" y="5924233"/>
            <a:ext cx="108585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Flag</a:t>
            </a:r>
            <a:endParaRPr lang="en-US" sz="1950" dirty="0">
              <a:latin typeface="Times New Roman" panose="02020603050405020304" pitchFamily="18" charset="0"/>
            </a:endParaRPr>
          </a:p>
        </p:txBody>
      </p:sp>
      <p:sp>
        <p:nvSpPr>
          <p:cNvPr id="66" name="Shape 63"/>
          <p:cNvSpPr/>
          <p:nvPr/>
        </p:nvSpPr>
        <p:spPr>
          <a:xfrm>
            <a:off x="8572500" y="6386195"/>
            <a:ext cx="5334000" cy="9525"/>
          </a:xfrm>
          <a:prstGeom prst="rect">
            <a:avLst/>
          </a:prstGeom>
          <a:solidFill>
            <a:srgbClr val="1D1F20">
              <a:alpha val="16000"/>
            </a:srgbClr>
          </a:solidFill>
          <a:ln/>
        </p:spPr>
      </p:sp>
      <p:sp>
        <p:nvSpPr>
          <p:cNvPr id="67" name="Shape 64"/>
          <p:cNvSpPr/>
          <p:nvPr/>
        </p:nvSpPr>
        <p:spPr>
          <a:xfrm>
            <a:off x="8572500" y="5976779"/>
            <a:ext cx="4191000" cy="209550"/>
          </a:xfrm>
          <a:prstGeom prst="rect">
            <a:avLst/>
          </a:prstGeom>
          <a:solidFill>
            <a:srgbClr val="E7E7EA"/>
          </a:solidFill>
          <a:ln/>
        </p:spPr>
      </p:sp>
      <p:sp>
        <p:nvSpPr>
          <p:cNvPr id="68" name="Text 65"/>
          <p:cNvSpPr/>
          <p:nvPr/>
        </p:nvSpPr>
        <p:spPr>
          <a:xfrm>
            <a:off x="12915900" y="5926773"/>
            <a:ext cx="8382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0/5</a:t>
            </a:r>
            <a:endParaRPr lang="en-US" sz="1950" dirty="0">
              <a:latin typeface="Times New Roman" panose="02020603050405020304" pitchFamily="18" charset="0"/>
            </a:endParaRPr>
          </a:p>
        </p:txBody>
      </p:sp>
      <p:sp>
        <p:nvSpPr>
          <p:cNvPr id="69" name="Shape 66"/>
          <p:cNvSpPr/>
          <p:nvPr/>
        </p:nvSpPr>
        <p:spPr>
          <a:xfrm>
            <a:off x="13906500" y="6386195"/>
            <a:ext cx="3429000" cy="9525"/>
          </a:xfrm>
          <a:prstGeom prst="rect">
            <a:avLst/>
          </a:prstGeom>
          <a:solidFill>
            <a:srgbClr val="1D1F20">
              <a:alpha val="16000"/>
            </a:srgbClr>
          </a:solidFill>
          <a:ln/>
        </p:spPr>
      </p:sp>
      <p:sp>
        <p:nvSpPr>
          <p:cNvPr id="70" name="Text 67"/>
          <p:cNvSpPr/>
          <p:nvPr/>
        </p:nvSpPr>
        <p:spPr>
          <a:xfrm>
            <a:off x="13906500" y="5924233"/>
            <a:ext cx="3531870" cy="347663"/>
          </a:xfrm>
          <a:prstGeom prst="rect">
            <a:avLst/>
          </a:prstGeom>
          <a:noFill/>
          <a:ln/>
        </p:spPr>
        <p:txBody>
          <a:bodyPr wrap="square" lIns="25400" tIns="25400" rIns="25400" bIns="25400" rtlCol="0" anchor="ctr">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Unverifiable (coverage)</a:t>
            </a:r>
            <a:endParaRPr lang="en-US" sz="1950" dirty="0">
              <a:latin typeface="Times New Roman" panose="02020603050405020304" pitchFamily="18" charset="0"/>
            </a:endParaRPr>
          </a:p>
        </p:txBody>
      </p:sp>
      <p:sp>
        <p:nvSpPr>
          <p:cNvPr id="71" name="Text 68"/>
          <p:cNvSpPr/>
          <p:nvPr/>
        </p:nvSpPr>
        <p:spPr>
          <a:xfrm>
            <a:off x="952500" y="6812915"/>
            <a:ext cx="1468072" cy="723900"/>
          </a:xfrm>
          <a:prstGeom prst="rect">
            <a:avLst/>
          </a:prstGeom>
          <a:noFill/>
          <a:ln/>
        </p:spPr>
        <p:txBody>
          <a:bodyPr wrap="square" lIns="25400" tIns="25400" rIns="25400" bIns="25400" rtlCol="0" anchor="t">
            <a:normAutofit fontScale="77500" lnSpcReduction="2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100%</a:t>
            </a:r>
            <a:endParaRPr lang="en-US" sz="5400" dirty="0">
              <a:latin typeface="Times New Roman" panose="02020603050405020304" pitchFamily="18" charset="0"/>
            </a:endParaRPr>
          </a:p>
        </p:txBody>
      </p:sp>
      <p:sp>
        <p:nvSpPr>
          <p:cNvPr id="72" name="Text 69"/>
          <p:cNvSpPr/>
          <p:nvPr/>
        </p:nvSpPr>
        <p:spPr>
          <a:xfrm>
            <a:off x="2477611" y="7195820"/>
            <a:ext cx="3952462"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In-corpus control acceptance (10/10)</a:t>
            </a:r>
            <a:endParaRPr lang="en-US" sz="1800" dirty="0">
              <a:latin typeface="Times New Roman" panose="02020603050405020304" pitchFamily="18" charset="0"/>
            </a:endParaRPr>
          </a:p>
        </p:txBody>
      </p:sp>
      <p:sp>
        <p:nvSpPr>
          <p:cNvPr id="73" name="Text 70"/>
          <p:cNvSpPr/>
          <p:nvPr/>
        </p:nvSpPr>
        <p:spPr>
          <a:xfrm>
            <a:off x="6565900" y="6812915"/>
            <a:ext cx="1204278" cy="723900"/>
          </a:xfrm>
          <a:prstGeom prst="rect">
            <a:avLst/>
          </a:prstGeom>
          <a:noFill/>
          <a:ln/>
        </p:spPr>
        <p:txBody>
          <a:bodyPr wrap="square" lIns="25400" tIns="25400" rIns="25400" bIns="25400" rtlCol="0" anchor="t">
            <a:normAutofit fontScale="77500" lnSpcReduction="2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90%</a:t>
            </a:r>
            <a:endParaRPr lang="en-US" sz="5400" dirty="0">
              <a:latin typeface="Times New Roman" panose="02020603050405020304" pitchFamily="18" charset="0"/>
            </a:endParaRPr>
          </a:p>
        </p:txBody>
      </p:sp>
      <p:sp>
        <p:nvSpPr>
          <p:cNvPr id="74" name="Text 71"/>
          <p:cNvSpPr/>
          <p:nvPr/>
        </p:nvSpPr>
        <p:spPr>
          <a:xfrm>
            <a:off x="7884477" y="7195820"/>
            <a:ext cx="3039348"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Fabrication catch rate (9/10)</a:t>
            </a:r>
            <a:endParaRPr lang="en-US" sz="1800" dirty="0">
              <a:latin typeface="Times New Roman" panose="02020603050405020304" pitchFamily="18" charset="0"/>
            </a:endParaRPr>
          </a:p>
        </p:txBody>
      </p:sp>
      <p:sp>
        <p:nvSpPr>
          <p:cNvPr id="75" name="Text 72"/>
          <p:cNvSpPr/>
          <p:nvPr/>
        </p:nvSpPr>
        <p:spPr>
          <a:xfrm>
            <a:off x="12179300" y="6812915"/>
            <a:ext cx="914241" cy="723900"/>
          </a:xfrm>
          <a:prstGeom prst="rect">
            <a:avLst/>
          </a:prstGeom>
          <a:noFill/>
          <a:ln/>
        </p:spPr>
        <p:txBody>
          <a:bodyPr wrap="square" lIns="25400" tIns="25400" rIns="25400" bIns="25400" rtlCol="0" anchor="t">
            <a:normAutofit fontScale="77500" lnSpcReduction="20000"/>
          </a:bodyPr>
          <a:lstStyle/>
          <a:p>
            <a:pPr marL="0" indent="0" algn="just">
              <a:lnSpc>
                <a:spcPct val="88816"/>
              </a:lnSpc>
              <a:buNone/>
            </a:pPr>
            <a:r>
              <a:rPr lang="en-US" sz="5400" b="1" dirty="0">
                <a:solidFill>
                  <a:srgbClr val="424244"/>
                </a:solidFill>
                <a:latin typeface="Times New Roman" panose="02020603050405020304" pitchFamily="18" charset="0"/>
                <a:ea typeface="Arial" pitchFamily="34" charset="-122"/>
                <a:cs typeface="Arial" pitchFamily="34" charset="-120"/>
              </a:rPr>
              <a:t>0%</a:t>
            </a:r>
            <a:endParaRPr lang="en-US" sz="5400" dirty="0">
              <a:latin typeface="Times New Roman" panose="02020603050405020304" pitchFamily="18" charset="0"/>
            </a:endParaRPr>
          </a:p>
        </p:txBody>
      </p:sp>
      <p:sp>
        <p:nvSpPr>
          <p:cNvPr id="76" name="Text 73"/>
          <p:cNvSpPr/>
          <p:nvPr/>
        </p:nvSpPr>
        <p:spPr>
          <a:xfrm>
            <a:off x="13207841" y="7195820"/>
            <a:ext cx="3966257"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1D1F20"/>
                </a:solidFill>
                <a:latin typeface="Times New Roman" panose="02020603050405020304" pitchFamily="18" charset="0"/>
                <a:ea typeface="Arial" pitchFamily="34" charset="-122"/>
                <a:cs typeface="Arial" pitchFamily="34" charset="-120"/>
              </a:rPr>
              <a:t>Semantic misattribution catch (0/10)</a:t>
            </a:r>
            <a:endParaRPr lang="en-US" sz="1800" dirty="0">
              <a:latin typeface="Times New Roman" panose="02020603050405020304" pitchFamily="18" charset="0"/>
            </a:endParaRPr>
          </a:p>
        </p:txBody>
      </p:sp>
      <p:sp>
        <p:nvSpPr>
          <p:cNvPr id="78" name="TextBox 77">
            <a:extLst>
              <a:ext uri="{FF2B5EF4-FFF2-40B4-BE49-F238E27FC236}">
                <a16:creationId xmlns:a16="http://schemas.microsoft.com/office/drawing/2014/main" id="{8030AAFD-736D-71F0-03D0-6626F935478E}"/>
              </a:ext>
            </a:extLst>
          </p:cNvPr>
          <p:cNvSpPr txBox="1"/>
          <p:nvPr/>
        </p:nvSpPr>
        <p:spPr>
          <a:xfrm>
            <a:off x="17499012" y="9589770"/>
            <a:ext cx="46037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24</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8054054"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Results &amp; Analysis (contd.)</a:t>
            </a:r>
            <a:endParaRPr lang="en-US" sz="4800" dirty="0">
              <a:latin typeface="Times New Roman" panose="02020603050405020304" pitchFamily="18" charset="0"/>
            </a:endParaRPr>
          </a:p>
        </p:txBody>
      </p:sp>
      <p:sp>
        <p:nvSpPr>
          <p:cNvPr id="3" name="Text 1"/>
          <p:cNvSpPr/>
          <p:nvPr/>
        </p:nvSpPr>
        <p:spPr>
          <a:xfrm>
            <a:off x="952500" y="1554480"/>
            <a:ext cx="8054054"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Component Ablation Study</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00020"/>
            <a:ext cx="5334000" cy="10160"/>
          </a:xfrm>
          <a:prstGeom prst="rect">
            <a:avLst/>
          </a:prstGeom>
          <a:solidFill>
            <a:srgbClr val="1D1F20"/>
          </a:solidFill>
          <a:ln/>
        </p:spPr>
      </p:sp>
      <p:sp>
        <p:nvSpPr>
          <p:cNvPr id="6" name="Text 3"/>
          <p:cNvSpPr/>
          <p:nvPr/>
        </p:nvSpPr>
        <p:spPr>
          <a:xfrm>
            <a:off x="952500" y="2305050"/>
            <a:ext cx="526542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VARIANT</a:t>
            </a:r>
            <a:endParaRPr lang="en-US" sz="1800" dirty="0">
              <a:latin typeface="Times New Roman" panose="02020603050405020304" pitchFamily="18" charset="0"/>
            </a:endParaRPr>
          </a:p>
        </p:txBody>
      </p:sp>
      <p:sp>
        <p:nvSpPr>
          <p:cNvPr id="7" name="Shape 4"/>
          <p:cNvSpPr/>
          <p:nvPr/>
        </p:nvSpPr>
        <p:spPr>
          <a:xfrm>
            <a:off x="6286500" y="2700020"/>
            <a:ext cx="3810000" cy="10160"/>
          </a:xfrm>
          <a:prstGeom prst="rect">
            <a:avLst/>
          </a:prstGeom>
          <a:solidFill>
            <a:srgbClr val="1D1F20"/>
          </a:solidFill>
          <a:ln/>
        </p:spPr>
      </p:sp>
      <p:sp>
        <p:nvSpPr>
          <p:cNvPr id="8" name="Text 5"/>
          <p:cNvSpPr/>
          <p:nvPr/>
        </p:nvSpPr>
        <p:spPr>
          <a:xfrm>
            <a:off x="6286500" y="2305050"/>
            <a:ext cx="369570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MEAN HR</a:t>
            </a:r>
            <a:endParaRPr lang="en-US" sz="1800" dirty="0">
              <a:latin typeface="Times New Roman" panose="02020603050405020304" pitchFamily="18" charset="0"/>
            </a:endParaRPr>
          </a:p>
        </p:txBody>
      </p:sp>
      <p:sp>
        <p:nvSpPr>
          <p:cNvPr id="9" name="Shape 6"/>
          <p:cNvSpPr/>
          <p:nvPr/>
        </p:nvSpPr>
        <p:spPr>
          <a:xfrm>
            <a:off x="10096500" y="2700020"/>
            <a:ext cx="1047750" cy="10160"/>
          </a:xfrm>
          <a:prstGeom prst="rect">
            <a:avLst/>
          </a:prstGeom>
          <a:solidFill>
            <a:srgbClr val="1D1F20"/>
          </a:solidFill>
          <a:ln/>
        </p:spPr>
      </p:sp>
      <p:sp>
        <p:nvSpPr>
          <p:cNvPr id="10" name="Text 7"/>
          <p:cNvSpPr/>
          <p:nvPr/>
        </p:nvSpPr>
        <p:spPr>
          <a:xfrm>
            <a:off x="10096500" y="2305050"/>
            <a:ext cx="89535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CAS</a:t>
            </a:r>
            <a:endParaRPr lang="en-US" sz="1800" dirty="0">
              <a:latin typeface="Times New Roman" panose="02020603050405020304" pitchFamily="18" charset="0"/>
            </a:endParaRPr>
          </a:p>
        </p:txBody>
      </p:sp>
      <p:sp>
        <p:nvSpPr>
          <p:cNvPr id="11" name="Shape 8"/>
          <p:cNvSpPr/>
          <p:nvPr/>
        </p:nvSpPr>
        <p:spPr>
          <a:xfrm>
            <a:off x="11144250" y="2700020"/>
            <a:ext cx="1238250" cy="10160"/>
          </a:xfrm>
          <a:prstGeom prst="rect">
            <a:avLst/>
          </a:prstGeom>
          <a:solidFill>
            <a:srgbClr val="1D1F20"/>
          </a:solidFill>
          <a:ln/>
        </p:spPr>
      </p:sp>
      <p:sp>
        <p:nvSpPr>
          <p:cNvPr id="12" name="Text 9"/>
          <p:cNvSpPr/>
          <p:nvPr/>
        </p:nvSpPr>
        <p:spPr>
          <a:xfrm>
            <a:off x="11144250" y="2305050"/>
            <a:ext cx="1314450" cy="318770"/>
          </a:xfrm>
          <a:prstGeom prst="rect">
            <a:avLst/>
          </a:prstGeom>
          <a:noFill/>
          <a:ln/>
        </p:spPr>
        <p:txBody>
          <a:bodyPr wrap="square" lIns="25400" tIns="25400" rIns="25400" bIns="25400" rtlCol="0" anchor="ctr">
            <a:normAutofit fontScale="92500"/>
          </a:bodyPr>
          <a:lstStyle/>
          <a:p>
            <a:pPr marL="0" indent="0" algn="just">
              <a:lnSpc>
                <a:spcPct val="110294"/>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CONFID.</a:t>
            </a:r>
            <a:endParaRPr lang="en-US" sz="1800" dirty="0">
              <a:latin typeface="Times New Roman" panose="02020603050405020304" pitchFamily="18" charset="0"/>
            </a:endParaRPr>
          </a:p>
        </p:txBody>
      </p:sp>
      <p:sp>
        <p:nvSpPr>
          <p:cNvPr id="13" name="Shape 10"/>
          <p:cNvSpPr/>
          <p:nvPr/>
        </p:nvSpPr>
        <p:spPr>
          <a:xfrm>
            <a:off x="952500" y="3746182"/>
            <a:ext cx="5334000" cy="9525"/>
          </a:xfrm>
          <a:prstGeom prst="rect">
            <a:avLst/>
          </a:prstGeom>
          <a:solidFill>
            <a:srgbClr val="1D1F20">
              <a:alpha val="16000"/>
            </a:srgbClr>
          </a:solidFill>
          <a:ln/>
        </p:spPr>
      </p:sp>
      <p:sp>
        <p:nvSpPr>
          <p:cNvPr id="14" name="Text 11"/>
          <p:cNvSpPr/>
          <p:nvPr/>
        </p:nvSpPr>
        <p:spPr>
          <a:xfrm>
            <a:off x="952500" y="2924810"/>
            <a:ext cx="561594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Full · DVA+</a:t>
            </a:r>
            <a:endParaRPr lang="en-US" sz="1950" dirty="0">
              <a:latin typeface="Times New Roman" panose="02020603050405020304" pitchFamily="18" charset="0"/>
            </a:endParaRPr>
          </a:p>
        </p:txBody>
      </p:sp>
      <p:sp>
        <p:nvSpPr>
          <p:cNvPr id="15" name="Text 12"/>
          <p:cNvSpPr/>
          <p:nvPr/>
        </p:nvSpPr>
        <p:spPr>
          <a:xfrm>
            <a:off x="952500" y="3253422"/>
            <a:ext cx="5615940"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5D5D60"/>
                </a:solidFill>
                <a:latin typeface="Times New Roman" panose="02020603050405020304" pitchFamily="18" charset="0"/>
                <a:ea typeface="Arial" pitchFamily="34" charset="-122"/>
                <a:cs typeface="Arial" pitchFamily="34" charset="-120"/>
              </a:rPr>
              <a:t>Complete LexAgent v3.0</a:t>
            </a:r>
            <a:endParaRPr lang="en-US" sz="1800" dirty="0">
              <a:latin typeface="Times New Roman" panose="02020603050405020304" pitchFamily="18" charset="0"/>
            </a:endParaRPr>
          </a:p>
        </p:txBody>
      </p:sp>
      <p:sp>
        <p:nvSpPr>
          <p:cNvPr id="16" name="Shape 13"/>
          <p:cNvSpPr/>
          <p:nvPr/>
        </p:nvSpPr>
        <p:spPr>
          <a:xfrm>
            <a:off x="6286500" y="3746182"/>
            <a:ext cx="3810000" cy="9525"/>
          </a:xfrm>
          <a:prstGeom prst="rect">
            <a:avLst/>
          </a:prstGeom>
          <a:solidFill>
            <a:srgbClr val="1D1F20">
              <a:alpha val="16000"/>
            </a:srgbClr>
          </a:solidFill>
          <a:ln/>
        </p:spPr>
      </p:sp>
      <p:sp>
        <p:nvSpPr>
          <p:cNvPr id="17" name="Shape 14"/>
          <p:cNvSpPr/>
          <p:nvPr/>
        </p:nvSpPr>
        <p:spPr>
          <a:xfrm>
            <a:off x="6286500" y="3127216"/>
            <a:ext cx="2049145" cy="209550"/>
          </a:xfrm>
          <a:prstGeom prst="rect">
            <a:avLst/>
          </a:prstGeom>
          <a:solidFill>
            <a:srgbClr val="5980A6"/>
          </a:solidFill>
          <a:ln/>
        </p:spPr>
      </p:sp>
      <p:sp>
        <p:nvSpPr>
          <p:cNvPr id="18" name="Text 15"/>
          <p:cNvSpPr/>
          <p:nvPr/>
        </p:nvSpPr>
        <p:spPr>
          <a:xfrm>
            <a:off x="9182100" y="3077210"/>
            <a:ext cx="762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0.168</a:t>
            </a:r>
            <a:endParaRPr lang="en-US" sz="1950" dirty="0">
              <a:latin typeface="Times New Roman" panose="02020603050405020304" pitchFamily="18" charset="0"/>
            </a:endParaRPr>
          </a:p>
        </p:txBody>
      </p:sp>
      <p:sp>
        <p:nvSpPr>
          <p:cNvPr id="19" name="Shape 16"/>
          <p:cNvSpPr/>
          <p:nvPr/>
        </p:nvSpPr>
        <p:spPr>
          <a:xfrm>
            <a:off x="10096500" y="3746182"/>
            <a:ext cx="1047750" cy="9525"/>
          </a:xfrm>
          <a:prstGeom prst="rect">
            <a:avLst/>
          </a:prstGeom>
          <a:solidFill>
            <a:srgbClr val="1D1F20">
              <a:alpha val="16000"/>
            </a:srgbClr>
          </a:solidFill>
          <a:ln/>
        </p:spPr>
      </p:sp>
      <p:sp>
        <p:nvSpPr>
          <p:cNvPr id="20" name="Text 17"/>
          <p:cNvSpPr/>
          <p:nvPr/>
        </p:nvSpPr>
        <p:spPr>
          <a:xfrm>
            <a:off x="10096500" y="2919730"/>
            <a:ext cx="895350" cy="65500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0.911</a:t>
            </a:r>
            <a:endParaRPr lang="en-US" sz="1950" dirty="0">
              <a:latin typeface="Times New Roman" panose="02020603050405020304" pitchFamily="18" charset="0"/>
            </a:endParaRPr>
          </a:p>
        </p:txBody>
      </p:sp>
      <p:sp>
        <p:nvSpPr>
          <p:cNvPr id="21" name="Shape 18"/>
          <p:cNvSpPr/>
          <p:nvPr/>
        </p:nvSpPr>
        <p:spPr>
          <a:xfrm>
            <a:off x="11144250" y="3746182"/>
            <a:ext cx="1238250" cy="9525"/>
          </a:xfrm>
          <a:prstGeom prst="rect">
            <a:avLst/>
          </a:prstGeom>
          <a:solidFill>
            <a:srgbClr val="1D1F20">
              <a:alpha val="16000"/>
            </a:srgbClr>
          </a:solidFill>
          <a:ln/>
        </p:spPr>
      </p:sp>
      <p:sp>
        <p:nvSpPr>
          <p:cNvPr id="22" name="Text 19"/>
          <p:cNvSpPr/>
          <p:nvPr/>
        </p:nvSpPr>
        <p:spPr>
          <a:xfrm>
            <a:off x="11144250" y="2919730"/>
            <a:ext cx="1314450" cy="65500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0.763</a:t>
            </a:r>
            <a:endParaRPr lang="en-US" sz="1950" dirty="0">
              <a:latin typeface="Times New Roman" panose="02020603050405020304" pitchFamily="18" charset="0"/>
            </a:endParaRPr>
          </a:p>
        </p:txBody>
      </p:sp>
      <p:sp>
        <p:nvSpPr>
          <p:cNvPr id="23" name="Shape 20"/>
          <p:cNvSpPr/>
          <p:nvPr/>
        </p:nvSpPr>
        <p:spPr>
          <a:xfrm>
            <a:off x="952500" y="4784725"/>
            <a:ext cx="5334000" cy="9525"/>
          </a:xfrm>
          <a:prstGeom prst="rect">
            <a:avLst/>
          </a:prstGeom>
          <a:solidFill>
            <a:srgbClr val="1D1F20">
              <a:alpha val="16000"/>
            </a:srgbClr>
          </a:solidFill>
          <a:ln/>
        </p:spPr>
      </p:sp>
      <p:sp>
        <p:nvSpPr>
          <p:cNvPr id="24" name="Text 21"/>
          <p:cNvSpPr/>
          <p:nvPr/>
        </p:nvSpPr>
        <p:spPr>
          <a:xfrm>
            <a:off x="952500" y="3963353"/>
            <a:ext cx="561594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A1 · No Defense</a:t>
            </a:r>
            <a:endParaRPr lang="en-US" sz="1950" dirty="0">
              <a:latin typeface="Times New Roman" panose="02020603050405020304" pitchFamily="18" charset="0"/>
            </a:endParaRPr>
          </a:p>
        </p:txBody>
      </p:sp>
      <p:sp>
        <p:nvSpPr>
          <p:cNvPr id="25" name="Text 22"/>
          <p:cNvSpPr/>
          <p:nvPr/>
        </p:nvSpPr>
        <p:spPr>
          <a:xfrm>
            <a:off x="952500" y="4291965"/>
            <a:ext cx="5615940"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5D5D60"/>
                </a:solidFill>
                <a:latin typeface="Times New Roman" panose="02020603050405020304" pitchFamily="18" charset="0"/>
                <a:ea typeface="Arial" pitchFamily="34" charset="-122"/>
                <a:cs typeface="Arial" pitchFamily="34" charset="-120"/>
              </a:rPr>
              <a:t>Monologue baseline</a:t>
            </a:r>
            <a:endParaRPr lang="en-US" sz="1800" dirty="0">
              <a:latin typeface="Times New Roman" panose="02020603050405020304" pitchFamily="18" charset="0"/>
            </a:endParaRPr>
          </a:p>
        </p:txBody>
      </p:sp>
      <p:sp>
        <p:nvSpPr>
          <p:cNvPr id="26" name="Shape 23"/>
          <p:cNvSpPr/>
          <p:nvPr/>
        </p:nvSpPr>
        <p:spPr>
          <a:xfrm>
            <a:off x="6286500" y="4784725"/>
            <a:ext cx="3810000" cy="9525"/>
          </a:xfrm>
          <a:prstGeom prst="rect">
            <a:avLst/>
          </a:prstGeom>
          <a:solidFill>
            <a:srgbClr val="1D1F20">
              <a:alpha val="16000"/>
            </a:srgbClr>
          </a:solidFill>
          <a:ln/>
        </p:spPr>
      </p:sp>
      <p:sp>
        <p:nvSpPr>
          <p:cNvPr id="27" name="Shape 24"/>
          <p:cNvSpPr/>
          <p:nvPr/>
        </p:nvSpPr>
        <p:spPr>
          <a:xfrm>
            <a:off x="6286500" y="4165759"/>
            <a:ext cx="13653" cy="209550"/>
          </a:xfrm>
          <a:prstGeom prst="rect">
            <a:avLst/>
          </a:prstGeom>
          <a:solidFill>
            <a:srgbClr val="5980A6"/>
          </a:solidFill>
          <a:ln/>
        </p:spPr>
      </p:sp>
      <p:sp>
        <p:nvSpPr>
          <p:cNvPr id="28" name="Text 25"/>
          <p:cNvSpPr/>
          <p:nvPr/>
        </p:nvSpPr>
        <p:spPr>
          <a:xfrm>
            <a:off x="9182100" y="4115753"/>
            <a:ext cx="762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0.000</a:t>
            </a:r>
            <a:endParaRPr lang="en-US" sz="1950" dirty="0">
              <a:latin typeface="Times New Roman" panose="02020603050405020304" pitchFamily="18" charset="0"/>
            </a:endParaRPr>
          </a:p>
        </p:txBody>
      </p:sp>
      <p:sp>
        <p:nvSpPr>
          <p:cNvPr id="29" name="Shape 26"/>
          <p:cNvSpPr/>
          <p:nvPr/>
        </p:nvSpPr>
        <p:spPr>
          <a:xfrm>
            <a:off x="10096500" y="4784725"/>
            <a:ext cx="1047750" cy="9525"/>
          </a:xfrm>
          <a:prstGeom prst="rect">
            <a:avLst/>
          </a:prstGeom>
          <a:solidFill>
            <a:srgbClr val="1D1F20">
              <a:alpha val="16000"/>
            </a:srgbClr>
          </a:solidFill>
          <a:ln/>
        </p:spPr>
      </p:sp>
      <p:sp>
        <p:nvSpPr>
          <p:cNvPr id="30" name="Text 27"/>
          <p:cNvSpPr/>
          <p:nvPr/>
        </p:nvSpPr>
        <p:spPr>
          <a:xfrm>
            <a:off x="10096500" y="3960812"/>
            <a:ext cx="895350" cy="652463"/>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0.906</a:t>
            </a:r>
            <a:endParaRPr lang="en-US" sz="1950" dirty="0">
              <a:latin typeface="Times New Roman" panose="02020603050405020304" pitchFamily="18" charset="0"/>
            </a:endParaRPr>
          </a:p>
        </p:txBody>
      </p:sp>
      <p:sp>
        <p:nvSpPr>
          <p:cNvPr id="31" name="Shape 28"/>
          <p:cNvSpPr/>
          <p:nvPr/>
        </p:nvSpPr>
        <p:spPr>
          <a:xfrm>
            <a:off x="11144250" y="4784725"/>
            <a:ext cx="1238250" cy="9525"/>
          </a:xfrm>
          <a:prstGeom prst="rect">
            <a:avLst/>
          </a:prstGeom>
          <a:solidFill>
            <a:srgbClr val="1D1F20">
              <a:alpha val="16000"/>
            </a:srgbClr>
          </a:solidFill>
          <a:ln/>
        </p:spPr>
      </p:sp>
      <p:sp>
        <p:nvSpPr>
          <p:cNvPr id="32" name="Text 29"/>
          <p:cNvSpPr/>
          <p:nvPr/>
        </p:nvSpPr>
        <p:spPr>
          <a:xfrm>
            <a:off x="11144250" y="3960812"/>
            <a:ext cx="1314450" cy="652463"/>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0.766</a:t>
            </a:r>
            <a:endParaRPr lang="en-US" sz="1950" dirty="0">
              <a:latin typeface="Times New Roman" panose="02020603050405020304" pitchFamily="18" charset="0"/>
            </a:endParaRPr>
          </a:p>
        </p:txBody>
      </p:sp>
      <p:sp>
        <p:nvSpPr>
          <p:cNvPr id="33" name="Shape 30"/>
          <p:cNvSpPr/>
          <p:nvPr/>
        </p:nvSpPr>
        <p:spPr>
          <a:xfrm>
            <a:off x="952500" y="5823267"/>
            <a:ext cx="5334000" cy="9525"/>
          </a:xfrm>
          <a:prstGeom prst="rect">
            <a:avLst/>
          </a:prstGeom>
          <a:solidFill>
            <a:srgbClr val="1D1F20">
              <a:alpha val="16000"/>
            </a:srgbClr>
          </a:solidFill>
          <a:ln/>
        </p:spPr>
      </p:sp>
      <p:sp>
        <p:nvSpPr>
          <p:cNvPr id="34" name="Text 31"/>
          <p:cNvSpPr/>
          <p:nvPr/>
        </p:nvSpPr>
        <p:spPr>
          <a:xfrm>
            <a:off x="952500" y="5001895"/>
            <a:ext cx="561594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A2 · No CVM</a:t>
            </a:r>
            <a:endParaRPr lang="en-US" sz="1950" dirty="0">
              <a:latin typeface="Times New Roman" panose="02020603050405020304" pitchFamily="18" charset="0"/>
            </a:endParaRPr>
          </a:p>
        </p:txBody>
      </p:sp>
      <p:sp>
        <p:nvSpPr>
          <p:cNvPr id="35" name="Text 32"/>
          <p:cNvSpPr/>
          <p:nvPr/>
        </p:nvSpPr>
        <p:spPr>
          <a:xfrm>
            <a:off x="952500" y="5330507"/>
            <a:ext cx="5615940"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5D5D60"/>
                </a:solidFill>
                <a:latin typeface="Times New Roman" panose="02020603050405020304" pitchFamily="18" charset="0"/>
                <a:ea typeface="Arial" pitchFamily="34" charset="-122"/>
                <a:cs typeface="Arial" pitchFamily="34" charset="-120"/>
              </a:rPr>
              <a:t>Citation verification removed</a:t>
            </a:r>
            <a:endParaRPr lang="en-US" sz="1800" dirty="0">
              <a:latin typeface="Times New Roman" panose="02020603050405020304" pitchFamily="18" charset="0"/>
            </a:endParaRPr>
          </a:p>
        </p:txBody>
      </p:sp>
      <p:sp>
        <p:nvSpPr>
          <p:cNvPr id="36" name="Shape 33"/>
          <p:cNvSpPr/>
          <p:nvPr/>
        </p:nvSpPr>
        <p:spPr>
          <a:xfrm>
            <a:off x="6286500" y="5823267"/>
            <a:ext cx="3810000" cy="9525"/>
          </a:xfrm>
          <a:prstGeom prst="rect">
            <a:avLst/>
          </a:prstGeom>
          <a:solidFill>
            <a:srgbClr val="1D1F20">
              <a:alpha val="16000"/>
            </a:srgbClr>
          </a:solidFill>
          <a:ln/>
        </p:spPr>
      </p:sp>
      <p:sp>
        <p:nvSpPr>
          <p:cNvPr id="37" name="Shape 34"/>
          <p:cNvSpPr/>
          <p:nvPr/>
        </p:nvSpPr>
        <p:spPr>
          <a:xfrm>
            <a:off x="6286500" y="5204301"/>
            <a:ext cx="1621155" cy="209550"/>
          </a:xfrm>
          <a:prstGeom prst="rect">
            <a:avLst/>
          </a:prstGeom>
          <a:solidFill>
            <a:srgbClr val="5980A6"/>
          </a:solidFill>
          <a:ln/>
        </p:spPr>
      </p:sp>
      <p:sp>
        <p:nvSpPr>
          <p:cNvPr id="38" name="Text 35"/>
          <p:cNvSpPr/>
          <p:nvPr/>
        </p:nvSpPr>
        <p:spPr>
          <a:xfrm>
            <a:off x="9182100" y="5154295"/>
            <a:ext cx="762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0.133</a:t>
            </a:r>
            <a:endParaRPr lang="en-US" sz="1950" dirty="0">
              <a:latin typeface="Times New Roman" panose="02020603050405020304" pitchFamily="18" charset="0"/>
            </a:endParaRPr>
          </a:p>
        </p:txBody>
      </p:sp>
      <p:sp>
        <p:nvSpPr>
          <p:cNvPr id="39" name="Shape 36"/>
          <p:cNvSpPr/>
          <p:nvPr/>
        </p:nvSpPr>
        <p:spPr>
          <a:xfrm>
            <a:off x="10096500" y="5823267"/>
            <a:ext cx="1047750" cy="9525"/>
          </a:xfrm>
          <a:prstGeom prst="rect">
            <a:avLst/>
          </a:prstGeom>
          <a:solidFill>
            <a:srgbClr val="1D1F20">
              <a:alpha val="16000"/>
            </a:srgbClr>
          </a:solidFill>
          <a:ln/>
        </p:spPr>
      </p:sp>
      <p:sp>
        <p:nvSpPr>
          <p:cNvPr id="40" name="Text 37"/>
          <p:cNvSpPr/>
          <p:nvPr/>
        </p:nvSpPr>
        <p:spPr>
          <a:xfrm>
            <a:off x="10096500" y="4999355"/>
            <a:ext cx="895350" cy="65246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0.914</a:t>
            </a:r>
            <a:endParaRPr lang="en-US" sz="1950" dirty="0">
              <a:latin typeface="Times New Roman" panose="02020603050405020304" pitchFamily="18" charset="0"/>
            </a:endParaRPr>
          </a:p>
        </p:txBody>
      </p:sp>
      <p:sp>
        <p:nvSpPr>
          <p:cNvPr id="41" name="Shape 38"/>
          <p:cNvSpPr/>
          <p:nvPr/>
        </p:nvSpPr>
        <p:spPr>
          <a:xfrm>
            <a:off x="11144250" y="5823267"/>
            <a:ext cx="1238250" cy="9525"/>
          </a:xfrm>
          <a:prstGeom prst="rect">
            <a:avLst/>
          </a:prstGeom>
          <a:solidFill>
            <a:srgbClr val="1D1F20">
              <a:alpha val="16000"/>
            </a:srgbClr>
          </a:solidFill>
          <a:ln/>
        </p:spPr>
      </p:sp>
      <p:sp>
        <p:nvSpPr>
          <p:cNvPr id="42" name="Text 39"/>
          <p:cNvSpPr/>
          <p:nvPr/>
        </p:nvSpPr>
        <p:spPr>
          <a:xfrm>
            <a:off x="11144250" y="4999355"/>
            <a:ext cx="1314450" cy="65246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0.700</a:t>
            </a:r>
            <a:endParaRPr lang="en-US" sz="1950" dirty="0">
              <a:latin typeface="Times New Roman" panose="02020603050405020304" pitchFamily="18" charset="0"/>
            </a:endParaRPr>
          </a:p>
        </p:txBody>
      </p:sp>
      <p:sp>
        <p:nvSpPr>
          <p:cNvPr id="43" name="Shape 40"/>
          <p:cNvSpPr/>
          <p:nvPr/>
        </p:nvSpPr>
        <p:spPr>
          <a:xfrm>
            <a:off x="952500" y="5828348"/>
            <a:ext cx="11430000" cy="1038543"/>
          </a:xfrm>
          <a:prstGeom prst="rect">
            <a:avLst/>
          </a:prstGeom>
          <a:solidFill>
            <a:srgbClr val="EEF6FF"/>
          </a:solidFill>
          <a:ln/>
        </p:spPr>
      </p:sp>
      <p:sp>
        <p:nvSpPr>
          <p:cNvPr id="44" name="Shape 41"/>
          <p:cNvSpPr/>
          <p:nvPr/>
        </p:nvSpPr>
        <p:spPr>
          <a:xfrm>
            <a:off x="952500" y="6861810"/>
            <a:ext cx="5334000" cy="9525"/>
          </a:xfrm>
          <a:prstGeom prst="rect">
            <a:avLst/>
          </a:prstGeom>
          <a:solidFill>
            <a:srgbClr val="1D1F20">
              <a:alpha val="16000"/>
            </a:srgbClr>
          </a:solidFill>
          <a:ln/>
        </p:spPr>
      </p:sp>
      <p:sp>
        <p:nvSpPr>
          <p:cNvPr id="45" name="Text 42"/>
          <p:cNvSpPr/>
          <p:nvPr/>
        </p:nvSpPr>
        <p:spPr>
          <a:xfrm>
            <a:off x="1066800" y="6040438"/>
            <a:ext cx="549021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2D3D"/>
                </a:solidFill>
                <a:latin typeface="Times New Roman" panose="02020603050405020304" pitchFamily="18" charset="0"/>
                <a:ea typeface="Arial" pitchFamily="34" charset="-122"/>
                <a:cs typeface="Arial" pitchFamily="34" charset="-120"/>
              </a:rPr>
              <a:t>A3 · No memory</a:t>
            </a:r>
            <a:endParaRPr lang="en-US" sz="1950" dirty="0">
              <a:latin typeface="Times New Roman" panose="02020603050405020304" pitchFamily="18" charset="0"/>
            </a:endParaRPr>
          </a:p>
        </p:txBody>
      </p:sp>
      <p:sp>
        <p:nvSpPr>
          <p:cNvPr id="46" name="Text 43"/>
          <p:cNvSpPr/>
          <p:nvPr/>
        </p:nvSpPr>
        <p:spPr>
          <a:xfrm>
            <a:off x="1066800" y="6369050"/>
            <a:ext cx="5490210"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2C455D"/>
                </a:solidFill>
                <a:latin typeface="Times New Roman" panose="02020603050405020304" pitchFamily="18" charset="0"/>
                <a:ea typeface="Arial" pitchFamily="34" charset="-122"/>
                <a:cs typeface="Arial" pitchFamily="34" charset="-120"/>
              </a:rPr>
              <a:t>Adaptive memory removed</a:t>
            </a:r>
            <a:endParaRPr lang="en-US" sz="1800" dirty="0">
              <a:latin typeface="Times New Roman" panose="02020603050405020304" pitchFamily="18" charset="0"/>
            </a:endParaRPr>
          </a:p>
        </p:txBody>
      </p:sp>
      <p:sp>
        <p:nvSpPr>
          <p:cNvPr id="47" name="Shape 44"/>
          <p:cNvSpPr/>
          <p:nvPr/>
        </p:nvSpPr>
        <p:spPr>
          <a:xfrm>
            <a:off x="6286500" y="6861810"/>
            <a:ext cx="3810000" cy="9525"/>
          </a:xfrm>
          <a:prstGeom prst="rect">
            <a:avLst/>
          </a:prstGeom>
          <a:solidFill>
            <a:srgbClr val="1D1F20">
              <a:alpha val="16000"/>
            </a:srgbClr>
          </a:solidFill>
          <a:ln/>
        </p:spPr>
      </p:sp>
      <p:sp>
        <p:nvSpPr>
          <p:cNvPr id="48" name="Shape 45"/>
          <p:cNvSpPr/>
          <p:nvPr/>
        </p:nvSpPr>
        <p:spPr>
          <a:xfrm>
            <a:off x="6286500" y="6242844"/>
            <a:ext cx="2743200" cy="209550"/>
          </a:xfrm>
          <a:prstGeom prst="rect">
            <a:avLst/>
          </a:prstGeom>
          <a:solidFill>
            <a:srgbClr val="416180"/>
          </a:solidFill>
          <a:ln/>
        </p:spPr>
      </p:sp>
      <p:sp>
        <p:nvSpPr>
          <p:cNvPr id="49" name="Text 46"/>
          <p:cNvSpPr/>
          <p:nvPr/>
        </p:nvSpPr>
        <p:spPr>
          <a:xfrm>
            <a:off x="9182100" y="6192838"/>
            <a:ext cx="762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2D3D"/>
                </a:solidFill>
                <a:latin typeface="Times New Roman" panose="02020603050405020304" pitchFamily="18" charset="0"/>
                <a:ea typeface="Arial" pitchFamily="34" charset="-122"/>
                <a:cs typeface="Arial" pitchFamily="34" charset="-120"/>
              </a:rPr>
              <a:t>0.225</a:t>
            </a:r>
            <a:endParaRPr lang="en-US" sz="1950" dirty="0">
              <a:latin typeface="Times New Roman" panose="02020603050405020304" pitchFamily="18" charset="0"/>
            </a:endParaRPr>
          </a:p>
        </p:txBody>
      </p:sp>
      <p:sp>
        <p:nvSpPr>
          <p:cNvPr id="50" name="Shape 47"/>
          <p:cNvSpPr/>
          <p:nvPr/>
        </p:nvSpPr>
        <p:spPr>
          <a:xfrm>
            <a:off x="10096500" y="6861810"/>
            <a:ext cx="1047750" cy="9525"/>
          </a:xfrm>
          <a:prstGeom prst="rect">
            <a:avLst/>
          </a:prstGeom>
          <a:solidFill>
            <a:srgbClr val="1D1F20">
              <a:alpha val="16000"/>
            </a:srgbClr>
          </a:solidFill>
          <a:ln/>
        </p:spPr>
      </p:sp>
      <p:sp>
        <p:nvSpPr>
          <p:cNvPr id="51" name="Text 48"/>
          <p:cNvSpPr/>
          <p:nvPr/>
        </p:nvSpPr>
        <p:spPr>
          <a:xfrm>
            <a:off x="10096500" y="6037898"/>
            <a:ext cx="895350" cy="652463"/>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2D3D"/>
                </a:solidFill>
                <a:latin typeface="Times New Roman" panose="02020603050405020304" pitchFamily="18" charset="0"/>
                <a:ea typeface="Arial" pitchFamily="34" charset="-122"/>
                <a:cs typeface="Arial" pitchFamily="34" charset="-120"/>
              </a:rPr>
              <a:t>0.926</a:t>
            </a:r>
            <a:endParaRPr lang="en-US" sz="1950" dirty="0">
              <a:latin typeface="Times New Roman" panose="02020603050405020304" pitchFamily="18" charset="0"/>
            </a:endParaRPr>
          </a:p>
        </p:txBody>
      </p:sp>
      <p:sp>
        <p:nvSpPr>
          <p:cNvPr id="52" name="Shape 49"/>
          <p:cNvSpPr/>
          <p:nvPr/>
        </p:nvSpPr>
        <p:spPr>
          <a:xfrm>
            <a:off x="11144250" y="6861810"/>
            <a:ext cx="1238250" cy="9525"/>
          </a:xfrm>
          <a:prstGeom prst="rect">
            <a:avLst/>
          </a:prstGeom>
          <a:solidFill>
            <a:srgbClr val="1D1F20">
              <a:alpha val="16000"/>
            </a:srgbClr>
          </a:solidFill>
          <a:ln/>
        </p:spPr>
      </p:sp>
      <p:sp>
        <p:nvSpPr>
          <p:cNvPr id="53" name="Text 50"/>
          <p:cNvSpPr/>
          <p:nvPr/>
        </p:nvSpPr>
        <p:spPr>
          <a:xfrm>
            <a:off x="11144250" y="6037898"/>
            <a:ext cx="1314450" cy="652463"/>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2D3D"/>
                </a:solidFill>
                <a:latin typeface="Times New Roman" panose="02020603050405020304" pitchFamily="18" charset="0"/>
                <a:ea typeface="Arial" pitchFamily="34" charset="-122"/>
                <a:cs typeface="Arial" pitchFamily="34" charset="-120"/>
              </a:rPr>
              <a:t>0.865</a:t>
            </a:r>
            <a:endParaRPr lang="en-US" sz="1950" dirty="0">
              <a:latin typeface="Times New Roman" panose="02020603050405020304" pitchFamily="18" charset="0"/>
            </a:endParaRPr>
          </a:p>
        </p:txBody>
      </p:sp>
      <p:sp>
        <p:nvSpPr>
          <p:cNvPr id="54" name="Shape 51"/>
          <p:cNvSpPr/>
          <p:nvPr/>
        </p:nvSpPr>
        <p:spPr>
          <a:xfrm>
            <a:off x="952500" y="7900353"/>
            <a:ext cx="5334000" cy="9525"/>
          </a:xfrm>
          <a:prstGeom prst="rect">
            <a:avLst/>
          </a:prstGeom>
          <a:solidFill>
            <a:srgbClr val="1D1F20">
              <a:alpha val="16000"/>
            </a:srgbClr>
          </a:solidFill>
          <a:ln/>
        </p:spPr>
      </p:sp>
      <p:sp>
        <p:nvSpPr>
          <p:cNvPr id="55" name="Text 52"/>
          <p:cNvSpPr/>
          <p:nvPr/>
        </p:nvSpPr>
        <p:spPr>
          <a:xfrm>
            <a:off x="952500" y="7078980"/>
            <a:ext cx="561594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A4 · No DDC</a:t>
            </a:r>
            <a:endParaRPr lang="en-US" sz="1950" dirty="0">
              <a:latin typeface="Times New Roman" panose="02020603050405020304" pitchFamily="18" charset="0"/>
            </a:endParaRPr>
          </a:p>
        </p:txBody>
      </p:sp>
      <p:sp>
        <p:nvSpPr>
          <p:cNvPr id="56" name="Text 53"/>
          <p:cNvSpPr/>
          <p:nvPr/>
        </p:nvSpPr>
        <p:spPr>
          <a:xfrm>
            <a:off x="952500" y="7407593"/>
            <a:ext cx="5615940" cy="323850"/>
          </a:xfrm>
          <a:prstGeom prst="rect">
            <a:avLst/>
          </a:prstGeom>
          <a:noFill/>
          <a:ln/>
        </p:spPr>
        <p:txBody>
          <a:bodyPr wrap="square" lIns="25400" tIns="25400" rIns="25400" bIns="25400" rtlCol="0" anchor="t">
            <a:normAutofit fontScale="92500"/>
          </a:bodyPr>
          <a:lstStyle/>
          <a:p>
            <a:pPr marL="0" indent="0" algn="just">
              <a:lnSpc>
                <a:spcPct val="110294"/>
              </a:lnSpc>
              <a:buNone/>
            </a:pPr>
            <a:r>
              <a:rPr lang="en-US" sz="1800" dirty="0">
                <a:solidFill>
                  <a:srgbClr val="5D5D60"/>
                </a:solidFill>
                <a:latin typeface="Times New Roman" panose="02020603050405020304" pitchFamily="18" charset="0"/>
                <a:ea typeface="Arial" pitchFamily="34" charset="-122"/>
                <a:cs typeface="Arial" pitchFamily="34" charset="-120"/>
              </a:rPr>
              <a:t>Fixed one round</a:t>
            </a:r>
            <a:endParaRPr lang="en-US" sz="1800" dirty="0">
              <a:latin typeface="Times New Roman" panose="02020603050405020304" pitchFamily="18" charset="0"/>
            </a:endParaRPr>
          </a:p>
        </p:txBody>
      </p:sp>
      <p:sp>
        <p:nvSpPr>
          <p:cNvPr id="57" name="Shape 54"/>
          <p:cNvSpPr/>
          <p:nvPr/>
        </p:nvSpPr>
        <p:spPr>
          <a:xfrm>
            <a:off x="6286500" y="7900353"/>
            <a:ext cx="3810000" cy="9525"/>
          </a:xfrm>
          <a:prstGeom prst="rect">
            <a:avLst/>
          </a:prstGeom>
          <a:solidFill>
            <a:srgbClr val="1D1F20">
              <a:alpha val="16000"/>
            </a:srgbClr>
          </a:solidFill>
          <a:ln/>
        </p:spPr>
      </p:sp>
      <p:sp>
        <p:nvSpPr>
          <p:cNvPr id="58" name="Shape 55"/>
          <p:cNvSpPr/>
          <p:nvPr/>
        </p:nvSpPr>
        <p:spPr>
          <a:xfrm>
            <a:off x="6286500" y="7281386"/>
            <a:ext cx="707708" cy="209550"/>
          </a:xfrm>
          <a:prstGeom prst="rect">
            <a:avLst/>
          </a:prstGeom>
          <a:solidFill>
            <a:srgbClr val="5980A6"/>
          </a:solidFill>
          <a:ln/>
        </p:spPr>
      </p:sp>
      <p:sp>
        <p:nvSpPr>
          <p:cNvPr id="59" name="Text 56"/>
          <p:cNvSpPr/>
          <p:nvPr/>
        </p:nvSpPr>
        <p:spPr>
          <a:xfrm>
            <a:off x="9182100" y="7231380"/>
            <a:ext cx="762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b="1" dirty="0">
                <a:solidFill>
                  <a:srgbClr val="1D1F20"/>
                </a:solidFill>
                <a:latin typeface="Times New Roman" panose="02020603050405020304" pitchFamily="18" charset="0"/>
                <a:ea typeface="Arial" pitchFamily="34" charset="-122"/>
                <a:cs typeface="Arial" pitchFamily="34" charset="-120"/>
              </a:rPr>
              <a:t>0.058</a:t>
            </a:r>
            <a:endParaRPr lang="en-US" sz="1950" dirty="0">
              <a:latin typeface="Times New Roman" panose="02020603050405020304" pitchFamily="18" charset="0"/>
            </a:endParaRPr>
          </a:p>
        </p:txBody>
      </p:sp>
      <p:sp>
        <p:nvSpPr>
          <p:cNvPr id="60" name="Shape 57"/>
          <p:cNvSpPr/>
          <p:nvPr/>
        </p:nvSpPr>
        <p:spPr>
          <a:xfrm>
            <a:off x="10096500" y="7900353"/>
            <a:ext cx="1047750" cy="9525"/>
          </a:xfrm>
          <a:prstGeom prst="rect">
            <a:avLst/>
          </a:prstGeom>
          <a:solidFill>
            <a:srgbClr val="1D1F20">
              <a:alpha val="16000"/>
            </a:srgbClr>
          </a:solidFill>
          <a:ln/>
        </p:spPr>
      </p:sp>
      <p:sp>
        <p:nvSpPr>
          <p:cNvPr id="61" name="Text 58"/>
          <p:cNvSpPr/>
          <p:nvPr/>
        </p:nvSpPr>
        <p:spPr>
          <a:xfrm>
            <a:off x="10096500" y="7076440"/>
            <a:ext cx="895350" cy="65246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0.909</a:t>
            </a:r>
            <a:endParaRPr lang="en-US" sz="1950" dirty="0">
              <a:latin typeface="Times New Roman" panose="02020603050405020304" pitchFamily="18" charset="0"/>
            </a:endParaRPr>
          </a:p>
        </p:txBody>
      </p:sp>
      <p:sp>
        <p:nvSpPr>
          <p:cNvPr id="62" name="Shape 59"/>
          <p:cNvSpPr/>
          <p:nvPr/>
        </p:nvSpPr>
        <p:spPr>
          <a:xfrm>
            <a:off x="11144250" y="7900353"/>
            <a:ext cx="1238250" cy="9525"/>
          </a:xfrm>
          <a:prstGeom prst="rect">
            <a:avLst/>
          </a:prstGeom>
          <a:solidFill>
            <a:srgbClr val="1D1F20">
              <a:alpha val="16000"/>
            </a:srgbClr>
          </a:solidFill>
          <a:ln/>
        </p:spPr>
      </p:sp>
      <p:sp>
        <p:nvSpPr>
          <p:cNvPr id="63" name="Text 60"/>
          <p:cNvSpPr/>
          <p:nvPr/>
        </p:nvSpPr>
        <p:spPr>
          <a:xfrm>
            <a:off x="11144250" y="7076440"/>
            <a:ext cx="1314450" cy="652462"/>
          </a:xfrm>
          <a:prstGeom prst="rect">
            <a:avLst/>
          </a:prstGeom>
          <a:noFill/>
          <a:ln/>
        </p:spPr>
        <p:txBody>
          <a:bodyPr wrap="square" lIns="25400" tIns="25400" rIns="25400" bIns="25400" rtlCol="0" anchor="ctr">
            <a:normAutofit/>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0.780</a:t>
            </a:r>
            <a:endParaRPr lang="en-US" sz="1950" dirty="0">
              <a:latin typeface="Times New Roman" panose="02020603050405020304" pitchFamily="18" charset="0"/>
            </a:endParaRPr>
          </a:p>
        </p:txBody>
      </p:sp>
      <p:sp>
        <p:nvSpPr>
          <p:cNvPr id="64" name="Shape 61"/>
          <p:cNvSpPr/>
          <p:nvPr/>
        </p:nvSpPr>
        <p:spPr>
          <a:xfrm>
            <a:off x="13144500" y="2305050"/>
            <a:ext cx="4191000" cy="2273300"/>
          </a:xfrm>
          <a:prstGeom prst="rect">
            <a:avLst/>
          </a:prstGeom>
          <a:ln w="5080">
            <a:solidFill>
              <a:srgbClr val="1D1F20">
                <a:alpha val="16000"/>
              </a:srgbClr>
            </a:solidFill>
            <a:prstDash val="solid"/>
          </a:ln>
        </p:spPr>
      </p:sp>
      <p:sp>
        <p:nvSpPr>
          <p:cNvPr id="65" name="Text 62"/>
          <p:cNvSpPr/>
          <p:nvPr/>
        </p:nvSpPr>
        <p:spPr>
          <a:xfrm>
            <a:off x="13454380" y="2614930"/>
            <a:ext cx="3928364" cy="952500"/>
          </a:xfrm>
          <a:prstGeom prst="rect">
            <a:avLst/>
          </a:prstGeom>
          <a:noFill/>
          <a:ln/>
        </p:spPr>
        <p:txBody>
          <a:bodyPr wrap="square" lIns="25400" tIns="25400" rIns="25400" bIns="25400" rtlCol="0" anchor="t">
            <a:normAutofit lnSpcReduction="10000"/>
          </a:bodyPr>
          <a:lstStyle/>
          <a:p>
            <a:pPr marL="0" indent="0" algn="just">
              <a:lnSpc>
                <a:spcPct val="89109"/>
              </a:lnSpc>
              <a:buNone/>
            </a:pPr>
            <a:r>
              <a:rPr lang="en-US" sz="7200" b="1" dirty="0">
                <a:solidFill>
                  <a:srgbClr val="416180"/>
                </a:solidFill>
                <a:latin typeface="Times New Roman" panose="02020603050405020304" pitchFamily="18" charset="0"/>
                <a:ea typeface="Arial" pitchFamily="34" charset="-122"/>
                <a:cs typeface="Arial" pitchFamily="34" charset="-120"/>
              </a:rPr>
              <a:t>+33.9%</a:t>
            </a:r>
            <a:endParaRPr lang="en-US" sz="7200" dirty="0">
              <a:latin typeface="Times New Roman" panose="02020603050405020304" pitchFamily="18" charset="0"/>
            </a:endParaRPr>
          </a:p>
        </p:txBody>
      </p:sp>
      <p:sp>
        <p:nvSpPr>
          <p:cNvPr id="66" name="Text 63"/>
          <p:cNvSpPr/>
          <p:nvPr/>
        </p:nvSpPr>
        <p:spPr>
          <a:xfrm>
            <a:off x="13454380" y="3624580"/>
            <a:ext cx="3678377"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Relative HR increase without adaptive memory (0.168 → 0.225)</a:t>
            </a:r>
            <a:endParaRPr lang="en-US" sz="1950" dirty="0">
              <a:latin typeface="Times New Roman" panose="02020603050405020304" pitchFamily="18" charset="0"/>
            </a:endParaRPr>
          </a:p>
        </p:txBody>
      </p:sp>
      <p:sp>
        <p:nvSpPr>
          <p:cNvPr id="67" name="Shape 64"/>
          <p:cNvSpPr/>
          <p:nvPr/>
        </p:nvSpPr>
        <p:spPr>
          <a:xfrm>
            <a:off x="13144500" y="4921250"/>
            <a:ext cx="4191000" cy="9525"/>
          </a:xfrm>
          <a:prstGeom prst="rect">
            <a:avLst/>
          </a:prstGeom>
          <a:solidFill>
            <a:srgbClr val="1D1F20">
              <a:alpha val="16000"/>
            </a:srgbClr>
          </a:solidFill>
          <a:ln/>
        </p:spPr>
      </p:sp>
      <p:sp>
        <p:nvSpPr>
          <p:cNvPr id="68" name="Text 65"/>
          <p:cNvSpPr/>
          <p:nvPr/>
        </p:nvSpPr>
        <p:spPr>
          <a:xfrm>
            <a:off x="13144500" y="5097780"/>
            <a:ext cx="46101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CAUTION</a:t>
            </a:r>
            <a:endParaRPr lang="en-US" sz="1800" dirty="0">
              <a:latin typeface="Times New Roman" panose="02020603050405020304" pitchFamily="18" charset="0"/>
            </a:endParaRPr>
          </a:p>
        </p:txBody>
      </p:sp>
      <p:sp>
        <p:nvSpPr>
          <p:cNvPr id="69" name="Text 66"/>
          <p:cNvSpPr/>
          <p:nvPr/>
        </p:nvSpPr>
        <p:spPr>
          <a:xfrm>
            <a:off x="13144500" y="5528310"/>
            <a:ext cx="4316730" cy="655320"/>
          </a:xfrm>
          <a:prstGeom prst="rect">
            <a:avLst/>
          </a:prstGeom>
          <a:noFill/>
          <a:ln/>
        </p:spPr>
        <p:txBody>
          <a:bodyPr wrap="square" lIns="25400" tIns="25400" rIns="25400" bIns="25400" rtlCol="0" anchor="t">
            <a:normAutofit lnSpcReduction="10000"/>
          </a:bodyPr>
          <a:lstStyle/>
          <a:p>
            <a:pPr marL="0" indent="0" algn="just">
              <a:lnSpc>
                <a:spcPct val="119118"/>
              </a:lnSpc>
              <a:buNone/>
            </a:pPr>
            <a:r>
              <a:rPr lang="en-US" sz="1800" dirty="0">
                <a:solidFill>
                  <a:srgbClr val="1D1F20"/>
                </a:solidFill>
                <a:latin typeface="Times New Roman" panose="02020603050405020304" pitchFamily="18" charset="0"/>
                <a:ea typeface="Arial" pitchFamily="34" charset="-122"/>
                <a:cs typeface="Arial" pitchFamily="34" charset="-120"/>
              </a:rPr>
              <a:t>A1's zero HR comes from removing the adversary, not from stronger robustness.</a:t>
            </a:r>
            <a:endParaRPr lang="en-US" sz="1800" dirty="0">
              <a:latin typeface="Times New Roman" panose="02020603050405020304" pitchFamily="18" charset="0"/>
            </a:endParaRPr>
          </a:p>
        </p:txBody>
      </p:sp>
      <p:sp>
        <p:nvSpPr>
          <p:cNvPr id="70" name="Shape 67"/>
          <p:cNvSpPr/>
          <p:nvPr/>
        </p:nvSpPr>
        <p:spPr>
          <a:xfrm>
            <a:off x="13144500" y="6488430"/>
            <a:ext cx="4191000" cy="9525"/>
          </a:xfrm>
          <a:prstGeom prst="rect">
            <a:avLst/>
          </a:prstGeom>
          <a:solidFill>
            <a:srgbClr val="1D1F20">
              <a:alpha val="16000"/>
            </a:srgbClr>
          </a:solidFill>
          <a:ln/>
        </p:spPr>
      </p:sp>
      <p:sp>
        <p:nvSpPr>
          <p:cNvPr id="71" name="Text 68"/>
          <p:cNvSpPr/>
          <p:nvPr/>
        </p:nvSpPr>
        <p:spPr>
          <a:xfrm>
            <a:off x="13144500" y="6664960"/>
            <a:ext cx="46101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180" dirty="0">
                <a:solidFill>
                  <a:srgbClr val="416180"/>
                </a:solidFill>
                <a:latin typeface="Times New Roman" panose="02020603050405020304" pitchFamily="18" charset="0"/>
                <a:ea typeface="Arial" pitchFamily="34" charset="-122"/>
                <a:cs typeface="Arial" pitchFamily="34" charset="-120"/>
              </a:rPr>
              <a:t>CONFIDENCE</a:t>
            </a:r>
            <a:endParaRPr lang="en-US" sz="1800" dirty="0">
              <a:latin typeface="Times New Roman" panose="02020603050405020304" pitchFamily="18" charset="0"/>
            </a:endParaRPr>
          </a:p>
        </p:txBody>
      </p:sp>
      <p:sp>
        <p:nvSpPr>
          <p:cNvPr id="72" name="Text 69"/>
          <p:cNvSpPr/>
          <p:nvPr/>
        </p:nvSpPr>
        <p:spPr>
          <a:xfrm>
            <a:off x="13144500" y="7095490"/>
            <a:ext cx="4316730" cy="963930"/>
          </a:xfrm>
          <a:prstGeom prst="rect">
            <a:avLst/>
          </a:prstGeom>
          <a:noFill/>
          <a:ln/>
        </p:spPr>
        <p:txBody>
          <a:bodyPr wrap="square" lIns="25400" tIns="25400" rIns="25400" bIns="25400" rtlCol="0" anchor="t">
            <a:normAutofit lnSpcReduction="10000"/>
          </a:bodyPr>
          <a:lstStyle/>
          <a:p>
            <a:pPr marL="0" indent="0" algn="just">
              <a:lnSpc>
                <a:spcPct val="119118"/>
              </a:lnSpc>
              <a:buNone/>
            </a:pPr>
            <a:r>
              <a:rPr lang="en-US" sz="1800" dirty="0">
                <a:solidFill>
                  <a:srgbClr val="1D1F20"/>
                </a:solidFill>
                <a:latin typeface="Times New Roman" panose="02020603050405020304" pitchFamily="18" charset="0"/>
                <a:ea typeface="Arial" pitchFamily="34" charset="-122"/>
                <a:cs typeface="Arial" pitchFamily="34" charset="-120"/>
              </a:rPr>
              <a:t>A3 has the highest HR and the highest confidence, so confidence alone is not reliability.</a:t>
            </a:r>
            <a:endParaRPr lang="en-US" sz="1800" dirty="0">
              <a:latin typeface="Times New Roman" panose="02020603050405020304" pitchFamily="18" charset="0"/>
            </a:endParaRPr>
          </a:p>
        </p:txBody>
      </p:sp>
      <p:sp>
        <p:nvSpPr>
          <p:cNvPr id="74" name="TextBox 73">
            <a:extLst>
              <a:ext uri="{FF2B5EF4-FFF2-40B4-BE49-F238E27FC236}">
                <a16:creationId xmlns:a16="http://schemas.microsoft.com/office/drawing/2014/main" id="{E2C99969-3262-6168-EEB1-53A87CEBE949}"/>
              </a:ext>
            </a:extLst>
          </p:cNvPr>
          <p:cNvSpPr txBox="1"/>
          <p:nvPr/>
        </p:nvSpPr>
        <p:spPr>
          <a:xfrm>
            <a:off x="17499012" y="9589770"/>
            <a:ext cx="503238"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25</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8054054"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Results &amp; Analysis (contd.)</a:t>
            </a:r>
            <a:endParaRPr lang="en-US" sz="4800" dirty="0">
              <a:latin typeface="Times New Roman" panose="02020603050405020304" pitchFamily="18" charset="0"/>
            </a:endParaRPr>
          </a:p>
        </p:txBody>
      </p:sp>
      <p:sp>
        <p:nvSpPr>
          <p:cNvPr id="3" name="Text 1"/>
          <p:cNvSpPr/>
          <p:nvPr/>
        </p:nvSpPr>
        <p:spPr>
          <a:xfrm>
            <a:off x="952500" y="1554480"/>
            <a:ext cx="8054054"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Worked Example</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16383000" cy="1671320"/>
          </a:xfrm>
          <a:prstGeom prst="rect">
            <a:avLst/>
          </a:prstGeom>
          <a:ln w="5080">
            <a:solidFill>
              <a:srgbClr val="1D1F20">
                <a:alpha val="16000"/>
              </a:srgbClr>
            </a:solidFill>
            <a:prstDash val="solid"/>
          </a:ln>
        </p:spPr>
      </p:sp>
      <p:sp>
        <p:nvSpPr>
          <p:cNvPr id="6" name="Text 3"/>
          <p:cNvSpPr/>
          <p:nvPr/>
        </p:nvSpPr>
        <p:spPr>
          <a:xfrm>
            <a:off x="1376680" y="2653030"/>
            <a:ext cx="17088104"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b="1" kern="0" spc="216" dirty="0">
                <a:solidFill>
                  <a:srgbClr val="416180"/>
                </a:solidFill>
                <a:latin typeface="Times New Roman" panose="02020603050405020304" pitchFamily="18" charset="0"/>
                <a:ea typeface="Arial" pitchFamily="34" charset="-122"/>
                <a:cs typeface="Arial" pitchFamily="34" charset="-120"/>
              </a:rPr>
              <a:t>QUERY</a:t>
            </a:r>
            <a:endParaRPr lang="en-US" sz="1800" dirty="0">
              <a:latin typeface="Times New Roman" panose="02020603050405020304" pitchFamily="18" charset="0"/>
            </a:endParaRPr>
          </a:p>
        </p:txBody>
      </p:sp>
      <p:sp>
        <p:nvSpPr>
          <p:cNvPr id="7" name="Text 4"/>
          <p:cNvSpPr/>
          <p:nvPr/>
        </p:nvSpPr>
        <p:spPr>
          <a:xfrm>
            <a:off x="1376680" y="3102610"/>
            <a:ext cx="17088104" cy="563880"/>
          </a:xfrm>
          <a:prstGeom prst="rect">
            <a:avLst/>
          </a:prstGeom>
          <a:noFill/>
          <a:ln/>
        </p:spPr>
        <p:txBody>
          <a:bodyPr wrap="square" lIns="25400" tIns="25400" rIns="25400" bIns="25400" rtlCol="0" anchor="t">
            <a:normAutofit lnSpcReduction="10000"/>
          </a:bodyPr>
          <a:lstStyle/>
          <a:p>
            <a:pPr marL="0" indent="0" algn="just">
              <a:lnSpc>
                <a:spcPct val="101471"/>
              </a:lnSpc>
              <a:buNone/>
            </a:pPr>
            <a:r>
              <a:rPr lang="en-US" sz="3600" dirty="0">
                <a:solidFill>
                  <a:srgbClr val="1D1F20"/>
                </a:solidFill>
                <a:latin typeface="Times New Roman" panose="02020603050405020304" pitchFamily="18" charset="0"/>
                <a:ea typeface="Arial" pitchFamily="34" charset="-122"/>
                <a:cs typeface="Arial" pitchFamily="34" charset="-120"/>
              </a:rPr>
              <a:t>Does the Fourth Amendment protect against warrantless cell phone searches?</a:t>
            </a:r>
            <a:endParaRPr lang="en-US" sz="3600" dirty="0">
              <a:latin typeface="Times New Roman" panose="02020603050405020304" pitchFamily="18" charset="0"/>
            </a:endParaRPr>
          </a:p>
        </p:txBody>
      </p:sp>
      <p:sp>
        <p:nvSpPr>
          <p:cNvPr id="8" name="Shape 5"/>
          <p:cNvSpPr/>
          <p:nvPr/>
        </p:nvSpPr>
        <p:spPr>
          <a:xfrm>
            <a:off x="952500" y="4839970"/>
            <a:ext cx="3619500" cy="10160"/>
          </a:xfrm>
          <a:prstGeom prst="rect">
            <a:avLst/>
          </a:prstGeom>
          <a:solidFill>
            <a:srgbClr val="1D1F20"/>
          </a:solidFill>
          <a:ln/>
        </p:spPr>
      </p:sp>
      <p:sp>
        <p:nvSpPr>
          <p:cNvPr id="9" name="Text 6"/>
          <p:cNvSpPr/>
          <p:nvPr/>
        </p:nvSpPr>
        <p:spPr>
          <a:xfrm>
            <a:off x="952500" y="4433570"/>
            <a:ext cx="3499485"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PHASE</a:t>
            </a:r>
            <a:endParaRPr lang="en-US" sz="1800" dirty="0">
              <a:latin typeface="Times New Roman" panose="02020603050405020304" pitchFamily="18" charset="0"/>
            </a:endParaRPr>
          </a:p>
        </p:txBody>
      </p:sp>
      <p:sp>
        <p:nvSpPr>
          <p:cNvPr id="10" name="Shape 7"/>
          <p:cNvSpPr/>
          <p:nvPr/>
        </p:nvSpPr>
        <p:spPr>
          <a:xfrm>
            <a:off x="4572000" y="4839970"/>
            <a:ext cx="7429500" cy="10160"/>
          </a:xfrm>
          <a:prstGeom prst="rect">
            <a:avLst/>
          </a:prstGeom>
          <a:solidFill>
            <a:srgbClr val="1D1F20"/>
          </a:solidFill>
          <a:ln/>
        </p:spPr>
      </p:sp>
      <p:sp>
        <p:nvSpPr>
          <p:cNvPr id="11" name="Text 8"/>
          <p:cNvSpPr/>
          <p:nvPr/>
        </p:nvSpPr>
        <p:spPr>
          <a:xfrm>
            <a:off x="4572000" y="4433570"/>
            <a:ext cx="7423785"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SAVED OBSERVATION</a:t>
            </a:r>
            <a:endParaRPr lang="en-US" sz="1800" dirty="0">
              <a:latin typeface="Times New Roman" panose="02020603050405020304" pitchFamily="18" charset="0"/>
            </a:endParaRPr>
          </a:p>
        </p:txBody>
      </p:sp>
      <p:sp>
        <p:nvSpPr>
          <p:cNvPr id="12" name="Shape 9"/>
          <p:cNvSpPr/>
          <p:nvPr/>
        </p:nvSpPr>
        <p:spPr>
          <a:xfrm>
            <a:off x="12001500" y="4839970"/>
            <a:ext cx="5334000" cy="10160"/>
          </a:xfrm>
          <a:prstGeom prst="rect">
            <a:avLst/>
          </a:prstGeom>
          <a:solidFill>
            <a:srgbClr val="1D1F20"/>
          </a:solidFill>
          <a:ln/>
        </p:spPr>
      </p:sp>
      <p:sp>
        <p:nvSpPr>
          <p:cNvPr id="13" name="Text 10"/>
          <p:cNvSpPr/>
          <p:nvPr/>
        </p:nvSpPr>
        <p:spPr>
          <a:xfrm>
            <a:off x="12001500" y="4433570"/>
            <a:ext cx="5494020" cy="33020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WHAT IT SHOWS</a:t>
            </a:r>
            <a:endParaRPr lang="en-US" sz="1800" dirty="0">
              <a:latin typeface="Times New Roman" panose="02020603050405020304" pitchFamily="18" charset="0"/>
            </a:endParaRPr>
          </a:p>
        </p:txBody>
      </p:sp>
      <p:sp>
        <p:nvSpPr>
          <p:cNvPr id="14" name="Shape 11"/>
          <p:cNvSpPr/>
          <p:nvPr/>
        </p:nvSpPr>
        <p:spPr>
          <a:xfrm>
            <a:off x="952500" y="5555615"/>
            <a:ext cx="3619500" cy="9525"/>
          </a:xfrm>
          <a:prstGeom prst="rect">
            <a:avLst/>
          </a:prstGeom>
          <a:solidFill>
            <a:srgbClr val="1D1F20">
              <a:alpha val="16000"/>
            </a:srgbClr>
          </a:solidFill>
          <a:ln/>
        </p:spPr>
      </p:sp>
      <p:sp>
        <p:nvSpPr>
          <p:cNvPr id="15" name="Text 12"/>
          <p:cNvSpPr/>
          <p:nvPr/>
        </p:nvSpPr>
        <p:spPr>
          <a:xfrm>
            <a:off x="952500" y="5040630"/>
            <a:ext cx="3499485"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1 · Hybrid retrieval</a:t>
            </a:r>
            <a:endParaRPr lang="en-US" sz="1950" dirty="0">
              <a:latin typeface="Times New Roman" panose="02020603050405020304" pitchFamily="18" charset="0"/>
            </a:endParaRPr>
          </a:p>
        </p:txBody>
      </p:sp>
      <p:sp>
        <p:nvSpPr>
          <p:cNvPr id="16" name="Shape 13"/>
          <p:cNvSpPr/>
          <p:nvPr/>
        </p:nvSpPr>
        <p:spPr>
          <a:xfrm>
            <a:off x="4572000" y="5555615"/>
            <a:ext cx="7429500" cy="9525"/>
          </a:xfrm>
          <a:prstGeom prst="rect">
            <a:avLst/>
          </a:prstGeom>
          <a:solidFill>
            <a:srgbClr val="1D1F20">
              <a:alpha val="16000"/>
            </a:srgbClr>
          </a:solidFill>
          <a:ln/>
        </p:spPr>
      </p:sp>
      <p:sp>
        <p:nvSpPr>
          <p:cNvPr id="17" name="Text 14"/>
          <p:cNvSpPr/>
          <p:nvPr/>
        </p:nvSpPr>
        <p:spPr>
          <a:xfrm>
            <a:off x="4572000" y="5040630"/>
            <a:ext cx="7423785"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8 CAP authority passages returned</a:t>
            </a:r>
            <a:endParaRPr lang="en-US" sz="1950" dirty="0">
              <a:latin typeface="Times New Roman" panose="02020603050405020304" pitchFamily="18" charset="0"/>
            </a:endParaRPr>
          </a:p>
        </p:txBody>
      </p:sp>
      <p:sp>
        <p:nvSpPr>
          <p:cNvPr id="18" name="Shape 15"/>
          <p:cNvSpPr/>
          <p:nvPr/>
        </p:nvSpPr>
        <p:spPr>
          <a:xfrm>
            <a:off x="12001500" y="5555615"/>
            <a:ext cx="5334000" cy="9525"/>
          </a:xfrm>
          <a:prstGeom prst="rect">
            <a:avLst/>
          </a:prstGeom>
          <a:solidFill>
            <a:srgbClr val="1D1F20">
              <a:alpha val="16000"/>
            </a:srgbClr>
          </a:solidFill>
          <a:ln/>
        </p:spPr>
      </p:sp>
      <p:sp>
        <p:nvSpPr>
          <p:cNvPr id="19" name="Text 16"/>
          <p:cNvSpPr/>
          <p:nvPr/>
        </p:nvSpPr>
        <p:spPr>
          <a:xfrm>
            <a:off x="12001500" y="5040630"/>
            <a:ext cx="5494020" cy="362585"/>
          </a:xfrm>
          <a:prstGeom prst="rect">
            <a:avLst/>
          </a:prstGeom>
          <a:noFill/>
          <a:ln/>
        </p:spPr>
        <p:txBody>
          <a:bodyPr wrap="square" lIns="25400" tIns="25400" rIns="25400" bIns="25400" rtlCol="0" anchor="ctr">
            <a:normAutofit/>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Dense and lexical retrieval work together</a:t>
            </a:r>
            <a:endParaRPr lang="en-US" sz="1950" dirty="0">
              <a:latin typeface="Times New Roman" panose="02020603050405020304" pitchFamily="18" charset="0"/>
            </a:endParaRPr>
          </a:p>
        </p:txBody>
      </p:sp>
      <p:sp>
        <p:nvSpPr>
          <p:cNvPr id="20" name="Shape 17"/>
          <p:cNvSpPr/>
          <p:nvPr/>
        </p:nvSpPr>
        <p:spPr>
          <a:xfrm>
            <a:off x="952500" y="6263640"/>
            <a:ext cx="3619500" cy="9525"/>
          </a:xfrm>
          <a:prstGeom prst="rect">
            <a:avLst/>
          </a:prstGeom>
          <a:solidFill>
            <a:srgbClr val="1D1F20">
              <a:alpha val="16000"/>
            </a:srgbClr>
          </a:solidFill>
          <a:ln/>
        </p:spPr>
      </p:sp>
      <p:sp>
        <p:nvSpPr>
          <p:cNvPr id="21" name="Text 18"/>
          <p:cNvSpPr/>
          <p:nvPr/>
        </p:nvSpPr>
        <p:spPr>
          <a:xfrm>
            <a:off x="952500" y="5751195"/>
            <a:ext cx="34994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2 · Fixed one-round debate</a:t>
            </a:r>
            <a:endParaRPr lang="en-US" sz="1950" dirty="0">
              <a:latin typeface="Times New Roman" panose="02020603050405020304" pitchFamily="18" charset="0"/>
            </a:endParaRPr>
          </a:p>
        </p:txBody>
      </p:sp>
      <p:sp>
        <p:nvSpPr>
          <p:cNvPr id="22" name="Shape 19"/>
          <p:cNvSpPr/>
          <p:nvPr/>
        </p:nvSpPr>
        <p:spPr>
          <a:xfrm>
            <a:off x="4572000" y="6263640"/>
            <a:ext cx="7429500" cy="9525"/>
          </a:xfrm>
          <a:prstGeom prst="rect">
            <a:avLst/>
          </a:prstGeom>
          <a:solidFill>
            <a:srgbClr val="1D1F20">
              <a:alpha val="16000"/>
            </a:srgbClr>
          </a:solidFill>
          <a:ln/>
        </p:spPr>
      </p:sp>
      <p:sp>
        <p:nvSpPr>
          <p:cNvPr id="23" name="Text 20"/>
          <p:cNvSpPr/>
          <p:nvPr/>
        </p:nvSpPr>
        <p:spPr>
          <a:xfrm>
            <a:off x="4572000" y="5751195"/>
            <a:ext cx="74237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Riley citation rejected as unverified; Judge confidence 0.35</a:t>
            </a:r>
            <a:endParaRPr lang="en-US" sz="1950" dirty="0">
              <a:latin typeface="Times New Roman" panose="02020603050405020304" pitchFamily="18" charset="0"/>
            </a:endParaRPr>
          </a:p>
        </p:txBody>
      </p:sp>
      <p:sp>
        <p:nvSpPr>
          <p:cNvPr id="24" name="Shape 21"/>
          <p:cNvSpPr/>
          <p:nvPr/>
        </p:nvSpPr>
        <p:spPr>
          <a:xfrm>
            <a:off x="12001500" y="6263640"/>
            <a:ext cx="5334000" cy="9525"/>
          </a:xfrm>
          <a:prstGeom prst="rect">
            <a:avLst/>
          </a:prstGeom>
          <a:solidFill>
            <a:srgbClr val="1D1F20">
              <a:alpha val="16000"/>
            </a:srgbClr>
          </a:solidFill>
          <a:ln/>
        </p:spPr>
      </p:sp>
      <p:sp>
        <p:nvSpPr>
          <p:cNvPr id="25" name="Text 22"/>
          <p:cNvSpPr/>
          <p:nvPr/>
        </p:nvSpPr>
        <p:spPr>
          <a:xfrm>
            <a:off x="12001500" y="5751195"/>
            <a:ext cx="549402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An answer can outlive a failed citation check</a:t>
            </a:r>
            <a:endParaRPr lang="en-US" sz="1950" dirty="0">
              <a:latin typeface="Times New Roman" panose="02020603050405020304" pitchFamily="18" charset="0"/>
            </a:endParaRPr>
          </a:p>
        </p:txBody>
      </p:sp>
      <p:sp>
        <p:nvSpPr>
          <p:cNvPr id="26" name="Shape 23"/>
          <p:cNvSpPr/>
          <p:nvPr/>
        </p:nvSpPr>
        <p:spPr>
          <a:xfrm>
            <a:off x="952500" y="6971665"/>
            <a:ext cx="3619500" cy="9525"/>
          </a:xfrm>
          <a:prstGeom prst="rect">
            <a:avLst/>
          </a:prstGeom>
          <a:solidFill>
            <a:srgbClr val="1D1F20">
              <a:alpha val="16000"/>
            </a:srgbClr>
          </a:solidFill>
          <a:ln/>
        </p:spPr>
      </p:sp>
      <p:sp>
        <p:nvSpPr>
          <p:cNvPr id="27" name="Text 24"/>
          <p:cNvSpPr/>
          <p:nvPr/>
        </p:nvSpPr>
        <p:spPr>
          <a:xfrm>
            <a:off x="952500" y="6459220"/>
            <a:ext cx="34994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3 · Full DVA+</a:t>
            </a:r>
            <a:endParaRPr lang="en-US" sz="1950" dirty="0">
              <a:latin typeface="Times New Roman" panose="02020603050405020304" pitchFamily="18" charset="0"/>
            </a:endParaRPr>
          </a:p>
        </p:txBody>
      </p:sp>
      <p:sp>
        <p:nvSpPr>
          <p:cNvPr id="28" name="Shape 25"/>
          <p:cNvSpPr/>
          <p:nvPr/>
        </p:nvSpPr>
        <p:spPr>
          <a:xfrm>
            <a:off x="4572000" y="6971665"/>
            <a:ext cx="7429500" cy="9525"/>
          </a:xfrm>
          <a:prstGeom prst="rect">
            <a:avLst/>
          </a:prstGeom>
          <a:solidFill>
            <a:srgbClr val="1D1F20">
              <a:alpha val="16000"/>
            </a:srgbClr>
          </a:solidFill>
          <a:ln/>
        </p:spPr>
      </p:sp>
      <p:sp>
        <p:nvSpPr>
          <p:cNvPr id="29" name="Text 26"/>
          <p:cNvSpPr/>
          <p:nvPr/>
        </p:nvSpPr>
        <p:spPr>
          <a:xfrm>
            <a:off x="4572000" y="6459220"/>
            <a:ext cx="7423785"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2 rounds, average CCS 0.998, one verified citation, confidence 1.00</a:t>
            </a:r>
            <a:endParaRPr lang="en-US" sz="1950" dirty="0">
              <a:latin typeface="Times New Roman" panose="02020603050405020304" pitchFamily="18" charset="0"/>
            </a:endParaRPr>
          </a:p>
        </p:txBody>
      </p:sp>
      <p:sp>
        <p:nvSpPr>
          <p:cNvPr id="30" name="Shape 27"/>
          <p:cNvSpPr/>
          <p:nvPr/>
        </p:nvSpPr>
        <p:spPr>
          <a:xfrm>
            <a:off x="12001500" y="6971665"/>
            <a:ext cx="5334000" cy="9525"/>
          </a:xfrm>
          <a:prstGeom prst="rect">
            <a:avLst/>
          </a:prstGeom>
          <a:solidFill>
            <a:srgbClr val="1D1F20">
              <a:alpha val="16000"/>
            </a:srgbClr>
          </a:solidFill>
          <a:ln/>
        </p:spPr>
      </p:sp>
      <p:sp>
        <p:nvSpPr>
          <p:cNvPr id="31" name="Text 28"/>
          <p:cNvSpPr/>
          <p:nvPr/>
        </p:nvSpPr>
        <p:spPr>
          <a:xfrm>
            <a:off x="12001500" y="6459220"/>
            <a:ext cx="5494020" cy="360045"/>
          </a:xfrm>
          <a:prstGeom prst="rect">
            <a:avLst/>
          </a:prstGeom>
          <a:noFill/>
          <a:ln/>
        </p:spPr>
        <p:txBody>
          <a:bodyPr wrap="square" lIns="25400" tIns="25400" rIns="25400" bIns="25400" rtlCol="0" anchor="ctr">
            <a:normAutofit lnSpcReduction="10000"/>
          </a:bodyPr>
          <a:lstStyle/>
          <a:p>
            <a:pPr marL="0" indent="0" algn="just">
              <a:lnSpc>
                <a:spcPct val="113170"/>
              </a:lnSpc>
              <a:buNone/>
            </a:pPr>
            <a:r>
              <a:rPr lang="en-US" sz="1950" dirty="0">
                <a:solidFill>
                  <a:srgbClr val="5D5D60"/>
                </a:solidFill>
                <a:latin typeface="Times New Roman" panose="02020603050405020304" pitchFamily="18" charset="0"/>
                <a:ea typeface="Arial" pitchFamily="34" charset="-122"/>
                <a:cs typeface="Arial" pitchFamily="34" charset="-120"/>
              </a:rPr>
              <a:t>Verification and stopping state are recorded</a:t>
            </a:r>
            <a:endParaRPr lang="en-US" sz="1950" dirty="0">
              <a:latin typeface="Times New Roman" panose="02020603050405020304" pitchFamily="18" charset="0"/>
            </a:endParaRPr>
          </a:p>
        </p:txBody>
      </p:sp>
      <p:sp>
        <p:nvSpPr>
          <p:cNvPr id="32" name="Text 29"/>
          <p:cNvSpPr/>
          <p:nvPr/>
        </p:nvSpPr>
        <p:spPr>
          <a:xfrm>
            <a:off x="952500" y="9551670"/>
            <a:ext cx="18021300" cy="392430"/>
          </a:xfrm>
          <a:prstGeom prst="rect">
            <a:avLst/>
          </a:prstGeom>
          <a:noFill/>
          <a:ln/>
        </p:spPr>
        <p:txBody>
          <a:bodyPr wrap="square" lIns="25400" tIns="25400" rIns="25400" bIns="25400" rtlCol="0" anchor="t">
            <a:normAutofit/>
          </a:bodyPr>
          <a:lstStyle/>
          <a:p>
            <a:pPr marL="0" indent="0" algn="just">
              <a:lnSpc>
                <a:spcPct val="136765"/>
              </a:lnSpc>
              <a:buNone/>
            </a:pPr>
            <a:r>
              <a:rPr lang="en-US" sz="1800" dirty="0">
                <a:solidFill>
                  <a:srgbClr val="5D5D60"/>
                </a:solidFill>
                <a:latin typeface="Times New Roman" panose="02020603050405020304" pitchFamily="18" charset="0"/>
                <a:ea typeface="Arial" pitchFamily="34" charset="-122"/>
                <a:cs typeface="Arial" pitchFamily="34" charset="-120"/>
              </a:rPr>
              <a:t>The separate benchmark run reports 66.67% HR for this case, so versions will be pinned and trials repeated.</a:t>
            </a:r>
            <a:endParaRPr lang="en-US" sz="1800" dirty="0">
              <a:latin typeface="Times New Roman" panose="02020603050405020304" pitchFamily="18" charset="0"/>
            </a:endParaRPr>
          </a:p>
        </p:txBody>
      </p:sp>
      <p:sp>
        <p:nvSpPr>
          <p:cNvPr id="34" name="TextBox 33">
            <a:extLst>
              <a:ext uri="{FF2B5EF4-FFF2-40B4-BE49-F238E27FC236}">
                <a16:creationId xmlns:a16="http://schemas.microsoft.com/office/drawing/2014/main" id="{3ED52C0C-4560-3617-A86E-6A70E4807E73}"/>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26</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500" y="838200"/>
            <a:ext cx="8054054"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F2F2F3"/>
                </a:solidFill>
                <a:latin typeface="Times New Roman" panose="02020603050405020304" pitchFamily="18" charset="0"/>
                <a:ea typeface="Arial" pitchFamily="34" charset="-122"/>
                <a:cs typeface="Arial" pitchFamily="34" charset="-120"/>
              </a:rPr>
              <a:t>Results &amp; Analysis (contd.)</a:t>
            </a:r>
            <a:endParaRPr lang="en-US" sz="4800" dirty="0">
              <a:latin typeface="Times New Roman" panose="02020603050405020304" pitchFamily="18" charset="0"/>
            </a:endParaRPr>
          </a:p>
        </p:txBody>
      </p:sp>
      <p:sp>
        <p:nvSpPr>
          <p:cNvPr id="3" name="Text 1"/>
          <p:cNvSpPr/>
          <p:nvPr/>
        </p:nvSpPr>
        <p:spPr>
          <a:xfrm>
            <a:off x="952500" y="1554480"/>
            <a:ext cx="8054054"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B5D9FD"/>
                </a:solidFill>
                <a:latin typeface="Times New Roman" panose="02020603050405020304" pitchFamily="18" charset="0"/>
                <a:ea typeface="Arial" pitchFamily="34" charset="-122"/>
                <a:cs typeface="Arial" pitchFamily="34" charset="-120"/>
              </a:rPr>
              <a:t>Summary of Findings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305050"/>
            <a:ext cx="5105400" cy="9525"/>
          </a:xfrm>
          <a:prstGeom prst="rect">
            <a:avLst/>
          </a:prstGeom>
          <a:solidFill>
            <a:srgbClr val="416180"/>
          </a:solidFill>
          <a:ln/>
        </p:spPr>
      </p:sp>
      <p:sp>
        <p:nvSpPr>
          <p:cNvPr id="6" name="Text 3"/>
          <p:cNvSpPr/>
          <p:nvPr/>
        </p:nvSpPr>
        <p:spPr>
          <a:xfrm>
            <a:off x="952500" y="2538730"/>
            <a:ext cx="5615940"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B5D9FD"/>
                </a:solidFill>
                <a:latin typeface="Times New Roman" panose="02020603050405020304" pitchFamily="18" charset="0"/>
                <a:ea typeface="Arial" pitchFamily="34" charset="-122"/>
                <a:cs typeface="Arial" pitchFamily="34" charset="-120"/>
              </a:rPr>
              <a:t>Prototype achieved</a:t>
            </a:r>
            <a:endParaRPr lang="en-US" sz="3000" dirty="0">
              <a:latin typeface="Times New Roman" panose="02020603050405020304" pitchFamily="18" charset="0"/>
            </a:endParaRPr>
          </a:p>
        </p:txBody>
      </p:sp>
      <p:sp>
        <p:nvSpPr>
          <p:cNvPr id="7" name="Text 4"/>
          <p:cNvSpPr/>
          <p:nvPr/>
        </p:nvSpPr>
        <p:spPr>
          <a:xfrm>
            <a:off x="952500" y="3281680"/>
            <a:ext cx="5258562" cy="1041082"/>
          </a:xfrm>
          <a:prstGeom prst="rect">
            <a:avLst/>
          </a:prstGeom>
          <a:noFill/>
          <a:ln/>
        </p:spPr>
        <p:txBody>
          <a:bodyPr wrap="square" lIns="25400" tIns="25400" rIns="25400" bIns="25400" rtlCol="0" anchor="t">
            <a:normAutofit lnSpcReduction="10000"/>
          </a:bodyPr>
          <a:lstStyle/>
          <a:p>
            <a:pPr marL="0" indent="0" algn="just">
              <a:lnSpc>
                <a:spcPct val="117522"/>
              </a:lnSpc>
              <a:buNone/>
            </a:pPr>
            <a:r>
              <a:rPr lang="en-US" sz="1950" dirty="0">
                <a:solidFill>
                  <a:srgbClr val="F2F2F3"/>
                </a:solidFill>
                <a:latin typeface="Times New Roman" panose="02020603050405020304" pitchFamily="18" charset="0"/>
                <a:ea typeface="Arial" pitchFamily="34" charset="-122"/>
                <a:cs typeface="Arial" pitchFamily="34" charset="-120"/>
              </a:rPr>
              <a:t>CAP retrieval, four-role debate, factorized citation verification, dynamic stopping and adaptive memory run end-to-end on one T4.</a:t>
            </a:r>
            <a:endParaRPr lang="en-US" sz="1950" dirty="0">
              <a:latin typeface="Times New Roman" panose="02020603050405020304" pitchFamily="18" charset="0"/>
            </a:endParaRPr>
          </a:p>
        </p:txBody>
      </p:sp>
      <p:sp>
        <p:nvSpPr>
          <p:cNvPr id="8" name="Shape 5"/>
          <p:cNvSpPr/>
          <p:nvPr/>
        </p:nvSpPr>
        <p:spPr>
          <a:xfrm>
            <a:off x="6591300" y="2305050"/>
            <a:ext cx="5105400" cy="9525"/>
          </a:xfrm>
          <a:prstGeom prst="rect">
            <a:avLst/>
          </a:prstGeom>
          <a:solidFill>
            <a:srgbClr val="416180"/>
          </a:solidFill>
          <a:ln/>
        </p:spPr>
      </p:sp>
      <p:sp>
        <p:nvSpPr>
          <p:cNvPr id="9" name="Text 6"/>
          <p:cNvSpPr/>
          <p:nvPr/>
        </p:nvSpPr>
        <p:spPr>
          <a:xfrm>
            <a:off x="6591300" y="2538730"/>
            <a:ext cx="5615940"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B5D9FD"/>
                </a:solidFill>
                <a:latin typeface="Times New Roman" panose="02020603050405020304" pitchFamily="18" charset="0"/>
                <a:ea typeface="Arial" pitchFamily="34" charset="-122"/>
                <a:cs typeface="Arial" pitchFamily="34" charset="-120"/>
              </a:rPr>
              <a:t>Open issues</a:t>
            </a:r>
            <a:endParaRPr lang="en-US" sz="3000" dirty="0">
              <a:latin typeface="Times New Roman" panose="02020603050405020304" pitchFamily="18" charset="0"/>
            </a:endParaRPr>
          </a:p>
        </p:txBody>
      </p:sp>
      <p:sp>
        <p:nvSpPr>
          <p:cNvPr id="10" name="Text 7"/>
          <p:cNvSpPr/>
          <p:nvPr/>
        </p:nvSpPr>
        <p:spPr>
          <a:xfrm>
            <a:off x="6591300" y="3281680"/>
            <a:ext cx="5258562" cy="1041082"/>
          </a:xfrm>
          <a:prstGeom prst="rect">
            <a:avLst/>
          </a:prstGeom>
          <a:noFill/>
          <a:ln/>
        </p:spPr>
        <p:txBody>
          <a:bodyPr wrap="square" lIns="25400" tIns="25400" rIns="25400" bIns="25400" rtlCol="0" anchor="t">
            <a:normAutofit lnSpcReduction="10000"/>
          </a:bodyPr>
          <a:lstStyle/>
          <a:p>
            <a:pPr marL="0" indent="0" algn="just">
              <a:lnSpc>
                <a:spcPct val="117522"/>
              </a:lnSpc>
              <a:buNone/>
            </a:pPr>
            <a:r>
              <a:rPr lang="en-US" sz="1950" dirty="0">
                <a:solidFill>
                  <a:srgbClr val="F2F2F3"/>
                </a:solidFill>
                <a:latin typeface="Times New Roman" panose="02020603050405020304" pitchFamily="18" charset="0"/>
                <a:ea typeface="Arial" pitchFamily="34" charset="-122"/>
                <a:cs typeface="Arial" pitchFamily="34" charset="-120"/>
              </a:rPr>
              <a:t>Semantic misattributions and CaseHOLD distractors pass the verifier; off-corpus citations inflate the measured HR.</a:t>
            </a:r>
            <a:endParaRPr lang="en-US" sz="1950" dirty="0">
              <a:latin typeface="Times New Roman" panose="02020603050405020304" pitchFamily="18" charset="0"/>
            </a:endParaRPr>
          </a:p>
        </p:txBody>
      </p:sp>
      <p:sp>
        <p:nvSpPr>
          <p:cNvPr id="11" name="Shape 8"/>
          <p:cNvSpPr/>
          <p:nvPr/>
        </p:nvSpPr>
        <p:spPr>
          <a:xfrm>
            <a:off x="12230100" y="2305050"/>
            <a:ext cx="5105400" cy="9525"/>
          </a:xfrm>
          <a:prstGeom prst="rect">
            <a:avLst/>
          </a:prstGeom>
          <a:solidFill>
            <a:srgbClr val="416180"/>
          </a:solidFill>
          <a:ln/>
        </p:spPr>
      </p:sp>
      <p:sp>
        <p:nvSpPr>
          <p:cNvPr id="12" name="Text 9"/>
          <p:cNvSpPr/>
          <p:nvPr/>
        </p:nvSpPr>
        <p:spPr>
          <a:xfrm>
            <a:off x="12230100" y="2538730"/>
            <a:ext cx="5615940" cy="628650"/>
          </a:xfrm>
          <a:prstGeom prst="rect">
            <a:avLst/>
          </a:prstGeom>
          <a:noFill/>
          <a:ln/>
        </p:spPr>
        <p:txBody>
          <a:bodyPr wrap="square" lIns="25400" tIns="25400" rIns="25400" bIns="25400" rtlCol="0" anchor="t">
            <a:normAutofit/>
          </a:bodyPr>
          <a:lstStyle/>
          <a:p>
            <a:pPr marL="0" indent="0" algn="just">
              <a:lnSpc>
                <a:spcPct val="138393"/>
              </a:lnSpc>
              <a:buNone/>
            </a:pPr>
            <a:r>
              <a:rPr lang="en-US" sz="3000" b="1" dirty="0">
                <a:solidFill>
                  <a:srgbClr val="B5D9FD"/>
                </a:solidFill>
                <a:latin typeface="Times New Roman" panose="02020603050405020304" pitchFamily="18" charset="0"/>
                <a:ea typeface="Arial" pitchFamily="34" charset="-122"/>
                <a:cs typeface="Arial" pitchFamily="34" charset="-120"/>
              </a:rPr>
              <a:t>Next milestone</a:t>
            </a:r>
            <a:endParaRPr lang="en-US" sz="3000" dirty="0">
              <a:latin typeface="Times New Roman" panose="02020603050405020304" pitchFamily="18" charset="0"/>
            </a:endParaRPr>
          </a:p>
        </p:txBody>
      </p:sp>
      <p:sp>
        <p:nvSpPr>
          <p:cNvPr id="13" name="Text 10"/>
          <p:cNvSpPr/>
          <p:nvPr/>
        </p:nvSpPr>
        <p:spPr>
          <a:xfrm>
            <a:off x="12230100" y="3281680"/>
            <a:ext cx="5258562" cy="1041082"/>
          </a:xfrm>
          <a:prstGeom prst="rect">
            <a:avLst/>
          </a:prstGeom>
          <a:noFill/>
          <a:ln/>
        </p:spPr>
        <p:txBody>
          <a:bodyPr wrap="square" lIns="25400" tIns="25400" rIns="25400" bIns="25400" rtlCol="0" anchor="t">
            <a:normAutofit lnSpcReduction="10000"/>
          </a:bodyPr>
          <a:lstStyle/>
          <a:p>
            <a:pPr marL="0" indent="0" algn="just">
              <a:lnSpc>
                <a:spcPct val="117522"/>
              </a:lnSpc>
              <a:buNone/>
            </a:pPr>
            <a:r>
              <a:rPr lang="en-US" sz="1950" dirty="0">
                <a:solidFill>
                  <a:srgbClr val="F2F2F3"/>
                </a:solidFill>
                <a:latin typeface="Times New Roman" panose="02020603050405020304" pitchFamily="18" charset="0"/>
                <a:ea typeface="Arial" pitchFamily="34" charset="-122"/>
                <a:cs typeface="Arial" pitchFamily="34" charset="-120"/>
              </a:rPr>
              <a:t>Repair holding-support checks, calibrate τ conformally, then test against a matched RAG baseline and ablations.</a:t>
            </a:r>
            <a:endParaRPr lang="en-US" sz="1950" dirty="0">
              <a:latin typeface="Times New Roman" panose="02020603050405020304" pitchFamily="18" charset="0"/>
            </a:endParaRPr>
          </a:p>
        </p:txBody>
      </p:sp>
      <p:sp>
        <p:nvSpPr>
          <p:cNvPr id="15" name="TextBox 14">
            <a:extLst>
              <a:ext uri="{FF2B5EF4-FFF2-40B4-BE49-F238E27FC236}">
                <a16:creationId xmlns:a16="http://schemas.microsoft.com/office/drawing/2014/main" id="{C3D8501F-FADD-DF10-EF9D-97CBB30DC046}"/>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27</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9131316"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Challenges &amp; Remaining Work</a:t>
            </a:r>
            <a:endParaRPr lang="en-US" sz="4800" dirty="0">
              <a:latin typeface="Times New Roman" panose="02020603050405020304" pitchFamily="18" charset="0"/>
            </a:endParaRPr>
          </a:p>
        </p:txBody>
      </p:sp>
      <p:sp>
        <p:nvSpPr>
          <p:cNvPr id="3" name="Text 1"/>
          <p:cNvSpPr/>
          <p:nvPr/>
        </p:nvSpPr>
        <p:spPr>
          <a:xfrm>
            <a:off x="952500" y="1554480"/>
            <a:ext cx="9131316"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Challenges Faced and Solutions</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Shape 2"/>
          <p:cNvSpPr/>
          <p:nvPr/>
        </p:nvSpPr>
        <p:spPr>
          <a:xfrm>
            <a:off x="952500" y="2727960"/>
            <a:ext cx="7239000" cy="15240"/>
          </a:xfrm>
          <a:prstGeom prst="rect">
            <a:avLst/>
          </a:prstGeom>
          <a:solidFill>
            <a:srgbClr val="416180"/>
          </a:solidFill>
          <a:ln/>
        </p:spPr>
      </p:sp>
      <p:sp>
        <p:nvSpPr>
          <p:cNvPr id="6" name="Text 3"/>
          <p:cNvSpPr/>
          <p:nvPr/>
        </p:nvSpPr>
        <p:spPr>
          <a:xfrm>
            <a:off x="952500" y="2305050"/>
            <a:ext cx="7265670" cy="32766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CHALLENGE</a:t>
            </a:r>
            <a:endParaRPr lang="en-US" sz="1800" dirty="0">
              <a:latin typeface="Times New Roman" panose="02020603050405020304" pitchFamily="18" charset="0"/>
            </a:endParaRPr>
          </a:p>
        </p:txBody>
      </p:sp>
      <p:sp>
        <p:nvSpPr>
          <p:cNvPr id="7" name="Shape 4"/>
          <p:cNvSpPr/>
          <p:nvPr/>
        </p:nvSpPr>
        <p:spPr>
          <a:xfrm>
            <a:off x="8191500" y="2727960"/>
            <a:ext cx="9144000" cy="15240"/>
          </a:xfrm>
          <a:prstGeom prst="rect">
            <a:avLst/>
          </a:prstGeom>
          <a:solidFill>
            <a:srgbClr val="416180"/>
          </a:solidFill>
          <a:ln/>
        </p:spPr>
      </p:sp>
      <p:sp>
        <p:nvSpPr>
          <p:cNvPr id="8" name="Text 5"/>
          <p:cNvSpPr/>
          <p:nvPr/>
        </p:nvSpPr>
        <p:spPr>
          <a:xfrm>
            <a:off x="8191500" y="2305050"/>
            <a:ext cx="9418320" cy="327660"/>
          </a:xfrm>
          <a:prstGeom prst="rect">
            <a:avLst/>
          </a:prstGeom>
          <a:noFill/>
          <a:ln/>
        </p:spPr>
        <p:txBody>
          <a:bodyPr wrap="square" lIns="25400" tIns="25400" rIns="25400" bIns="25400" rtlCol="0" anchor="ctr">
            <a:normAutofit lnSpcReduction="10000"/>
          </a:bodyPr>
          <a:lstStyle/>
          <a:p>
            <a:pPr marL="0" indent="0" algn="just">
              <a:lnSpc>
                <a:spcPct val="114706"/>
              </a:lnSpc>
              <a:buNone/>
            </a:pPr>
            <a:r>
              <a:rPr lang="en-US" sz="1800" b="1" kern="0" spc="144" dirty="0">
                <a:solidFill>
                  <a:srgbClr val="5D5D60"/>
                </a:solidFill>
                <a:latin typeface="Times New Roman" panose="02020603050405020304" pitchFamily="18" charset="0"/>
                <a:ea typeface="Arial" pitchFamily="34" charset="-122"/>
                <a:cs typeface="Arial" pitchFamily="34" charset="-120"/>
              </a:rPr>
              <a:t>SOLUTION / STATUS</a:t>
            </a:r>
            <a:endParaRPr lang="en-US" sz="1800" dirty="0">
              <a:latin typeface="Times New Roman" panose="02020603050405020304" pitchFamily="18" charset="0"/>
            </a:endParaRPr>
          </a:p>
        </p:txBody>
      </p:sp>
      <p:sp>
        <p:nvSpPr>
          <p:cNvPr id="9" name="Shape 6"/>
          <p:cNvSpPr/>
          <p:nvPr/>
        </p:nvSpPr>
        <p:spPr>
          <a:xfrm>
            <a:off x="952500" y="3336925"/>
            <a:ext cx="7239000" cy="9525"/>
          </a:xfrm>
          <a:prstGeom prst="rect">
            <a:avLst/>
          </a:prstGeom>
          <a:solidFill>
            <a:srgbClr val="1D1F20">
              <a:alpha val="16000"/>
            </a:srgbClr>
          </a:solidFill>
          <a:ln/>
        </p:spPr>
      </p:sp>
      <p:sp>
        <p:nvSpPr>
          <p:cNvPr id="10" name="Text 7"/>
          <p:cNvSpPr/>
          <p:nvPr/>
        </p:nvSpPr>
        <p:spPr>
          <a:xfrm>
            <a:off x="952500" y="2876550"/>
            <a:ext cx="7151370" cy="36512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16 GB T4 memory for four agents</a:t>
            </a:r>
            <a:endParaRPr lang="en-US" sz="1950" dirty="0">
              <a:latin typeface="Times New Roman" panose="02020603050405020304" pitchFamily="18" charset="0"/>
            </a:endParaRPr>
          </a:p>
        </p:txBody>
      </p:sp>
      <p:sp>
        <p:nvSpPr>
          <p:cNvPr id="11" name="Shape 8"/>
          <p:cNvSpPr/>
          <p:nvPr/>
        </p:nvSpPr>
        <p:spPr>
          <a:xfrm>
            <a:off x="8191500" y="3336925"/>
            <a:ext cx="9144000" cy="9525"/>
          </a:xfrm>
          <a:prstGeom prst="rect">
            <a:avLst/>
          </a:prstGeom>
          <a:solidFill>
            <a:srgbClr val="1D1F20">
              <a:alpha val="16000"/>
            </a:srgbClr>
          </a:solidFill>
          <a:ln/>
        </p:spPr>
      </p:sp>
      <p:sp>
        <p:nvSpPr>
          <p:cNvPr id="12" name="Text 9"/>
          <p:cNvSpPr/>
          <p:nvPr/>
        </p:nvSpPr>
        <p:spPr>
          <a:xfrm>
            <a:off x="8191500" y="2876550"/>
            <a:ext cx="9418320" cy="36512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One shared Mistral-7B in NF4 4-bit; roles differ by prompt and evidence</a:t>
            </a:r>
            <a:endParaRPr lang="en-US" sz="1950" dirty="0">
              <a:latin typeface="Times New Roman" panose="02020603050405020304" pitchFamily="18" charset="0"/>
            </a:endParaRPr>
          </a:p>
        </p:txBody>
      </p:sp>
      <p:sp>
        <p:nvSpPr>
          <p:cNvPr id="13" name="Shape 10"/>
          <p:cNvSpPr/>
          <p:nvPr/>
        </p:nvSpPr>
        <p:spPr>
          <a:xfrm>
            <a:off x="952500" y="3930650"/>
            <a:ext cx="7239000" cy="9525"/>
          </a:xfrm>
          <a:prstGeom prst="rect">
            <a:avLst/>
          </a:prstGeom>
          <a:solidFill>
            <a:srgbClr val="1D1F20">
              <a:alpha val="16000"/>
            </a:srgbClr>
          </a:solidFill>
          <a:ln/>
        </p:spPr>
      </p:sp>
      <p:sp>
        <p:nvSpPr>
          <p:cNvPr id="14" name="Text 11"/>
          <p:cNvSpPr/>
          <p:nvPr/>
        </p:nvSpPr>
        <p:spPr>
          <a:xfrm>
            <a:off x="952500" y="3475355"/>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Defense echoing Prosecutor evidence</a:t>
            </a:r>
            <a:endParaRPr lang="en-US" sz="1950" dirty="0">
              <a:latin typeface="Times New Roman" panose="02020603050405020304" pitchFamily="18" charset="0"/>
            </a:endParaRPr>
          </a:p>
        </p:txBody>
      </p:sp>
      <p:sp>
        <p:nvSpPr>
          <p:cNvPr id="15" name="Shape 12"/>
          <p:cNvSpPr/>
          <p:nvPr/>
        </p:nvSpPr>
        <p:spPr>
          <a:xfrm>
            <a:off x="8191500" y="3930650"/>
            <a:ext cx="9144000" cy="9525"/>
          </a:xfrm>
          <a:prstGeom prst="rect">
            <a:avLst/>
          </a:prstGeom>
          <a:solidFill>
            <a:srgbClr val="1D1F20">
              <a:alpha val="16000"/>
            </a:srgbClr>
          </a:solidFill>
          <a:ln/>
        </p:spPr>
      </p:sp>
      <p:sp>
        <p:nvSpPr>
          <p:cNvPr id="16" name="Text 13"/>
          <p:cNvSpPr/>
          <p:nvPr/>
        </p:nvSpPr>
        <p:spPr>
          <a:xfrm>
            <a:off x="8191500" y="3475355"/>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Evidence-disjoint retrieval; evidence overlap ratio 0.000 on the benchmark</a:t>
            </a:r>
            <a:endParaRPr lang="en-US" sz="1950" dirty="0">
              <a:latin typeface="Times New Roman" panose="02020603050405020304" pitchFamily="18" charset="0"/>
            </a:endParaRPr>
          </a:p>
        </p:txBody>
      </p:sp>
      <p:sp>
        <p:nvSpPr>
          <p:cNvPr id="17" name="Shape 14"/>
          <p:cNvSpPr/>
          <p:nvPr/>
        </p:nvSpPr>
        <p:spPr>
          <a:xfrm>
            <a:off x="952500" y="4524375"/>
            <a:ext cx="7239000" cy="9525"/>
          </a:xfrm>
          <a:prstGeom prst="rect">
            <a:avLst/>
          </a:prstGeom>
          <a:solidFill>
            <a:srgbClr val="1D1F20">
              <a:alpha val="16000"/>
            </a:srgbClr>
          </a:solidFill>
          <a:ln/>
        </p:spPr>
      </p:sp>
      <p:sp>
        <p:nvSpPr>
          <p:cNvPr id="18" name="Text 15"/>
          <p:cNvSpPr/>
          <p:nvPr/>
        </p:nvSpPr>
        <p:spPr>
          <a:xfrm>
            <a:off x="952500" y="4069080"/>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Authentic off-corpus citations counted in HR</a:t>
            </a:r>
            <a:endParaRPr lang="en-US" sz="1950" dirty="0">
              <a:latin typeface="Times New Roman" panose="02020603050405020304" pitchFamily="18" charset="0"/>
            </a:endParaRPr>
          </a:p>
        </p:txBody>
      </p:sp>
      <p:sp>
        <p:nvSpPr>
          <p:cNvPr id="19" name="Shape 16"/>
          <p:cNvSpPr/>
          <p:nvPr/>
        </p:nvSpPr>
        <p:spPr>
          <a:xfrm>
            <a:off x="8191500" y="4524375"/>
            <a:ext cx="9144000" cy="9525"/>
          </a:xfrm>
          <a:prstGeom prst="rect">
            <a:avLst/>
          </a:prstGeom>
          <a:solidFill>
            <a:srgbClr val="1D1F20">
              <a:alpha val="16000"/>
            </a:srgbClr>
          </a:solidFill>
          <a:ln/>
        </p:spPr>
      </p:sp>
      <p:sp>
        <p:nvSpPr>
          <p:cNvPr id="20" name="Text 17"/>
          <p:cNvSpPr/>
          <p:nvPr/>
        </p:nvSpPr>
        <p:spPr>
          <a:xfrm>
            <a:off x="8191500" y="4069080"/>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Coverage-aware UNVERIFIABLE verdict; HR reported with this caveat</a:t>
            </a:r>
            <a:endParaRPr lang="en-US" sz="1950" dirty="0">
              <a:latin typeface="Times New Roman" panose="02020603050405020304" pitchFamily="18" charset="0"/>
            </a:endParaRPr>
          </a:p>
        </p:txBody>
      </p:sp>
      <p:sp>
        <p:nvSpPr>
          <p:cNvPr id="21" name="Shape 18"/>
          <p:cNvSpPr/>
          <p:nvPr/>
        </p:nvSpPr>
        <p:spPr>
          <a:xfrm>
            <a:off x="952500" y="5118100"/>
            <a:ext cx="7239000" cy="9525"/>
          </a:xfrm>
          <a:prstGeom prst="rect">
            <a:avLst/>
          </a:prstGeom>
          <a:solidFill>
            <a:srgbClr val="1D1F20">
              <a:alpha val="16000"/>
            </a:srgbClr>
          </a:solidFill>
          <a:ln/>
        </p:spPr>
      </p:sp>
      <p:sp>
        <p:nvSpPr>
          <p:cNvPr id="22" name="Text 19"/>
          <p:cNvSpPr/>
          <p:nvPr/>
        </p:nvSpPr>
        <p:spPr>
          <a:xfrm>
            <a:off x="952500" y="4662805"/>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Semantic misattributions pass the verifier (0/10)</a:t>
            </a:r>
            <a:endParaRPr lang="en-US" sz="1950" dirty="0">
              <a:latin typeface="Times New Roman" panose="02020603050405020304" pitchFamily="18" charset="0"/>
            </a:endParaRPr>
          </a:p>
        </p:txBody>
      </p:sp>
      <p:sp>
        <p:nvSpPr>
          <p:cNvPr id="23" name="Shape 20"/>
          <p:cNvSpPr/>
          <p:nvPr/>
        </p:nvSpPr>
        <p:spPr>
          <a:xfrm>
            <a:off x="8191500" y="5118100"/>
            <a:ext cx="9144000" cy="9525"/>
          </a:xfrm>
          <a:prstGeom prst="rect">
            <a:avLst/>
          </a:prstGeom>
          <a:solidFill>
            <a:srgbClr val="1D1F20">
              <a:alpha val="16000"/>
            </a:srgbClr>
          </a:solidFill>
          <a:ln/>
        </p:spPr>
      </p:sp>
      <p:sp>
        <p:nvSpPr>
          <p:cNvPr id="24" name="Text 21"/>
          <p:cNvSpPr/>
          <p:nvPr/>
        </p:nvSpPr>
        <p:spPr>
          <a:xfrm>
            <a:off x="8191500" y="4662805"/>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Open: holding-support repair planned before Review-III</a:t>
            </a:r>
            <a:endParaRPr lang="en-US" sz="1950" dirty="0">
              <a:latin typeface="Times New Roman" panose="02020603050405020304" pitchFamily="18" charset="0"/>
            </a:endParaRPr>
          </a:p>
        </p:txBody>
      </p:sp>
      <p:sp>
        <p:nvSpPr>
          <p:cNvPr id="25" name="Shape 22"/>
          <p:cNvSpPr/>
          <p:nvPr/>
        </p:nvSpPr>
        <p:spPr>
          <a:xfrm>
            <a:off x="952500" y="5711825"/>
            <a:ext cx="7239000" cy="9525"/>
          </a:xfrm>
          <a:prstGeom prst="rect">
            <a:avLst/>
          </a:prstGeom>
          <a:solidFill>
            <a:srgbClr val="1D1F20">
              <a:alpha val="16000"/>
            </a:srgbClr>
          </a:solidFill>
          <a:ln/>
        </p:spPr>
      </p:sp>
      <p:sp>
        <p:nvSpPr>
          <p:cNvPr id="26" name="Text 23"/>
          <p:cNvSpPr/>
          <p:nvPr/>
        </p:nvSpPr>
        <p:spPr>
          <a:xfrm>
            <a:off x="952500" y="5256530"/>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Heuristic acceptance thresholds</a:t>
            </a:r>
            <a:endParaRPr lang="en-US" sz="1950" dirty="0">
              <a:latin typeface="Times New Roman" panose="02020603050405020304" pitchFamily="18" charset="0"/>
            </a:endParaRPr>
          </a:p>
        </p:txBody>
      </p:sp>
      <p:sp>
        <p:nvSpPr>
          <p:cNvPr id="27" name="Shape 24"/>
          <p:cNvSpPr/>
          <p:nvPr/>
        </p:nvSpPr>
        <p:spPr>
          <a:xfrm>
            <a:off x="8191500" y="5711825"/>
            <a:ext cx="9144000" cy="9525"/>
          </a:xfrm>
          <a:prstGeom prst="rect">
            <a:avLst/>
          </a:prstGeom>
          <a:solidFill>
            <a:srgbClr val="1D1F20">
              <a:alpha val="16000"/>
            </a:srgbClr>
          </a:solidFill>
          <a:ln/>
        </p:spPr>
      </p:sp>
      <p:sp>
        <p:nvSpPr>
          <p:cNvPr id="28" name="Text 25"/>
          <p:cNvSpPr/>
          <p:nvPr/>
        </p:nvSpPr>
        <p:spPr>
          <a:xfrm>
            <a:off x="8191500" y="5256530"/>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Conformal calibration of τ planned</a:t>
            </a:r>
            <a:endParaRPr lang="en-US" sz="1950" dirty="0">
              <a:latin typeface="Times New Roman" panose="02020603050405020304" pitchFamily="18" charset="0"/>
            </a:endParaRPr>
          </a:p>
        </p:txBody>
      </p:sp>
      <p:sp>
        <p:nvSpPr>
          <p:cNvPr id="29" name="Shape 26"/>
          <p:cNvSpPr/>
          <p:nvPr/>
        </p:nvSpPr>
        <p:spPr>
          <a:xfrm>
            <a:off x="952500" y="6305550"/>
            <a:ext cx="7239000" cy="9525"/>
          </a:xfrm>
          <a:prstGeom prst="rect">
            <a:avLst/>
          </a:prstGeom>
          <a:solidFill>
            <a:srgbClr val="1D1F20">
              <a:alpha val="16000"/>
            </a:srgbClr>
          </a:solidFill>
          <a:ln/>
        </p:spPr>
      </p:sp>
      <p:sp>
        <p:nvSpPr>
          <p:cNvPr id="30" name="Text 27"/>
          <p:cNvSpPr/>
          <p:nvPr/>
        </p:nvSpPr>
        <p:spPr>
          <a:xfrm>
            <a:off x="952500" y="5850255"/>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Run-to-run variation between notebook and benchmark</a:t>
            </a:r>
            <a:endParaRPr lang="en-US" sz="1950" dirty="0">
              <a:latin typeface="Times New Roman" panose="02020603050405020304" pitchFamily="18" charset="0"/>
            </a:endParaRPr>
          </a:p>
        </p:txBody>
      </p:sp>
      <p:sp>
        <p:nvSpPr>
          <p:cNvPr id="31" name="Shape 28"/>
          <p:cNvSpPr/>
          <p:nvPr/>
        </p:nvSpPr>
        <p:spPr>
          <a:xfrm>
            <a:off x="8191500" y="6305550"/>
            <a:ext cx="9144000" cy="9525"/>
          </a:xfrm>
          <a:prstGeom prst="rect">
            <a:avLst/>
          </a:prstGeom>
          <a:solidFill>
            <a:srgbClr val="1D1F20">
              <a:alpha val="16000"/>
            </a:srgbClr>
          </a:solidFill>
          <a:ln/>
        </p:spPr>
      </p:sp>
      <p:sp>
        <p:nvSpPr>
          <p:cNvPr id="32" name="Text 29"/>
          <p:cNvSpPr/>
          <p:nvPr/>
        </p:nvSpPr>
        <p:spPr>
          <a:xfrm>
            <a:off x="8191500" y="5850255"/>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Pin model and library versions; repeat trials</a:t>
            </a:r>
            <a:endParaRPr lang="en-US" sz="1950" dirty="0">
              <a:latin typeface="Times New Roman" panose="02020603050405020304" pitchFamily="18" charset="0"/>
            </a:endParaRPr>
          </a:p>
        </p:txBody>
      </p:sp>
      <p:sp>
        <p:nvSpPr>
          <p:cNvPr id="33" name="Shape 30"/>
          <p:cNvSpPr/>
          <p:nvPr/>
        </p:nvSpPr>
        <p:spPr>
          <a:xfrm>
            <a:off x="952500" y="6899275"/>
            <a:ext cx="7239000" cy="9525"/>
          </a:xfrm>
          <a:prstGeom prst="rect">
            <a:avLst/>
          </a:prstGeom>
          <a:solidFill>
            <a:srgbClr val="1D1F20">
              <a:alpha val="16000"/>
            </a:srgbClr>
          </a:solidFill>
          <a:ln/>
        </p:spPr>
      </p:sp>
      <p:sp>
        <p:nvSpPr>
          <p:cNvPr id="34" name="Text 31"/>
          <p:cNvSpPr/>
          <p:nvPr/>
        </p:nvSpPr>
        <p:spPr>
          <a:xfrm>
            <a:off x="952500" y="6443980"/>
            <a:ext cx="715137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Latency: 73.2 min for 25 cases</a:t>
            </a:r>
            <a:endParaRPr lang="en-US" sz="1950" dirty="0">
              <a:latin typeface="Times New Roman" panose="02020603050405020304" pitchFamily="18" charset="0"/>
            </a:endParaRPr>
          </a:p>
        </p:txBody>
      </p:sp>
      <p:sp>
        <p:nvSpPr>
          <p:cNvPr id="35" name="Shape 32"/>
          <p:cNvSpPr/>
          <p:nvPr/>
        </p:nvSpPr>
        <p:spPr>
          <a:xfrm>
            <a:off x="8191500" y="6899275"/>
            <a:ext cx="9144000" cy="9525"/>
          </a:xfrm>
          <a:prstGeom prst="rect">
            <a:avLst/>
          </a:prstGeom>
          <a:solidFill>
            <a:srgbClr val="1D1F20">
              <a:alpha val="16000"/>
            </a:srgbClr>
          </a:solidFill>
          <a:ln/>
        </p:spPr>
      </p:sp>
      <p:sp>
        <p:nvSpPr>
          <p:cNvPr id="36" name="Text 33"/>
          <p:cNvSpPr/>
          <p:nvPr/>
        </p:nvSpPr>
        <p:spPr>
          <a:xfrm>
            <a:off x="8191500" y="6443980"/>
            <a:ext cx="9418320"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Two-round debate cap and memory cache reuse</a:t>
            </a:r>
            <a:endParaRPr lang="en-US" sz="1950" dirty="0">
              <a:latin typeface="Times New Roman" panose="02020603050405020304" pitchFamily="18" charset="0"/>
            </a:endParaRPr>
          </a:p>
        </p:txBody>
      </p:sp>
      <p:sp>
        <p:nvSpPr>
          <p:cNvPr id="38" name="TextBox 37">
            <a:extLst>
              <a:ext uri="{FF2B5EF4-FFF2-40B4-BE49-F238E27FC236}">
                <a16:creationId xmlns:a16="http://schemas.microsoft.com/office/drawing/2014/main" id="{18124388-9690-B60F-DCDA-C69179D92F48}"/>
              </a:ext>
            </a:extLst>
          </p:cNvPr>
          <p:cNvSpPr txBox="1"/>
          <p:nvPr/>
        </p:nvSpPr>
        <p:spPr>
          <a:xfrm>
            <a:off x="17499012" y="9589770"/>
            <a:ext cx="446088"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28</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11638581"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Challenges &amp; Remaining Work (contd.)</a:t>
            </a:r>
            <a:endParaRPr lang="en-US" sz="4800" dirty="0">
              <a:latin typeface="Times New Roman" panose="02020603050405020304" pitchFamily="18" charset="0"/>
            </a:endParaRPr>
          </a:p>
        </p:txBody>
      </p:sp>
      <p:sp>
        <p:nvSpPr>
          <p:cNvPr id="3" name="Text 1"/>
          <p:cNvSpPr/>
          <p:nvPr/>
        </p:nvSpPr>
        <p:spPr>
          <a:xfrm>
            <a:off x="952500" y="1554480"/>
            <a:ext cx="11638581"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Remaining Work (25%) and Timeline for Completion by Review-III (28.10.2026)</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Text 2"/>
          <p:cNvSpPr/>
          <p:nvPr/>
        </p:nvSpPr>
        <p:spPr>
          <a:xfrm>
            <a:off x="952500" y="2305050"/>
            <a:ext cx="4191000" cy="723900"/>
          </a:xfrm>
          <a:prstGeom prst="rect">
            <a:avLst/>
          </a:prstGeom>
          <a:noFill/>
          <a:ln/>
        </p:spPr>
        <p:txBody>
          <a:bodyPr wrap="square" lIns="25400" tIns="25400" rIns="25400" bIns="25400" rtlCol="0" anchor="t">
            <a:normAutofit lnSpcReduction="1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10%</a:t>
            </a:r>
            <a:endParaRPr lang="en-US" sz="5400" dirty="0">
              <a:latin typeface="Times New Roman" panose="02020603050405020304" pitchFamily="18" charset="0"/>
            </a:endParaRPr>
          </a:p>
        </p:txBody>
      </p:sp>
      <p:sp>
        <p:nvSpPr>
          <p:cNvPr id="6" name="Text 3"/>
          <p:cNvSpPr/>
          <p:nvPr/>
        </p:nvSpPr>
        <p:spPr>
          <a:xfrm>
            <a:off x="952500" y="3067050"/>
            <a:ext cx="4191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Verifier + final-answer checks</a:t>
            </a:r>
            <a:endParaRPr lang="en-US" sz="1950" dirty="0">
              <a:latin typeface="Times New Roman" panose="02020603050405020304" pitchFamily="18" charset="0"/>
            </a:endParaRPr>
          </a:p>
        </p:txBody>
      </p:sp>
      <p:sp>
        <p:nvSpPr>
          <p:cNvPr id="7" name="Text 4"/>
          <p:cNvSpPr/>
          <p:nvPr/>
        </p:nvSpPr>
        <p:spPr>
          <a:xfrm>
            <a:off x="5143500" y="2305050"/>
            <a:ext cx="4191000" cy="723900"/>
          </a:xfrm>
          <a:prstGeom prst="rect">
            <a:avLst/>
          </a:prstGeom>
          <a:noFill/>
          <a:ln/>
        </p:spPr>
        <p:txBody>
          <a:bodyPr wrap="square" lIns="25400" tIns="25400" rIns="25400" bIns="25400" rtlCol="0" anchor="t">
            <a:normAutofit lnSpcReduction="1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8%</a:t>
            </a:r>
            <a:endParaRPr lang="en-US" sz="5400" dirty="0">
              <a:latin typeface="Times New Roman" panose="02020603050405020304" pitchFamily="18" charset="0"/>
            </a:endParaRPr>
          </a:p>
        </p:txBody>
      </p:sp>
      <p:sp>
        <p:nvSpPr>
          <p:cNvPr id="8" name="Text 5"/>
          <p:cNvSpPr/>
          <p:nvPr/>
        </p:nvSpPr>
        <p:spPr>
          <a:xfrm>
            <a:off x="5143500" y="3067050"/>
            <a:ext cx="4191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Baselines + ablations</a:t>
            </a:r>
            <a:endParaRPr lang="en-US" sz="1950" dirty="0">
              <a:latin typeface="Times New Roman" panose="02020603050405020304" pitchFamily="18" charset="0"/>
            </a:endParaRPr>
          </a:p>
        </p:txBody>
      </p:sp>
      <p:sp>
        <p:nvSpPr>
          <p:cNvPr id="9" name="Text 6"/>
          <p:cNvSpPr/>
          <p:nvPr/>
        </p:nvSpPr>
        <p:spPr>
          <a:xfrm>
            <a:off x="9334500" y="2305050"/>
            <a:ext cx="4191000" cy="723900"/>
          </a:xfrm>
          <a:prstGeom prst="rect">
            <a:avLst/>
          </a:prstGeom>
          <a:noFill/>
          <a:ln/>
        </p:spPr>
        <p:txBody>
          <a:bodyPr wrap="square" lIns="25400" tIns="25400" rIns="25400" bIns="25400" rtlCol="0" anchor="t">
            <a:normAutofit lnSpcReduction="1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4%</a:t>
            </a:r>
            <a:endParaRPr lang="en-US" sz="5400" dirty="0">
              <a:latin typeface="Times New Roman" panose="02020603050405020304" pitchFamily="18" charset="0"/>
            </a:endParaRPr>
          </a:p>
        </p:txBody>
      </p:sp>
      <p:sp>
        <p:nvSpPr>
          <p:cNvPr id="10" name="Text 7"/>
          <p:cNvSpPr/>
          <p:nvPr/>
        </p:nvSpPr>
        <p:spPr>
          <a:xfrm>
            <a:off x="9334500" y="3067050"/>
            <a:ext cx="4191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Memory + reproducibility</a:t>
            </a:r>
            <a:endParaRPr lang="en-US" sz="1950" dirty="0">
              <a:latin typeface="Times New Roman" panose="02020603050405020304" pitchFamily="18" charset="0"/>
            </a:endParaRPr>
          </a:p>
        </p:txBody>
      </p:sp>
      <p:sp>
        <p:nvSpPr>
          <p:cNvPr id="11" name="Text 8"/>
          <p:cNvSpPr/>
          <p:nvPr/>
        </p:nvSpPr>
        <p:spPr>
          <a:xfrm>
            <a:off x="13525500" y="2305050"/>
            <a:ext cx="4191000" cy="723900"/>
          </a:xfrm>
          <a:prstGeom prst="rect">
            <a:avLst/>
          </a:prstGeom>
          <a:noFill/>
          <a:ln/>
        </p:spPr>
        <p:txBody>
          <a:bodyPr wrap="square" lIns="25400" tIns="25400" rIns="25400" bIns="25400" rtlCol="0" anchor="t">
            <a:normAutofit lnSpcReduction="10000"/>
          </a:bodyPr>
          <a:lstStyle/>
          <a:p>
            <a:pPr marL="0" indent="0" algn="just">
              <a:lnSpc>
                <a:spcPct val="88816"/>
              </a:lnSpc>
              <a:buNone/>
            </a:pPr>
            <a:r>
              <a:rPr lang="en-US" sz="5400" b="1" dirty="0">
                <a:solidFill>
                  <a:srgbClr val="5980A6"/>
                </a:solidFill>
                <a:latin typeface="Times New Roman" panose="02020603050405020304" pitchFamily="18" charset="0"/>
                <a:ea typeface="Arial" pitchFamily="34" charset="-122"/>
                <a:cs typeface="Arial" pitchFamily="34" charset="-120"/>
              </a:rPr>
              <a:t>3%</a:t>
            </a:r>
            <a:endParaRPr lang="en-US" sz="5400" dirty="0">
              <a:latin typeface="Times New Roman" panose="02020603050405020304" pitchFamily="18" charset="0"/>
            </a:endParaRPr>
          </a:p>
        </p:txBody>
      </p:sp>
      <p:sp>
        <p:nvSpPr>
          <p:cNvPr id="12" name="Text 9"/>
          <p:cNvSpPr/>
          <p:nvPr/>
        </p:nvSpPr>
        <p:spPr>
          <a:xfrm>
            <a:off x="13525500" y="3067050"/>
            <a:ext cx="4191000" cy="347663"/>
          </a:xfrm>
          <a:prstGeom prst="rect">
            <a:avLst/>
          </a:prstGeom>
          <a:noFill/>
          <a:ln/>
        </p:spPr>
        <p:txBody>
          <a:bodyPr wrap="square" lIns="25400" tIns="25400" rIns="25400" bIns="25400" rtlCol="0" anchor="t">
            <a:normAutofit lnSpcReduction="10000"/>
          </a:bodyPr>
          <a:lstStyle/>
          <a:p>
            <a:pPr marL="0" indent="0" algn="just">
              <a:lnSpc>
                <a:spcPct val="108817"/>
              </a:lnSpc>
              <a:buNone/>
            </a:pPr>
            <a:r>
              <a:rPr lang="en-US" sz="1950" dirty="0">
                <a:solidFill>
                  <a:srgbClr val="1D1F20"/>
                </a:solidFill>
                <a:latin typeface="Times New Roman" panose="02020603050405020304" pitchFamily="18" charset="0"/>
                <a:ea typeface="Arial" pitchFamily="34" charset="-122"/>
                <a:cs typeface="Arial" pitchFamily="34" charset="-120"/>
              </a:rPr>
              <a:t>Final report + demo</a:t>
            </a:r>
            <a:endParaRPr lang="en-US" sz="1950" dirty="0">
              <a:latin typeface="Times New Roman" panose="02020603050405020304" pitchFamily="18" charset="0"/>
            </a:endParaRPr>
          </a:p>
        </p:txBody>
      </p:sp>
      <p:sp>
        <p:nvSpPr>
          <p:cNvPr id="13" name="Shape 10"/>
          <p:cNvSpPr/>
          <p:nvPr/>
        </p:nvSpPr>
        <p:spPr>
          <a:xfrm>
            <a:off x="952500" y="3833812"/>
            <a:ext cx="3485674" cy="15240"/>
          </a:xfrm>
          <a:prstGeom prst="rect">
            <a:avLst/>
          </a:prstGeom>
          <a:solidFill>
            <a:srgbClr val="5980A6"/>
          </a:solidFill>
          <a:ln/>
        </p:spPr>
      </p:sp>
      <p:sp>
        <p:nvSpPr>
          <p:cNvPr id="14" name="Text 11"/>
          <p:cNvSpPr/>
          <p:nvPr/>
        </p:nvSpPr>
        <p:spPr>
          <a:xfrm>
            <a:off x="952500" y="4077653"/>
            <a:ext cx="3498961" cy="569595"/>
          </a:xfrm>
          <a:prstGeom prst="rect">
            <a:avLst/>
          </a:prstGeom>
          <a:noFill/>
          <a:ln/>
        </p:spPr>
        <p:txBody>
          <a:bodyPr wrap="square" lIns="25400" tIns="25400" rIns="25400" bIns="25400" rtlCol="0" anchor="t">
            <a:normAutofit/>
          </a:bodyPr>
          <a:lstStyle/>
          <a:p>
            <a:pPr marL="0" indent="0" algn="just">
              <a:lnSpc>
                <a:spcPct val="135877"/>
              </a:lnSpc>
              <a:buNone/>
            </a:pPr>
            <a:r>
              <a:rPr lang="en-US" sz="2700" b="1" dirty="0">
                <a:solidFill>
                  <a:srgbClr val="1D1F20"/>
                </a:solidFill>
                <a:latin typeface="Times New Roman" panose="02020603050405020304" pitchFamily="18" charset="0"/>
                <a:ea typeface="Arial" pitchFamily="34" charset="-122"/>
                <a:cs typeface="Arial" pitchFamily="34" charset="-120"/>
              </a:rPr>
              <a:t>30 Sep – 6 Oct</a:t>
            </a:r>
            <a:endParaRPr lang="en-US" sz="2700" dirty="0">
              <a:latin typeface="Times New Roman" panose="02020603050405020304" pitchFamily="18" charset="0"/>
            </a:endParaRPr>
          </a:p>
        </p:txBody>
      </p:sp>
      <p:sp>
        <p:nvSpPr>
          <p:cNvPr id="15" name="Text 12"/>
          <p:cNvSpPr/>
          <p:nvPr/>
        </p:nvSpPr>
        <p:spPr>
          <a:xfrm>
            <a:off x="952500" y="4742497"/>
            <a:ext cx="3276300" cy="1003935"/>
          </a:xfrm>
          <a:prstGeom prst="rect">
            <a:avLst/>
          </a:prstGeom>
          <a:noFill/>
          <a:ln/>
        </p:spPr>
        <p:txBody>
          <a:bodyPr wrap="square" lIns="25400" tIns="25400" rIns="25400" bIns="25400" rtlCol="0" anchor="t">
            <a:normAutofit/>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Audit identity resolution, NLI mapping, final-answer checks</a:t>
            </a:r>
            <a:endParaRPr lang="en-US" sz="1950" dirty="0">
              <a:latin typeface="Times New Roman" panose="02020603050405020304" pitchFamily="18" charset="0"/>
            </a:endParaRPr>
          </a:p>
        </p:txBody>
      </p:sp>
      <p:sp>
        <p:nvSpPr>
          <p:cNvPr id="16" name="Text 13"/>
          <p:cNvSpPr/>
          <p:nvPr/>
        </p:nvSpPr>
        <p:spPr>
          <a:xfrm>
            <a:off x="952500" y="5841682"/>
            <a:ext cx="3276300" cy="632460"/>
          </a:xfrm>
          <a:prstGeom prst="rect">
            <a:avLst/>
          </a:prstGeom>
          <a:noFill/>
          <a:ln/>
        </p:spPr>
        <p:txBody>
          <a:bodyPr wrap="square" lIns="25400" tIns="25400" rIns="25400" bIns="25400" rtlCol="0" anchor="t">
            <a:normAutofit/>
          </a:bodyPr>
          <a:lstStyle/>
          <a:p>
            <a:pPr marL="0" indent="0" algn="just">
              <a:lnSpc>
                <a:spcPct val="114706"/>
              </a:lnSpc>
              <a:buNone/>
            </a:pPr>
            <a:r>
              <a:rPr lang="en-US" sz="1800" dirty="0">
                <a:solidFill>
                  <a:srgbClr val="416180"/>
                </a:solidFill>
                <a:latin typeface="Times New Roman" panose="02020603050405020304" pitchFamily="18" charset="0"/>
                <a:ea typeface="Arial" pitchFamily="34" charset="-122"/>
                <a:cs typeface="Arial" pitchFamily="34" charset="-120"/>
              </a:rPr>
              <a:t>Verifier tests, revised stress test</a:t>
            </a:r>
            <a:endParaRPr lang="en-US" sz="1800" dirty="0">
              <a:latin typeface="Times New Roman" panose="02020603050405020304" pitchFamily="18" charset="0"/>
            </a:endParaRPr>
          </a:p>
        </p:txBody>
      </p:sp>
      <p:sp>
        <p:nvSpPr>
          <p:cNvPr id="17" name="Shape 14"/>
          <p:cNvSpPr/>
          <p:nvPr/>
        </p:nvSpPr>
        <p:spPr>
          <a:xfrm>
            <a:off x="4438174" y="3833812"/>
            <a:ext cx="3485674" cy="15240"/>
          </a:xfrm>
          <a:prstGeom prst="rect">
            <a:avLst/>
          </a:prstGeom>
          <a:solidFill>
            <a:srgbClr val="5980A6"/>
          </a:solidFill>
          <a:ln/>
        </p:spPr>
      </p:sp>
      <p:sp>
        <p:nvSpPr>
          <p:cNvPr id="18" name="Text 15"/>
          <p:cNvSpPr/>
          <p:nvPr/>
        </p:nvSpPr>
        <p:spPr>
          <a:xfrm>
            <a:off x="4438174" y="4077653"/>
            <a:ext cx="3498961" cy="569595"/>
          </a:xfrm>
          <a:prstGeom prst="rect">
            <a:avLst/>
          </a:prstGeom>
          <a:noFill/>
          <a:ln/>
        </p:spPr>
        <p:txBody>
          <a:bodyPr wrap="square" lIns="25400" tIns="25400" rIns="25400" bIns="25400" rtlCol="0" anchor="t">
            <a:normAutofit/>
          </a:bodyPr>
          <a:lstStyle/>
          <a:p>
            <a:pPr marL="0" indent="0" algn="just">
              <a:lnSpc>
                <a:spcPct val="135877"/>
              </a:lnSpc>
              <a:buNone/>
            </a:pPr>
            <a:r>
              <a:rPr lang="en-US" sz="2700" b="1" dirty="0">
                <a:solidFill>
                  <a:srgbClr val="1D1F20"/>
                </a:solidFill>
                <a:latin typeface="Times New Roman" panose="02020603050405020304" pitchFamily="18" charset="0"/>
                <a:ea typeface="Arial" pitchFamily="34" charset="-122"/>
                <a:cs typeface="Arial" pitchFamily="34" charset="-120"/>
              </a:rPr>
              <a:t>7 – 13 Oct</a:t>
            </a:r>
            <a:endParaRPr lang="en-US" sz="2700" dirty="0">
              <a:latin typeface="Times New Roman" panose="02020603050405020304" pitchFamily="18" charset="0"/>
            </a:endParaRPr>
          </a:p>
        </p:txBody>
      </p:sp>
      <p:sp>
        <p:nvSpPr>
          <p:cNvPr id="19" name="Text 16"/>
          <p:cNvSpPr/>
          <p:nvPr/>
        </p:nvSpPr>
        <p:spPr>
          <a:xfrm>
            <a:off x="4438174" y="4742497"/>
            <a:ext cx="327630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Matched RAG baseline and four ablations</a:t>
            </a:r>
            <a:endParaRPr lang="en-US" sz="1950" dirty="0">
              <a:latin typeface="Times New Roman" panose="02020603050405020304" pitchFamily="18" charset="0"/>
            </a:endParaRPr>
          </a:p>
        </p:txBody>
      </p:sp>
      <p:sp>
        <p:nvSpPr>
          <p:cNvPr id="20" name="Text 17"/>
          <p:cNvSpPr/>
          <p:nvPr/>
        </p:nvSpPr>
        <p:spPr>
          <a:xfrm>
            <a:off x="4438174" y="5519738"/>
            <a:ext cx="3276300"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416180"/>
                </a:solidFill>
                <a:latin typeface="Times New Roman" panose="02020603050405020304" pitchFamily="18" charset="0"/>
                <a:ea typeface="Arial" pitchFamily="34" charset="-122"/>
                <a:cs typeface="Arial" pitchFamily="34" charset="-120"/>
              </a:rPr>
              <a:t>Comparable scorecards, latency, tokens</a:t>
            </a:r>
            <a:endParaRPr lang="en-US" sz="1800" dirty="0">
              <a:latin typeface="Times New Roman" panose="02020603050405020304" pitchFamily="18" charset="0"/>
            </a:endParaRPr>
          </a:p>
        </p:txBody>
      </p:sp>
      <p:sp>
        <p:nvSpPr>
          <p:cNvPr id="21" name="Shape 18"/>
          <p:cNvSpPr/>
          <p:nvPr/>
        </p:nvSpPr>
        <p:spPr>
          <a:xfrm>
            <a:off x="7923848" y="3833812"/>
            <a:ext cx="3485674" cy="15240"/>
          </a:xfrm>
          <a:prstGeom prst="rect">
            <a:avLst/>
          </a:prstGeom>
          <a:solidFill>
            <a:srgbClr val="5980A6"/>
          </a:solidFill>
          <a:ln/>
        </p:spPr>
      </p:sp>
      <p:sp>
        <p:nvSpPr>
          <p:cNvPr id="22" name="Text 19"/>
          <p:cNvSpPr/>
          <p:nvPr/>
        </p:nvSpPr>
        <p:spPr>
          <a:xfrm>
            <a:off x="7923848" y="4077653"/>
            <a:ext cx="3498961" cy="569595"/>
          </a:xfrm>
          <a:prstGeom prst="rect">
            <a:avLst/>
          </a:prstGeom>
          <a:noFill/>
          <a:ln/>
        </p:spPr>
        <p:txBody>
          <a:bodyPr wrap="square" lIns="25400" tIns="25400" rIns="25400" bIns="25400" rtlCol="0" anchor="t">
            <a:normAutofit/>
          </a:bodyPr>
          <a:lstStyle/>
          <a:p>
            <a:pPr marL="0" indent="0" algn="just">
              <a:lnSpc>
                <a:spcPct val="135877"/>
              </a:lnSpc>
              <a:buNone/>
            </a:pPr>
            <a:r>
              <a:rPr lang="en-US" sz="2700" b="1" dirty="0">
                <a:solidFill>
                  <a:srgbClr val="1D1F20"/>
                </a:solidFill>
                <a:latin typeface="Times New Roman" panose="02020603050405020304" pitchFamily="18" charset="0"/>
                <a:ea typeface="Arial" pitchFamily="34" charset="-122"/>
                <a:cs typeface="Arial" pitchFamily="34" charset="-120"/>
              </a:rPr>
              <a:t>14 – 20 Oct</a:t>
            </a:r>
            <a:endParaRPr lang="en-US" sz="2700" dirty="0">
              <a:latin typeface="Times New Roman" panose="02020603050405020304" pitchFamily="18" charset="0"/>
            </a:endParaRPr>
          </a:p>
        </p:txBody>
      </p:sp>
      <p:sp>
        <p:nvSpPr>
          <p:cNvPr id="23" name="Text 20"/>
          <p:cNvSpPr/>
          <p:nvPr/>
        </p:nvSpPr>
        <p:spPr>
          <a:xfrm>
            <a:off x="7923848" y="4742497"/>
            <a:ext cx="327630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Held-out review, paraphrase and memory tests</a:t>
            </a:r>
            <a:endParaRPr lang="en-US" sz="1950" dirty="0">
              <a:latin typeface="Times New Roman" panose="02020603050405020304" pitchFamily="18" charset="0"/>
            </a:endParaRPr>
          </a:p>
        </p:txBody>
      </p:sp>
      <p:sp>
        <p:nvSpPr>
          <p:cNvPr id="24" name="Text 21"/>
          <p:cNvSpPr/>
          <p:nvPr/>
        </p:nvSpPr>
        <p:spPr>
          <a:xfrm>
            <a:off x="7923848" y="5519738"/>
            <a:ext cx="3276300"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416180"/>
                </a:solidFill>
                <a:latin typeface="Times New Roman" panose="02020603050405020304" pitchFamily="18" charset="0"/>
                <a:ea typeface="Arial" pitchFamily="34" charset="-122"/>
                <a:cs typeface="Arial" pitchFamily="34" charset="-120"/>
              </a:rPr>
              <a:t>Independent labels, failure taxonomy</a:t>
            </a:r>
            <a:endParaRPr lang="en-US" sz="1800" dirty="0">
              <a:latin typeface="Times New Roman" panose="02020603050405020304" pitchFamily="18" charset="0"/>
            </a:endParaRPr>
          </a:p>
        </p:txBody>
      </p:sp>
      <p:sp>
        <p:nvSpPr>
          <p:cNvPr id="25" name="Shape 22"/>
          <p:cNvSpPr/>
          <p:nvPr/>
        </p:nvSpPr>
        <p:spPr>
          <a:xfrm>
            <a:off x="11409521" y="3833812"/>
            <a:ext cx="3485674" cy="15240"/>
          </a:xfrm>
          <a:prstGeom prst="rect">
            <a:avLst/>
          </a:prstGeom>
          <a:solidFill>
            <a:srgbClr val="5980A6"/>
          </a:solidFill>
          <a:ln/>
        </p:spPr>
      </p:sp>
      <p:sp>
        <p:nvSpPr>
          <p:cNvPr id="26" name="Text 23"/>
          <p:cNvSpPr/>
          <p:nvPr/>
        </p:nvSpPr>
        <p:spPr>
          <a:xfrm>
            <a:off x="11409521" y="4077653"/>
            <a:ext cx="3498961" cy="569595"/>
          </a:xfrm>
          <a:prstGeom prst="rect">
            <a:avLst/>
          </a:prstGeom>
          <a:noFill/>
          <a:ln/>
        </p:spPr>
        <p:txBody>
          <a:bodyPr wrap="square" lIns="25400" tIns="25400" rIns="25400" bIns="25400" rtlCol="0" anchor="t">
            <a:normAutofit/>
          </a:bodyPr>
          <a:lstStyle/>
          <a:p>
            <a:pPr marL="0" indent="0" algn="just">
              <a:lnSpc>
                <a:spcPct val="135877"/>
              </a:lnSpc>
              <a:buNone/>
            </a:pPr>
            <a:r>
              <a:rPr lang="en-US" sz="2700" b="1" dirty="0">
                <a:solidFill>
                  <a:srgbClr val="1D1F20"/>
                </a:solidFill>
                <a:latin typeface="Times New Roman" panose="02020603050405020304" pitchFamily="18" charset="0"/>
                <a:ea typeface="Arial" pitchFamily="34" charset="-122"/>
                <a:cs typeface="Arial" pitchFamily="34" charset="-120"/>
              </a:rPr>
              <a:t>21 – 27 Oct</a:t>
            </a:r>
            <a:endParaRPr lang="en-US" sz="2700" dirty="0">
              <a:latin typeface="Times New Roman" panose="02020603050405020304" pitchFamily="18" charset="0"/>
            </a:endParaRPr>
          </a:p>
        </p:txBody>
      </p:sp>
      <p:sp>
        <p:nvSpPr>
          <p:cNvPr id="27" name="Text 24"/>
          <p:cNvSpPr/>
          <p:nvPr/>
        </p:nvSpPr>
        <p:spPr>
          <a:xfrm>
            <a:off x="11409521" y="4742497"/>
            <a:ext cx="3276300" cy="681990"/>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dirty="0">
                <a:solidFill>
                  <a:srgbClr val="1D1F20"/>
                </a:solidFill>
                <a:latin typeface="Times New Roman" panose="02020603050405020304" pitchFamily="18" charset="0"/>
                <a:ea typeface="Arial" pitchFamily="34" charset="-122"/>
                <a:cs typeface="Arial" pitchFamily="34" charset="-120"/>
              </a:rPr>
              <a:t>Repeat experiments; finalise report and demo</a:t>
            </a:r>
            <a:endParaRPr lang="en-US" sz="1950" dirty="0">
              <a:latin typeface="Times New Roman" panose="02020603050405020304" pitchFamily="18" charset="0"/>
            </a:endParaRPr>
          </a:p>
        </p:txBody>
      </p:sp>
      <p:sp>
        <p:nvSpPr>
          <p:cNvPr id="28" name="Text 25"/>
          <p:cNvSpPr/>
          <p:nvPr/>
        </p:nvSpPr>
        <p:spPr>
          <a:xfrm>
            <a:off x="11409521" y="5519738"/>
            <a:ext cx="3276300"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416180"/>
                </a:solidFill>
                <a:latin typeface="Times New Roman" panose="02020603050405020304" pitchFamily="18" charset="0"/>
                <a:ea typeface="Arial" pitchFamily="34" charset="-122"/>
                <a:cs typeface="Arial" pitchFamily="34" charset="-120"/>
              </a:rPr>
              <a:t>Reproducible package, final figures</a:t>
            </a:r>
            <a:endParaRPr lang="en-US" sz="1800" dirty="0">
              <a:latin typeface="Times New Roman" panose="02020603050405020304" pitchFamily="18" charset="0"/>
            </a:endParaRPr>
          </a:p>
        </p:txBody>
      </p:sp>
      <p:sp>
        <p:nvSpPr>
          <p:cNvPr id="29" name="Shape 26"/>
          <p:cNvSpPr/>
          <p:nvPr/>
        </p:nvSpPr>
        <p:spPr>
          <a:xfrm>
            <a:off x="14895195" y="3833812"/>
            <a:ext cx="2439987" cy="15240"/>
          </a:xfrm>
          <a:prstGeom prst="rect">
            <a:avLst/>
          </a:prstGeom>
          <a:solidFill>
            <a:srgbClr val="1D2D3D"/>
          </a:solidFill>
          <a:ln/>
        </p:spPr>
      </p:sp>
      <p:sp>
        <p:nvSpPr>
          <p:cNvPr id="30" name="Text 27"/>
          <p:cNvSpPr/>
          <p:nvPr/>
        </p:nvSpPr>
        <p:spPr>
          <a:xfrm>
            <a:off x="14895195" y="4077653"/>
            <a:ext cx="2683986" cy="569595"/>
          </a:xfrm>
          <a:prstGeom prst="rect">
            <a:avLst/>
          </a:prstGeom>
          <a:noFill/>
          <a:ln/>
        </p:spPr>
        <p:txBody>
          <a:bodyPr wrap="square" lIns="25400" tIns="25400" rIns="25400" bIns="25400" rtlCol="0" anchor="t">
            <a:normAutofit/>
          </a:bodyPr>
          <a:lstStyle/>
          <a:p>
            <a:pPr marL="0" indent="0" algn="just">
              <a:lnSpc>
                <a:spcPct val="135877"/>
              </a:lnSpc>
              <a:buNone/>
            </a:pPr>
            <a:r>
              <a:rPr lang="en-US" sz="2700" b="1" dirty="0">
                <a:solidFill>
                  <a:srgbClr val="1D2D3D"/>
                </a:solidFill>
                <a:latin typeface="Times New Roman" panose="02020603050405020304" pitchFamily="18" charset="0"/>
                <a:ea typeface="Arial" pitchFamily="34" charset="-122"/>
                <a:cs typeface="Arial" pitchFamily="34" charset="-120"/>
              </a:rPr>
              <a:t>28 Oct</a:t>
            </a:r>
            <a:endParaRPr lang="en-US" sz="2700" dirty="0">
              <a:latin typeface="Times New Roman" panose="02020603050405020304" pitchFamily="18" charset="0"/>
            </a:endParaRPr>
          </a:p>
        </p:txBody>
      </p:sp>
      <p:sp>
        <p:nvSpPr>
          <p:cNvPr id="31" name="Text 28"/>
          <p:cNvSpPr/>
          <p:nvPr/>
        </p:nvSpPr>
        <p:spPr>
          <a:xfrm>
            <a:off x="14895195" y="4742497"/>
            <a:ext cx="2683986" cy="360045"/>
          </a:xfrm>
          <a:prstGeom prst="rect">
            <a:avLst/>
          </a:prstGeom>
          <a:noFill/>
          <a:ln/>
        </p:spPr>
        <p:txBody>
          <a:bodyPr wrap="square" lIns="25400" tIns="25400" rIns="25400" bIns="25400" rtlCol="0" anchor="t">
            <a:normAutofit lnSpcReduction="10000"/>
          </a:bodyPr>
          <a:lstStyle/>
          <a:p>
            <a:pPr marL="0" indent="0" algn="just">
              <a:lnSpc>
                <a:spcPct val="113170"/>
              </a:lnSpc>
              <a:buNone/>
            </a:pPr>
            <a:r>
              <a:rPr lang="en-US" sz="1950" b="1" dirty="0">
                <a:solidFill>
                  <a:srgbClr val="1D1F20"/>
                </a:solidFill>
                <a:latin typeface="Times New Roman" panose="02020603050405020304" pitchFamily="18" charset="0"/>
                <a:ea typeface="Arial" pitchFamily="34" charset="-122"/>
                <a:cs typeface="Arial" pitchFamily="34" charset="-120"/>
              </a:rPr>
              <a:t>Review-III</a:t>
            </a:r>
            <a:endParaRPr lang="en-US" sz="1950" dirty="0">
              <a:latin typeface="Times New Roman" panose="02020603050405020304" pitchFamily="18" charset="0"/>
            </a:endParaRPr>
          </a:p>
        </p:txBody>
      </p:sp>
      <p:sp>
        <p:nvSpPr>
          <p:cNvPr id="32" name="Text 29"/>
          <p:cNvSpPr/>
          <p:nvPr/>
        </p:nvSpPr>
        <p:spPr>
          <a:xfrm>
            <a:off x="14895195" y="5197793"/>
            <a:ext cx="2516187" cy="63246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416180"/>
                </a:solidFill>
                <a:latin typeface="Times New Roman" panose="02020603050405020304" pitchFamily="18" charset="0"/>
                <a:ea typeface="Arial" pitchFamily="34" charset="-122"/>
                <a:cs typeface="Arial" pitchFamily="34" charset="-120"/>
              </a:rPr>
              <a:t>Final results and limitations</a:t>
            </a:r>
            <a:endParaRPr lang="en-US" sz="1800" dirty="0">
              <a:latin typeface="Times New Roman" panose="02020603050405020304" pitchFamily="18" charset="0"/>
            </a:endParaRPr>
          </a:p>
        </p:txBody>
      </p:sp>
      <p:sp>
        <p:nvSpPr>
          <p:cNvPr id="34" name="TextBox 33">
            <a:extLst>
              <a:ext uri="{FF2B5EF4-FFF2-40B4-BE49-F238E27FC236}">
                <a16:creationId xmlns:a16="http://schemas.microsoft.com/office/drawing/2014/main" id="{5C88EFD4-CAD6-C957-F8A1-9355E137F3F7}"/>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29</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5260927"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cs typeface="Arial" pitchFamily="34" charset="-120"/>
              </a:rPr>
              <a:t>Conclusion</a:t>
            </a:r>
            <a:endParaRPr lang="en-US" sz="48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mc:AlternateContent xmlns:mc="http://schemas.openxmlformats.org/markup-compatibility/2006" xmlns:a14="http://schemas.microsoft.com/office/drawing/2010/main">
        <mc:Choice Requires="a14">
          <p:sp>
            <p:nvSpPr>
              <p:cNvPr id="34" name="Text 31"/>
              <p:cNvSpPr/>
              <p:nvPr/>
            </p:nvSpPr>
            <p:spPr>
              <a:xfrm>
                <a:off x="457201" y="2100260"/>
                <a:ext cx="17219676" cy="7446645"/>
              </a:xfrm>
              <a:prstGeom prst="rect">
                <a:avLst/>
              </a:prstGeom>
              <a:noFill/>
              <a:ln/>
            </p:spPr>
            <p:txBody>
              <a:bodyPr wrap="square" lIns="25400" tIns="25400" rIns="25400" bIns="25400" rtlCol="0" anchor="t">
                <a:normAutofit fontScale="85000" lnSpcReduction="10000"/>
              </a:bodyPr>
              <a:lstStyle/>
              <a:p>
                <a:r>
                  <a:rPr lang="en-IN" sz="2400" dirty="0">
                    <a:solidFill>
                      <a:srgbClr val="1D1F20"/>
                    </a:solidFill>
                    <a:latin typeface="Times New Roman" panose="02020603050405020304" pitchFamily="18" charset="0"/>
                    <a:cs typeface="Arial" pitchFamily="34" charset="-120"/>
                  </a:rPr>
                  <a:t>LexAgent v3.0 presents a citation-grounded, multi-agent debate architecture for reducing hallucinations in legal question answering under strict computational and privacy constraints. The system integrates Harvard’s Caselaw Access Project (CAP) as its authority database, a hybrid retrieval pipeline combining BM25 and Legal-BERT through Reciprocal Rank Fusion (RRF), and an adversarial Prosecutor–</a:t>
                </a:r>
                <a:r>
                  <a:rPr lang="en-IN" sz="2400" dirty="0" err="1">
                    <a:solidFill>
                      <a:srgbClr val="1D1F20"/>
                    </a:solidFill>
                    <a:latin typeface="Times New Roman" panose="02020603050405020304" pitchFamily="18" charset="0"/>
                    <a:cs typeface="Arial" pitchFamily="34" charset="-120"/>
                  </a:rPr>
                  <a:t>Defense</a:t>
                </a:r>
                <a:r>
                  <a:rPr lang="en-IN" sz="2400" dirty="0">
                    <a:solidFill>
                      <a:srgbClr val="1D1F20"/>
                    </a:solidFill>
                    <a:latin typeface="Times New Roman" panose="02020603050405020304" pitchFamily="18" charset="0"/>
                    <a:cs typeface="Arial" pitchFamily="34" charset="-120"/>
                  </a:rPr>
                  <a:t>–Judge protocol orchestrated using LangGraph. Together, these components introduce structured evidential scrutiny before the final synthesis of legal answers.</a:t>
                </a:r>
              </a:p>
              <a:p>
                <a:r>
                  <a:rPr lang="en-IN" sz="2400" dirty="0">
                    <a:solidFill>
                      <a:srgbClr val="1D1F20"/>
                    </a:solidFill>
                    <a:latin typeface="Times New Roman" panose="02020603050405020304" pitchFamily="18" charset="0"/>
                    <a:cs typeface="Arial" pitchFamily="34" charset="-120"/>
                  </a:rPr>
                  <a:t>At the Review-II milestone, representing 75% of the scheduled development, experimental evaluation supports three principal findings.</a:t>
                </a:r>
              </a:p>
              <a:p>
                <a:r>
                  <a:rPr lang="en-IN" sz="2400" dirty="0">
                    <a:solidFill>
                      <a:srgbClr val="1D1F20"/>
                    </a:solidFill>
                    <a:latin typeface="Times New Roman" panose="02020603050405020304" pitchFamily="18" charset="0"/>
                    <a:cs typeface="Arial" pitchFamily="34" charset="-120"/>
                  </a:rPr>
                  <a:t>Evidential Independence Reduces False Consensus.</a:t>
                </a:r>
                <a:br>
                  <a:rPr lang="en-IN" sz="2400" dirty="0">
                    <a:solidFill>
                      <a:srgbClr val="1D1F20"/>
                    </a:solidFill>
                    <a:latin typeface="Times New Roman" panose="02020603050405020304" pitchFamily="18" charset="0"/>
                    <a:cs typeface="Arial" pitchFamily="34" charset="-120"/>
                  </a:rPr>
                </a:br>
                <a:r>
                  <a:rPr lang="en-IN" sz="2400" dirty="0">
                    <a:solidFill>
                      <a:srgbClr val="1D1F20"/>
                    </a:solidFill>
                    <a:latin typeface="Times New Roman" panose="02020603050405020304" pitchFamily="18" charset="0"/>
                    <a:cs typeface="Arial" pitchFamily="34" charset="-120"/>
                  </a:rPr>
                  <a:t>Requiring the </a:t>
                </a:r>
                <a:r>
                  <a:rPr lang="en-IN" sz="2400" dirty="0" err="1">
                    <a:solidFill>
                      <a:srgbClr val="1D1F20"/>
                    </a:solidFill>
                    <a:latin typeface="Times New Roman" panose="02020603050405020304" pitchFamily="18" charset="0"/>
                    <a:cs typeface="Arial" pitchFamily="34" charset="-120"/>
                  </a:rPr>
                  <a:t>Defense</a:t>
                </a:r>
                <a:r>
                  <a:rPr lang="en-IN" sz="2400" dirty="0">
                    <a:solidFill>
                      <a:srgbClr val="1D1F20"/>
                    </a:solidFill>
                    <a:latin typeface="Times New Roman" panose="02020603050405020304" pitchFamily="18" charset="0"/>
                    <a:cs typeface="Arial" pitchFamily="34" charset="-120"/>
                  </a:rPr>
                  <a:t> agent to conduct independent counter-retrieval while excluding passages retrieved by the Prosecutor produced an Evidence Overlap Ratio (EOR) of 0.000 across all 25 landmark benchmark cases. This separation prevents the </a:t>
                </a:r>
                <a:r>
                  <a:rPr lang="en-IN" sz="2400" dirty="0" err="1">
                    <a:solidFill>
                      <a:srgbClr val="1D1F20"/>
                    </a:solidFill>
                    <a:latin typeface="Times New Roman" panose="02020603050405020304" pitchFamily="18" charset="0"/>
                    <a:cs typeface="Arial" pitchFamily="34" charset="-120"/>
                  </a:rPr>
                  <a:t>Defense</a:t>
                </a:r>
                <a:r>
                  <a:rPr lang="en-IN" sz="2400" dirty="0">
                    <a:solidFill>
                      <a:srgbClr val="1D1F20"/>
                    </a:solidFill>
                    <a:latin typeface="Times New Roman" panose="02020603050405020304" pitchFamily="18" charset="0"/>
                    <a:cs typeface="Arial" pitchFamily="34" charset="-120"/>
                  </a:rPr>
                  <a:t> agent from simply reproducing the Prosecutor's evidence and directly addresses the echo-chamber problem associated with multi-agent debate systems.</a:t>
                </a:r>
              </a:p>
              <a:p>
                <a:r>
                  <a:rPr lang="en-IN" sz="2400" dirty="0">
                    <a:solidFill>
                      <a:srgbClr val="1D1F20"/>
                    </a:solidFill>
                    <a:latin typeface="Times New Roman" panose="02020603050405020304" pitchFamily="18" charset="0"/>
                    <a:cs typeface="Arial" pitchFamily="34" charset="-120"/>
                  </a:rPr>
                  <a:t>Factorized Verification Prevents Identity–Holding Masking.</a:t>
                </a:r>
                <a:br>
                  <a:rPr lang="en-IN" sz="2400" dirty="0">
                    <a:solidFill>
                      <a:srgbClr val="1D1F20"/>
                    </a:solidFill>
                    <a:latin typeface="Times New Roman" panose="02020603050405020304" pitchFamily="18" charset="0"/>
                    <a:cs typeface="Arial" pitchFamily="34" charset="-120"/>
                  </a:rPr>
                </a:br>
                <a:r>
                  <a:rPr lang="en-IN" sz="2400" dirty="0">
                    <a:solidFill>
                      <a:srgbClr val="1D1F20"/>
                    </a:solidFill>
                    <a:latin typeface="Times New Roman" panose="02020603050405020304" pitchFamily="18" charset="0"/>
                    <a:cs typeface="Arial" pitchFamily="34" charset="-120"/>
                  </a:rPr>
                  <a:t>Replacing the previous additive confidence heuristic with the factorized formulation </a:t>
                </a:r>
                <a14:m>
                  <m:oMath xmlns:m="http://schemas.openxmlformats.org/officeDocument/2006/math">
                    <m:r>
                      <a:rPr lang="en-IN" sz="2400">
                        <a:solidFill>
                          <a:srgbClr val="1D1F20"/>
                        </a:solidFill>
                        <a:latin typeface="Cambria Math" panose="02040503050406030204" pitchFamily="18" charset="0"/>
                      </a:rPr>
                      <m:t>𝐶𝐶𝑆</m:t>
                    </m:r>
                    <m:r>
                      <a:rPr lang="en-IN" sz="2400">
                        <a:solidFill>
                          <a:srgbClr val="1D1F20"/>
                        </a:solidFill>
                        <a:latin typeface="Cambria Math" panose="02040503050406030204" pitchFamily="18" charset="0"/>
                      </a:rPr>
                      <m:t>=</m:t>
                    </m:r>
                    <m:r>
                      <a:rPr lang="en-IN" sz="2400">
                        <a:solidFill>
                          <a:srgbClr val="1D1F20"/>
                        </a:solidFill>
                        <a:latin typeface="Cambria Math" panose="02040503050406030204" pitchFamily="18" charset="0"/>
                      </a:rPr>
                      <m:t>𝐸</m:t>
                    </m:r>
                    <m:r>
                      <a:rPr lang="en-IN" sz="2400">
                        <a:solidFill>
                          <a:srgbClr val="1D1F20"/>
                        </a:solidFill>
                        <a:latin typeface="Cambria Math" panose="02040503050406030204" pitchFamily="18" charset="0"/>
                      </a:rPr>
                      <m:t>×</m:t>
                    </m:r>
                    <m:r>
                      <a:rPr lang="en-IN" sz="2400">
                        <a:solidFill>
                          <a:srgbClr val="1D1F20"/>
                        </a:solidFill>
                        <a:latin typeface="Cambria Math" panose="02040503050406030204" pitchFamily="18" charset="0"/>
                      </a:rPr>
                      <m:t>𝑆</m:t>
                    </m:r>
                  </m:oMath>
                </a14:m>
                <a:r>
                  <a:rPr lang="en-IN" sz="2400" dirty="0">
                    <a:solidFill>
                      <a:srgbClr val="1D1F20"/>
                    </a:solidFill>
                    <a:latin typeface="Times New Roman" panose="02020603050405020304" pitchFamily="18" charset="0"/>
                    <a:cs typeface="Arial" pitchFamily="34" charset="-120"/>
                  </a:rPr>
                  <a:t>ensures that recognition of an authentic case identity cannot compensate for an unsupported or fabricated holding. The accompanying five-way verdict taxonomy further distinguishes authentic but off-corpus authorities (UNVERIFIABLE) from genuinely fabricated claims (FABRICATED), providing a more granular mechanism for citation verification.</a:t>
                </a:r>
              </a:p>
              <a:p>
                <a:r>
                  <a:rPr lang="en-IN" sz="2400" dirty="0">
                    <a:solidFill>
                      <a:srgbClr val="1D1F20"/>
                    </a:solidFill>
                    <a:latin typeface="Times New Roman" panose="02020603050405020304" pitchFamily="18" charset="0"/>
                    <a:cs typeface="Arial" pitchFamily="34" charset="-120"/>
                  </a:rPr>
                  <a:t>Cross-Session Memory Provides Structural Risk Control.</a:t>
                </a:r>
                <a:br>
                  <a:rPr lang="en-IN" sz="2400" dirty="0">
                    <a:solidFill>
                      <a:srgbClr val="1D1F20"/>
                    </a:solidFill>
                    <a:latin typeface="Times New Roman" panose="02020603050405020304" pitchFamily="18" charset="0"/>
                    <a:cs typeface="Arial" pitchFamily="34" charset="-120"/>
                  </a:rPr>
                </a:br>
                <a:r>
                  <a:rPr lang="en-IN" sz="2400" dirty="0">
                    <a:solidFill>
                      <a:srgbClr val="1D1F20"/>
                    </a:solidFill>
                    <a:latin typeface="Times New Roman" panose="02020603050405020304" pitchFamily="18" charset="0"/>
                    <a:cs typeface="Arial" pitchFamily="34" charset="-120"/>
                  </a:rPr>
                  <a:t>Component ablation demonstrates the importance of proposition-level adaptive memory. Removing this mechanism increased the hallucination rate by 33.9%, from 0.168 to 0.225, while simultaneously producing the highest ungrounded model confidence (0.865). This divergence between confidence and evidential reliability indicates that persistent risk tracking is important for stabilizing stochastic LLM </a:t>
                </a:r>
                <a:r>
                  <a:rPr lang="en-IN" sz="2400" dirty="0" err="1">
                    <a:solidFill>
                      <a:srgbClr val="1D1F20"/>
                    </a:solidFill>
                    <a:latin typeface="Times New Roman" panose="02020603050405020304" pitchFamily="18" charset="0"/>
                    <a:cs typeface="Arial" pitchFamily="34" charset="-120"/>
                  </a:rPr>
                  <a:t>behavior</a:t>
                </a:r>
                <a:r>
                  <a:rPr lang="en-IN" sz="2400" dirty="0">
                    <a:solidFill>
                      <a:srgbClr val="1D1F20"/>
                    </a:solidFill>
                    <a:latin typeface="Times New Roman" panose="02020603050405020304" pitchFamily="18" charset="0"/>
                    <a:cs typeface="Arial" pitchFamily="34" charset="-120"/>
                  </a:rPr>
                  <a:t> across sessions.</a:t>
                </a:r>
              </a:p>
              <a:p>
                <a:r>
                  <a:rPr lang="en-IN" sz="2400" dirty="0">
                    <a:solidFill>
                      <a:srgbClr val="1D1F20"/>
                    </a:solidFill>
                    <a:latin typeface="Times New Roman" panose="02020603050405020304" pitchFamily="18" charset="0"/>
                    <a:cs typeface="Arial" pitchFamily="34" charset="-120"/>
                  </a:rPr>
                  <a:t>The remaining 25% of development toward Review-III will focus on two primary objectives. First, the conformal acceptance threshold </a:t>
                </a:r>
                <a14:m>
                  <m:oMath xmlns:m="http://schemas.openxmlformats.org/officeDocument/2006/math">
                    <m:r>
                      <a:rPr lang="en-IN" sz="2400">
                        <a:solidFill>
                          <a:srgbClr val="1D1F20"/>
                        </a:solidFill>
                        <a:latin typeface="Cambria Math" panose="02040503050406030204" pitchFamily="18" charset="0"/>
                      </a:rPr>
                      <m:t>𝜏</m:t>
                    </m:r>
                  </m:oMath>
                </a14:m>
                <a:r>
                  <a:rPr lang="en-IN" sz="2400" dirty="0">
                    <a:solidFill>
                      <a:srgbClr val="1D1F20"/>
                    </a:solidFill>
                    <a:latin typeface="Times New Roman" panose="02020603050405020304" pitchFamily="18" charset="0"/>
                    <a:cs typeface="Arial" pitchFamily="34" charset="-120"/>
                  </a:rPr>
                  <a:t>will be formally calibrated to establish statistical error guarantees of the form</a:t>
                </a:r>
              </a:p>
              <a:p>
                <a:pPr/>
                <a14:m>
                  <m:oMathPara xmlns:m="http://schemas.openxmlformats.org/officeDocument/2006/math">
                    <m:oMathParaPr>
                      <m:jc m:val="centerGroup"/>
                    </m:oMathParaPr>
                    <m:oMath xmlns:m="http://schemas.openxmlformats.org/officeDocument/2006/math">
                      <m:r>
                        <a:rPr lang="en-IN" sz="2400">
                          <a:solidFill>
                            <a:srgbClr val="1D1F20"/>
                          </a:solidFill>
                          <a:latin typeface="Cambria Math" panose="02040503050406030204" pitchFamily="18" charset="0"/>
                        </a:rPr>
                        <m:t>𝑃</m:t>
                      </m:r>
                      <m:d>
                        <m:dPr>
                          <m:ctrlPr>
                            <a:rPr lang="ar-AE" sz="2400" i="1">
                              <a:solidFill>
                                <a:srgbClr val="1D1F20"/>
                              </a:solidFill>
                              <a:latin typeface="Cambria Math" panose="02040503050406030204" pitchFamily="18" charset="0"/>
                            </a:rPr>
                          </m:ctrlPr>
                        </m:dPr>
                        <m:e>
                          <m:r>
                            <m:rPr>
                              <m:nor/>
                            </m:rPr>
                            <a:rPr lang="en-IN" sz="2400">
                              <a:solidFill>
                                <a:srgbClr val="1D1F20"/>
                              </a:solidFill>
                              <a:latin typeface="Times New Roman" panose="02020603050405020304" pitchFamily="18" charset="0"/>
                              <a:cs typeface="Arial" pitchFamily="34" charset="-120"/>
                            </a:rPr>
                            <m:t>accept</m:t>
                          </m:r>
                          <m:r>
                            <a:rPr lang="en-IN" sz="2400">
                              <a:solidFill>
                                <a:srgbClr val="1D1F20"/>
                              </a:solidFill>
                              <a:latin typeface="Cambria Math" panose="02040503050406030204" pitchFamily="18" charset="0"/>
                            </a:rPr>
                            <m:t>∣</m:t>
                          </m:r>
                          <m:r>
                            <m:rPr>
                              <m:nor/>
                            </m:rPr>
                            <a:rPr lang="en-IN" sz="2400">
                              <a:solidFill>
                                <a:srgbClr val="1D1F20"/>
                              </a:solidFill>
                              <a:latin typeface="Times New Roman" panose="02020603050405020304" pitchFamily="18" charset="0"/>
                              <a:cs typeface="Arial" pitchFamily="34" charset="-120"/>
                            </a:rPr>
                            <m:t>unsupported</m:t>
                          </m:r>
                        </m:e>
                      </m:d>
                      <m:r>
                        <a:rPr lang="ar-AE" sz="2400">
                          <a:solidFill>
                            <a:srgbClr val="1D1F20"/>
                          </a:solidFill>
                          <a:latin typeface="Cambria Math" panose="02040503050406030204" pitchFamily="18" charset="0"/>
                        </a:rPr>
                        <m:t>≤</m:t>
                      </m:r>
                      <m:r>
                        <a:rPr lang="ar-AE" sz="2400">
                          <a:solidFill>
                            <a:srgbClr val="1D1F20"/>
                          </a:solidFill>
                          <a:latin typeface="Cambria Math" panose="02040503050406030204" pitchFamily="18" charset="0"/>
                        </a:rPr>
                        <m:t>𝛼</m:t>
                      </m:r>
                      <m:r>
                        <a:rPr lang="ar-AE" sz="2400">
                          <a:solidFill>
                            <a:srgbClr val="1D1F20"/>
                          </a:solidFill>
                          <a:latin typeface="Cambria Math" panose="02040503050406030204" pitchFamily="18" charset="0"/>
                        </a:rPr>
                        <m:t>.</m:t>
                      </m:r>
                    </m:oMath>
                  </m:oMathPara>
                </a14:m>
                <a:endParaRPr lang="ar-AE" sz="2400" dirty="0">
                  <a:solidFill>
                    <a:srgbClr val="1D1F20"/>
                  </a:solidFill>
                  <a:latin typeface="Times New Roman" panose="02020603050405020304" pitchFamily="18" charset="0"/>
                  <a:cs typeface="Arial" pitchFamily="34" charset="-120"/>
                </a:endParaRPr>
              </a:p>
              <a:p>
                <a:r>
                  <a:rPr lang="en-IN" sz="2400" dirty="0">
                    <a:solidFill>
                      <a:srgbClr val="1D1F20"/>
                    </a:solidFill>
                    <a:latin typeface="Times New Roman" panose="02020603050405020304" pitchFamily="18" charset="0"/>
                    <a:cs typeface="Arial" pitchFamily="34" charset="-120"/>
                  </a:rPr>
                  <a:t>Second, the system will address the sensitivity of NLI-based cross-encoders to lexical overlap, particularly when distinguishing legally relevant propositions from fine-grained legal distractors.</a:t>
                </a:r>
              </a:p>
              <a:p>
                <a:r>
                  <a:rPr lang="en-IN" sz="2400" dirty="0">
                    <a:solidFill>
                      <a:srgbClr val="1D1F20"/>
                    </a:solidFill>
                    <a:latin typeface="Times New Roman" panose="02020603050405020304" pitchFamily="18" charset="0"/>
                    <a:cs typeface="Arial" pitchFamily="34" charset="-120"/>
                  </a:rPr>
                  <a:t>Overall, the Review-II results indicate that </a:t>
                </a:r>
                <a:r>
                  <a:rPr lang="en-IN" sz="2400" dirty="0" err="1">
                    <a:solidFill>
                      <a:srgbClr val="1D1F20"/>
                    </a:solidFill>
                    <a:latin typeface="Times New Roman" panose="02020603050405020304" pitchFamily="18" charset="0"/>
                    <a:cs typeface="Arial" pitchFamily="34" charset="-120"/>
                  </a:rPr>
                  <a:t>LexAgent's</a:t>
                </a:r>
                <a:r>
                  <a:rPr lang="en-IN" sz="2400" dirty="0">
                    <a:solidFill>
                      <a:srgbClr val="1D1F20"/>
                    </a:solidFill>
                    <a:latin typeface="Times New Roman" panose="02020603050405020304" pitchFamily="18" charset="0"/>
                    <a:cs typeface="Arial" pitchFamily="34" charset="-120"/>
                  </a:rPr>
                  <a:t> combination of independent evidence retrieval, factorized citation verification, adversarial deliberation, and persistent proposition-level memory provides a structured foundation for citation-grounded legal question answering. The final development stage will therefore shift from architectural validation toward statistical calibration and robustness against difficult retrieval and entailment cases.</a:t>
                </a:r>
              </a:p>
            </p:txBody>
          </p:sp>
        </mc:Choice>
        <mc:Fallback xmlns="">
          <p:sp>
            <p:nvSpPr>
              <p:cNvPr id="34" name="Text 31"/>
              <p:cNvSpPr>
                <a:spLocks noRot="1" noChangeAspect="1" noMove="1" noResize="1" noEditPoints="1" noAdjustHandles="1" noChangeArrowheads="1" noChangeShapeType="1" noTextEdit="1"/>
              </p:cNvSpPr>
              <p:nvPr/>
            </p:nvSpPr>
            <p:spPr>
              <a:xfrm>
                <a:off x="457201" y="2100260"/>
                <a:ext cx="17219676" cy="7446645"/>
              </a:xfrm>
              <a:prstGeom prst="rect">
                <a:avLst/>
              </a:prstGeom>
              <a:blipFill>
                <a:blip r:embed="rId4"/>
                <a:stretch>
                  <a:fillRect l="-743" t="-1147" r="-566"/>
                </a:stretch>
              </a:blipFill>
              <a:ln/>
            </p:spPr>
            <p:txBody>
              <a:bodyPr/>
              <a:lstStyle/>
              <a:p>
                <a:r>
                  <a:rPr lang="en-IN">
                    <a:noFill/>
                  </a:rPr>
                  <a:t> </a:t>
                </a:r>
              </a:p>
            </p:txBody>
          </p:sp>
        </mc:Fallback>
      </mc:AlternateContent>
      <p:sp>
        <p:nvSpPr>
          <p:cNvPr id="42" name="TextBox 41">
            <a:extLst>
              <a:ext uri="{FF2B5EF4-FFF2-40B4-BE49-F238E27FC236}">
                <a16:creationId xmlns:a16="http://schemas.microsoft.com/office/drawing/2014/main" id="{440450AC-2B89-ED8F-71A3-16793FD68E83}"/>
              </a:ext>
            </a:extLst>
          </p:cNvPr>
          <p:cNvSpPr txBox="1"/>
          <p:nvPr/>
        </p:nvSpPr>
        <p:spPr>
          <a:xfrm>
            <a:off x="17499011" y="9589770"/>
            <a:ext cx="488951"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30</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2F3"/>
        </a:solidFill>
        <a:effectLst/>
      </p:bgPr>
    </p:bg>
    <p:spTree>
      <p:nvGrpSpPr>
        <p:cNvPr id="1" name="">
          <a:extLst>
            <a:ext uri="{FF2B5EF4-FFF2-40B4-BE49-F238E27FC236}">
              <a16:creationId xmlns:a16="http://schemas.microsoft.com/office/drawing/2014/main" id="{8D662628-FE74-BD40-B785-2F1933CB221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805AD7-86C1-5D83-217A-69234E40C3A8}"/>
              </a:ext>
            </a:extLst>
          </p:cNvPr>
          <p:cNvSpPr/>
          <p:nvPr/>
        </p:nvSpPr>
        <p:spPr>
          <a:xfrm>
            <a:off x="952500" y="838200"/>
            <a:ext cx="5260927"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References</a:t>
            </a:r>
            <a:endParaRPr lang="en-US" sz="4800" dirty="0">
              <a:latin typeface="Times New Roman" panose="02020603050405020304" pitchFamily="18" charset="0"/>
            </a:endParaRPr>
          </a:p>
        </p:txBody>
      </p:sp>
      <p:sp>
        <p:nvSpPr>
          <p:cNvPr id="3" name="Text 1">
            <a:extLst>
              <a:ext uri="{FF2B5EF4-FFF2-40B4-BE49-F238E27FC236}">
                <a16:creationId xmlns:a16="http://schemas.microsoft.com/office/drawing/2014/main" id="{F18827A6-6AD9-A801-CB52-9C1E0C423733}"/>
              </a:ext>
            </a:extLst>
          </p:cNvPr>
          <p:cNvSpPr/>
          <p:nvPr/>
        </p:nvSpPr>
        <p:spPr>
          <a:xfrm>
            <a:off x="952500" y="1554480"/>
            <a:ext cx="5260927"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[1]–[15]</a:t>
            </a:r>
            <a:endParaRPr lang="en-US" sz="2100" dirty="0">
              <a:latin typeface="Times New Roman" panose="02020603050405020304" pitchFamily="18" charset="0"/>
            </a:endParaRPr>
          </a:p>
        </p:txBody>
      </p:sp>
      <p:pic>
        <p:nvPicPr>
          <p:cNvPr id="4" name="Image 0" descr="preencoded.png">
            <a:extLst>
              <a:ext uri="{FF2B5EF4-FFF2-40B4-BE49-F238E27FC236}">
                <a16:creationId xmlns:a16="http://schemas.microsoft.com/office/drawing/2014/main" id="{8C0A01A5-09F1-E702-116D-4F173E93EB86}"/>
              </a:ext>
            </a:extLst>
          </p:cNvPr>
          <p:cNvPicPr>
            <a:picLocks noChangeAspect="1"/>
          </p:cNvPicPr>
          <p:nvPr/>
        </p:nvPicPr>
        <p:blipFill>
          <a:blip r:embed="rId3"/>
          <a:stretch>
            <a:fillRect/>
          </a:stretch>
        </p:blipFill>
        <p:spPr>
          <a:xfrm>
            <a:off x="15219998" y="838200"/>
            <a:ext cx="2115503" cy="800100"/>
          </a:xfrm>
          <a:prstGeom prst="rect">
            <a:avLst/>
          </a:prstGeom>
        </p:spPr>
      </p:pic>
      <p:sp>
        <p:nvSpPr>
          <p:cNvPr id="5" name="Text 2">
            <a:extLst>
              <a:ext uri="{FF2B5EF4-FFF2-40B4-BE49-F238E27FC236}">
                <a16:creationId xmlns:a16="http://schemas.microsoft.com/office/drawing/2014/main" id="{02144205-E267-3317-CCED-752FAFBF2BD2}"/>
              </a:ext>
            </a:extLst>
          </p:cNvPr>
          <p:cNvSpPr/>
          <p:nvPr/>
        </p:nvSpPr>
        <p:spPr>
          <a:xfrm>
            <a:off x="952500" y="23050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a:t>
            </a:r>
            <a:endParaRPr lang="en-US" sz="1800" dirty="0">
              <a:latin typeface="Times New Roman" panose="02020603050405020304" pitchFamily="18" charset="0"/>
            </a:endParaRPr>
          </a:p>
        </p:txBody>
      </p:sp>
      <p:sp>
        <p:nvSpPr>
          <p:cNvPr id="6" name="Text 3">
            <a:extLst>
              <a:ext uri="{FF2B5EF4-FFF2-40B4-BE49-F238E27FC236}">
                <a16:creationId xmlns:a16="http://schemas.microsoft.com/office/drawing/2014/main" id="{731C2A22-E1BC-9256-0E43-7DDC0597D65B}"/>
              </a:ext>
            </a:extLst>
          </p:cNvPr>
          <p:cNvSpPr/>
          <p:nvPr/>
        </p:nvSpPr>
        <p:spPr>
          <a:xfrm>
            <a:off x="1638300" y="23050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Xiao et al., “Lawformer: A pre-trained language model for Chinese legal long documents,” </a:t>
            </a:r>
            <a:r>
              <a:rPr lang="en-US" sz="1800" i="1" dirty="0">
                <a:solidFill>
                  <a:srgbClr val="1D1F20"/>
                </a:solidFill>
                <a:latin typeface="Times New Roman" panose="02020603050405020304" pitchFamily="18" charset="0"/>
                <a:ea typeface="Arial" pitchFamily="34" charset="-122"/>
                <a:cs typeface="Arial" pitchFamily="34" charset="-120"/>
              </a:rPr>
              <a:t>AI Open</a:t>
            </a:r>
            <a:r>
              <a:rPr lang="en-US" sz="1800" dirty="0">
                <a:solidFill>
                  <a:srgbClr val="1D1F20"/>
                </a:solidFill>
                <a:latin typeface="Times New Roman" panose="02020603050405020304" pitchFamily="18" charset="0"/>
                <a:ea typeface="Arial" pitchFamily="34" charset="-122"/>
                <a:cs typeface="Arial" pitchFamily="34" charset="-120"/>
              </a:rPr>
              <a:t>, 2021.</a:t>
            </a:r>
            <a:endParaRPr lang="en-US" sz="1800" dirty="0">
              <a:latin typeface="Times New Roman" panose="02020603050405020304" pitchFamily="18" charset="0"/>
            </a:endParaRPr>
          </a:p>
        </p:txBody>
      </p:sp>
      <p:sp>
        <p:nvSpPr>
          <p:cNvPr id="7" name="Text 4">
            <a:extLst>
              <a:ext uri="{FF2B5EF4-FFF2-40B4-BE49-F238E27FC236}">
                <a16:creationId xmlns:a16="http://schemas.microsoft.com/office/drawing/2014/main" id="{52A76905-FE34-9B0D-CF12-A4015E1AA3CC}"/>
              </a:ext>
            </a:extLst>
          </p:cNvPr>
          <p:cNvSpPr/>
          <p:nvPr/>
        </p:nvSpPr>
        <p:spPr>
          <a:xfrm>
            <a:off x="952500" y="31242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a:t>
            </a:r>
            <a:endParaRPr lang="en-US" sz="1800" dirty="0">
              <a:latin typeface="Times New Roman" panose="02020603050405020304" pitchFamily="18" charset="0"/>
            </a:endParaRPr>
          </a:p>
        </p:txBody>
      </p:sp>
      <p:sp>
        <p:nvSpPr>
          <p:cNvPr id="8" name="Text 5">
            <a:extLst>
              <a:ext uri="{FF2B5EF4-FFF2-40B4-BE49-F238E27FC236}">
                <a16:creationId xmlns:a16="http://schemas.microsoft.com/office/drawing/2014/main" id="{60414913-7912-868E-71D0-B2DC91564B39}"/>
              </a:ext>
            </a:extLst>
          </p:cNvPr>
          <p:cNvSpPr/>
          <p:nvPr/>
        </p:nvSpPr>
        <p:spPr>
          <a:xfrm>
            <a:off x="1638300" y="31242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Lewis et al., “Retrieval-augmented generation for knowledge-intensive NLP tasks,” </a:t>
            </a:r>
            <a:r>
              <a:rPr lang="en-US" sz="1800" i="1" dirty="0">
                <a:solidFill>
                  <a:srgbClr val="1D1F20"/>
                </a:solidFill>
                <a:latin typeface="Times New Roman" panose="02020603050405020304" pitchFamily="18" charset="0"/>
                <a:ea typeface="Arial" pitchFamily="34" charset="-122"/>
                <a:cs typeface="Arial" pitchFamily="34" charset="-120"/>
              </a:rPr>
              <a:t>in Proc. NeurIPS</a:t>
            </a:r>
            <a:r>
              <a:rPr lang="en-US" sz="1800" dirty="0">
                <a:solidFill>
                  <a:srgbClr val="1D1F20"/>
                </a:solidFill>
                <a:latin typeface="Times New Roman" panose="02020603050405020304" pitchFamily="18" charset="0"/>
                <a:ea typeface="Arial" pitchFamily="34" charset="-122"/>
                <a:cs typeface="Arial" pitchFamily="34" charset="-120"/>
              </a:rPr>
              <a:t>, 2020.</a:t>
            </a:r>
            <a:endParaRPr lang="en-US" sz="1800" dirty="0">
              <a:latin typeface="Times New Roman" panose="02020603050405020304" pitchFamily="18" charset="0"/>
            </a:endParaRPr>
          </a:p>
        </p:txBody>
      </p:sp>
      <p:sp>
        <p:nvSpPr>
          <p:cNvPr id="9" name="Text 6">
            <a:extLst>
              <a:ext uri="{FF2B5EF4-FFF2-40B4-BE49-F238E27FC236}">
                <a16:creationId xmlns:a16="http://schemas.microsoft.com/office/drawing/2014/main" id="{1064B921-E8F5-BECB-FF4D-6B8F06534522}"/>
              </a:ext>
            </a:extLst>
          </p:cNvPr>
          <p:cNvSpPr/>
          <p:nvPr/>
        </p:nvSpPr>
        <p:spPr>
          <a:xfrm>
            <a:off x="952500" y="39433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[3]</a:t>
            </a:r>
            <a:endParaRPr lang="en-US" sz="1800" dirty="0">
              <a:latin typeface="Times New Roman" panose="02020603050405020304" pitchFamily="18" charset="0"/>
            </a:endParaRPr>
          </a:p>
        </p:txBody>
      </p:sp>
      <p:sp>
        <p:nvSpPr>
          <p:cNvPr id="10" name="Text 7">
            <a:extLst>
              <a:ext uri="{FF2B5EF4-FFF2-40B4-BE49-F238E27FC236}">
                <a16:creationId xmlns:a16="http://schemas.microsoft.com/office/drawing/2014/main" id="{A0F84B71-4251-A975-EB2B-0DA2AF13DEEE}"/>
              </a:ext>
            </a:extLst>
          </p:cNvPr>
          <p:cNvSpPr/>
          <p:nvPr/>
        </p:nvSpPr>
        <p:spPr>
          <a:xfrm>
            <a:off x="1638300" y="39433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Chalkidis et al., “LexGLUE: A benchmark dataset for legal language understanding in English,” </a:t>
            </a:r>
            <a:r>
              <a:rPr lang="en-US" sz="1800" i="1" dirty="0">
                <a:solidFill>
                  <a:srgbClr val="1D1F20"/>
                </a:solidFill>
                <a:latin typeface="Times New Roman" panose="02020603050405020304" pitchFamily="18" charset="0"/>
                <a:ea typeface="Arial" pitchFamily="34" charset="-122"/>
                <a:cs typeface="Arial" pitchFamily="34" charset="-120"/>
              </a:rPr>
              <a:t>in Proc. ACL</a:t>
            </a:r>
            <a:r>
              <a:rPr lang="en-US" sz="1800" dirty="0">
                <a:solidFill>
                  <a:srgbClr val="1D1F20"/>
                </a:solidFill>
                <a:latin typeface="Times New Roman" panose="02020603050405020304" pitchFamily="18" charset="0"/>
                <a:ea typeface="Arial" pitchFamily="34" charset="-122"/>
                <a:cs typeface="Arial" pitchFamily="34" charset="-120"/>
              </a:rPr>
              <a:t>, 2022.</a:t>
            </a:r>
            <a:endParaRPr lang="en-US" sz="1800" dirty="0">
              <a:latin typeface="Times New Roman" panose="02020603050405020304" pitchFamily="18" charset="0"/>
            </a:endParaRPr>
          </a:p>
        </p:txBody>
      </p:sp>
      <p:sp>
        <p:nvSpPr>
          <p:cNvPr id="11" name="Text 8">
            <a:extLst>
              <a:ext uri="{FF2B5EF4-FFF2-40B4-BE49-F238E27FC236}">
                <a16:creationId xmlns:a16="http://schemas.microsoft.com/office/drawing/2014/main" id="{8B614C2C-CCEC-38BE-6DC0-1964CEA4C1E5}"/>
              </a:ext>
            </a:extLst>
          </p:cNvPr>
          <p:cNvSpPr/>
          <p:nvPr/>
        </p:nvSpPr>
        <p:spPr>
          <a:xfrm>
            <a:off x="952500" y="47625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[4]</a:t>
            </a:r>
            <a:endParaRPr lang="en-US" sz="1800" dirty="0">
              <a:latin typeface="Times New Roman" panose="02020603050405020304" pitchFamily="18" charset="0"/>
            </a:endParaRPr>
          </a:p>
        </p:txBody>
      </p:sp>
      <p:sp>
        <p:nvSpPr>
          <p:cNvPr id="12" name="Text 9">
            <a:extLst>
              <a:ext uri="{FF2B5EF4-FFF2-40B4-BE49-F238E27FC236}">
                <a16:creationId xmlns:a16="http://schemas.microsoft.com/office/drawing/2014/main" id="{C00B05A4-5A16-3C6D-0BFF-5D14DE196962}"/>
              </a:ext>
            </a:extLst>
          </p:cNvPr>
          <p:cNvSpPr/>
          <p:nvPr/>
        </p:nvSpPr>
        <p:spPr>
          <a:xfrm>
            <a:off x="1638300" y="47625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X. Wang et al., “Self-consistency improves chain of thought reasoning in language models,” </a:t>
            </a:r>
            <a:r>
              <a:rPr lang="en-US" sz="1800" i="1" dirty="0">
                <a:solidFill>
                  <a:srgbClr val="1D1F20"/>
                </a:solidFill>
                <a:latin typeface="Times New Roman" panose="02020603050405020304" pitchFamily="18" charset="0"/>
                <a:ea typeface="Arial" pitchFamily="34" charset="-122"/>
                <a:cs typeface="Arial" pitchFamily="34" charset="-120"/>
              </a:rPr>
              <a:t>in Proc. ICLR</a:t>
            </a:r>
            <a:r>
              <a:rPr lang="en-US" sz="1800" dirty="0">
                <a:solidFill>
                  <a:srgbClr val="1D1F20"/>
                </a:solidFill>
                <a:latin typeface="Times New Roman" panose="02020603050405020304" pitchFamily="18" charset="0"/>
                <a:ea typeface="Arial" pitchFamily="34" charset="-122"/>
                <a:cs typeface="Arial" pitchFamily="34" charset="-120"/>
              </a:rPr>
              <a:t>, 2023.</a:t>
            </a:r>
            <a:endParaRPr lang="en-US" sz="1800" dirty="0">
              <a:latin typeface="Times New Roman" panose="02020603050405020304" pitchFamily="18" charset="0"/>
            </a:endParaRPr>
          </a:p>
        </p:txBody>
      </p:sp>
      <p:sp>
        <p:nvSpPr>
          <p:cNvPr id="13" name="Text 10">
            <a:extLst>
              <a:ext uri="{FF2B5EF4-FFF2-40B4-BE49-F238E27FC236}">
                <a16:creationId xmlns:a16="http://schemas.microsoft.com/office/drawing/2014/main" id="{EC882BA6-4798-0753-B7B7-C86E5821F903}"/>
              </a:ext>
            </a:extLst>
          </p:cNvPr>
          <p:cNvSpPr/>
          <p:nvPr/>
        </p:nvSpPr>
        <p:spPr>
          <a:xfrm>
            <a:off x="952500" y="55816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[5]</a:t>
            </a:r>
            <a:endParaRPr lang="en-US" sz="1800" dirty="0">
              <a:latin typeface="Times New Roman" panose="02020603050405020304" pitchFamily="18" charset="0"/>
            </a:endParaRPr>
          </a:p>
        </p:txBody>
      </p:sp>
      <p:sp>
        <p:nvSpPr>
          <p:cNvPr id="14" name="Text 11">
            <a:extLst>
              <a:ext uri="{FF2B5EF4-FFF2-40B4-BE49-F238E27FC236}">
                <a16:creationId xmlns:a16="http://schemas.microsoft.com/office/drawing/2014/main" id="{56670E5C-B271-AE19-FA58-315DE486916A}"/>
              </a:ext>
            </a:extLst>
          </p:cNvPr>
          <p:cNvSpPr/>
          <p:nvPr/>
        </p:nvSpPr>
        <p:spPr>
          <a:xfrm>
            <a:off x="1638300" y="55816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Smit et al., “Should we be going MAD? A look at multi-agent debate strategies for LLMs,” </a:t>
            </a:r>
            <a:r>
              <a:rPr lang="en-US" sz="1800" i="1" dirty="0">
                <a:solidFill>
                  <a:srgbClr val="1D1F20"/>
                </a:solidFill>
                <a:latin typeface="Times New Roman" panose="02020603050405020304" pitchFamily="18" charset="0"/>
                <a:ea typeface="Arial" pitchFamily="34" charset="-122"/>
                <a:cs typeface="Arial" pitchFamily="34" charset="-120"/>
              </a:rPr>
              <a:t>in Proc. ICML</a:t>
            </a:r>
            <a:r>
              <a:rPr lang="en-US" sz="1800" dirty="0">
                <a:solidFill>
                  <a:srgbClr val="1D1F20"/>
                </a:solidFill>
                <a:latin typeface="Times New Roman" panose="02020603050405020304" pitchFamily="18" charset="0"/>
                <a:ea typeface="Arial" pitchFamily="34" charset="-122"/>
                <a:cs typeface="Arial" pitchFamily="34" charset="-120"/>
              </a:rPr>
              <a:t>, 2024.</a:t>
            </a:r>
            <a:endParaRPr lang="en-US" sz="1800" dirty="0">
              <a:latin typeface="Times New Roman" panose="02020603050405020304" pitchFamily="18" charset="0"/>
            </a:endParaRPr>
          </a:p>
        </p:txBody>
      </p:sp>
      <p:sp>
        <p:nvSpPr>
          <p:cNvPr id="15" name="Text 12">
            <a:extLst>
              <a:ext uri="{FF2B5EF4-FFF2-40B4-BE49-F238E27FC236}">
                <a16:creationId xmlns:a16="http://schemas.microsoft.com/office/drawing/2014/main" id="{E77303B2-9049-B99A-EDFD-4E634CA1C82B}"/>
              </a:ext>
            </a:extLst>
          </p:cNvPr>
          <p:cNvSpPr/>
          <p:nvPr/>
        </p:nvSpPr>
        <p:spPr>
          <a:xfrm>
            <a:off x="952500" y="6400800"/>
            <a:ext cx="685800" cy="94488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[6]</a:t>
            </a:r>
            <a:endParaRPr lang="en-US" sz="1800" dirty="0">
              <a:latin typeface="Times New Roman" panose="02020603050405020304" pitchFamily="18" charset="0"/>
            </a:endParaRPr>
          </a:p>
        </p:txBody>
      </p:sp>
      <p:sp>
        <p:nvSpPr>
          <p:cNvPr id="16" name="Text 13">
            <a:extLst>
              <a:ext uri="{FF2B5EF4-FFF2-40B4-BE49-F238E27FC236}">
                <a16:creationId xmlns:a16="http://schemas.microsoft.com/office/drawing/2014/main" id="{A1683605-1E98-7C87-CC54-402A21CAA7D0}"/>
              </a:ext>
            </a:extLst>
          </p:cNvPr>
          <p:cNvSpPr/>
          <p:nvPr/>
        </p:nvSpPr>
        <p:spPr>
          <a:xfrm>
            <a:off x="1638300" y="6400800"/>
            <a:ext cx="7416927" cy="944880"/>
          </a:xfrm>
          <a:prstGeom prst="rect">
            <a:avLst/>
          </a:prstGeom>
          <a:noFill/>
          <a:ln/>
        </p:spPr>
        <p:txBody>
          <a:bodyPr wrap="square" lIns="25400" tIns="25400" rIns="25400" bIns="25400" rtlCol="0" anchor="t">
            <a:normAutofit/>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Dahl et al., “Large legal fictions: Profiling legal hallucinations in large language models,” </a:t>
            </a:r>
            <a:r>
              <a:rPr lang="en-US" sz="1800" i="1" dirty="0">
                <a:solidFill>
                  <a:srgbClr val="1D1F20"/>
                </a:solidFill>
                <a:latin typeface="Times New Roman" panose="02020603050405020304" pitchFamily="18" charset="0"/>
                <a:ea typeface="Arial" pitchFamily="34" charset="-122"/>
                <a:cs typeface="Arial" pitchFamily="34" charset="-120"/>
              </a:rPr>
              <a:t>J. Legal Analysis</a:t>
            </a:r>
            <a:r>
              <a:rPr lang="en-US" sz="1800" dirty="0">
                <a:solidFill>
                  <a:srgbClr val="1D1F20"/>
                </a:solidFill>
                <a:latin typeface="Times New Roman" panose="02020603050405020304" pitchFamily="18" charset="0"/>
                <a:ea typeface="Arial" pitchFamily="34" charset="-122"/>
                <a:cs typeface="Arial" pitchFamily="34" charset="-120"/>
              </a:rPr>
              <a:t>, vol. 16, no. 1, 2024.</a:t>
            </a:r>
            <a:endParaRPr lang="en-US" sz="1800" dirty="0">
              <a:latin typeface="Times New Roman" panose="02020603050405020304" pitchFamily="18" charset="0"/>
            </a:endParaRPr>
          </a:p>
        </p:txBody>
      </p:sp>
      <p:sp>
        <p:nvSpPr>
          <p:cNvPr id="17" name="Text 14">
            <a:extLst>
              <a:ext uri="{FF2B5EF4-FFF2-40B4-BE49-F238E27FC236}">
                <a16:creationId xmlns:a16="http://schemas.microsoft.com/office/drawing/2014/main" id="{55EAD386-B7DA-CF3F-2390-B0076EE9D89E}"/>
              </a:ext>
            </a:extLst>
          </p:cNvPr>
          <p:cNvSpPr/>
          <p:nvPr/>
        </p:nvSpPr>
        <p:spPr>
          <a:xfrm>
            <a:off x="952500" y="751713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[7]</a:t>
            </a:r>
            <a:endParaRPr lang="en-US" sz="1800" dirty="0">
              <a:latin typeface="Times New Roman" panose="02020603050405020304" pitchFamily="18" charset="0"/>
            </a:endParaRPr>
          </a:p>
        </p:txBody>
      </p:sp>
      <p:sp>
        <p:nvSpPr>
          <p:cNvPr id="18" name="Text 15">
            <a:extLst>
              <a:ext uri="{FF2B5EF4-FFF2-40B4-BE49-F238E27FC236}">
                <a16:creationId xmlns:a16="http://schemas.microsoft.com/office/drawing/2014/main" id="{4A43D665-ED7C-6016-1523-261A9F666B14}"/>
              </a:ext>
            </a:extLst>
          </p:cNvPr>
          <p:cNvSpPr/>
          <p:nvPr/>
        </p:nvSpPr>
        <p:spPr>
          <a:xfrm>
            <a:off x="1638300" y="751713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Fei et al., “LawBench: Benchmarking legal knowledge of large language models,” </a:t>
            </a:r>
            <a:r>
              <a:rPr lang="en-US" sz="1800" i="1" dirty="0">
                <a:solidFill>
                  <a:srgbClr val="1D1F20"/>
                </a:solidFill>
                <a:latin typeface="Times New Roman" panose="02020603050405020304" pitchFamily="18" charset="0"/>
                <a:ea typeface="Arial" pitchFamily="34" charset="-122"/>
                <a:cs typeface="Arial" pitchFamily="34" charset="-120"/>
              </a:rPr>
              <a:t>in Proc. EMNLP</a:t>
            </a:r>
            <a:r>
              <a:rPr lang="en-US" sz="1800" dirty="0">
                <a:solidFill>
                  <a:srgbClr val="1D1F20"/>
                </a:solidFill>
                <a:latin typeface="Times New Roman" panose="02020603050405020304" pitchFamily="18" charset="0"/>
                <a:ea typeface="Arial" pitchFamily="34" charset="-122"/>
                <a:cs typeface="Arial" pitchFamily="34" charset="-120"/>
              </a:rPr>
              <a:t>, 2024.</a:t>
            </a:r>
            <a:endParaRPr lang="en-US" sz="1800" dirty="0">
              <a:latin typeface="Times New Roman" panose="02020603050405020304" pitchFamily="18" charset="0"/>
            </a:endParaRPr>
          </a:p>
        </p:txBody>
      </p:sp>
      <p:sp>
        <p:nvSpPr>
          <p:cNvPr id="19" name="Text 16">
            <a:extLst>
              <a:ext uri="{FF2B5EF4-FFF2-40B4-BE49-F238E27FC236}">
                <a16:creationId xmlns:a16="http://schemas.microsoft.com/office/drawing/2014/main" id="{5429CF17-4993-AF6D-35D0-5C23A9B6EED4}"/>
              </a:ext>
            </a:extLst>
          </p:cNvPr>
          <p:cNvSpPr/>
          <p:nvPr/>
        </p:nvSpPr>
        <p:spPr>
          <a:xfrm>
            <a:off x="952500" y="833628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[8]</a:t>
            </a:r>
            <a:endParaRPr lang="en-US" sz="1800" dirty="0">
              <a:latin typeface="Times New Roman" panose="02020603050405020304" pitchFamily="18" charset="0"/>
            </a:endParaRPr>
          </a:p>
        </p:txBody>
      </p:sp>
      <p:sp>
        <p:nvSpPr>
          <p:cNvPr id="20" name="Text 17">
            <a:extLst>
              <a:ext uri="{FF2B5EF4-FFF2-40B4-BE49-F238E27FC236}">
                <a16:creationId xmlns:a16="http://schemas.microsoft.com/office/drawing/2014/main" id="{323515BA-8D2F-7B9E-1CA1-F2CC1FCB89FC}"/>
              </a:ext>
            </a:extLst>
          </p:cNvPr>
          <p:cNvSpPr/>
          <p:nvPr/>
        </p:nvSpPr>
        <p:spPr>
          <a:xfrm>
            <a:off x="1638300" y="833628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Anaokar et al., “HalluDetect: Hallucinations in legal conversational systems,” </a:t>
            </a:r>
            <a:r>
              <a:rPr lang="en-US" sz="1800" i="1" dirty="0">
                <a:solidFill>
                  <a:srgbClr val="1D1F20"/>
                </a:solidFill>
                <a:latin typeface="Times New Roman" panose="02020603050405020304" pitchFamily="18" charset="0"/>
                <a:ea typeface="Arial" pitchFamily="34" charset="-122"/>
                <a:cs typeface="Arial" pitchFamily="34" charset="-120"/>
              </a:rPr>
              <a:t>in Proc. EMNLP Industry Track</a:t>
            </a:r>
            <a:r>
              <a:rPr lang="en-US" sz="1800" dirty="0">
                <a:solidFill>
                  <a:srgbClr val="1D1F20"/>
                </a:solidFill>
                <a:latin typeface="Times New Roman" panose="02020603050405020304" pitchFamily="18" charset="0"/>
                <a:ea typeface="Arial" pitchFamily="34" charset="-122"/>
                <a:cs typeface="Arial" pitchFamily="34" charset="-120"/>
              </a:rPr>
              <a:t>, 2025.</a:t>
            </a:r>
            <a:endParaRPr lang="en-US" sz="1800" dirty="0">
              <a:latin typeface="Times New Roman" panose="02020603050405020304" pitchFamily="18" charset="0"/>
            </a:endParaRPr>
          </a:p>
        </p:txBody>
      </p:sp>
      <p:sp>
        <p:nvSpPr>
          <p:cNvPr id="21" name="Text 18">
            <a:extLst>
              <a:ext uri="{FF2B5EF4-FFF2-40B4-BE49-F238E27FC236}">
                <a16:creationId xmlns:a16="http://schemas.microsoft.com/office/drawing/2014/main" id="{F19430A3-26C2-1877-C798-2F92C99E9D1B}"/>
              </a:ext>
            </a:extLst>
          </p:cNvPr>
          <p:cNvSpPr/>
          <p:nvPr/>
        </p:nvSpPr>
        <p:spPr>
          <a:xfrm>
            <a:off x="9448800" y="23050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[9]</a:t>
            </a:r>
            <a:endParaRPr lang="en-US" sz="1800" dirty="0">
              <a:latin typeface="Times New Roman" panose="02020603050405020304" pitchFamily="18" charset="0"/>
            </a:endParaRPr>
          </a:p>
        </p:txBody>
      </p:sp>
      <p:sp>
        <p:nvSpPr>
          <p:cNvPr id="22" name="Text 19">
            <a:extLst>
              <a:ext uri="{FF2B5EF4-FFF2-40B4-BE49-F238E27FC236}">
                <a16:creationId xmlns:a16="http://schemas.microsoft.com/office/drawing/2014/main" id="{37EE0DA3-5D9B-B59A-3710-002BCC36BCFC}"/>
              </a:ext>
            </a:extLst>
          </p:cNvPr>
          <p:cNvSpPr/>
          <p:nvPr/>
        </p:nvSpPr>
        <p:spPr>
          <a:xfrm>
            <a:off x="10134600" y="23050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Liu and Tang, “LeAK-GraphRAG: Legal academic knowledge GraphRAG,” </a:t>
            </a:r>
            <a:r>
              <a:rPr lang="en-US" sz="1800" i="1" dirty="0">
                <a:solidFill>
                  <a:srgbClr val="1D1F20"/>
                </a:solidFill>
                <a:latin typeface="Times New Roman" panose="02020603050405020304" pitchFamily="18" charset="0"/>
                <a:ea typeface="Arial" pitchFamily="34" charset="-122"/>
                <a:cs typeface="Arial" pitchFamily="34" charset="-120"/>
              </a:rPr>
              <a:t>in Proc. JURIX</a:t>
            </a:r>
            <a:r>
              <a:rPr lang="en-US" sz="1800" dirty="0">
                <a:solidFill>
                  <a:srgbClr val="1D1F20"/>
                </a:solidFill>
                <a:latin typeface="Times New Roman" panose="02020603050405020304" pitchFamily="18" charset="0"/>
                <a:ea typeface="Arial" pitchFamily="34" charset="-122"/>
                <a:cs typeface="Arial" pitchFamily="34" charset="-120"/>
              </a:rPr>
              <a:t>, IOS Press, 2025.</a:t>
            </a:r>
            <a:endParaRPr lang="en-US" sz="1800" dirty="0">
              <a:latin typeface="Times New Roman" panose="02020603050405020304" pitchFamily="18" charset="0"/>
            </a:endParaRPr>
          </a:p>
        </p:txBody>
      </p:sp>
      <p:sp>
        <p:nvSpPr>
          <p:cNvPr id="23" name="Text 20">
            <a:extLst>
              <a:ext uri="{FF2B5EF4-FFF2-40B4-BE49-F238E27FC236}">
                <a16:creationId xmlns:a16="http://schemas.microsoft.com/office/drawing/2014/main" id="{5C3DAC5C-84E3-D787-B55A-11C03CC9B057}"/>
              </a:ext>
            </a:extLst>
          </p:cNvPr>
          <p:cNvSpPr/>
          <p:nvPr/>
        </p:nvSpPr>
        <p:spPr>
          <a:xfrm>
            <a:off x="9448800" y="31242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[10]</a:t>
            </a:r>
            <a:endParaRPr lang="en-US" sz="1800" dirty="0">
              <a:latin typeface="Times New Roman" panose="02020603050405020304" pitchFamily="18" charset="0"/>
            </a:endParaRPr>
          </a:p>
        </p:txBody>
      </p:sp>
      <p:sp>
        <p:nvSpPr>
          <p:cNvPr id="24" name="Text 21">
            <a:extLst>
              <a:ext uri="{FF2B5EF4-FFF2-40B4-BE49-F238E27FC236}">
                <a16:creationId xmlns:a16="http://schemas.microsoft.com/office/drawing/2014/main" id="{EE041743-19F4-11A0-3886-1984DAAF9F0F}"/>
              </a:ext>
            </a:extLst>
          </p:cNvPr>
          <p:cNvSpPr/>
          <p:nvPr/>
        </p:nvSpPr>
        <p:spPr>
          <a:xfrm>
            <a:off x="10134600" y="31242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Huang et al., “Mitigating legal hallucinations via symbolic constraints and analogical precedents,” </a:t>
            </a:r>
            <a:r>
              <a:rPr lang="en-US" sz="1800" i="1" dirty="0">
                <a:solidFill>
                  <a:srgbClr val="1D1F20"/>
                </a:solidFill>
                <a:latin typeface="Times New Roman" panose="02020603050405020304" pitchFamily="18" charset="0"/>
                <a:ea typeface="Arial" pitchFamily="34" charset="-122"/>
                <a:cs typeface="Arial" pitchFamily="34" charset="-120"/>
              </a:rPr>
              <a:t>in Proc. ACL</a:t>
            </a:r>
            <a:r>
              <a:rPr lang="en-US" sz="1800" dirty="0">
                <a:solidFill>
                  <a:srgbClr val="1D1F20"/>
                </a:solidFill>
                <a:latin typeface="Times New Roman" panose="02020603050405020304" pitchFamily="18" charset="0"/>
                <a:ea typeface="Arial" pitchFamily="34" charset="-122"/>
                <a:cs typeface="Arial" pitchFamily="34" charset="-120"/>
              </a:rPr>
              <a:t>, 2026.</a:t>
            </a:r>
            <a:endParaRPr lang="en-US" sz="1800" dirty="0">
              <a:latin typeface="Times New Roman" panose="02020603050405020304" pitchFamily="18" charset="0"/>
            </a:endParaRPr>
          </a:p>
        </p:txBody>
      </p:sp>
      <p:sp>
        <p:nvSpPr>
          <p:cNvPr id="25" name="Text 22">
            <a:extLst>
              <a:ext uri="{FF2B5EF4-FFF2-40B4-BE49-F238E27FC236}">
                <a16:creationId xmlns:a16="http://schemas.microsoft.com/office/drawing/2014/main" id="{0A0340FE-E509-2608-9B82-A6D94FCCFE59}"/>
              </a:ext>
            </a:extLst>
          </p:cNvPr>
          <p:cNvSpPr/>
          <p:nvPr/>
        </p:nvSpPr>
        <p:spPr>
          <a:xfrm>
            <a:off x="9448800" y="39433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[11]</a:t>
            </a:r>
            <a:endParaRPr lang="en-US" sz="1800" dirty="0">
              <a:latin typeface="Times New Roman" panose="02020603050405020304" pitchFamily="18" charset="0"/>
            </a:endParaRPr>
          </a:p>
        </p:txBody>
      </p:sp>
      <p:sp>
        <p:nvSpPr>
          <p:cNvPr id="26" name="Text 23">
            <a:extLst>
              <a:ext uri="{FF2B5EF4-FFF2-40B4-BE49-F238E27FC236}">
                <a16:creationId xmlns:a16="http://schemas.microsoft.com/office/drawing/2014/main" id="{1CB8D33B-E949-7C8E-39E4-49D3465A3671}"/>
              </a:ext>
            </a:extLst>
          </p:cNvPr>
          <p:cNvSpPr/>
          <p:nvPr/>
        </p:nvSpPr>
        <p:spPr>
          <a:xfrm>
            <a:off x="10134600" y="39433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Cui et al., “ChatLaw: A multi-agent legal assistant with role-aligned mixture of experts,” </a:t>
            </a:r>
            <a:r>
              <a:rPr lang="en-US" sz="1800" i="1" dirty="0">
                <a:solidFill>
                  <a:srgbClr val="1D1F20"/>
                </a:solidFill>
                <a:latin typeface="Times New Roman" panose="02020603050405020304" pitchFamily="18" charset="0"/>
                <a:ea typeface="Arial" pitchFamily="34" charset="-122"/>
                <a:cs typeface="Arial" pitchFamily="34" charset="-120"/>
              </a:rPr>
              <a:t>Fundamental Research</a:t>
            </a:r>
            <a:r>
              <a:rPr lang="en-US" sz="1800" dirty="0">
                <a:solidFill>
                  <a:srgbClr val="1D1F20"/>
                </a:solidFill>
                <a:latin typeface="Times New Roman" panose="02020603050405020304" pitchFamily="18" charset="0"/>
                <a:ea typeface="Arial" pitchFamily="34" charset="-122"/>
                <a:cs typeface="Arial" pitchFamily="34" charset="-120"/>
              </a:rPr>
              <a:t>, 2026.</a:t>
            </a:r>
            <a:endParaRPr lang="en-US" sz="1800" dirty="0">
              <a:latin typeface="Times New Roman" panose="02020603050405020304" pitchFamily="18" charset="0"/>
            </a:endParaRPr>
          </a:p>
        </p:txBody>
      </p:sp>
      <p:sp>
        <p:nvSpPr>
          <p:cNvPr id="27" name="Text 24">
            <a:extLst>
              <a:ext uri="{FF2B5EF4-FFF2-40B4-BE49-F238E27FC236}">
                <a16:creationId xmlns:a16="http://schemas.microsoft.com/office/drawing/2014/main" id="{C0C7CB66-183E-6E48-EB4C-8E200B050614}"/>
              </a:ext>
            </a:extLst>
          </p:cNvPr>
          <p:cNvSpPr/>
          <p:nvPr/>
        </p:nvSpPr>
        <p:spPr>
          <a:xfrm>
            <a:off x="9448800" y="47625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[12]</a:t>
            </a:r>
            <a:endParaRPr lang="en-US" sz="1800" dirty="0">
              <a:latin typeface="Times New Roman" panose="02020603050405020304" pitchFamily="18" charset="0"/>
            </a:endParaRPr>
          </a:p>
        </p:txBody>
      </p:sp>
      <p:sp>
        <p:nvSpPr>
          <p:cNvPr id="28" name="Text 25">
            <a:extLst>
              <a:ext uri="{FF2B5EF4-FFF2-40B4-BE49-F238E27FC236}">
                <a16:creationId xmlns:a16="http://schemas.microsoft.com/office/drawing/2014/main" id="{0E039E21-E9E1-E5FF-26EA-FCC97BC1B827}"/>
              </a:ext>
            </a:extLst>
          </p:cNvPr>
          <p:cNvSpPr/>
          <p:nvPr/>
        </p:nvSpPr>
        <p:spPr>
          <a:xfrm>
            <a:off x="10134600" y="47625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Noël et al., “HalluGraph: Auditable hallucination detection for legal RAG,” </a:t>
            </a:r>
            <a:r>
              <a:rPr lang="en-US" sz="1800" i="1" dirty="0">
                <a:solidFill>
                  <a:srgbClr val="1D1F20"/>
                </a:solidFill>
                <a:latin typeface="Times New Roman" panose="02020603050405020304" pitchFamily="18" charset="0"/>
                <a:ea typeface="Arial" pitchFamily="34" charset="-122"/>
                <a:cs typeface="Arial" pitchFamily="34" charset="-120"/>
              </a:rPr>
              <a:t>in Proc. AAAI</a:t>
            </a:r>
            <a:r>
              <a:rPr lang="en-US" sz="1800" dirty="0">
                <a:solidFill>
                  <a:srgbClr val="1D1F20"/>
                </a:solidFill>
                <a:latin typeface="Times New Roman" panose="02020603050405020304" pitchFamily="18" charset="0"/>
                <a:ea typeface="Arial" pitchFamily="34" charset="-122"/>
                <a:cs typeface="Arial" pitchFamily="34" charset="-120"/>
              </a:rPr>
              <a:t>, 2026.</a:t>
            </a:r>
            <a:endParaRPr lang="en-US" sz="1800" dirty="0">
              <a:latin typeface="Times New Roman" panose="02020603050405020304" pitchFamily="18" charset="0"/>
            </a:endParaRPr>
          </a:p>
        </p:txBody>
      </p:sp>
      <p:sp>
        <p:nvSpPr>
          <p:cNvPr id="29" name="Text 26">
            <a:extLst>
              <a:ext uri="{FF2B5EF4-FFF2-40B4-BE49-F238E27FC236}">
                <a16:creationId xmlns:a16="http://schemas.microsoft.com/office/drawing/2014/main" id="{3167B036-32EC-1794-7D2B-982876260E23}"/>
              </a:ext>
            </a:extLst>
          </p:cNvPr>
          <p:cNvSpPr/>
          <p:nvPr/>
        </p:nvSpPr>
        <p:spPr>
          <a:xfrm>
            <a:off x="9448800" y="55816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[13]</a:t>
            </a:r>
            <a:endParaRPr lang="en-US" sz="1800" dirty="0">
              <a:latin typeface="Times New Roman" panose="02020603050405020304" pitchFamily="18" charset="0"/>
            </a:endParaRPr>
          </a:p>
        </p:txBody>
      </p:sp>
      <p:sp>
        <p:nvSpPr>
          <p:cNvPr id="30" name="Text 27">
            <a:extLst>
              <a:ext uri="{FF2B5EF4-FFF2-40B4-BE49-F238E27FC236}">
                <a16:creationId xmlns:a16="http://schemas.microsoft.com/office/drawing/2014/main" id="{6E8F421E-C4D9-63AB-A5A8-58E5B334BE60}"/>
              </a:ext>
            </a:extLst>
          </p:cNvPr>
          <p:cNvSpPr/>
          <p:nvPr/>
        </p:nvSpPr>
        <p:spPr>
          <a:xfrm>
            <a:off x="10134600" y="55816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Bose, “Falkor-IRAC: Graph-constrained generation for Indian judicial AI,” </a:t>
            </a:r>
            <a:r>
              <a:rPr lang="en-US" sz="1800" i="1" dirty="0">
                <a:solidFill>
                  <a:srgbClr val="1D1F20"/>
                </a:solidFill>
                <a:latin typeface="Times New Roman" panose="02020603050405020304" pitchFamily="18" charset="0"/>
                <a:ea typeface="Arial" pitchFamily="34" charset="-122"/>
                <a:cs typeface="Arial" pitchFamily="34" charset="-120"/>
              </a:rPr>
              <a:t>InIRAC dataset</a:t>
            </a:r>
            <a:r>
              <a:rPr lang="en-US" sz="1800" dirty="0">
                <a:solidFill>
                  <a:srgbClr val="1D1F20"/>
                </a:solidFill>
                <a:latin typeface="Times New Roman" panose="02020603050405020304" pitchFamily="18" charset="0"/>
                <a:ea typeface="Arial" pitchFamily="34" charset="-122"/>
                <a:cs typeface="Arial" pitchFamily="34" charset="-120"/>
              </a:rPr>
              <a:t>, 2026.</a:t>
            </a:r>
            <a:endParaRPr lang="en-US" sz="1800" dirty="0">
              <a:latin typeface="Times New Roman" panose="02020603050405020304" pitchFamily="18" charset="0"/>
            </a:endParaRPr>
          </a:p>
        </p:txBody>
      </p:sp>
      <p:sp>
        <p:nvSpPr>
          <p:cNvPr id="31" name="Text 28">
            <a:extLst>
              <a:ext uri="{FF2B5EF4-FFF2-40B4-BE49-F238E27FC236}">
                <a16:creationId xmlns:a16="http://schemas.microsoft.com/office/drawing/2014/main" id="{BFD225D5-831F-581D-D988-D754DBDE55B1}"/>
              </a:ext>
            </a:extLst>
          </p:cNvPr>
          <p:cNvSpPr/>
          <p:nvPr/>
        </p:nvSpPr>
        <p:spPr>
          <a:xfrm>
            <a:off x="9448800" y="6400800"/>
            <a:ext cx="685800" cy="94488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[14]</a:t>
            </a:r>
            <a:endParaRPr lang="en-US" sz="1800" dirty="0">
              <a:latin typeface="Times New Roman" panose="02020603050405020304" pitchFamily="18" charset="0"/>
            </a:endParaRPr>
          </a:p>
        </p:txBody>
      </p:sp>
      <p:sp>
        <p:nvSpPr>
          <p:cNvPr id="32" name="Text 29">
            <a:extLst>
              <a:ext uri="{FF2B5EF4-FFF2-40B4-BE49-F238E27FC236}">
                <a16:creationId xmlns:a16="http://schemas.microsoft.com/office/drawing/2014/main" id="{DBE69BAF-71E0-2C17-7B9C-DA206854415F}"/>
              </a:ext>
            </a:extLst>
          </p:cNvPr>
          <p:cNvSpPr/>
          <p:nvPr/>
        </p:nvSpPr>
        <p:spPr>
          <a:xfrm>
            <a:off x="10134600" y="6400800"/>
            <a:ext cx="7416927" cy="944880"/>
          </a:xfrm>
          <a:prstGeom prst="rect">
            <a:avLst/>
          </a:prstGeom>
          <a:noFill/>
          <a:ln/>
        </p:spPr>
        <p:txBody>
          <a:bodyPr wrap="square" lIns="25400" tIns="25400" rIns="25400" bIns="25400" rtlCol="0" anchor="t">
            <a:normAutofit/>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Meng et al., “Multi-agent human-in-the-loop framework for legal terminology mapping,” </a:t>
            </a:r>
            <a:r>
              <a:rPr lang="en-US" sz="1800" i="1" dirty="0">
                <a:solidFill>
                  <a:srgbClr val="1D1F20"/>
                </a:solidFill>
                <a:latin typeface="Times New Roman" panose="02020603050405020304" pitchFamily="18" charset="0"/>
                <a:ea typeface="Arial" pitchFamily="34" charset="-122"/>
                <a:cs typeface="Arial" pitchFamily="34" charset="-120"/>
              </a:rPr>
              <a:t>Artificial Intelligence and Law </a:t>
            </a:r>
            <a:r>
              <a:rPr lang="en-US" sz="1800" dirty="0">
                <a:solidFill>
                  <a:srgbClr val="1D1F20"/>
                </a:solidFill>
                <a:latin typeface="Times New Roman" panose="02020603050405020304" pitchFamily="18" charset="0"/>
                <a:ea typeface="Arial" pitchFamily="34" charset="-122"/>
                <a:cs typeface="Arial" pitchFamily="34" charset="-120"/>
              </a:rPr>
              <a:t>, 2025. (Base paper).</a:t>
            </a:r>
            <a:endParaRPr lang="en-US" sz="1800" dirty="0">
              <a:latin typeface="Times New Roman" panose="02020603050405020304" pitchFamily="18" charset="0"/>
            </a:endParaRPr>
          </a:p>
        </p:txBody>
      </p:sp>
      <p:sp>
        <p:nvSpPr>
          <p:cNvPr id="33" name="Text 30">
            <a:extLst>
              <a:ext uri="{FF2B5EF4-FFF2-40B4-BE49-F238E27FC236}">
                <a16:creationId xmlns:a16="http://schemas.microsoft.com/office/drawing/2014/main" id="{EE865FA4-1E04-6F1A-CFE2-2CA264F6AFEC}"/>
              </a:ext>
            </a:extLst>
          </p:cNvPr>
          <p:cNvSpPr/>
          <p:nvPr/>
        </p:nvSpPr>
        <p:spPr>
          <a:xfrm>
            <a:off x="9448800" y="751713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[15]</a:t>
            </a:r>
            <a:endParaRPr lang="en-US" sz="1800" dirty="0">
              <a:latin typeface="Times New Roman" panose="02020603050405020304" pitchFamily="18" charset="0"/>
            </a:endParaRPr>
          </a:p>
        </p:txBody>
      </p:sp>
      <p:sp>
        <p:nvSpPr>
          <p:cNvPr id="34" name="Text 31">
            <a:extLst>
              <a:ext uri="{FF2B5EF4-FFF2-40B4-BE49-F238E27FC236}">
                <a16:creationId xmlns:a16="http://schemas.microsoft.com/office/drawing/2014/main" id="{9BE41B9E-0325-C794-805B-384BEBE8F0FC}"/>
              </a:ext>
            </a:extLst>
          </p:cNvPr>
          <p:cNvSpPr/>
          <p:nvPr/>
        </p:nvSpPr>
        <p:spPr>
          <a:xfrm>
            <a:off x="10134600" y="751713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Hu et al., “Removal of hallucination on hallucination: Debate-augmented RAG,” </a:t>
            </a:r>
            <a:r>
              <a:rPr lang="en-US" sz="1800" i="1" dirty="0">
                <a:solidFill>
                  <a:srgbClr val="1D1F20"/>
                </a:solidFill>
                <a:latin typeface="Times New Roman" panose="02020603050405020304" pitchFamily="18" charset="0"/>
                <a:ea typeface="Arial" pitchFamily="34" charset="-122"/>
                <a:cs typeface="Arial" pitchFamily="34" charset="-120"/>
              </a:rPr>
              <a:t>in Proc. ACL</a:t>
            </a:r>
            <a:r>
              <a:rPr lang="en-US" sz="1800" dirty="0">
                <a:solidFill>
                  <a:srgbClr val="1D1F20"/>
                </a:solidFill>
                <a:latin typeface="Times New Roman" panose="02020603050405020304" pitchFamily="18" charset="0"/>
                <a:ea typeface="Arial" pitchFamily="34" charset="-122"/>
                <a:cs typeface="Arial" pitchFamily="34" charset="-120"/>
              </a:rPr>
              <a:t>, 2025.</a:t>
            </a:r>
            <a:endParaRPr lang="en-US" sz="1800" dirty="0">
              <a:latin typeface="Times New Roman" panose="02020603050405020304" pitchFamily="18" charset="0"/>
            </a:endParaRPr>
          </a:p>
        </p:txBody>
      </p:sp>
      <p:sp>
        <p:nvSpPr>
          <p:cNvPr id="36" name="TextBox 35">
            <a:extLst>
              <a:ext uri="{FF2B5EF4-FFF2-40B4-BE49-F238E27FC236}">
                <a16:creationId xmlns:a16="http://schemas.microsoft.com/office/drawing/2014/main" id="{5BD2A0A5-0026-5979-682F-B25CC4F92FA9}"/>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31</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6137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52500" y="838200"/>
            <a:ext cx="5975318" cy="678180"/>
          </a:xfrm>
          <a:prstGeom prst="rect">
            <a:avLst/>
          </a:prstGeom>
          <a:noFill/>
          <a:ln/>
        </p:spPr>
        <p:txBody>
          <a:bodyPr wrap="square" lIns="25400" tIns="25400" rIns="25400" bIns="25400" rtlCol="0" anchor="t">
            <a:normAutofit lnSpcReduction="10000"/>
          </a:bodyPr>
          <a:lstStyle/>
          <a:p>
            <a:pPr marL="0" indent="0" algn="just">
              <a:lnSpc>
                <a:spcPct val="93333"/>
              </a:lnSpc>
              <a:buNone/>
            </a:pPr>
            <a:r>
              <a:rPr lang="en-US" sz="4800" b="1" kern="0" spc="-72" dirty="0">
                <a:solidFill>
                  <a:srgbClr val="1D2D3D"/>
                </a:solidFill>
                <a:latin typeface="Times New Roman" panose="02020603050405020304" pitchFamily="18" charset="0"/>
                <a:ea typeface="Arial" pitchFamily="34" charset="-122"/>
                <a:cs typeface="Arial" pitchFamily="34" charset="-120"/>
              </a:rPr>
              <a:t>References (contd.)</a:t>
            </a:r>
            <a:endParaRPr lang="en-US" sz="4800" dirty="0">
              <a:latin typeface="Times New Roman" panose="02020603050405020304" pitchFamily="18" charset="0"/>
            </a:endParaRPr>
          </a:p>
        </p:txBody>
      </p:sp>
      <p:sp>
        <p:nvSpPr>
          <p:cNvPr id="3" name="Text 1"/>
          <p:cNvSpPr/>
          <p:nvPr/>
        </p:nvSpPr>
        <p:spPr>
          <a:xfrm>
            <a:off x="952500" y="1554480"/>
            <a:ext cx="5975318" cy="331470"/>
          </a:xfrm>
          <a:prstGeom prst="rect">
            <a:avLst/>
          </a:prstGeom>
          <a:noFill/>
          <a:ln/>
        </p:spPr>
        <p:txBody>
          <a:bodyPr wrap="square" lIns="25400" tIns="25400" rIns="25400" bIns="25400" rtlCol="0" anchor="t">
            <a:normAutofit lnSpcReduction="10000"/>
          </a:bodyPr>
          <a:lstStyle/>
          <a:p>
            <a:pPr marL="0" indent="0" algn="just">
              <a:lnSpc>
                <a:spcPct val="96250"/>
              </a:lnSpc>
              <a:buNone/>
            </a:pPr>
            <a:r>
              <a:rPr lang="en-US" sz="2100" kern="0" spc="84" dirty="0">
                <a:solidFill>
                  <a:srgbClr val="416180"/>
                </a:solidFill>
                <a:latin typeface="Times New Roman" panose="02020603050405020304" pitchFamily="18" charset="0"/>
                <a:ea typeface="Arial" pitchFamily="34" charset="-122"/>
                <a:cs typeface="Arial" pitchFamily="34" charset="-120"/>
              </a:rPr>
              <a:t>[16]–[27]</a:t>
            </a:r>
            <a:endParaRPr lang="en-US" sz="21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15219998" y="838200"/>
            <a:ext cx="2115503" cy="800100"/>
          </a:xfrm>
          <a:prstGeom prst="rect">
            <a:avLst/>
          </a:prstGeom>
        </p:spPr>
      </p:pic>
      <p:sp>
        <p:nvSpPr>
          <p:cNvPr id="5" name="Text 2"/>
          <p:cNvSpPr/>
          <p:nvPr/>
        </p:nvSpPr>
        <p:spPr>
          <a:xfrm>
            <a:off x="952500" y="23050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[16]</a:t>
            </a:r>
            <a:endParaRPr lang="en-US" sz="1800" dirty="0">
              <a:latin typeface="Times New Roman" panose="02020603050405020304" pitchFamily="18" charset="0"/>
            </a:endParaRPr>
          </a:p>
        </p:txBody>
      </p:sp>
      <p:sp>
        <p:nvSpPr>
          <p:cNvPr id="6" name="Text 3"/>
          <p:cNvSpPr/>
          <p:nvPr/>
        </p:nvSpPr>
        <p:spPr>
          <a:xfrm>
            <a:off x="1638300" y="23050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Du et al., “Improving factuality and reasoning in language models through multiagent debate,”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arXiv:2305.14325, 2023.</a:t>
            </a:r>
            <a:endParaRPr lang="en-US" sz="1800" dirty="0">
              <a:latin typeface="Times New Roman" panose="02020603050405020304" pitchFamily="18" charset="0"/>
            </a:endParaRPr>
          </a:p>
        </p:txBody>
      </p:sp>
      <p:sp>
        <p:nvSpPr>
          <p:cNvPr id="7" name="Text 4"/>
          <p:cNvSpPr/>
          <p:nvPr/>
        </p:nvSpPr>
        <p:spPr>
          <a:xfrm>
            <a:off x="952500" y="31242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[17]</a:t>
            </a:r>
            <a:endParaRPr lang="en-US" sz="1800" dirty="0">
              <a:latin typeface="Times New Roman" panose="02020603050405020304" pitchFamily="18" charset="0"/>
            </a:endParaRPr>
          </a:p>
        </p:txBody>
      </p:sp>
      <p:sp>
        <p:nvSpPr>
          <p:cNvPr id="8" name="Text 5"/>
          <p:cNvSpPr/>
          <p:nvPr/>
        </p:nvSpPr>
        <p:spPr>
          <a:xfrm>
            <a:off x="1638300" y="31242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Liang et al., “Encouraging divergent thinking in large language models through multi-agent debate,”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arXiv:2305.19118, 2024.</a:t>
            </a:r>
            <a:endParaRPr lang="en-US" sz="1800" dirty="0">
              <a:latin typeface="Times New Roman" panose="02020603050405020304" pitchFamily="18" charset="0"/>
            </a:endParaRPr>
          </a:p>
        </p:txBody>
      </p:sp>
      <p:sp>
        <p:nvSpPr>
          <p:cNvPr id="9" name="Text 6"/>
          <p:cNvSpPr/>
          <p:nvPr/>
        </p:nvSpPr>
        <p:spPr>
          <a:xfrm>
            <a:off x="952500" y="39433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[18]</a:t>
            </a:r>
            <a:endParaRPr lang="en-US" sz="1800" dirty="0">
              <a:latin typeface="Times New Roman" panose="02020603050405020304" pitchFamily="18" charset="0"/>
            </a:endParaRPr>
          </a:p>
        </p:txBody>
      </p:sp>
      <p:sp>
        <p:nvSpPr>
          <p:cNvPr id="10" name="Text 7"/>
          <p:cNvSpPr/>
          <p:nvPr/>
        </p:nvSpPr>
        <p:spPr>
          <a:xfrm>
            <a:off x="1638300" y="39433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Guha et al., “LegalBench: Measuring legal reasoning in large language models,”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arXiv:2308.11462, 2023.</a:t>
            </a:r>
            <a:endParaRPr lang="en-US" sz="1800" dirty="0">
              <a:latin typeface="Times New Roman" panose="02020603050405020304" pitchFamily="18" charset="0"/>
            </a:endParaRPr>
          </a:p>
        </p:txBody>
      </p:sp>
      <p:sp>
        <p:nvSpPr>
          <p:cNvPr id="11" name="Text 8"/>
          <p:cNvSpPr/>
          <p:nvPr/>
        </p:nvSpPr>
        <p:spPr>
          <a:xfrm>
            <a:off x="952500" y="47625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[19]</a:t>
            </a:r>
            <a:endParaRPr lang="en-US" sz="1800" dirty="0">
              <a:latin typeface="Times New Roman" panose="02020603050405020304" pitchFamily="18" charset="0"/>
            </a:endParaRPr>
          </a:p>
        </p:txBody>
      </p:sp>
      <p:sp>
        <p:nvSpPr>
          <p:cNvPr id="12" name="Text 9"/>
          <p:cNvSpPr/>
          <p:nvPr/>
        </p:nvSpPr>
        <p:spPr>
          <a:xfrm>
            <a:off x="1638300" y="47625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Yue et al., “DISC-LawLLM: Fine-tuning large language models for intelligent legal services,”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arXiv:2309.11325, 2023.</a:t>
            </a:r>
            <a:endParaRPr lang="en-US" sz="1800" dirty="0">
              <a:latin typeface="Times New Roman" panose="02020603050405020304" pitchFamily="18" charset="0"/>
            </a:endParaRPr>
          </a:p>
        </p:txBody>
      </p:sp>
      <p:sp>
        <p:nvSpPr>
          <p:cNvPr id="13" name="Text 10"/>
          <p:cNvSpPr/>
          <p:nvPr/>
        </p:nvSpPr>
        <p:spPr>
          <a:xfrm>
            <a:off x="952500" y="55816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[20]</a:t>
            </a:r>
            <a:endParaRPr lang="en-US" sz="1800" dirty="0">
              <a:latin typeface="Times New Roman" panose="02020603050405020304" pitchFamily="18" charset="0"/>
            </a:endParaRPr>
          </a:p>
        </p:txBody>
      </p:sp>
      <p:sp>
        <p:nvSpPr>
          <p:cNvPr id="14" name="Text 11"/>
          <p:cNvSpPr/>
          <p:nvPr/>
        </p:nvSpPr>
        <p:spPr>
          <a:xfrm>
            <a:off x="1638300" y="55816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Dhuliawala et al., “Chain-of-verification reduces hallucination in large language models,”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arXiv:2309.11495, 2023.</a:t>
            </a:r>
            <a:endParaRPr lang="en-US" sz="1800" dirty="0">
              <a:latin typeface="Times New Roman" panose="02020603050405020304" pitchFamily="18" charset="0"/>
            </a:endParaRPr>
          </a:p>
        </p:txBody>
      </p:sp>
      <p:sp>
        <p:nvSpPr>
          <p:cNvPr id="15" name="Text 12"/>
          <p:cNvSpPr/>
          <p:nvPr/>
        </p:nvSpPr>
        <p:spPr>
          <a:xfrm>
            <a:off x="952500" y="64008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[21]</a:t>
            </a:r>
            <a:endParaRPr lang="en-US" sz="1800" dirty="0">
              <a:latin typeface="Times New Roman" panose="02020603050405020304" pitchFamily="18" charset="0"/>
            </a:endParaRPr>
          </a:p>
        </p:txBody>
      </p:sp>
      <p:sp>
        <p:nvSpPr>
          <p:cNvPr id="16" name="Text 13"/>
          <p:cNvSpPr/>
          <p:nvPr/>
        </p:nvSpPr>
        <p:spPr>
          <a:xfrm>
            <a:off x="1638300" y="64008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Asai et al., “Self-RAG: Learning to retrieve, generate, and critique through self-reflection,”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arXiv:2310.11511, 2023.</a:t>
            </a:r>
            <a:endParaRPr lang="en-US" sz="1800" dirty="0">
              <a:latin typeface="Times New Roman" panose="02020603050405020304" pitchFamily="18" charset="0"/>
            </a:endParaRPr>
          </a:p>
        </p:txBody>
      </p:sp>
      <p:sp>
        <p:nvSpPr>
          <p:cNvPr id="17" name="Text 14"/>
          <p:cNvSpPr/>
          <p:nvPr/>
        </p:nvSpPr>
        <p:spPr>
          <a:xfrm>
            <a:off x="9448800" y="23050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[22]</a:t>
            </a:r>
            <a:endParaRPr lang="en-US" sz="1800" dirty="0">
              <a:latin typeface="Times New Roman" panose="02020603050405020304" pitchFamily="18" charset="0"/>
            </a:endParaRPr>
          </a:p>
        </p:txBody>
      </p:sp>
      <p:sp>
        <p:nvSpPr>
          <p:cNvPr id="18" name="Text 15"/>
          <p:cNvSpPr/>
          <p:nvPr/>
        </p:nvSpPr>
        <p:spPr>
          <a:xfrm>
            <a:off x="10134600" y="23050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Yan et al., “Corrective retrieval augmented generation,”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arXiv:2401.15884, 2024.</a:t>
            </a:r>
            <a:endParaRPr lang="en-US" sz="1800" dirty="0">
              <a:latin typeface="Times New Roman" panose="02020603050405020304" pitchFamily="18" charset="0"/>
            </a:endParaRPr>
          </a:p>
        </p:txBody>
      </p:sp>
      <p:sp>
        <p:nvSpPr>
          <p:cNvPr id="19" name="Text 16"/>
          <p:cNvSpPr/>
          <p:nvPr/>
        </p:nvSpPr>
        <p:spPr>
          <a:xfrm>
            <a:off x="9448800" y="31242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[23]</a:t>
            </a:r>
            <a:endParaRPr lang="en-US" sz="1800" dirty="0">
              <a:latin typeface="Times New Roman" panose="02020603050405020304" pitchFamily="18" charset="0"/>
            </a:endParaRPr>
          </a:p>
        </p:txBody>
      </p:sp>
      <p:sp>
        <p:nvSpPr>
          <p:cNvPr id="20" name="Text 17"/>
          <p:cNvSpPr/>
          <p:nvPr/>
        </p:nvSpPr>
        <p:spPr>
          <a:xfrm>
            <a:off x="10134600" y="31242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Q. Wang et al., “Rethinking the bounds of LLM reasoning: Are multi-agent discussions the key?,”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arXiv:2402.18272, 2024.</a:t>
            </a:r>
            <a:endParaRPr lang="en-US" sz="1800" dirty="0">
              <a:latin typeface="Times New Roman" panose="02020603050405020304" pitchFamily="18" charset="0"/>
            </a:endParaRPr>
          </a:p>
        </p:txBody>
      </p:sp>
      <p:sp>
        <p:nvSpPr>
          <p:cNvPr id="21" name="Text 18"/>
          <p:cNvSpPr/>
          <p:nvPr/>
        </p:nvSpPr>
        <p:spPr>
          <a:xfrm>
            <a:off x="9448800" y="39433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[24]</a:t>
            </a:r>
            <a:endParaRPr lang="en-US" sz="1800" dirty="0">
              <a:latin typeface="Times New Roman" panose="02020603050405020304" pitchFamily="18" charset="0"/>
            </a:endParaRPr>
          </a:p>
        </p:txBody>
      </p:sp>
      <p:sp>
        <p:nvSpPr>
          <p:cNvPr id="22" name="Text 19"/>
          <p:cNvSpPr/>
          <p:nvPr/>
        </p:nvSpPr>
        <p:spPr>
          <a:xfrm>
            <a:off x="10134600" y="39433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Sun et al., “Detecting LLM hallucination via Markov chain-based multi-agent debate,”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arXiv:2406.03075, 2024.</a:t>
            </a:r>
            <a:endParaRPr lang="en-US" sz="1800" dirty="0">
              <a:latin typeface="Times New Roman" panose="02020603050405020304" pitchFamily="18" charset="0"/>
            </a:endParaRPr>
          </a:p>
        </p:txBody>
      </p:sp>
      <p:sp>
        <p:nvSpPr>
          <p:cNvPr id="23" name="Text 20"/>
          <p:cNvSpPr/>
          <p:nvPr/>
        </p:nvSpPr>
        <p:spPr>
          <a:xfrm>
            <a:off x="9448800" y="47625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[25]</a:t>
            </a:r>
            <a:endParaRPr lang="en-US" sz="1800" dirty="0">
              <a:latin typeface="Times New Roman" panose="02020603050405020304" pitchFamily="18" charset="0"/>
            </a:endParaRPr>
          </a:p>
        </p:txBody>
      </p:sp>
      <p:sp>
        <p:nvSpPr>
          <p:cNvPr id="24" name="Text 21"/>
          <p:cNvSpPr/>
          <p:nvPr/>
        </p:nvSpPr>
        <p:spPr>
          <a:xfrm>
            <a:off x="10134600" y="47625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Zhou et al., “LawGPT: A Chinese legal knowledge-enhanced large language model,”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arXiv:2406.04614, 2024.</a:t>
            </a:r>
            <a:endParaRPr lang="en-US" sz="1800" dirty="0">
              <a:latin typeface="Times New Roman" panose="02020603050405020304" pitchFamily="18" charset="0"/>
            </a:endParaRPr>
          </a:p>
        </p:txBody>
      </p:sp>
      <p:sp>
        <p:nvSpPr>
          <p:cNvPr id="25" name="Text 22"/>
          <p:cNvSpPr/>
          <p:nvPr/>
        </p:nvSpPr>
        <p:spPr>
          <a:xfrm>
            <a:off x="9448800" y="558165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[26]</a:t>
            </a:r>
            <a:endParaRPr lang="en-US" sz="1800" dirty="0">
              <a:latin typeface="Times New Roman" panose="02020603050405020304" pitchFamily="18" charset="0"/>
            </a:endParaRPr>
          </a:p>
        </p:txBody>
      </p:sp>
      <p:sp>
        <p:nvSpPr>
          <p:cNvPr id="26" name="Text 23"/>
          <p:cNvSpPr/>
          <p:nvPr/>
        </p:nvSpPr>
        <p:spPr>
          <a:xfrm>
            <a:off x="10134600" y="558165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Li et al., “LegalAgentBench: Evaluating LLM agents in the legal domain,”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arXiv:2412.17259, 2024.</a:t>
            </a:r>
            <a:endParaRPr lang="en-US" sz="1800" dirty="0">
              <a:latin typeface="Times New Roman" panose="02020603050405020304" pitchFamily="18" charset="0"/>
            </a:endParaRPr>
          </a:p>
        </p:txBody>
      </p:sp>
      <p:sp>
        <p:nvSpPr>
          <p:cNvPr id="27" name="Text 24"/>
          <p:cNvSpPr/>
          <p:nvPr/>
        </p:nvSpPr>
        <p:spPr>
          <a:xfrm>
            <a:off x="9448800" y="6400800"/>
            <a:ext cx="685800" cy="647700"/>
          </a:xfrm>
          <a:prstGeom prst="rect">
            <a:avLst/>
          </a:prstGeom>
          <a:noFill/>
          <a:ln/>
        </p:spPr>
        <p:txBody>
          <a:bodyPr wrap="square" lIns="25400" tIns="25400" rIns="25400" bIns="25400" rtlCol="0" anchor="t">
            <a:normAutofit/>
          </a:bodyPr>
          <a:lstStyle/>
          <a:p>
            <a:pPr marL="0" indent="0" algn="just">
              <a:lnSpc>
                <a:spcPct val="114706"/>
              </a:lnSpc>
              <a:buNone/>
            </a:pPr>
            <a:r>
              <a:rPr lang="en-US" sz="1800" b="1" dirty="0">
                <a:solidFill>
                  <a:srgbClr val="416180"/>
                </a:solidFill>
                <a:latin typeface="Times New Roman" panose="02020603050405020304" pitchFamily="18" charset="0"/>
                <a:ea typeface="Arial" pitchFamily="34" charset="-122"/>
                <a:cs typeface="Arial" pitchFamily="34" charset="-120"/>
              </a:rPr>
              <a:t>[27]</a:t>
            </a:r>
            <a:endParaRPr lang="en-US" sz="1800" dirty="0">
              <a:latin typeface="Times New Roman" panose="02020603050405020304" pitchFamily="18" charset="0"/>
            </a:endParaRPr>
          </a:p>
        </p:txBody>
      </p:sp>
      <p:sp>
        <p:nvSpPr>
          <p:cNvPr id="28" name="Text 25"/>
          <p:cNvSpPr/>
          <p:nvPr/>
        </p:nvSpPr>
        <p:spPr>
          <a:xfrm>
            <a:off x="10134600" y="6400800"/>
            <a:ext cx="7416927" cy="647700"/>
          </a:xfrm>
          <a:prstGeom prst="rect">
            <a:avLst/>
          </a:prstGeom>
          <a:noFill/>
          <a:ln/>
        </p:spPr>
        <p:txBody>
          <a:bodyPr wrap="square" lIns="25400" tIns="25400" rIns="25400" bIns="25400" rtlCol="0" anchor="t">
            <a:normAutofit lnSpcReduction="10000"/>
          </a:bodyPr>
          <a:lstStyle/>
          <a:p>
            <a:pPr marL="0" indent="0" algn="just">
              <a:lnSpc>
                <a:spcPct val="114706"/>
              </a:lnSpc>
              <a:buNone/>
            </a:pPr>
            <a:r>
              <a:rPr lang="en-US" sz="1800" dirty="0">
                <a:solidFill>
                  <a:srgbClr val="1D1F20"/>
                </a:solidFill>
                <a:latin typeface="Times New Roman" panose="02020603050405020304" pitchFamily="18" charset="0"/>
                <a:ea typeface="Arial" pitchFamily="34" charset="-122"/>
                <a:cs typeface="Arial" pitchFamily="34" charset="-120"/>
              </a:rPr>
              <a:t>Chowdhury et al., “Courtroom-style multi-agent debate with progressive RAG (PROCLAIM),” </a:t>
            </a:r>
            <a:r>
              <a:rPr lang="en-US" sz="1800" i="1" dirty="0">
                <a:solidFill>
                  <a:srgbClr val="1D1F20"/>
                </a:solidFill>
                <a:latin typeface="Times New Roman" panose="02020603050405020304" pitchFamily="18" charset="0"/>
                <a:ea typeface="Arial" pitchFamily="34" charset="-122"/>
                <a:cs typeface="Arial" pitchFamily="34" charset="-120"/>
              </a:rPr>
              <a:t>arXiv preprint </a:t>
            </a:r>
            <a:r>
              <a:rPr lang="en-US" sz="1800" dirty="0">
                <a:solidFill>
                  <a:srgbClr val="1D1F20"/>
                </a:solidFill>
                <a:latin typeface="Times New Roman" panose="02020603050405020304" pitchFamily="18" charset="0"/>
                <a:ea typeface="Arial" pitchFamily="34" charset="-122"/>
                <a:cs typeface="Arial" pitchFamily="34" charset="-120"/>
              </a:rPr>
              <a:t>arXiv:2603.28488, 2026.</a:t>
            </a:r>
            <a:endParaRPr lang="en-US" sz="1800" dirty="0">
              <a:latin typeface="Times New Roman" panose="02020603050405020304" pitchFamily="18" charset="0"/>
            </a:endParaRPr>
          </a:p>
        </p:txBody>
      </p:sp>
      <p:sp>
        <p:nvSpPr>
          <p:cNvPr id="30" name="TextBox 29">
            <a:extLst>
              <a:ext uri="{FF2B5EF4-FFF2-40B4-BE49-F238E27FC236}">
                <a16:creationId xmlns:a16="http://schemas.microsoft.com/office/drawing/2014/main" id="{B7AABF9A-D91B-DA44-5179-4FC9BC200D72}"/>
              </a:ext>
            </a:extLst>
          </p:cNvPr>
          <p:cNvSpPr txBox="1"/>
          <p:nvPr/>
        </p:nvSpPr>
        <p:spPr>
          <a:xfrm>
            <a:off x="17499012" y="9589770"/>
            <a:ext cx="517526" cy="374974"/>
          </a:xfrm>
          <a:prstGeom prst="rect">
            <a:avLst/>
          </a:prstGeom>
          <a:noFill/>
        </p:spPr>
        <p:txBody>
          <a:bodyPr wrap="square">
            <a:spAutoFit/>
          </a:bodyPr>
          <a:lstStyle/>
          <a:p>
            <a:pPr marL="0" indent="0" algn="just">
              <a:lnSpc>
                <a:spcPct val="110294"/>
              </a:lnSpc>
              <a:buNone/>
            </a:pPr>
            <a:r>
              <a:rPr lang="en-US" b="1" dirty="0">
                <a:solidFill>
                  <a:schemeClr val="bg1">
                    <a:lumMod val="65000"/>
                  </a:schemeClr>
                </a:solidFill>
                <a:latin typeface="Times New Roman" panose="02020603050405020304" pitchFamily="18" charset="0"/>
                <a:cs typeface="Times New Roman" panose="02020603050405020304" pitchFamily="18" charset="0"/>
              </a:rPr>
              <a:t>32</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81081" y="2752725"/>
            <a:ext cx="3525837" cy="1333500"/>
          </a:xfrm>
          <a:prstGeom prst="rect">
            <a:avLst/>
          </a:prstGeom>
        </p:spPr>
      </p:pic>
      <p:sp>
        <p:nvSpPr>
          <p:cNvPr id="3" name="Text 0"/>
          <p:cNvSpPr/>
          <p:nvPr/>
        </p:nvSpPr>
        <p:spPr>
          <a:xfrm>
            <a:off x="4655272" y="4543425"/>
            <a:ext cx="8977296" cy="1752600"/>
          </a:xfrm>
          <a:prstGeom prst="rect">
            <a:avLst/>
          </a:prstGeom>
          <a:noFill/>
          <a:ln/>
        </p:spPr>
        <p:txBody>
          <a:bodyPr wrap="square" lIns="25400" tIns="25400" rIns="25400" bIns="25400" rtlCol="0" anchor="t">
            <a:normAutofit lnSpcReduction="10000"/>
          </a:bodyPr>
          <a:lstStyle/>
          <a:p>
            <a:pPr marL="0" indent="0" algn="just">
              <a:lnSpc>
                <a:spcPct val="89286"/>
              </a:lnSpc>
              <a:buNone/>
            </a:pPr>
            <a:r>
              <a:rPr lang="en-US" sz="13500" b="1" kern="0" spc="-203" dirty="0">
                <a:solidFill>
                  <a:srgbClr val="1D2D3D"/>
                </a:solidFill>
                <a:latin typeface="Times New Roman" panose="02020603050405020304" pitchFamily="18" charset="0"/>
                <a:ea typeface="Arial" pitchFamily="34" charset="-122"/>
                <a:cs typeface="Arial" pitchFamily="34" charset="-120"/>
              </a:rPr>
              <a:t>Thank You</a:t>
            </a:r>
            <a:endParaRPr lang="en-US" sz="13500" dirty="0">
              <a:latin typeface="Times New Roman" panose="02020603050405020304" pitchFamily="18" charset="0"/>
            </a:endParaRPr>
          </a:p>
        </p:txBody>
      </p:sp>
      <p:sp>
        <p:nvSpPr>
          <p:cNvPr id="4" name="Text 1"/>
          <p:cNvSpPr/>
          <p:nvPr/>
        </p:nvSpPr>
        <p:spPr>
          <a:xfrm>
            <a:off x="6178169" y="6715125"/>
            <a:ext cx="5931662" cy="628650"/>
          </a:xfrm>
          <a:prstGeom prst="rect">
            <a:avLst/>
          </a:prstGeom>
          <a:noFill/>
          <a:ln/>
        </p:spPr>
        <p:txBody>
          <a:bodyPr wrap="square" lIns="25400" tIns="25400" rIns="25400" bIns="25400" rtlCol="0" anchor="t">
            <a:normAutofit fontScale="77500" lnSpcReduction="20000"/>
          </a:bodyPr>
          <a:lstStyle/>
          <a:p>
            <a:pPr marL="0" indent="0" algn="just">
              <a:lnSpc>
                <a:spcPct val="138393"/>
              </a:lnSpc>
              <a:buNone/>
            </a:pPr>
            <a:r>
              <a:rPr lang="en-US" sz="3000" kern="0" spc="120" dirty="0">
                <a:solidFill>
                  <a:srgbClr val="416180"/>
                </a:solidFill>
                <a:latin typeface="Times New Roman" panose="02020603050405020304" pitchFamily="18" charset="0"/>
                <a:ea typeface="Arial" pitchFamily="34" charset="-122"/>
                <a:cs typeface="Arial" pitchFamily="34" charset="-120"/>
              </a:rPr>
              <a:t>Project-I (2026) · SENSE · VIT Chennai</a:t>
            </a:r>
            <a:endParaRPr lang="en-US" sz="3000" dirty="0">
              <a:latin typeface="Times New Roman" panose="02020603050405020304" pitchFamily="18" charset="0"/>
            </a:endParaRPr>
          </a:p>
        </p:txBody>
      </p:sp>
      <p:sp>
        <p:nvSpPr>
          <p:cNvPr id="6" name="TextBox 5">
            <a:extLst>
              <a:ext uri="{FF2B5EF4-FFF2-40B4-BE49-F238E27FC236}">
                <a16:creationId xmlns:a16="http://schemas.microsoft.com/office/drawing/2014/main" id="{B694FC7F-127E-1311-392F-D6D1E10A2CD0}"/>
              </a:ext>
            </a:extLst>
          </p:cNvPr>
          <p:cNvSpPr txBox="1"/>
          <p:nvPr/>
        </p:nvSpPr>
        <p:spPr>
          <a:xfrm>
            <a:off x="17499012" y="9589770"/>
            <a:ext cx="331788" cy="374974"/>
          </a:xfrm>
          <a:prstGeom prst="rect">
            <a:avLst/>
          </a:prstGeom>
          <a:noFill/>
        </p:spPr>
        <p:txBody>
          <a:bodyPr wrap="square">
            <a:spAutoFit/>
          </a:bodyPr>
          <a:lstStyle/>
          <a:p>
            <a:pPr marL="0" indent="0" algn="just">
              <a:lnSpc>
                <a:spcPct val="110294"/>
              </a:lnSpc>
              <a:buNone/>
            </a:pPr>
            <a:r>
              <a:rPr lang="en-US" sz="1800" b="1" dirty="0">
                <a:solidFill>
                  <a:schemeClr val="bg1">
                    <a:lumMod val="65000"/>
                  </a:schemeClr>
                </a:solidFill>
                <a:latin typeface="Times New Roman" panose="02020603050405020304" pitchFamily="18" charset="0"/>
                <a:ea typeface="Arial" pitchFamily="34" charset="-122"/>
                <a:cs typeface="Times New Roman" panose="02020603050405020304" pitchFamily="18" charset="0"/>
              </a:rPr>
              <a:t>1</a:t>
            </a:r>
            <a:endParaRPr lang="en-US" sz="1800" dirty="0">
              <a:solidFill>
                <a:schemeClr val="bg1">
                  <a:lumMod val="6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5185</Words>
  <Application>Microsoft Office PowerPoint</Application>
  <PresentationFormat>Custom</PresentationFormat>
  <Paragraphs>950</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Garg</cp:lastModifiedBy>
  <cp:revision>67</cp:revision>
  <dcterms:created xsi:type="dcterms:W3CDTF">2026-09-29T07:23:25Z</dcterms:created>
  <dcterms:modified xsi:type="dcterms:W3CDTF">2026-09-29T10:38:01Z</dcterms:modified>
</cp:coreProperties>
</file>